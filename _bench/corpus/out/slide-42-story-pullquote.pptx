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553200" y="952500"/>
            <a:ext cx="704850" cy="15621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1100" b="1" i="0" u="none">
                <a:solidFill>
                  <a:srgbClr val="2D1F1F"/>
                </a:solidFill>
                <a:latin typeface="Source Serif Pro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762000"/>
            <a:ext cx="160540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C89B8"/>
                </a:solidFill>
                <a:latin typeface="Inter"/>
              </a:rPr>
              <a:t>Chapter Two · Field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544687"/>
            <a:ext cx="3564582" cy="111665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050" b="1" i="0" u="none">
                <a:solidFill>
                  <a:srgbClr val="2D1F1F"/>
                </a:solidFill>
                <a:latin typeface="Source Serif Pro"/>
              </a:rPr>
              <a:t xml:space="preserve">The morning we </a:t>
            </a:r>
            <a:r>
              <a:rPr sz="4050" b="0" i="1" u="none">
                <a:solidFill>
                  <a:srgbClr val="E76F51"/>
                </a:solidFill>
                <a:latin typeface="Source Serif Pro"/>
              </a:rPr>
              <a:t>stopped rushing</a:t>
            </a:r>
            <a:r>
              <a:rPr sz="4050" b="1" i="0" u="none">
                <a:solidFill>
                  <a:srgbClr val="2D1F1F"/>
                </a:solidFill>
                <a:latin typeface="Source Serif Pr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3362325"/>
            <a:ext cx="4565154" cy="1016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 u="none">
                <a:solidFill>
                  <a:srgbClr val="3A2A2A"/>
                </a:solidFill>
                <a:latin typeface="Inter"/>
              </a:rPr>
              <a:t xml:space="preserve">It started, as most quiet revolutions do, with a small refusal. We let the kettle whistle a moment longer. We sat where the light was thin, and we noticed it. The day, unhurried, agreed to begin </a:t>
            </a:r>
            <a:r>
              <a:rPr sz="1275" b="0" i="0" u="none">
                <a:solidFill>
                  <a:srgbClr val="264653"/>
                </a:solidFill>
                <a:latin typeface="Inter"/>
              </a:rPr>
              <a:t>with us, not despite us</a:t>
            </a:r>
            <a:r>
              <a:rPr sz="1275" b="0" i="0" u="none">
                <a:solidFill>
                  <a:srgbClr val="3A2A2A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2800" y="2066925"/>
            <a:ext cx="3996482" cy="135522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950" b="0" i="1" u="none">
                <a:solidFill>
                  <a:srgbClr val="264653"/>
                </a:solidFill>
                <a:latin typeface="Source Serif Pro"/>
              </a:rPr>
              <a:t xml:space="preserve">
      The pace of the work changed the moment we stopped negotiating with the clock.
      </a:t>
            </a:r>
            <a:r>
              <a:rPr sz="975" b="0" i="0" u="none">
                <a:solidFill>
                  <a:srgbClr val="7A6A6A"/>
                </a:solidFill>
                <a:latin typeface="Inter"/>
              </a:rPr>
              <a:t>— from the foreword, page 4</a:t>
            </a:r>
            <a:r>
              <a:rPr sz="1950" b="0" i="1" u="none">
                <a:solidFill>
                  <a:srgbClr val="264653"/>
                </a:solidFill>
                <a:latin typeface="Source Serif Pro"/>
              </a:rPr>
              <a:t xml:space="preserve">
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6191250"/>
            <a:ext cx="167282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A6A6A"/>
                </a:solidFill>
                <a:latin typeface="Inter"/>
              </a:rPr>
              <a:t>Read in 6 minutes · with tea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D1F1F"/>
      </a:accent1>
      <a:accent2>
        <a:srgbClr val="F5F1EB"/>
      </a:accent2>
      <a:accent3>
        <a:srgbClr val="9C89B8"/>
      </a:accent3>
      <a:accent4>
        <a:srgbClr val="3A2A2A"/>
      </a:accent4>
      <a:accent5>
        <a:srgbClr val="264653"/>
      </a:accent5>
      <a:accent6>
        <a:srgbClr val="7A6A6A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