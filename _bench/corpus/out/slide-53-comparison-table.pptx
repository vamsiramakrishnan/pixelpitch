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vnd.openxmlformats-officedocument.obfuscatedFon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embeddedFontLst>
    <p:embeddedFont>
      <p:font typeface="Source Serif Pro" panose="02040603050405020304" charset="0"/>
      <p:regular r:id="rIdSlidifyFont1"/>
      <p:bold r:id="rIdSlidifyFont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SlidifyFont1" Type="http://schemas.openxmlformats.org/officeDocument/2006/relationships/font" Target="fonts/font1.fntdata"/><Relationship Id="rIdSlidifyFont2" Type="http://schemas.openxmlformats.org/officeDocument/2006/relationships/font" Target="fonts/font2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09600" y="704850"/>
            <a:ext cx="1097280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Exhibit 31 · Archetype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885825"/>
            <a:ext cx="609600" cy="19050"/>
          </a:xfrm>
          <a:prstGeom prst="rect">
            <a:avLst/>
          </a:prstGeom>
          <a:solidFill>
            <a:srgbClr val="0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09600" y="1047750"/>
            <a:ext cx="9308009" cy="65142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250" b="1" i="0" u="none">
                <a:solidFill>
                  <a:srgbClr val="1A1A1A"/>
                </a:solidFill>
                <a:latin typeface="Source Serif Pro"/>
              </a:rPr>
              <a:t>Four operating-model archetypes — only the federated build sustains a return spread above 12 ppts</a:t>
            </a:r>
            <a:r>
              <a:rPr sz="800" b="1" i="0" u="none">
                <a:solidFill>
                  <a:srgbClr val="0B3A5C"/>
                </a:solidFill>
                <a:latin typeface="Source Serif Pr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826716"/>
            <a:ext cx="9525000" cy="44172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Source Serif Pro"/>
              </a:rPr>
              <a:t>Across the 218 large-buyer transformations in our 2026 panel, the trade-off between cost-to-serve and revenue uplift narrows materially under federated ownership; full outsourcing remains the lowest-variance choice.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190750"/>
            <a:ext cx="2095500" cy="5185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Dimension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8450" y="2462212"/>
            <a:ext cx="1943100" cy="1518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Source Serif Pro"/>
              </a:rPr>
              <a:t>Single COE, one P&amp;L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57775" y="2462212"/>
            <a:ext cx="1943100" cy="1518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Source Serif Pro"/>
              </a:rPr>
              <a:t>Hub plus 3-5 BU pods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77100" y="2462212"/>
            <a:ext cx="1943100" cy="1518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Source Serif Pro"/>
              </a:rPr>
              <a:t>Tier-1 SI lead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96425" y="2462212"/>
            <a:ext cx="1952625" cy="1518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Source Serif Pro"/>
              </a:rPr>
              <a:t>Centralized + 1 BU pod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3031629"/>
            <a:ext cx="930622" cy="138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Months from kick-off</a:t>
            </a:r>
            <a:r>
              <a:rPr sz="800" b="1" i="0" u="none">
                <a:solidFill>
                  <a:srgbClr val="0B3A5C"/>
                </a:solidFill>
                <a:latin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8450" y="2842617"/>
            <a:ext cx="335012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1" i="0" u="none">
                <a:solidFill>
                  <a:srgbClr val="1A1A1A"/>
                </a:solidFill>
                <a:latin typeface="Inter"/>
              </a:rPr>
              <a:t>9.4</a:t>
            </a:r>
            <a:r>
              <a:rPr sz="862" b="0" i="0" u="none">
                <a:solidFill>
                  <a:srgbClr val="1A1A1A"/>
                </a:solidFill>
                <a:latin typeface="Inter"/>
              </a:rPr>
              <a:t xml:space="preserve"> 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57775" y="2842617"/>
            <a:ext cx="335012" cy="114300"/>
          </a:xfrm>
          <a:prstGeom prst="rect">
            <a:avLst/>
          </a:prstGeom>
          <a:solidFill>
            <a:srgbClr val="0B3A5C">
              <a:alpha val="4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62" b="1" i="0" u="none">
                <a:solidFill>
                  <a:srgbClr val="1A1A1A"/>
                </a:solidFill>
                <a:latin typeface="Inter"/>
              </a:rPr>
              <a:t>6.8</a:t>
            </a:r>
            <a:r>
              <a:rPr sz="862" b="0" i="0" u="none">
                <a:solidFill>
                  <a:srgbClr val="1A1A1A"/>
                </a:solidFill>
                <a:latin typeface="Inter"/>
              </a:rPr>
              <a:t xml:space="preserve"> 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77100" y="2842617"/>
            <a:ext cx="389781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1" i="0" u="none">
                <a:solidFill>
                  <a:srgbClr val="1A1A1A"/>
                </a:solidFill>
                <a:latin typeface="Inter"/>
              </a:rPr>
              <a:t>11.2</a:t>
            </a:r>
            <a:r>
              <a:rPr sz="862" b="0" i="0" u="none">
                <a:solidFill>
                  <a:srgbClr val="1A1A1A"/>
                </a:solidFill>
                <a:latin typeface="Inter"/>
              </a:rPr>
              <a:t xml:space="preserve"> 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96425" y="2842617"/>
            <a:ext cx="335012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1" i="0" u="none">
                <a:solidFill>
                  <a:srgbClr val="1A1A1A"/>
                </a:solidFill>
                <a:latin typeface="Inter"/>
              </a:rPr>
              <a:t>8.1</a:t>
            </a:r>
            <a:r>
              <a:rPr sz="862" b="0" i="0" u="none">
                <a:solidFill>
                  <a:srgbClr val="1A1A1A"/>
                </a:solidFill>
                <a:latin typeface="Inter"/>
              </a:rPr>
              <a:t xml:space="preserve"> mo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" y="3305175"/>
            <a:ext cx="10972800" cy="56257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742950" y="3608487"/>
            <a:ext cx="1819275" cy="1449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Indexed, 100 = baseline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7775" y="3429000"/>
            <a:ext cx="338286" cy="114300"/>
          </a:xfrm>
          <a:prstGeom prst="rect">
            <a:avLst/>
          </a:prstGeom>
          <a:solidFill>
            <a:srgbClr val="0B3A5C">
              <a:alpha val="4000"/>
            </a:srgbClr>
          </a:solidFill>
        </p:spPr>
        <p:txBody>
          <a:bodyPr wrap="square" lIns="0" rIns="0" tIns="0" bIns="0">
            <a:spAutoFit/>
          </a:bodyPr>
          <a:lstStyle/>
          <a:p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057775" y="3429000"/>
            <a:ext cx="12189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1" i="0" u="none">
                <a:solidFill>
                  <a:srgbClr val="1A1A1A"/>
                </a:solidFill>
                <a:latin typeface="Inter"/>
              </a:rPr>
              <a:t>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0175" y="3429000"/>
            <a:ext cx="185886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1" i="0" u="none">
                <a:solidFill>
                  <a:srgbClr val="0B3A5C"/>
                </a:solidFill>
                <a:latin typeface="Inter"/>
              </a:rPr>
              <a:t>−12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950" y="4171057"/>
            <a:ext cx="1819275" cy="1449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vs. trailing 12-month run-rate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8450" y="3991570"/>
            <a:ext cx="31373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0" i="0" u="none">
                <a:solidFill>
                  <a:srgbClr val="1A1A1A"/>
                </a:solidFill>
                <a:latin typeface="Inter"/>
              </a:rPr>
              <a:t>+</a:t>
            </a:r>
            <a:r>
              <a:rPr sz="862" b="1" i="0" u="none">
                <a:solidFill>
                  <a:srgbClr val="1A1A1A"/>
                </a:solidFill>
                <a:latin typeface="Inter"/>
              </a:rPr>
              <a:t>3.8%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57775" y="3991570"/>
            <a:ext cx="313730" cy="114300"/>
          </a:xfrm>
          <a:prstGeom prst="rect">
            <a:avLst/>
          </a:prstGeom>
          <a:solidFill>
            <a:srgbClr val="0B3A5C">
              <a:alpha val="4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62" b="0" i="0" u="none">
                <a:solidFill>
                  <a:srgbClr val="1A1A1A"/>
                </a:solidFill>
                <a:latin typeface="Inter"/>
              </a:rPr>
              <a:t>+</a:t>
            </a:r>
            <a:r>
              <a:rPr sz="862" b="1" i="0" u="none">
                <a:solidFill>
                  <a:srgbClr val="1A1A1A"/>
                </a:solidFill>
                <a:latin typeface="Inter"/>
              </a:rPr>
              <a:t>9.1%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77100" y="3991570"/>
            <a:ext cx="31373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0" i="0" u="none">
                <a:solidFill>
                  <a:srgbClr val="1A1A1A"/>
                </a:solidFill>
                <a:latin typeface="Inter"/>
              </a:rPr>
              <a:t>+</a:t>
            </a:r>
            <a:r>
              <a:rPr sz="862" b="1" i="0" u="none">
                <a:solidFill>
                  <a:srgbClr val="1A1A1A"/>
                </a:solidFill>
                <a:latin typeface="Inter"/>
              </a:rPr>
              <a:t>2.6%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96425" y="3991570"/>
            <a:ext cx="31373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0" i="0" u="none">
                <a:solidFill>
                  <a:srgbClr val="1A1A1A"/>
                </a:solidFill>
                <a:latin typeface="Inter"/>
              </a:rPr>
              <a:t>+</a:t>
            </a:r>
            <a:r>
              <a:rPr sz="862" b="1" i="0" u="none">
                <a:solidFill>
                  <a:srgbClr val="1A1A1A"/>
                </a:solidFill>
                <a:latin typeface="Inter"/>
              </a:rPr>
              <a:t>5.2%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600" y="4430316"/>
            <a:ext cx="10972800" cy="56257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742950" y="4733627"/>
            <a:ext cx="1819275" cy="1449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% staff at month 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57775" y="4554141"/>
            <a:ext cx="219373" cy="114300"/>
          </a:xfrm>
          <a:prstGeom prst="rect">
            <a:avLst/>
          </a:prstGeom>
          <a:solidFill>
            <a:srgbClr val="0B3A5C">
              <a:alpha val="4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62" b="1" i="0" u="none">
                <a:solidFill>
                  <a:srgbClr val="1A1A1A"/>
                </a:solidFill>
                <a:latin typeface="Inter"/>
              </a:rPr>
              <a:t>88%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950" y="5296198"/>
            <a:ext cx="1819275" cy="1449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Steering hours / quarter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38450" y="5149751"/>
            <a:ext cx="66675" cy="66675"/>
          </a:xfrm>
          <a:prstGeom prst="rect">
            <a:avLst/>
          </a:prstGeom>
          <a:solidFill>
            <a:srgbClr val="0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2924175" y="5149751"/>
            <a:ext cx="66675" cy="66675"/>
          </a:xfrm>
          <a:prstGeom prst="rect">
            <a:avLst/>
          </a:prstGeom>
          <a:solidFill>
            <a:srgbClr val="0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3009900" y="5149751"/>
            <a:ext cx="66675" cy="66675"/>
          </a:xfrm>
          <a:prstGeom prst="rect">
            <a:avLst/>
          </a:prstGeom>
          <a:solidFill>
            <a:srgbClr val="0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3095625" y="5149751"/>
            <a:ext cx="66675" cy="666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3181350" y="5149751"/>
            <a:ext cx="66675" cy="666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4924425" y="4992886"/>
            <a:ext cx="2219325" cy="553045"/>
          </a:xfrm>
          <a:prstGeom prst="rect">
            <a:avLst/>
          </a:prstGeom>
          <a:solidFill>
            <a:srgbClr val="0B3A5C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5057775" y="5149751"/>
            <a:ext cx="66675" cy="66675"/>
          </a:xfrm>
          <a:prstGeom prst="rect">
            <a:avLst/>
          </a:prstGeom>
          <a:solidFill>
            <a:srgbClr val="0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5143500" y="5149751"/>
            <a:ext cx="66675" cy="66675"/>
          </a:xfrm>
          <a:prstGeom prst="rect">
            <a:avLst/>
          </a:prstGeom>
          <a:solidFill>
            <a:srgbClr val="0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5229225" y="5149751"/>
            <a:ext cx="66675" cy="66675"/>
          </a:xfrm>
          <a:prstGeom prst="rect">
            <a:avLst/>
          </a:prstGeom>
          <a:solidFill>
            <a:srgbClr val="0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5314950" y="5149751"/>
            <a:ext cx="66675" cy="66675"/>
          </a:xfrm>
          <a:prstGeom prst="rect">
            <a:avLst/>
          </a:prstGeom>
          <a:solidFill>
            <a:srgbClr val="0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5400675" y="5149751"/>
            <a:ext cx="66675" cy="666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7277100" y="5149751"/>
            <a:ext cx="66675" cy="66675"/>
          </a:xfrm>
          <a:prstGeom prst="rect">
            <a:avLst/>
          </a:prstGeom>
          <a:solidFill>
            <a:srgbClr val="0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7362825" y="5149751"/>
            <a:ext cx="66675" cy="66675"/>
          </a:xfrm>
          <a:prstGeom prst="rect">
            <a:avLst/>
          </a:prstGeom>
          <a:solidFill>
            <a:srgbClr val="0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7448550" y="5149751"/>
            <a:ext cx="66675" cy="666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7534275" y="5149751"/>
            <a:ext cx="66675" cy="666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7620000" y="5149751"/>
            <a:ext cx="66675" cy="666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9496425" y="5149751"/>
            <a:ext cx="66675" cy="66675"/>
          </a:xfrm>
          <a:prstGeom prst="rect">
            <a:avLst/>
          </a:prstGeom>
          <a:solidFill>
            <a:srgbClr val="0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9582150" y="5149751"/>
            <a:ext cx="66675" cy="66675"/>
          </a:xfrm>
          <a:prstGeom prst="rect">
            <a:avLst/>
          </a:prstGeom>
          <a:solidFill>
            <a:srgbClr val="0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9667875" y="5149751"/>
            <a:ext cx="66675" cy="66675"/>
          </a:xfrm>
          <a:prstGeom prst="rect">
            <a:avLst/>
          </a:prstGeom>
          <a:solidFill>
            <a:srgbClr val="0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9753600" y="5149751"/>
            <a:ext cx="66675" cy="666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9839325" y="5149751"/>
            <a:ext cx="66675" cy="666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609600" y="5555456"/>
            <a:ext cx="10972800" cy="56257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742950" y="5858768"/>
            <a:ext cx="1819275" cy="1449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Beacon &amp; Lowe rubric, 1–5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38450" y="5660231"/>
            <a:ext cx="532209" cy="1882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2 · Low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924425" y="5555456"/>
            <a:ext cx="2219325" cy="553045"/>
          </a:xfrm>
          <a:prstGeom prst="rect">
            <a:avLst/>
          </a:prstGeom>
          <a:solidFill>
            <a:srgbClr val="0B3A5C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/>
          <p:cNvSpPr txBox="1"/>
          <p:nvPr/>
        </p:nvSpPr>
        <p:spPr>
          <a:xfrm>
            <a:off x="5057775" y="5660231"/>
            <a:ext cx="532209" cy="1882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2 · Low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77100" y="5660231"/>
            <a:ext cx="552896" cy="1882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4 · High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96425" y="5660231"/>
            <a:ext cx="522238" cy="1882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3 · Med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2950" y="6241852"/>
            <a:ext cx="1225748" cy="1364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Composite score</a:t>
            </a:r>
            <a:r>
              <a:rPr sz="800" b="1" i="0" u="none">
                <a:solidFill>
                  <a:srgbClr val="0B3A5C"/>
                </a:solidFill>
                <a:latin typeface="Inter"/>
              </a:rPr>
              <a:t>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838450" y="6251377"/>
            <a:ext cx="304651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1" i="0" u="none">
                <a:solidFill>
                  <a:srgbClr val="1A1A1A"/>
                </a:solidFill>
                <a:latin typeface="Inter"/>
              </a:rPr>
              <a:t>3.2</a:t>
            </a:r>
            <a:r>
              <a:rPr sz="862" b="1" i="0" u="none">
                <a:solidFill>
                  <a:srgbClr val="1A1A1A"/>
                </a:solidFill>
                <a:latin typeface="Inter"/>
              </a:rPr>
              <a:t xml:space="preserve"> / 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57775" y="6251377"/>
            <a:ext cx="304651" cy="114300"/>
          </a:xfrm>
          <a:prstGeom prst="rect">
            <a:avLst/>
          </a:prstGeom>
          <a:solidFill>
            <a:srgbClr val="0B3A5C">
              <a:alpha val="4000"/>
            </a:srgbClr>
          </a:solidFill>
        </p:spPr>
        <p:txBody>
          <a:bodyPr wrap="none" lIns="0" rIns="0" tIns="0" bIns="0">
            <a:spAutoFit/>
          </a:bodyPr>
          <a:lstStyle/>
          <a:p>
            <a:pPr algn="l"/>
            <a:r>
              <a:rPr sz="862" b="1" i="0" u="none">
                <a:solidFill>
                  <a:srgbClr val="1A1A1A"/>
                </a:solidFill>
                <a:latin typeface="Inter"/>
              </a:rPr>
              <a:t>4.1</a:t>
            </a:r>
            <a:r>
              <a:rPr sz="862" b="1" i="0" u="none">
                <a:solidFill>
                  <a:srgbClr val="0B3A5C"/>
                </a:solidFill>
                <a:latin typeface="Inter"/>
              </a:rPr>
              <a:t xml:space="preserve"> / 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77100" y="6251377"/>
            <a:ext cx="304651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1" i="0" u="none">
                <a:solidFill>
                  <a:srgbClr val="1A1A1A"/>
                </a:solidFill>
                <a:latin typeface="Inter"/>
              </a:rPr>
              <a:t>2.8</a:t>
            </a:r>
            <a:r>
              <a:rPr sz="862" b="1" i="0" u="none">
                <a:solidFill>
                  <a:srgbClr val="1A1A1A"/>
                </a:solidFill>
                <a:latin typeface="Inter"/>
              </a:rPr>
              <a:t xml:space="preserve"> / 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96425" y="6251377"/>
            <a:ext cx="304651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2" b="1" i="0" u="none">
                <a:solidFill>
                  <a:srgbClr val="1A1A1A"/>
                </a:solidFill>
                <a:latin typeface="Inter"/>
              </a:rPr>
              <a:t>3.4</a:t>
            </a:r>
            <a:r>
              <a:rPr sz="862" b="1" i="0" u="none">
                <a:solidFill>
                  <a:srgbClr val="1A1A1A"/>
                </a:solidFill>
                <a:latin typeface="Inter"/>
              </a:rPr>
              <a:t xml:space="preserve"> / 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9600" y="6084094"/>
            <a:ext cx="10549384" cy="138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Source Serif Pro"/>
              </a:rPr>
              <a:t>1</a:t>
            </a:r>
            <a:r>
              <a:rPr sz="800" b="0" i="0" u="none">
                <a:solidFill>
                  <a:srgbClr val="475569"/>
                </a:solidFill>
                <a:latin typeface="Source Serif Pro"/>
              </a:rPr>
              <a:t xml:space="preserve"> “Spread” defined as year-3 revenue uplift minus three-year cost increase, normalized.    </a:t>
            </a:r>
            <a:r>
              <a:rPr sz="800" b="1" i="0" u="none">
                <a:solidFill>
                  <a:srgbClr val="0B3A5C"/>
                </a:solidFill>
                <a:latin typeface="Source Serif Pro"/>
              </a:rPr>
              <a:t>2</a:t>
            </a:r>
            <a:r>
              <a:rPr sz="800" b="0" i="0" u="none">
                <a:solidFill>
                  <a:srgbClr val="475569"/>
                </a:solidFill>
                <a:latin typeface="Source Serif Pro"/>
              </a:rPr>
              <a:t xml:space="preserve"> Median across n=218 transformations; quartile bounds available in appendix C-4.    </a:t>
            </a:r>
            <a:r>
              <a:rPr sz="800" b="1" i="0" u="none">
                <a:solidFill>
                  <a:srgbClr val="0B3A5C"/>
                </a:solidFill>
                <a:latin typeface="Source Serif Pro"/>
              </a:rPr>
              <a:t>3</a:t>
            </a:r>
            <a:r>
              <a:rPr sz="800" b="0" i="0" u="none">
                <a:solidFill>
                  <a:srgbClr val="475569"/>
                </a:solidFill>
                <a:latin typeface="Source Serif Pro"/>
              </a:rPr>
              <a:t xml:space="preserve"> Composite weights: cost 30%, time 20%, uplift 30%, retention 10%, governance 10%.
 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9600" y="6419850"/>
            <a:ext cx="8572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Source Serif Pro"/>
              </a:rPr>
              <a:t>Source: Beacon &amp; Lowe Transformation Outcomes Database, March 2026; based on n=218 large-enterprise transformations completed FY 2021–FY 2024; archetype assignment per primary delivery owner at month 6.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190982" y="6524625"/>
            <a:ext cx="391418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53 / 84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A1A1A"/>
      </a:accent1>
      <a:accent2>
        <a:srgbClr val="0B3A5C"/>
      </a:accent2>
      <a:accent3>
        <a:srgbClr val="475569"/>
      </a:accent3>
      <a:accent4>
        <a:srgbClr val="CBD5E1"/>
      </a:accent4>
      <a:accent5>
        <a:srgbClr val="F7F5F2"/>
      </a:accent5>
      <a:accent6>
        <a:srgbClr val="7A1F3D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