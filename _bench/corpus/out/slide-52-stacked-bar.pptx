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  <p:boldItalic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22 · Wallet Composition by Segment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47750"/>
            <a:ext cx="8144917" cy="651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1A1A1A"/>
                </a:solidFill>
                <a:latin typeface="Source Serif Pro"/>
              </a:rPr>
              <a:t>Mid-market budgets are tilting toward platform fees; SMB still pays primarily for services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26716"/>
            <a:ext cx="8382000" cy="4417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ource Serif Pro"/>
              </a:rPr>
              <a:t>Across four buyer cohorts, the share of wallet absorbed by recurring license fees ranges from 28% to 61% — the spread, more than the levels, drives go-to-market choices for the next planning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71700"/>
            <a:ext cx="7429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Share of total IT software wallet, %, FY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05050"/>
            <a:ext cx="7429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ource Serif Pro"/>
              </a:rPr>
              <a:t>Five categories; rows sum to 100% of segment spend (n=412)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990850"/>
            <a:ext cx="7429500" cy="3048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19125" y="3000375"/>
            <a:ext cx="431949" cy="285750"/>
          </a:xfrm>
          <a:prstGeom prst="rect">
            <a:avLst/>
          </a:prstGeom>
          <a:solidFill>
            <a:srgbClr val="0B3A5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61%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6087" y="3000375"/>
            <a:ext cx="431949" cy="285750"/>
          </a:xfrm>
          <a:prstGeom prst="rect">
            <a:avLst/>
          </a:prstGeom>
          <a:solidFill>
            <a:srgbClr val="475569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7735" y="3000375"/>
            <a:ext cx="431949" cy="285750"/>
          </a:xfrm>
          <a:prstGeom prst="rect">
            <a:avLst/>
          </a:prstGeom>
          <a:solidFill>
            <a:srgbClr val="64748B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5564" y="3000375"/>
            <a:ext cx="375444" cy="285750"/>
          </a:xfrm>
          <a:prstGeom prst="rect">
            <a:avLst/>
          </a:prstGeom>
          <a:solidFill>
            <a:srgbClr val="94A3B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1077" y="3000375"/>
            <a:ext cx="368498" cy="285750"/>
          </a:xfrm>
          <a:prstGeom prst="rect">
            <a:avLst/>
          </a:prstGeom>
          <a:solidFill>
            <a:srgbClr val="CBD5E1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3619500"/>
            <a:ext cx="7429500" cy="3048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19125" y="3629025"/>
            <a:ext cx="431949" cy="285750"/>
          </a:xfrm>
          <a:prstGeom prst="rect">
            <a:avLst/>
          </a:prstGeom>
          <a:solidFill>
            <a:srgbClr val="0B3A5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52%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314" y="3629025"/>
            <a:ext cx="431949" cy="285750"/>
          </a:xfrm>
          <a:prstGeom prst="rect">
            <a:avLst/>
          </a:prstGeom>
          <a:solidFill>
            <a:srgbClr val="475569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8790" y="3629025"/>
            <a:ext cx="431949" cy="285750"/>
          </a:xfrm>
          <a:prstGeom prst="rect">
            <a:avLst/>
          </a:prstGeom>
          <a:solidFill>
            <a:srgbClr val="64748B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0438" y="3629025"/>
            <a:ext cx="431949" cy="285750"/>
          </a:xfrm>
          <a:prstGeom prst="rect">
            <a:avLst/>
          </a:prstGeom>
          <a:solidFill>
            <a:srgbClr val="94A3B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7258" y="3629025"/>
            <a:ext cx="375444" cy="285750"/>
          </a:xfrm>
          <a:prstGeom prst="rect">
            <a:avLst/>
          </a:prstGeom>
          <a:solidFill>
            <a:srgbClr val="CBD5E1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4248150"/>
            <a:ext cx="7429500" cy="3048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19125" y="4257675"/>
            <a:ext cx="431949" cy="285750"/>
          </a:xfrm>
          <a:prstGeom prst="rect">
            <a:avLst/>
          </a:prstGeom>
          <a:solidFill>
            <a:srgbClr val="0B3A5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41%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1349" y="4257675"/>
            <a:ext cx="431949" cy="285750"/>
          </a:xfrm>
          <a:prstGeom prst="rect">
            <a:avLst/>
          </a:prstGeom>
          <a:solidFill>
            <a:srgbClr val="475569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24%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0292" y="4257675"/>
            <a:ext cx="431949" cy="285750"/>
          </a:xfrm>
          <a:prstGeom prst="rect">
            <a:avLst/>
          </a:prstGeom>
          <a:solidFill>
            <a:srgbClr val="64748B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768" y="4257675"/>
            <a:ext cx="431949" cy="285750"/>
          </a:xfrm>
          <a:prstGeom prst="rect">
            <a:avLst/>
          </a:prstGeom>
          <a:solidFill>
            <a:srgbClr val="94A3B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7258" y="4257675"/>
            <a:ext cx="375444" cy="285750"/>
          </a:xfrm>
          <a:prstGeom prst="rect">
            <a:avLst/>
          </a:prstGeom>
          <a:solidFill>
            <a:srgbClr val="CBD5E1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76800"/>
            <a:ext cx="7429500" cy="3048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19125" y="4886325"/>
            <a:ext cx="431949" cy="285750"/>
          </a:xfrm>
          <a:prstGeom prst="rect">
            <a:avLst/>
          </a:prstGeom>
          <a:solidFill>
            <a:srgbClr val="0B3A5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28%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2896" y="4886325"/>
            <a:ext cx="431949" cy="285750"/>
          </a:xfrm>
          <a:prstGeom prst="rect">
            <a:avLst/>
          </a:prstGeom>
          <a:solidFill>
            <a:srgbClr val="475569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31%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7826" y="4886325"/>
            <a:ext cx="431949" cy="285750"/>
          </a:xfrm>
          <a:prstGeom prst="rect">
            <a:avLst/>
          </a:prstGeom>
          <a:solidFill>
            <a:srgbClr val="64748B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22%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9280" y="4886325"/>
            <a:ext cx="431949" cy="285750"/>
          </a:xfrm>
          <a:prstGeom prst="rect">
            <a:avLst/>
          </a:prstGeom>
          <a:solidFill>
            <a:srgbClr val="94A3B8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3588" y="4886325"/>
            <a:ext cx="375444" cy="285750"/>
          </a:xfrm>
          <a:prstGeom prst="rect">
            <a:avLst/>
          </a:prstGeom>
          <a:solidFill>
            <a:srgbClr val="CBD5E1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248275"/>
            <a:ext cx="9525" cy="5715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466975" y="5248275"/>
            <a:ext cx="9525" cy="5715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324350" y="5248275"/>
            <a:ext cx="9525" cy="5715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181725" y="5248275"/>
            <a:ext cx="9525" cy="5715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8039100" y="5248275"/>
            <a:ext cx="9525" cy="5715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609600" y="5629275"/>
            <a:ext cx="7429500" cy="70276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752475" y="5734050"/>
            <a:ext cx="71437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Methodology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475" y="5886450"/>
            <a:ext cx="6985546" cy="3180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Categories per Beacon &amp; Lowe 2024 taxonomy, v3.2; respondents allocated 100 points across the five buckets. 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900" b="0" i="0" u="none">
                <a:solidFill>
                  <a:srgbClr val="1A1A1A"/>
                </a:solidFill>
                <a:latin typeface="Source Serif Pro"/>
              </a:rPr>
              <a:t>Differences across cohorts significant at p&lt;0.01.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0100" y="2171700"/>
            <a:ext cx="316230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87" b="1" i="0" u="none">
                <a:solidFill>
                  <a:srgbClr val="1A1A1A"/>
                </a:solidFill>
                <a:latin typeface="Source Serif Pro"/>
              </a:rPr>
              <a:t>Three takeaways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43950" y="2552700"/>
            <a:ext cx="2838450" cy="321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37" b="1" i="0" u="none">
                <a:solidFill>
                  <a:srgbClr val="1A1A1A"/>
                </a:solidFill>
                <a:latin typeface="Inter"/>
              </a:rPr>
              <a:t>Platform share rises ~11 ppts per tier of buyer scale.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43950" y="2950369"/>
            <a:ext cx="2834878" cy="44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Mix shifts ~33 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ppts</a:t>
            </a:r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 end-to-end — from 28% in SMB to 61% in enterprise — tracking IT-team self-sufficiency more closely than absolute spend.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3950" y="3700462"/>
            <a:ext cx="2838450" cy="160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1" i="0" u="none">
                <a:solidFill>
                  <a:srgbClr val="1A1A1A"/>
                </a:solidFill>
                <a:latin typeface="Inter"/>
              </a:rPr>
              <a:t>SMB services line is structurally sticky.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3950" y="3937397"/>
            <a:ext cx="2734121" cy="460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Implementation plus managed services hold a combined 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53%</a:t>
            </a:r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 of SMB wallets, and have moved less than 200 bps in three years.</a:t>
            </a:r>
            <a:r>
              <a:rPr sz="800" b="1" i="0" u="none">
                <a:solidFill>
                  <a:srgbClr val="0B3A5C"/>
                </a:solidFill>
                <a:latin typeface="Inter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43950" y="4704904"/>
            <a:ext cx="2838450" cy="160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1" i="0" u="none">
                <a:solidFill>
                  <a:srgbClr val="1A1A1A"/>
                </a:solidFill>
                <a:latin typeface="Inter"/>
              </a:rPr>
              <a:t>Training is the swing line for upsell.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43950" y="4941838"/>
            <a:ext cx="2651968" cy="44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Mid-market buyers willing to fund 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10–11%</a:t>
            </a:r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 of wallet on enablement pay 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1.4×</a:t>
            </a:r>
            <a:r>
              <a:rPr sz="862" b="0" i="0" u="none">
                <a:solidFill>
                  <a:srgbClr val="475569"/>
                </a:solidFill>
                <a:latin typeface="Inter"/>
              </a:rPr>
              <a:t xml:space="preserve"> the platform multiple of peers, on average.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353175"/>
            <a:ext cx="8256836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Source: Beacon &amp; Lowe Buyer Wallet Survey, FY 2025; n=412 enterprise software buyers, fielded Q3 2025.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Excludes hardware and infrastructure-as-a-service.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Cohort definitions follow Beacon &amp; Lowe segmentation, vintage 2024.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Three-year window: FY 2022–FY 2025 longitudinal panel.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52 / 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475569"/>
      </a:accent2>
      <a:accent3>
        <a:srgbClr val="0B3A5C"/>
      </a:accent3>
      <a:accent4>
        <a:srgbClr val="64748B"/>
      </a:accent4>
      <a:accent5>
        <a:srgbClr val="94A3B8"/>
      </a:accent5>
      <a:accent6>
        <a:srgbClr val="CBD5E1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