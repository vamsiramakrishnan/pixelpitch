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  <p:boldItalic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897416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4 · Five Demand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47750"/>
            <a:ext cx="8974931" cy="651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1A1A1A"/>
                </a:solidFill>
                <a:latin typeface="Source Serif Pro"/>
              </a:rPr>
              <a:t>Five forces are reshaping enterprise software demand through 2028 — only two are reversible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26716"/>
            <a:ext cx="9334500" cy="4417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ource Serif Pro"/>
              </a:rPr>
              <a:t>Three are structural shifts in buyer behavior; two are policy- or rate-driven and may unwind. Where forces stack, planning windows compress to under nine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76475"/>
            <a:ext cx="409575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0B3A5C"/>
                </a:solidFill>
                <a:latin typeface="Source Serif Pro"/>
              </a:rPr>
              <a:t>01</a:t>
            </a:r>
            <a:r>
              <a:rPr sz="800" b="1" i="0" u="none">
                <a:solidFill>
                  <a:srgbClr val="475569"/>
                </a:solidFill>
                <a:latin typeface="Inter"/>
              </a:rPr>
              <a:t>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295525"/>
            <a:ext cx="7467600" cy="2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 i="0" u="none">
                <a:solidFill>
                  <a:srgbClr val="1A1A1A"/>
                </a:solidFill>
                <a:latin typeface="Source Serif Pro"/>
              </a:rPr>
              <a:t>Procurement is consolidating — six vendors absorb the budget that twenty-two used to share.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82168"/>
            <a:ext cx="6385471" cy="331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ource Serif Pro"/>
              </a:rPr>
              <a:t>Concentration ratios rose from 41% to 68% of category spend in three years across 412 surveyed buyers; long-tail vendors retain niche use-cases but lose framework agreements first.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13918"/>
            <a:ext cx="74676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Structural · irreversible by 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77375" y="2276475"/>
            <a:ext cx="418356" cy="2952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1A1A1A"/>
                </a:solidFill>
                <a:latin typeface="Inter"/>
              </a:rPr>
              <a:t>68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7375" y="2628900"/>
            <a:ext cx="1981051" cy="2541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Top-6 share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of category spend, FY 2025; up from 41% in FY 2022.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7375" y="2937272"/>
            <a:ext cx="21050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↑ 27 ppts vs. FY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433018"/>
            <a:ext cx="409575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0B3A5C"/>
                </a:solidFill>
                <a:latin typeface="Source Serif Pro"/>
              </a:rPr>
              <a:t>02</a:t>
            </a:r>
            <a:r>
              <a:rPr sz="800" b="1" i="0" u="none">
                <a:solidFill>
                  <a:srgbClr val="475569"/>
                </a:solidFill>
                <a:latin typeface="Inter"/>
              </a:rPr>
              <a:t>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452068"/>
            <a:ext cx="7467600" cy="2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 i="0" u="none">
                <a:solidFill>
                  <a:srgbClr val="1A1A1A"/>
                </a:solidFill>
                <a:latin typeface="Source Serif Pro"/>
              </a:rPr>
              <a:t>Generative-AI features have moved from differentiator to table stakes inside fourteen months.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19661"/>
            <a:ext cx="6477000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ource Serif Pro"/>
              </a:rPr>
              <a:t>By Q1 2026, 79% of RFPs included native AI-feature requirements as gating criteria, up from 12% in Q3 2024; vendors without a credible roadmap drop out at first-pass screening.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167336"/>
            <a:ext cx="74676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Structural · accelerating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7375" y="3433018"/>
            <a:ext cx="418356" cy="2952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1A1A1A"/>
                </a:solidFill>
                <a:latin typeface="Inter"/>
              </a:rPr>
              <a:t>79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7375" y="3785443"/>
            <a:ext cx="199027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RFPs gating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on native AI features, Q1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7375" y="3953917"/>
            <a:ext cx="21050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↑ 67 ppts in 18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586436"/>
            <a:ext cx="409575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0B3A5C"/>
                </a:solidFill>
                <a:latin typeface="Source Serif Pro"/>
              </a:rPr>
              <a:t>03</a:t>
            </a:r>
            <a:r>
              <a:rPr sz="800" b="1" i="0" u="none">
                <a:solidFill>
                  <a:srgbClr val="475569"/>
                </a:solidFill>
                <a:latin typeface="Inter"/>
              </a:rPr>
              <a:t>Force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605486"/>
            <a:ext cx="7467600" cy="2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 i="0" u="none">
                <a:solidFill>
                  <a:srgbClr val="1A1A1A"/>
                </a:solidFill>
                <a:latin typeface="Source Serif Pro"/>
              </a:rPr>
              <a:t>Capital cost has reset deal economics — payback windows under 18 months are now mandatory.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873079"/>
            <a:ext cx="6477000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ource Serif Pro"/>
              </a:rPr>
              <a:t>The median budget-committee threshold tightened from 24 months in 2022 to 17 months in early 2026, reflecting a 280-bps rise in internal hurdle rates; rate cuts could partially unwind this.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320754"/>
            <a:ext cx="74676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Cyclical · partially reversible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7375" y="4586436"/>
            <a:ext cx="479822" cy="2952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1A1A1A"/>
                </a:solidFill>
                <a:latin typeface="Inter"/>
              </a:rPr>
              <a:t>17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7375" y="4938861"/>
            <a:ext cx="1945928" cy="2541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Median payback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threshold, Q1 2026; down from 24 months three years earlier.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7375" y="5247233"/>
            <a:ext cx="21050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↓ 7 months vs.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5739854"/>
            <a:ext cx="409575" cy="4953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0B3A5C"/>
                </a:solidFill>
                <a:latin typeface="Source Serif Pro"/>
              </a:rPr>
              <a:t>04</a:t>
            </a:r>
            <a:r>
              <a:rPr sz="800" b="1" i="0" u="none">
                <a:solidFill>
                  <a:srgbClr val="475569"/>
                </a:solidFill>
                <a:latin typeface="Inter"/>
              </a:rPr>
              <a:t>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758904"/>
            <a:ext cx="7467600" cy="2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 i="0" u="none">
                <a:solidFill>
                  <a:srgbClr val="1A1A1A"/>
                </a:solidFill>
                <a:latin typeface="Source Serif Pro"/>
              </a:rPr>
              <a:t>Data-residency mandates are fragmenting deployment plans across at least three regions.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6045547"/>
            <a:ext cx="6175474" cy="331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ource Serif Pro"/>
              </a:rPr>
              <a:t>Sixty-one percent of surveyed buyers now require in-region data planes for at least one workload, against a backdrop of nine major regulatory updates since FY 2023.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6477298"/>
            <a:ext cx="74676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Policy · reversibility 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7375" y="5739854"/>
            <a:ext cx="418356" cy="2952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1A1A1A"/>
                </a:solidFill>
                <a:latin typeface="Inter"/>
              </a:rPr>
              <a:t>61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7375" y="6092279"/>
            <a:ext cx="2018109" cy="2541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Buyers requiring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in-region data planes for at least one workload.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7375" y="6400651"/>
            <a:ext cx="210502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↑ 19 ppts vs. FY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353175"/>
            <a:ext cx="8287494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Source: Beacon &amp; Lowe Demand Drivers Index, March 2026; n=412 enterprise software buyers; reversibility classification per the firm's three-criterion rubric (policy, capital, behavior).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Forces 03 and 04 classified as partially reversible.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Concentration ratio measures top-6 share of cumulative category spend.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Counts EU, UK, IN, BR, KR, JP, AU, CA, ZA major updates since FY 2023.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54 / 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0B3A5C"/>
      </a:accent2>
      <a:accent3>
        <a:srgbClr val="475569"/>
      </a:accent3>
      <a:accent4>
        <a:srgbClr val="F7F5F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