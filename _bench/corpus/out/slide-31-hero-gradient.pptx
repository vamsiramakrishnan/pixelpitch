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6366F1">
                  <a:alpha val="45000"/>
                </a:srgbClr>
              </a:gs>
              <a:gs pos="16667">
                <a:srgbClr val="6366F1">
                  <a:alpha val="37500"/>
                </a:srgbClr>
              </a:gs>
              <a:gs pos="33333">
                <a:srgbClr val="6366F1">
                  <a:alpha val="30000"/>
                </a:srgbClr>
              </a:gs>
              <a:gs pos="50000">
                <a:srgbClr val="6366F1">
                  <a:alpha val="22500"/>
                </a:srgbClr>
              </a:gs>
              <a:gs pos="66667">
                <a:srgbClr val="6366F1">
                  <a:alpha val="15000"/>
                </a:srgbClr>
              </a:gs>
              <a:gs pos="83333">
                <a:srgbClr val="6366F1">
                  <a:alpha val="7500"/>
                </a:srgbClr>
              </a:gs>
              <a:gs pos="100000">
                <a:srgbClr val="6366F1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7315200" y="-7477527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gradFill flip="none" rotWithShape="1">
            <a:gsLst>
              <a:gs pos="0">
                <a:srgbClr val="A855F7">
                  <a:alpha val="45000"/>
                </a:srgbClr>
              </a:gs>
              <a:gs pos="16667">
                <a:srgbClr val="A855F7">
                  <a:alpha val="37500"/>
                </a:srgbClr>
              </a:gs>
              <a:gs pos="33333">
                <a:srgbClr val="A855F7">
                  <a:alpha val="30000"/>
                </a:srgbClr>
              </a:gs>
              <a:gs pos="50000">
                <a:srgbClr val="A855F7">
                  <a:alpha val="22500"/>
                </a:srgbClr>
              </a:gs>
              <a:gs pos="66667">
                <a:srgbClr val="A855F7">
                  <a:alpha val="15000"/>
                </a:srgbClr>
              </a:gs>
              <a:gs pos="83333">
                <a:srgbClr val="A855F7">
                  <a:alpha val="7500"/>
                </a:srgbClr>
              </a:gs>
              <a:gs pos="100000">
                <a:srgbClr val="A85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2438400" y="-7477527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gradFill flip="none" rotWithShape="1">
            <a:gsLst>
              <a:gs pos="0">
                <a:srgbClr val="EC4899">
                  <a:alpha val="45000"/>
                </a:srgbClr>
              </a:gs>
              <a:gs pos="16667">
                <a:srgbClr val="EC4899">
                  <a:alpha val="37500"/>
                </a:srgbClr>
              </a:gs>
              <a:gs pos="33333">
                <a:srgbClr val="EC4899">
                  <a:alpha val="30000"/>
                </a:srgbClr>
              </a:gs>
              <a:gs pos="50000">
                <a:srgbClr val="EC4899">
                  <a:alpha val="22500"/>
                </a:srgbClr>
              </a:gs>
              <a:gs pos="66667">
                <a:srgbClr val="EC4899">
                  <a:alpha val="15000"/>
                </a:srgbClr>
              </a:gs>
              <a:gs pos="83333">
                <a:srgbClr val="EC4899">
                  <a:alpha val="7500"/>
                </a:srgbClr>
              </a:gs>
              <a:gs pos="100000">
                <a:srgbClr val="EC4899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7315200" y="-2545452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gradFill flip="none" rotWithShape="1">
            <a:gsLst>
              <a:gs pos="0">
                <a:srgbClr val="F59E0B">
                  <a:alpha val="45000"/>
                </a:srgbClr>
              </a:gs>
              <a:gs pos="16667">
                <a:srgbClr val="F59E0B">
                  <a:alpha val="37500"/>
                </a:srgbClr>
              </a:gs>
              <a:gs pos="33333">
                <a:srgbClr val="F59E0B">
                  <a:alpha val="30000"/>
                </a:srgbClr>
              </a:gs>
              <a:gs pos="50000">
                <a:srgbClr val="F59E0B">
                  <a:alpha val="22500"/>
                </a:srgbClr>
              </a:gs>
              <a:gs pos="66667">
                <a:srgbClr val="F59E0B">
                  <a:alpha val="15000"/>
                </a:srgbClr>
              </a:gs>
              <a:gs pos="83333">
                <a:srgbClr val="F59E0B">
                  <a:alpha val="7500"/>
                </a:srgbClr>
              </a:gs>
              <a:gs pos="100000">
                <a:srgbClr val="F59E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2438400" y="-2545452"/>
            <a:ext cx="17068800" cy="17068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gradFill flip="none" rotWithShape="1">
            <a:gsLst>
              <a:gs pos="0">
                <a:srgbClr val="1E1B4B"/>
              </a:gs>
              <a:gs pos="30000">
                <a:srgbClr val="1A103E"/>
              </a:gs>
              <a:gs pos="55000">
                <a:srgbClr val="0A0820"/>
              </a:gs>
              <a:gs pos="78000">
                <a:srgbClr val="050510"/>
              </a:gs>
              <a:gs pos="100000">
                <a:srgbClr val="050510"/>
              </a:gs>
            </a:gsLst>
            <a:path path="circle">
              <a:fillToRect l="25000" t="18000" r="75000" b="82000"/>
            </a:path>
          </a:gradFill>
          <a:xfrm>
            <a:off x="0" y="0"/>
            <a:ext cx="12192000" cy="704582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7045821"/>
          </a:xfrm>
          <a:prstGeom prst="rect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gradFill flip="none" rotWithShape="1">
            <a:gsLst>
              <a:gs pos="0">
                <a:srgbClr val="818CF8">
                  <a:alpha val="42000"/>
                </a:srgbClr>
              </a:gs>
              <a:gs pos="35000">
                <a:srgbClr val="C084FC">
                  <a:alpha val="18000"/>
                </a:srgbClr>
              </a:gs>
              <a:gs pos="60000">
                <a:srgbClr val="EC4899">
                  <a:alpha val="6000"/>
                </a:srgbClr>
              </a:gs>
              <a:gs pos="75000">
                <a:srgbClr val="EC4899">
                  <a:alpha val="0"/>
                </a:srgbClr>
              </a:gs>
              <a:gs pos="100000">
                <a:srgbClr val="EC4899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1143000" y="-1524000"/>
            <a:ext cx="5905500" cy="59055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gradFill flip="none" rotWithShape="1">
            <a:gsLst>
              <a:gs pos="0">
                <a:srgbClr val="06B6D4">
                  <a:alpha val="30000"/>
                </a:srgbClr>
              </a:gs>
              <a:gs pos="38000">
                <a:srgbClr val="6366F1">
                  <a:alpha val="18000"/>
                </a:srgbClr>
              </a:gs>
              <a:gs pos="72000">
                <a:srgbClr val="6366F1">
                  <a:alpha val="0"/>
                </a:srgbClr>
              </a:gs>
              <a:gs pos="100000">
                <a:srgbClr val="6366F1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7239000" y="2476500"/>
            <a:ext cx="6477000" cy="6477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gradFill flip="none" rotWithShape="1">
            <a:gsLst>
              <a:gs pos="0">
                <a:srgbClr val="818CF8"/>
              </a:gs>
              <a:gs pos="8333">
                <a:srgbClr val="8C8BFB"/>
              </a:gs>
              <a:gs pos="16667">
                <a:srgbClr val="978AFC"/>
              </a:gs>
              <a:gs pos="25000">
                <a:srgbClr val="A188FD"/>
              </a:gs>
              <a:gs pos="33333">
                <a:srgbClr val="AC87FE"/>
              </a:gs>
              <a:gs pos="41667">
                <a:srgbClr val="B685FD"/>
              </a:gs>
              <a:gs pos="50000">
                <a:srgbClr val="C084FC"/>
              </a:gs>
              <a:gs pos="58333">
                <a:srgbClr val="CA7AF1"/>
              </a:gs>
              <a:gs pos="66667">
                <a:srgbClr val="D370E3"/>
              </a:gs>
              <a:gs pos="75000">
                <a:srgbClr val="DB66D3"/>
              </a:gs>
              <a:gs pos="83333">
                <a:srgbClr val="E25CC2"/>
              </a:gs>
              <a:gs pos="91667">
                <a:srgbClr val="E752AE"/>
              </a:gs>
              <a:gs pos="100000">
                <a:srgbClr val="EC4899"/>
              </a:gs>
            </a:gsLst>
            <a:lin ang="2700000" scaled="0"/>
          </a:gradFill>
          <a:xfrm>
            <a:off x="609600" y="400050"/>
            <a:ext cx="209550" cy="209550"/>
          </a:xfrm>
          <a:prstGeom prst="roundRect">
            <a:avLst/>
          </a:prstGeom>
          <a:ln>
            <a:noFill/>
          </a:ln>
          <a:effectLst>
            <a:outerShdw blurRad="133350" dist="38100" dir="5400000" algn="ctr" rotWithShape="0">
              <a:srgbClr val="C084FC">
                <a:alpha val="45000"/>
              </a:srgbClr>
            </a:outerShdw>
            <a:innerShdw blurRad="0" dist="9525" dir="5400000">
              <a:srgbClr val="FFFFFF">
                <a:alpha val="40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528102" y="342900"/>
            <a:ext cx="777041" cy="32385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5F5F7"/>
                </a:solidFill>
                <a:latin typeface="Inter"/>
              </a:rPr>
              <a:t>Start free</a:t>
            </a:r>
          </a:p>
        </p:txBody>
      </p:sp>
      <p:sp>
        <p:nvSpPr>
          <p:cNvPr id="14" name="Freeform 13"/>
          <p:cNvSpPr/>
          <p:nvPr/>
        </p:nvSpPr>
        <p:spPr>
          <a:xfrm>
            <a:off x="8191500" y="1333500"/>
            <a:ext cx="3429000" cy="3810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44444" y="75000"/>
                  <a:pt x="72222" y="40000"/>
                  <a:pt x="100000" y="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8572500" y="1524000"/>
            <a:ext cx="3429000" cy="3810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44444" y="75000"/>
                  <a:pt x="72222" y="40000"/>
                  <a:pt x="100000" y="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1591925" y="1304925"/>
            <a:ext cx="57150" cy="5715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8162925" y="5114925"/>
            <a:ext cx="57150" cy="5715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762000" y="1619250"/>
            <a:ext cx="2813149" cy="295275"/>
          </a:xfrm>
          <a:prstGeom prst="roundRect">
            <a:avLst/>
          </a:prstGeom>
          <a:solidFill>
            <a:srgbClr val="818CF8">
              <a:alpha val="10000"/>
            </a:srgbClr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866775" y="1733550"/>
            <a:ext cx="66675" cy="66675"/>
          </a:xfrm>
          <a:prstGeom prst="roundRect">
            <a:avLst/>
          </a:prstGeom>
          <a:solidFill>
            <a:srgbClr val="A3E635"/>
          </a:solidFill>
          <a:ln>
            <a:noFill/>
          </a:ln>
          <a:effectLst>
            <a:outerShdw blurRad="95250" dist="0" dir="0" algn="ctr" rotWithShape="0">
              <a:srgbClr val="A3E635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62000" y="2085975"/>
            <a:ext cx="9278838" cy="259020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The infrastructure</a:t>
            </a:r>
          </a:p>
          <a:p>
            <a:pPr algn="l"/>
            <a:r>
              <a:rPr sz="6600" b="1" i="0" u="none">
                <a:gradFill rotWithShape="1">
                  <a:gsLst>
                    <a:gs pos="0">
                      <a:srgbClr val="818CF8"/>
                    </a:gs>
                    <a:gs pos="28000">
                      <a:srgbClr val="A78BFA"/>
                    </a:gs>
                    <a:gs pos="55000">
                      <a:srgbClr val="C084FC"/>
                    </a:gs>
                    <a:gs pos="78000">
                      <a:srgbClr val="F472B6"/>
                    </a:gs>
                    <a:gs pos="100000">
                      <a:srgbClr val="EC4899"/>
                    </a:gs>
                  </a:gsLst>
                  <a:lin ang="1200000" scaled="0"/>
                </a:gradFill>
                <a:latin typeface="Inter"/>
              </a:rPr>
              <a:t>for AI-native</a:t>
            </a:r>
            <a:r>
              <a:rPr sz="6600" b="1" i="0" u="none">
                <a:solidFill>
                  <a:srgbClr val="F5F5F7"/>
                </a:solidFill>
                <a:latin typeface="Inter"/>
              </a:rPr>
              <a:t xml:space="preserve"> </a:t>
            </a:r>
            <a:r>
              <a:rPr sz="6600" b="1" i="0" u="none">
                <a:gradFill rotWithShape="1">
                  <a:gsLst>
                    <a:gs pos="0">
                      <a:srgbClr val="06B6D4"/>
                    </a:gs>
                    <a:gs pos="70000">
                      <a:srgbClr val="6366F1"/>
                    </a:gs>
                    <a:gs pos="100000">
                      <a:srgbClr val="6366F1"/>
                    </a:gs>
                  </a:gsLst>
                  <a:lin ang="1200000" scaled="0"/>
                </a:gradFill>
                <a:latin typeface="Inter"/>
              </a:rPr>
              <a:t>product teams.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890195"/>
            <a:ext cx="5666036" cy="7703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 i="0" u="none">
                <a:solidFill>
                  <a:srgbClr val="E4E4E7"/>
                </a:solidFill>
                <a:latin typeface="Inter"/>
              </a:rPr>
              <a:t>Lattice</a:t>
            </a:r>
            <a:r>
              <a:rPr sz="1425" b="0" i="0" u="none">
                <a:solidFill>
                  <a:srgbClr val="A1A1AA"/>
                </a:solidFill>
                <a:latin typeface="Inter"/>
              </a:rPr>
              <a:t xml:space="preserve"> is the deployment layer used by 14,000 teams to ship agents,
      pipelines and inference at the edge — without a platform team. One SDK,
      every region, sub-50ms cold starts.
    </a:t>
            </a:r>
          </a:p>
        </p:txBody>
      </p:sp>
      <p:sp>
        <p:nvSpPr>
          <p:cNvPr id="22" name="TextBox 21"/>
          <p:cNvSpPr txBox="1"/>
          <p:nvPr/>
        </p:nvSpPr>
        <p:spPr>
          <a:gradFill flip="none" rotWithShape="1">
            <a:gsLst>
              <a:gs pos="0">
                <a:srgbClr val="FFFFFF"/>
              </a:gs>
              <a:gs pos="16667">
                <a:srgbClr val="FBFAFB"/>
              </a:gs>
              <a:gs pos="33333">
                <a:srgbClr val="F7F6F6"/>
              </a:gs>
              <a:gs pos="50000">
                <a:srgbClr val="F2F1F2"/>
              </a:gs>
              <a:gs pos="66667">
                <a:srgbClr val="EEEDEF"/>
              </a:gs>
              <a:gs pos="83333">
                <a:srgbClr val="E9E8EB"/>
              </a:gs>
              <a:gs pos="100000">
                <a:srgbClr val="E4E4E7"/>
              </a:gs>
            </a:gsLst>
            <a:lin ang="5400000" scaled="0"/>
          </a:gradFill>
          <a:xfrm>
            <a:off x="971550" y="6188571"/>
            <a:ext cx="1301800" cy="171450"/>
          </a:xfrm>
          <a:prstGeom prst="rect">
            <a:avLst/>
          </a:prstGeom>
          <a:effectLst>
            <a:outerShdw blurRad="342900" dist="114300" dir="5400000" algn="ctr" rotWithShape="0">
              <a:srgbClr val="FFFFFF">
                <a:alpha val="18000"/>
              </a:srgbClr>
            </a:outerShdw>
            <a:outerShdw blurRad="57150" dist="19050" dir="5400000" algn="ctr" rotWithShape="0">
              <a:srgbClr val="000000">
                <a:alpha val="30000"/>
              </a:srgbClr>
            </a:outerShdw>
            <a:innerShdw blurRad="0" dist="9525" dir="16200000">
              <a:srgbClr val="000000">
                <a:alpha val="10000"/>
              </a:srgbClr>
            </a:innerShdw>
          </a:effectLst>
        </p:spPr>
        <p:txBody>
          <a:bodyPr wrap="none" lIns="0" rIns="0" tIns="0" bIns="0">
            <a:spAutoFit/>
          </a:bodyPr>
          <a:lstStyle/>
          <a:p>
            <a:pPr algn="l"/>
            <a:r>
              <a:rPr sz="1125" b="1" i="0" u="none">
                <a:solidFill>
                  <a:srgbClr val="09090B"/>
                </a:solidFill>
                <a:latin typeface="Inter"/>
              </a:rPr>
              <a:t>Start building</a:t>
            </a:r>
            <a:r>
              <a:rPr sz="975" b="1" i="0" u="none">
                <a:solidFill>
                  <a:srgbClr val="09090B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6250" y="6045696"/>
            <a:ext cx="1070502" cy="45720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1" i="0" u="none">
                <a:solidFill>
                  <a:srgbClr val="F5F5F7"/>
                </a:solidFill>
                <a:latin typeface="Inter"/>
              </a:rPr>
              <a:t>Book a demo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26018" y="6443662"/>
            <a:ext cx="228600" cy="9525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A1A1AA"/>
      </a:accent2>
      <a:accent3>
        <a:srgbClr val="71717A"/>
      </a:accent3>
      <a:accent4>
        <a:srgbClr val="050510"/>
      </a:accent4>
      <a:accent5>
        <a:srgbClr val="818CF8"/>
      </a:accent5>
      <a:accent6>
        <a:srgbClr val="C084F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