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Default Extension="fntdata" ContentType="application/vnd.openxmlformats-officedocument.obfuscatedFont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2000" cy="6858000" type="screen4x3"/>
  <p:notesSz cx="6858000" cy="9144000"/>
  <p:embeddedFontLst>
    <p:embeddedFont>
      <p:font typeface="JetBrains Mono" panose="020B0609040504020204" charset="0"/>
      <p:regular r:id="rIdSlidifyFont1"/>
      <p:bold r:id="rIdSlidifyFont2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SlidifyFont1" Type="http://schemas.openxmlformats.org/officeDocument/2006/relationships/font" Target="fonts/font1.fntdata"/><Relationship Id="rIdSlidifyFont2" Type="http://schemas.openxmlformats.org/officeDocument/2006/relationships/font" Target="fonts/font2.fntdata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/>
          <p:cNvSpPr/>
          <p:nvPr/>
        </p:nvSpPr>
        <p:spPr>
          <a:xfrm>
            <a:off x="228600" y="228600"/>
            <a:ext cx="11734800" cy="6400800"/>
          </a:xfrm>
          <a:prstGeom prst="rect">
            <a:avLst/>
          </a:prstGeom>
          <a:noFill/>
          <a:ln w="19050">
            <a:solidFill>
              <a:srgbClr val="FAFA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/>
          <p:cNvSpPr txBox="1"/>
          <p:nvPr/>
        </p:nvSpPr>
        <p:spPr>
          <a:xfrm>
            <a:off x="390525" y="1914525"/>
            <a:ext cx="5715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1" i="0" u="none">
                <a:solidFill>
                  <a:srgbClr val="FAFAF9"/>
                </a:solidFill>
                <a:latin typeface="Consolas"/>
              </a:rPr>
              <a:t>IDX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2025" y="1914525"/>
            <a:ext cx="86868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1" i="0" u="none">
                <a:solidFill>
                  <a:srgbClr val="FAFAF9"/>
                </a:solidFill>
                <a:latin typeface="Consolas"/>
              </a:rPr>
              <a:t>LABEL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48825" y="1914525"/>
            <a:ext cx="9144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1" i="0" u="none">
                <a:solidFill>
                  <a:srgbClr val="FAFAF9"/>
                </a:solidFill>
                <a:latin typeface="Consolas"/>
              </a:rPr>
              <a:t>VALUE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63225" y="1914525"/>
            <a:ext cx="123825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1" i="0" u="none">
                <a:solidFill>
                  <a:srgbClr val="FAFAF9"/>
                </a:solidFill>
                <a:latin typeface="Consolas"/>
              </a:rPr>
              <a:t>STATUS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90525" y="2152650"/>
            <a:ext cx="571500" cy="3143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75" b="1" i="0" u="none">
                <a:solidFill>
                  <a:srgbClr val="FAFAF9"/>
                </a:solidFill>
                <a:latin typeface="Consolas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5375" y="2238375"/>
            <a:ext cx="3952875" cy="14287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75" b="1" i="0" u="none">
                <a:solidFill>
                  <a:srgbClr val="FAFAF9"/>
                </a:solidFill>
                <a:latin typeface="Consolas"/>
              </a:rPr>
              <a:t>edge-rx / us-east-1c</a:t>
            </a:r>
            <a:r>
              <a:rPr sz="975" b="1" i="0" u="none">
                <a:solidFill>
                  <a:srgbClr val="FAFAF9"/>
                </a:solidFill>
                <a:latin typeface="Consolas"/>
              </a:rPr>
              <a:t xml:space="preserve"> ................................ 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48825" y="2152650"/>
            <a:ext cx="914400" cy="3143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75" b="1" i="0" u="none">
                <a:solidFill>
                  <a:srgbClr val="FAFAF9"/>
                </a:solidFill>
                <a:latin typeface="Consolas"/>
              </a:rPr>
              <a:t>12.4ms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77525" y="2209800"/>
            <a:ext cx="496421" cy="200025"/>
          </a:xfrm>
          <a:prstGeom prst="rect">
            <a:avLst/>
          </a:prstGeom>
          <a:solidFill>
            <a:srgbClr val="FF5722"/>
          </a:solidFill>
        </p:spPr>
        <p:txBody>
          <a:bodyPr wrap="square" lIns="0" rIns="0" tIns="0" bIns="0">
            <a:spAutoFit/>
          </a:bodyPr>
          <a:lstStyle/>
          <a:p>
            <a:pPr algn="l"/>
            <a:r>
              <a:rPr sz="825" b="1" i="0" u="none">
                <a:solidFill>
                  <a:srgbClr val="0A0A0A"/>
                </a:solidFill>
                <a:latin typeface="Consolas"/>
              </a:rPr>
              <a:t>[ OK ]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90525" y="2476500"/>
            <a:ext cx="571500" cy="3143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75" b="1" i="0" u="none">
                <a:solidFill>
                  <a:srgbClr val="FAFAF9"/>
                </a:solidFill>
                <a:latin typeface="Consolas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5375" y="2562225"/>
            <a:ext cx="3952875" cy="14287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75" b="1" i="0" u="none">
                <a:solidFill>
                  <a:srgbClr val="FAFAF9"/>
                </a:solidFill>
                <a:latin typeface="Consolas"/>
              </a:rPr>
              <a:t>edge-rx / eu-west-2a</a:t>
            </a:r>
            <a:r>
              <a:rPr sz="975" b="1" i="0" u="none">
                <a:solidFill>
                  <a:srgbClr val="FAFAF9"/>
                </a:solidFill>
                <a:latin typeface="Consolas"/>
              </a:rPr>
              <a:t xml:space="preserve"> ................................ 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48825" y="2476500"/>
            <a:ext cx="914400" cy="3143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75" b="1" i="0" u="none">
                <a:solidFill>
                  <a:srgbClr val="FAFAF9"/>
                </a:solidFill>
                <a:latin typeface="Consolas"/>
              </a:rPr>
              <a:t>14.1ms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77525" y="2533650"/>
            <a:ext cx="496421" cy="200025"/>
          </a:xfrm>
          <a:prstGeom prst="rect">
            <a:avLst/>
          </a:prstGeom>
          <a:solidFill>
            <a:srgbClr val="FF5722"/>
          </a:solidFill>
        </p:spPr>
        <p:txBody>
          <a:bodyPr wrap="square" lIns="0" rIns="0" tIns="0" bIns="0">
            <a:spAutoFit/>
          </a:bodyPr>
          <a:lstStyle/>
          <a:p>
            <a:pPr algn="l"/>
            <a:r>
              <a:rPr sz="825" b="1" i="0" u="none">
                <a:solidFill>
                  <a:srgbClr val="0A0A0A"/>
                </a:solidFill>
                <a:latin typeface="Consolas"/>
              </a:rPr>
              <a:t>[ OK ]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90525" y="2800350"/>
            <a:ext cx="571500" cy="3143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75" b="1" i="0" u="none">
                <a:solidFill>
                  <a:srgbClr val="FAFAF9"/>
                </a:solidFill>
                <a:latin typeface="Consolas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5375" y="2886075"/>
            <a:ext cx="3729186" cy="14287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75" b="1" i="0" u="none">
                <a:solidFill>
                  <a:srgbClr val="FAFAF9"/>
                </a:solidFill>
                <a:latin typeface="Consolas"/>
              </a:rPr>
              <a:t>kfk-buf / part-12</a:t>
            </a:r>
            <a:r>
              <a:rPr sz="975" b="1" i="0" u="none">
                <a:solidFill>
                  <a:srgbClr val="FAFAF9"/>
                </a:solidFill>
                <a:latin typeface="Consolas"/>
              </a:rPr>
              <a:t xml:space="preserve"> ................................ 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48825" y="2800350"/>
            <a:ext cx="914400" cy="3143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75" b="1" i="0" u="none">
                <a:solidFill>
                  <a:srgbClr val="FAFAF9"/>
                </a:solidFill>
                <a:latin typeface="Consolas"/>
              </a:rPr>
              <a:t>1.18K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77525" y="2857500"/>
            <a:ext cx="676126" cy="2000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25" b="1" i="0" u="none">
                <a:solidFill>
                  <a:srgbClr val="FAFAF9"/>
                </a:solidFill>
                <a:latin typeface="Consolas"/>
              </a:rPr>
              <a:t>[ HOLD ]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90525" y="3124200"/>
            <a:ext cx="571500" cy="3143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75" b="1" i="0" u="none">
                <a:solidFill>
                  <a:srgbClr val="FAFAF9"/>
                </a:solidFill>
                <a:latin typeface="Consolas"/>
              </a:rPr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5375" y="3209925"/>
            <a:ext cx="3878312" cy="14287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75" b="1" i="0" u="none">
                <a:solidFill>
                  <a:srgbClr val="FAFAF9"/>
                </a:solidFill>
                <a:latin typeface="Consolas"/>
              </a:rPr>
              <a:t>norm-svc / hot-loop</a:t>
            </a:r>
            <a:r>
              <a:rPr sz="975" b="1" i="0" u="none">
                <a:solidFill>
                  <a:srgbClr val="FAFAF9"/>
                </a:solidFill>
                <a:latin typeface="Consolas"/>
              </a:rPr>
              <a:t xml:space="preserve"> ................................ 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48825" y="3124200"/>
            <a:ext cx="914400" cy="3143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75" b="1" i="0" u="none">
                <a:solidFill>
                  <a:srgbClr val="FAFAF9"/>
                </a:solidFill>
                <a:latin typeface="Consolas"/>
              </a:rPr>
              <a:t>62%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77525" y="3181350"/>
            <a:ext cx="566203" cy="200025"/>
          </a:xfrm>
          <a:prstGeom prst="rect">
            <a:avLst/>
          </a:prstGeom>
          <a:solidFill>
            <a:srgbClr val="FF5722"/>
          </a:solidFill>
        </p:spPr>
        <p:txBody>
          <a:bodyPr wrap="square" lIns="0" rIns="0" tIns="0" bIns="0">
            <a:spAutoFit/>
          </a:bodyPr>
          <a:lstStyle/>
          <a:p>
            <a:pPr algn="l"/>
            <a:r>
              <a:rPr sz="825" b="1" i="0" u="none">
                <a:solidFill>
                  <a:srgbClr val="0A0A0A"/>
                </a:solidFill>
                <a:latin typeface="Consolas"/>
              </a:rPr>
              <a:t>[ HOT ]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90525" y="3448050"/>
            <a:ext cx="571500" cy="3143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75" b="1" i="0" u="none">
                <a:solidFill>
                  <a:srgbClr val="FAFAF9"/>
                </a:solidFill>
                <a:latin typeface="Consolas"/>
              </a:rPr>
              <a:t>05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95375" y="3533775"/>
            <a:ext cx="3729186" cy="14287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75" b="1" i="0" u="none">
                <a:solidFill>
                  <a:srgbClr val="FAFAF9"/>
                </a:solidFill>
                <a:latin typeface="Consolas"/>
              </a:rPr>
              <a:t>cold-tbl / writer</a:t>
            </a:r>
            <a:r>
              <a:rPr sz="975" b="1" i="0" u="none">
                <a:solidFill>
                  <a:srgbClr val="FAFAF9"/>
                </a:solidFill>
                <a:latin typeface="Consolas"/>
              </a:rPr>
              <a:t xml:space="preserve"> ................................ 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648825" y="3448050"/>
            <a:ext cx="914400" cy="3143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75" b="1" i="0" u="none">
                <a:solidFill>
                  <a:srgbClr val="FAFAF9"/>
                </a:solidFill>
                <a:latin typeface="Consolas"/>
              </a:rPr>
              <a:t>2.4TB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677525" y="3505200"/>
            <a:ext cx="496421" cy="200025"/>
          </a:xfrm>
          <a:prstGeom prst="rect">
            <a:avLst/>
          </a:prstGeom>
          <a:solidFill>
            <a:srgbClr val="FF5722"/>
          </a:solidFill>
        </p:spPr>
        <p:txBody>
          <a:bodyPr wrap="square" lIns="0" rIns="0" tIns="0" bIns="0">
            <a:spAutoFit/>
          </a:bodyPr>
          <a:lstStyle/>
          <a:p>
            <a:pPr algn="l"/>
            <a:r>
              <a:rPr sz="825" b="1" i="0" u="none">
                <a:solidFill>
                  <a:srgbClr val="0A0A0A"/>
                </a:solidFill>
                <a:latin typeface="Consolas"/>
              </a:rPr>
              <a:t>[ OK ]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90525" y="3771900"/>
            <a:ext cx="571500" cy="3143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75" b="1" i="0" u="none">
                <a:solidFill>
                  <a:srgbClr val="FAFAF9"/>
                </a:solidFill>
                <a:latin typeface="Consolas"/>
              </a:rPr>
              <a:t>06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95375" y="3857625"/>
            <a:ext cx="3654623" cy="14287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75" b="1" i="0" u="none">
                <a:solidFill>
                  <a:srgbClr val="FAFAF9"/>
                </a:solidFill>
                <a:latin typeface="Consolas"/>
              </a:rPr>
              <a:t>obs-sink / tap-1</a:t>
            </a:r>
            <a:r>
              <a:rPr sz="975" b="1" i="0" u="none">
                <a:solidFill>
                  <a:srgbClr val="FAFAF9"/>
                </a:solidFill>
                <a:latin typeface="Consolas"/>
              </a:rPr>
              <a:t xml:space="preserve"> ................................ 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648825" y="3771900"/>
            <a:ext cx="914400" cy="3143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75" b="1" i="0" u="none">
                <a:solidFill>
                  <a:srgbClr val="FAFAF9"/>
                </a:solidFill>
                <a:latin typeface="Consolas"/>
              </a:rPr>
              <a:t>15s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677525" y="3829050"/>
            <a:ext cx="496421" cy="200025"/>
          </a:xfrm>
          <a:prstGeom prst="rect">
            <a:avLst/>
          </a:prstGeom>
          <a:solidFill>
            <a:srgbClr val="FF5722"/>
          </a:solidFill>
        </p:spPr>
        <p:txBody>
          <a:bodyPr wrap="square" lIns="0" rIns="0" tIns="0" bIns="0">
            <a:spAutoFit/>
          </a:bodyPr>
          <a:lstStyle/>
          <a:p>
            <a:pPr algn="l"/>
            <a:r>
              <a:rPr sz="825" b="1" i="0" u="none">
                <a:solidFill>
                  <a:srgbClr val="0A0A0A"/>
                </a:solidFill>
                <a:latin typeface="Consolas"/>
              </a:rPr>
              <a:t>[ OK ]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90525" y="4095750"/>
            <a:ext cx="571500" cy="3143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75" b="1" i="0" u="none">
                <a:solidFill>
                  <a:srgbClr val="FAFAF9"/>
                </a:solidFill>
                <a:latin typeface="Consolas"/>
              </a:rPr>
              <a:t>07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95375" y="4181475"/>
            <a:ext cx="3803749" cy="14287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75" b="1" i="0" u="none">
                <a:solidFill>
                  <a:srgbClr val="FAFAF9"/>
                </a:solidFill>
                <a:latin typeface="Consolas"/>
              </a:rPr>
              <a:t>tok-sign / ed25519</a:t>
            </a:r>
            <a:r>
              <a:rPr sz="975" b="1" i="0" u="none">
                <a:solidFill>
                  <a:srgbClr val="FAFAF9"/>
                </a:solidFill>
                <a:latin typeface="Consolas"/>
              </a:rPr>
              <a:t xml:space="preserve"> ................................ 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648825" y="4095750"/>
            <a:ext cx="914400" cy="3143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75" b="1" i="0" u="none">
                <a:solidFill>
                  <a:srgbClr val="FAFAF9"/>
                </a:solidFill>
                <a:latin typeface="Consolas"/>
              </a:rPr>
              <a:t>4.0ms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677525" y="4152900"/>
            <a:ext cx="496421" cy="200025"/>
          </a:xfrm>
          <a:prstGeom prst="rect">
            <a:avLst/>
          </a:prstGeom>
          <a:solidFill>
            <a:srgbClr val="FF5722"/>
          </a:solidFill>
        </p:spPr>
        <p:txBody>
          <a:bodyPr wrap="square" lIns="0" rIns="0" tIns="0" bIns="0">
            <a:spAutoFit/>
          </a:bodyPr>
          <a:lstStyle/>
          <a:p>
            <a:pPr algn="l"/>
            <a:r>
              <a:rPr sz="825" b="1" i="0" u="none">
                <a:solidFill>
                  <a:srgbClr val="0A0A0A"/>
                </a:solidFill>
                <a:latin typeface="Consolas"/>
              </a:rPr>
              <a:t>[ OK ]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90525" y="4419600"/>
            <a:ext cx="571500" cy="3143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75" b="1" i="0" u="none">
                <a:solidFill>
                  <a:srgbClr val="FAFAF9"/>
                </a:solidFill>
                <a:latin typeface="Consolas"/>
              </a:rPr>
              <a:t>08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95375" y="4505325"/>
            <a:ext cx="3803749" cy="14287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75" b="1" i="0" u="none">
                <a:solidFill>
                  <a:srgbClr val="FAFAF9"/>
                </a:solidFill>
                <a:latin typeface="Consolas"/>
              </a:rPr>
              <a:t>warm-set / shard-2</a:t>
            </a:r>
            <a:r>
              <a:rPr sz="975" b="1" i="0" u="none">
                <a:solidFill>
                  <a:srgbClr val="FAFAF9"/>
                </a:solidFill>
                <a:latin typeface="Consolas"/>
              </a:rPr>
              <a:t xml:space="preserve"> ................................ 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648825" y="4419600"/>
            <a:ext cx="914400" cy="3143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75" b="1" i="0" u="none">
                <a:solidFill>
                  <a:srgbClr val="FAFAF9"/>
                </a:solidFill>
                <a:latin typeface="Consolas"/>
              </a:rPr>
              <a:t>94.2%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677525" y="4476750"/>
            <a:ext cx="496421" cy="200025"/>
          </a:xfrm>
          <a:prstGeom prst="rect">
            <a:avLst/>
          </a:prstGeom>
          <a:solidFill>
            <a:srgbClr val="FF5722"/>
          </a:solidFill>
        </p:spPr>
        <p:txBody>
          <a:bodyPr wrap="square" lIns="0" rIns="0" tIns="0" bIns="0">
            <a:spAutoFit/>
          </a:bodyPr>
          <a:lstStyle/>
          <a:p>
            <a:pPr algn="l"/>
            <a:r>
              <a:rPr sz="825" b="1" i="0" u="none">
                <a:solidFill>
                  <a:srgbClr val="0A0A0A"/>
                </a:solidFill>
                <a:latin typeface="Consolas"/>
              </a:rPr>
              <a:t>[ OK ]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90525" y="4743450"/>
            <a:ext cx="571500" cy="3143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75" b="1" i="0" u="none">
                <a:solidFill>
                  <a:srgbClr val="FAFAF9"/>
                </a:solidFill>
                <a:latin typeface="Consolas"/>
              </a:rPr>
              <a:t>09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95375" y="4829175"/>
            <a:ext cx="3803749" cy="14287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75" b="1" i="0" u="none">
                <a:solidFill>
                  <a:srgbClr val="FAFAF9"/>
                </a:solidFill>
                <a:latin typeface="Consolas"/>
              </a:rPr>
              <a:t>flag-svc / eval-rt</a:t>
            </a:r>
            <a:r>
              <a:rPr sz="975" b="1" i="0" u="none">
                <a:solidFill>
                  <a:srgbClr val="FAFAF9"/>
                </a:solidFill>
                <a:latin typeface="Consolas"/>
              </a:rPr>
              <a:t xml:space="preserve"> ................................ 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648825" y="4743450"/>
            <a:ext cx="914400" cy="3143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75" b="1" i="0" u="none">
                <a:solidFill>
                  <a:srgbClr val="FAFAF9"/>
                </a:solidFill>
                <a:latin typeface="Consolas"/>
              </a:rPr>
              <a:t>12.0ms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677525" y="4800600"/>
            <a:ext cx="739229" cy="2000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25" b="1" i="0" u="none">
                <a:solidFill>
                  <a:srgbClr val="FAFAF9"/>
                </a:solidFill>
                <a:latin typeface="Consolas"/>
              </a:rPr>
              <a:t>[ WATCH ]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90525" y="5067300"/>
            <a:ext cx="571500" cy="3143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75" b="1" i="0" u="none">
                <a:solidFill>
                  <a:srgbClr val="FAFAF9"/>
                </a:solidFill>
                <a:latin typeface="Consolas"/>
              </a:rPr>
              <a:t>10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95375" y="5153025"/>
            <a:ext cx="3952875" cy="14287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75" b="1" i="0" u="none">
                <a:solidFill>
                  <a:srgbClr val="FAFAF9"/>
                </a:solidFill>
                <a:latin typeface="Consolas"/>
              </a:rPr>
              <a:t>meter-rx / rollup-5m</a:t>
            </a:r>
            <a:r>
              <a:rPr sz="975" b="1" i="0" u="none">
                <a:solidFill>
                  <a:srgbClr val="FAFAF9"/>
                </a:solidFill>
                <a:latin typeface="Consolas"/>
              </a:rPr>
              <a:t xml:space="preserve"> ................................ 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648825" y="5067300"/>
            <a:ext cx="914400" cy="3143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75" b="1" i="0" u="none">
                <a:solidFill>
                  <a:srgbClr val="FAFAF9"/>
                </a:solidFill>
                <a:latin typeface="Consolas"/>
              </a:rPr>
              <a:t>0.013%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677525" y="5124450"/>
            <a:ext cx="739229" cy="2000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25" b="1" i="0" u="none">
                <a:solidFill>
                  <a:srgbClr val="FAFAF9"/>
                </a:solidFill>
                <a:latin typeface="Consolas"/>
              </a:rPr>
              <a:t>[ WATCH ]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90525" y="5391150"/>
            <a:ext cx="571500" cy="3143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75" b="1" i="0" u="none">
                <a:solidFill>
                  <a:srgbClr val="FAFAF9"/>
                </a:solidFill>
                <a:latin typeface="Consolas"/>
              </a:rPr>
              <a:t>11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95375" y="5476875"/>
            <a:ext cx="3878312" cy="14287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75" b="1" i="0" u="none">
                <a:solidFill>
                  <a:srgbClr val="FAFAF9"/>
                </a:solidFill>
                <a:latin typeface="Consolas"/>
              </a:rPr>
              <a:t>dead-q / quarantine</a:t>
            </a:r>
            <a:r>
              <a:rPr sz="975" b="1" i="0" u="none">
                <a:solidFill>
                  <a:srgbClr val="FAFAF9"/>
                </a:solidFill>
                <a:latin typeface="Consolas"/>
              </a:rPr>
              <a:t xml:space="preserve"> ................................ 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648825" y="5391150"/>
            <a:ext cx="914400" cy="3143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75" b="1" i="0" u="none">
                <a:solidFill>
                  <a:srgbClr val="FAFAF9"/>
                </a:solidFill>
                <a:latin typeface="Consolas"/>
              </a:rPr>
              <a:t>412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0677525" y="5448300"/>
            <a:ext cx="676126" cy="2000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25" b="1" i="0" u="none">
                <a:solidFill>
                  <a:srgbClr val="FAFAF9"/>
                </a:solidFill>
                <a:latin typeface="Consolas"/>
              </a:rPr>
              <a:t>[ FAIL ]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390525" y="5715000"/>
            <a:ext cx="571500" cy="3143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75" b="1" i="0" u="none">
                <a:solidFill>
                  <a:srgbClr val="FAFAF9"/>
                </a:solidFill>
                <a:latin typeface="Consolas"/>
              </a:rPr>
              <a:t>12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095375" y="5800725"/>
            <a:ext cx="3803749" cy="14287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75" b="1" i="0" u="none">
                <a:solidFill>
                  <a:srgbClr val="FAFAF9"/>
                </a:solidFill>
                <a:latin typeface="Consolas"/>
              </a:rPr>
              <a:t>nightly / cron-03Z</a:t>
            </a:r>
            <a:r>
              <a:rPr sz="975" b="1" i="0" u="none">
                <a:solidFill>
                  <a:srgbClr val="FAFAF9"/>
                </a:solidFill>
                <a:latin typeface="Consolas"/>
              </a:rPr>
              <a:t xml:space="preserve"> ................................ 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648825" y="5715000"/>
            <a:ext cx="914400" cy="3143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75" b="1" i="0" u="none">
                <a:solidFill>
                  <a:srgbClr val="FAFAF9"/>
                </a:solidFill>
                <a:latin typeface="Consolas"/>
              </a:rPr>
              <a:t>--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0677525" y="5772150"/>
            <a:ext cx="676126" cy="2000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25" b="1" i="0" u="none">
                <a:solidFill>
                  <a:srgbClr val="FAFAF9"/>
                </a:solidFill>
                <a:latin typeface="Consolas"/>
              </a:rPr>
              <a:t>[ IDLE ]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381000" y="762000"/>
            <a:ext cx="5734645" cy="1238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25" b="1" i="0" u="none">
                <a:solidFill>
                  <a:srgbClr val="FF5722"/>
                </a:solidFill>
                <a:latin typeface="Consolas"/>
              </a:rPr>
              <a:t>// 25 — STATUS BOARD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381000" y="962025"/>
            <a:ext cx="5734645" cy="400050"/>
          </a:xfrm>
          <a:prstGeom prst="rect">
            <a:avLst/>
          </a:prstGeom>
          <a:noFill/>
        </p:spPr>
        <p:txBody>
          <a:bodyPr wrap="none" lIns="0" rIns="0" tIns="0" bIns="0">
            <a:normAutofit/>
          </a:bodyPr>
          <a:lstStyle/>
          <a:p>
            <a:pPr algn="l"/>
            <a:r>
              <a:rPr sz="3000" b="1" i="0" u="none">
                <a:solidFill>
                  <a:srgbClr val="FAFAF9"/>
                </a:solidFill>
                <a:latin typeface="Consolas"/>
              </a:rPr>
              <a:t>FLEET-Z // RUNTIME STATUS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0044708" y="847130"/>
            <a:ext cx="1766292" cy="47982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25" b="1" i="0" u="none">
                <a:solidFill>
                  <a:srgbClr val="FAFAF9"/>
                </a:solidFill>
                <a:latin typeface="Consolas"/>
              </a:rPr>
              <a:t xml:space="preserve">
      ROWS  12</a:t>
            </a:r>
          </a:p>
          <a:p>
            <a:pPr algn="r"/>
            <a:r>
              <a:rPr sz="825" b="1" i="0" u="none">
                <a:solidFill>
                  <a:srgbClr val="FF5722"/>
                </a:solidFill>
                <a:latin typeface="Consolas"/>
              </a:rPr>
              <a:t>OK    7</a:t>
            </a:r>
            <a:r>
              <a:rPr sz="825" b="1" i="0" u="none">
                <a:solidFill>
                  <a:srgbClr val="FAFAF9"/>
                </a:solidFill>
                <a:latin typeface="Consolas"/>
              </a:rPr>
              <a:t xml:space="preserve"> // WATCH 3 // FAIL 2</a:t>
            </a:r>
          </a:p>
          <a:p>
            <a:pPr algn="r"/>
            <a:r>
              <a:rPr sz="825" b="1" i="0" u="none">
                <a:solidFill>
                  <a:srgbClr val="FAFAF9"/>
                </a:solidFill>
                <a:latin typeface="Consolas"/>
              </a:rPr>
              <a:t xml:space="preserve">
      WINDOW 5 MIN
    </a:t>
            </a:r>
          </a:p>
        </p:txBody>
      </p:sp>
      <p:sp>
        <p:nvSpPr>
          <p:cNvPr id="59" name="Rectangle 58"/>
          <p:cNvSpPr/>
          <p:nvPr/>
        </p:nvSpPr>
        <p:spPr>
          <a:xfrm>
            <a:off x="10096500" y="6191250"/>
            <a:ext cx="95250" cy="95250"/>
          </a:xfrm>
          <a:prstGeom prst="rect">
            <a:avLst/>
          </a:prstGeom>
          <a:solidFill>
            <a:srgbClr val="FAFA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" name="Rectangle 59"/>
          <p:cNvSpPr/>
          <p:nvPr/>
        </p:nvSpPr>
        <p:spPr>
          <a:xfrm>
            <a:off x="10229850" y="6191250"/>
            <a:ext cx="95250" cy="95250"/>
          </a:xfrm>
          <a:prstGeom prst="rect">
            <a:avLst/>
          </a:prstGeom>
          <a:noFill/>
          <a:ln w="9525">
            <a:solidFill>
              <a:srgbClr val="FAFA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" name="Rectangle 60"/>
          <p:cNvSpPr/>
          <p:nvPr/>
        </p:nvSpPr>
        <p:spPr>
          <a:xfrm>
            <a:off x="10363200" y="6191250"/>
            <a:ext cx="95250" cy="95250"/>
          </a:xfrm>
          <a:prstGeom prst="rect">
            <a:avLst/>
          </a:prstGeom>
          <a:solidFill>
            <a:srgbClr val="FAFA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2" name="Rectangle 61"/>
          <p:cNvSpPr/>
          <p:nvPr/>
        </p:nvSpPr>
        <p:spPr>
          <a:xfrm>
            <a:off x="10496550" y="6191250"/>
            <a:ext cx="95250" cy="95250"/>
          </a:xfrm>
          <a:prstGeom prst="rect">
            <a:avLst/>
          </a:prstGeom>
          <a:solidFill>
            <a:srgbClr val="FF5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3" name="Rectangle 62"/>
          <p:cNvSpPr/>
          <p:nvPr/>
        </p:nvSpPr>
        <p:spPr>
          <a:xfrm>
            <a:off x="10629900" y="6191250"/>
            <a:ext cx="95250" cy="95250"/>
          </a:xfrm>
          <a:prstGeom prst="rect">
            <a:avLst/>
          </a:prstGeom>
          <a:noFill/>
          <a:ln w="9525">
            <a:solidFill>
              <a:srgbClr val="FAFA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4" name="Rectangle 63"/>
          <p:cNvSpPr/>
          <p:nvPr/>
        </p:nvSpPr>
        <p:spPr>
          <a:xfrm>
            <a:off x="10763250" y="6191250"/>
            <a:ext cx="95250" cy="95250"/>
          </a:xfrm>
          <a:prstGeom prst="rect">
            <a:avLst/>
          </a:prstGeom>
          <a:solidFill>
            <a:srgbClr val="FAFA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5" name="Rectangle 64"/>
          <p:cNvSpPr/>
          <p:nvPr/>
        </p:nvSpPr>
        <p:spPr>
          <a:xfrm>
            <a:off x="10896600" y="6191250"/>
            <a:ext cx="95250" cy="95250"/>
          </a:xfrm>
          <a:prstGeom prst="rect">
            <a:avLst/>
          </a:prstGeom>
          <a:solidFill>
            <a:srgbClr val="FAFA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6" name="Rectangle 65"/>
          <p:cNvSpPr/>
          <p:nvPr/>
        </p:nvSpPr>
        <p:spPr>
          <a:xfrm>
            <a:off x="11029950" y="6191250"/>
            <a:ext cx="95250" cy="95250"/>
          </a:xfrm>
          <a:prstGeom prst="rect">
            <a:avLst/>
          </a:prstGeom>
          <a:noFill/>
          <a:ln w="9525">
            <a:solidFill>
              <a:srgbClr val="FAFA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7" name="Rectangle 66"/>
          <p:cNvSpPr/>
          <p:nvPr/>
        </p:nvSpPr>
        <p:spPr>
          <a:xfrm>
            <a:off x="11163300" y="6191250"/>
            <a:ext cx="95250" cy="95250"/>
          </a:xfrm>
          <a:prstGeom prst="rect">
            <a:avLst/>
          </a:prstGeom>
          <a:solidFill>
            <a:srgbClr val="FAFA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8" name="Rectangle 67"/>
          <p:cNvSpPr/>
          <p:nvPr/>
        </p:nvSpPr>
        <p:spPr>
          <a:xfrm>
            <a:off x="11296650" y="6191250"/>
            <a:ext cx="95250" cy="95250"/>
          </a:xfrm>
          <a:prstGeom prst="rect">
            <a:avLst/>
          </a:prstGeom>
          <a:solidFill>
            <a:srgbClr val="FF5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9" name="Rectangle 68"/>
          <p:cNvSpPr/>
          <p:nvPr/>
        </p:nvSpPr>
        <p:spPr>
          <a:xfrm>
            <a:off x="11430000" y="6191250"/>
            <a:ext cx="95250" cy="95250"/>
          </a:xfrm>
          <a:prstGeom prst="rect">
            <a:avLst/>
          </a:prstGeom>
          <a:noFill/>
          <a:ln w="9525">
            <a:solidFill>
              <a:srgbClr val="FAFA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0" name="Rectangle 69"/>
          <p:cNvSpPr/>
          <p:nvPr/>
        </p:nvSpPr>
        <p:spPr>
          <a:xfrm>
            <a:off x="11563350" y="6191250"/>
            <a:ext cx="95250" cy="95250"/>
          </a:xfrm>
          <a:prstGeom prst="rect">
            <a:avLst/>
          </a:prstGeom>
          <a:solidFill>
            <a:srgbClr val="FAFA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1" name="Rectangle 70"/>
          <p:cNvSpPr/>
          <p:nvPr/>
        </p:nvSpPr>
        <p:spPr>
          <a:xfrm>
            <a:off x="11696700" y="6191250"/>
            <a:ext cx="95250" cy="95250"/>
          </a:xfrm>
          <a:prstGeom prst="rect">
            <a:avLst/>
          </a:prstGeom>
          <a:solidFill>
            <a:srgbClr val="FAFA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FAFAF9"/>
      </a:accent1>
      <a:accent2>
        <a:srgbClr val="FF5722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