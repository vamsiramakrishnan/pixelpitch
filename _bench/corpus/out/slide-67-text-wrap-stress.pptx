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B1020"/>
              </a:gs>
              <a:gs pos="7500">
                <a:srgbClr val="0D1328"/>
              </a:gs>
              <a:gs pos="15000">
                <a:srgbClr val="101730"/>
              </a:gs>
              <a:gs pos="22500">
                <a:srgbClr val="121A38"/>
              </a:gs>
              <a:gs pos="30000">
                <a:srgbClr val="151D40"/>
              </a:gs>
              <a:gs pos="37500">
                <a:srgbClr val="172148"/>
              </a:gs>
              <a:gs pos="45000">
                <a:srgbClr val="1A2451"/>
              </a:gs>
              <a:gs pos="54167">
                <a:srgbClr val="1B2A59"/>
              </a:gs>
              <a:gs pos="63333">
                <a:srgbClr val="1C3161"/>
              </a:gs>
              <a:gs pos="72500">
                <a:srgbClr val="1D386A"/>
              </a:gs>
              <a:gs pos="81667">
                <a:srgbClr val="1D3F72"/>
              </a:gs>
              <a:gs pos="90833">
                <a:srgbClr val="1C467A"/>
              </a:gs>
              <a:gs pos="100000">
                <a:srgbClr val="1A4D82"/>
              </a:gs>
            </a:gsLst>
            <a:lin ang="2700000" scaled="0"/>
          </a:gradFill>
          <a:xfrm>
            <a:off x="0" y="0"/>
            <a:ext cx="13011150" cy="73152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47700" y="533400"/>
            <a:ext cx="10287000" cy="172789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EEF3FF"/>
                </a:solidFill>
                <a:latin typeface="Inter"/>
              </a:rPr>
              <a:t>Operationally, this quarter validated a deliberate “native-first, raster-fallback” strategy for complex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2527995"/>
            <a:ext cx="10858500" cy="61704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800" b="0" i="0" u="none">
                <a:solidFill>
                  <a:srgbClr val="EEF3FF"/>
                </a:solidFill>
                <a:latin typeface="Inter"/>
              </a:rPr>
              <a:t>We improved deterministic wrapping across long phrases, numerals (123,456,789), symbols (&amp; + / %), and punctuation-heavy snippets—without sacrificing editability in PowerPoint.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3411736"/>
            <a:ext cx="3765500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66775" y="3611761"/>
            <a:ext cx="33273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59411"/>
            <a:ext cx="3327350" cy="13483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93.4% average SSIM across stress scenarios with multi-line title/lede structures.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2750" y="3411736"/>
            <a:ext cx="3765500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841825" y="3611761"/>
            <a:ext cx="332735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Editability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825" y="3859411"/>
            <a:ext cx="3327350" cy="13483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88% of visible area emitted as native text/shape/table primitives.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7801" y="3411736"/>
            <a:ext cx="3765649" cy="3370064"/>
          </a:xfrm>
          <a:prstGeom prst="round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  <a:effectLst>
            <a:outerShdw blurRad="266700" dist="114300" dir="5400000" algn="ctr" rotWithShape="0">
              <a:srgbClr val="040916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816876" y="3611761"/>
            <a:ext cx="3327499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EEF3FF"/>
                </a:solidFill>
                <a:latin typeface="Inter"/>
              </a:rPr>
              <a:t>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6876" y="3859411"/>
            <a:ext cx="3327499" cy="10112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EEF3FF"/>
                </a:solidFill>
                <a:latin typeface="Inter"/>
              </a:rPr>
              <a:t>1.7s median single-slide conversion at standard preview resolution.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EF3FF"/>
      </a:accent1>
      <a:accent2>
        <a:srgbClr val="0B1020"/>
      </a:accent2>
      <a:accent3>
        <a:srgbClr val="1A2451"/>
      </a:accent3>
      <a:accent4>
        <a:srgbClr val="1A4D8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