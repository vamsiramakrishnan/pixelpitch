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975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47 · EBITDA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17302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Three quarters of the FY27 EBITDA uplift comes from price and mix — cost programs hold the rest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 $612M base expands to $864M by FY27 in the recommended plan; the bridge is dominated by net-price realization and channel mix, with cost-out and one-time investments largely cancelling.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2314575"/>
            <a:ext cx="7086600" cy="2886075"/>
          </a:xfrm>
          <a:prstGeom prst="rect">
            <a:avLst/>
          </a:prstGeom>
          <a:solidFill>
            <a:srgbClr val="F7F5F2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827216" y="2486025"/>
            <a:ext cx="57611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7630" y="2486025"/>
            <a:ext cx="54426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Additions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195" y="2486025"/>
            <a:ext cx="70098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Subtractions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359" y="2824162"/>
            <a:ext cx="22651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4814" y="3295650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4814" y="3767138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814" y="4238625"/>
            <a:ext cx="15106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5422" y="4662488"/>
            <a:ext cx="5045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314575"/>
            <a:ext cx="303415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FY24 to FY27 EBITDA Bridge, USD millions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2486025"/>
            <a:ext cx="27807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ource Serif Pro"/>
              </a:rPr>
              <a:t>Plan view; figures rounded to nearest $5M, base · deltas ·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95067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$612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EBITDA 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4797" y="3218706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4797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Net new logos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7994" y="2959745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+138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7994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Net realization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1191" y="2854672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1191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SG&amp;A re-base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4388" y="2854672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−28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4388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Headwind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7584" y="2907209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−42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7584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R&amp;D &amp; GTM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0781" y="2922240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+34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0781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M&amp;A &amp; one-offs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3978" y="2922240"/>
            <a:ext cx="8131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$864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3978" y="5089327"/>
            <a:ext cx="813197" cy="1113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0" u="none">
                <a:solidFill>
                  <a:srgbClr val="475569"/>
                </a:solidFill>
                <a:latin typeface="Inter"/>
              </a:rPr>
              <a:t>EBITDA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171700"/>
            <a:ext cx="335280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Calculation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2475" y="2552700"/>
            <a:ext cx="3067050" cy="4296817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372475" y="3051721"/>
            <a:ext cx="2808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FY24 EBITDA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56764" y="3051721"/>
            <a:ext cx="182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612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6775" y="326127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at 18.4% margin on $3,326M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2475" y="346129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53639" y="346129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6775" y="367084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+1,420 net logos × $66k ACV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2475" y="3870871"/>
            <a:ext cx="27440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Price &amp; mix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92768" y="3870871"/>
            <a:ext cx="24675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+138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408042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+3.6% list · +1.4 ppt mix shift to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2475" y="428044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Cost-out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3639" y="428044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6775" y="448999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SG&amp;A from 22.1% → 20.7% of revenue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2475" y="4690021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(−) FX &amp; inflation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3639" y="4690021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7A1F3D"/>
                </a:solidFill>
                <a:latin typeface="Inter"/>
              </a:rPr>
              <a:t>−28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6775" y="489957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USD strength + 4.1% wage 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2475" y="5099596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(−) Reinvestment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53639" y="5099596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7A1F3D"/>
                </a:solidFill>
                <a:latin typeface="Inter"/>
              </a:rPr>
              <a:t>−42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6775" y="5309146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R&amp;D 14.0% → 14.9% · GTM uplift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2475" y="5509171"/>
            <a:ext cx="28049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(+) Other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53639" y="5509171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+34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6775" y="5718721"/>
            <a:ext cx="2876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Tuck-ins (2) · one-time benefit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2475" y="6004471"/>
            <a:ext cx="2808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FY27 EBITDA 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56764" y="6004471"/>
            <a:ext cx="182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864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2475" y="2552700"/>
            <a:ext cx="30670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Bridge math · $M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2475" y="2714625"/>
            <a:ext cx="3067050" cy="184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2" b="1" i="0" u="none">
                <a:solidFill>
                  <a:srgbClr val="1A1A1A"/>
                </a:solidFill>
                <a:latin typeface="Source Serif Pro"/>
              </a:rPr>
              <a:t>FY24 actual to FY27 plan, in flow order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2475" y="6261646"/>
            <a:ext cx="30670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at </a:t>
            </a:r>
            <a:r>
              <a:rPr sz="800" b="1" i="0" u="none">
                <a:solidFill>
                  <a:srgbClr val="1A1A1A"/>
                </a:solidFill>
                <a:latin typeface="Inter"/>
              </a:rPr>
              <a:t>21.3%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margin on $4,058M revenue (+6.9% CAGR)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2475" y="6471196"/>
            <a:ext cx="3067050" cy="386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CAGR on EBITDA: </a:t>
            </a:r>
            <a:r>
              <a:rPr sz="800" b="1" i="0" u="none">
                <a:solidFill>
                  <a:srgbClr val="1A1A1A"/>
                </a:solidFill>
                <a:latin typeface="Source Serif Pro"/>
              </a:rPr>
              <a:t>+12.2%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over three years; 76% of the absolute uplift sits in price, mix, and volume.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353175"/>
            <a:ext cx="8401943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value-architecture model, March 2026 vintage; client management plan, FY24 actuals from audited 10-K; macro inputs from IMF World Economic Outlook, Oct 2025.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Recommended-plan view; downside case in appendix D-2.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Order is presentational, not arithmetic.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Volume + price + mix combined.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55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475569"/>
      </a:accent2>
      <a:accent3>
        <a:srgbClr val="0B3A5C"/>
      </a:accent3>
      <a:accent4>
        <a:srgbClr val="CBD5E1"/>
      </a:accent4>
      <a:accent5>
        <a:srgbClr val="7A1F3D"/>
      </a:accent5>
      <a:accent6>
        <a:srgbClr val="F7F5F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