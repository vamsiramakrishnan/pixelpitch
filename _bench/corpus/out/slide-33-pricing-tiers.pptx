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5000">
                <a:srgbClr val="14102E"/>
              </a:gs>
              <a:gs pos="55000">
                <a:srgbClr val="0A0820"/>
              </a:gs>
              <a:gs pos="82000">
                <a:srgbClr val="050510"/>
              </a:gs>
              <a:gs pos="100000">
                <a:srgbClr val="050510"/>
              </a:gs>
            </a:gsLst>
            <a:path path="circle">
              <a:fillToRect l="50000" t="8000" r="50000" b="92000"/>
            </a:path>
          </a:gradFill>
          <a:xfrm>
            <a:off x="0" y="0"/>
            <a:ext cx="12192000" cy="66294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53738" y="6496050"/>
            <a:ext cx="72866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03 /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83051" y="609600"/>
            <a:ext cx="2425898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C4B5FD"/>
                </a:solidFill>
                <a:latin typeface="Inter"/>
              </a:rPr>
              <a:t>SIMPLE, USAGE-BASED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38225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 i="0" u="none">
                <a:solidFill>
                  <a:srgbClr val="F5F5F7"/>
                </a:solidFill>
                <a:latin typeface="Inter"/>
              </a:rPr>
              <a:t xml:space="preserve">Pricing that scales </a:t>
            </a:r>
            <a:r>
              <a:rPr sz="36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900000" scaled="0"/>
                </a:gradFill>
                <a:latin typeface="Inter"/>
              </a:rPr>
              <a:t>with your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71625"/>
            <a:ext cx="5334000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0" i="0" u="none">
                <a:solidFill>
                  <a:srgbClr val="A1A1AA"/>
                </a:solidFill>
                <a:latin typeface="Inter"/>
              </a:rPr>
              <a:t>Start free. Pay only for what you ship. No platform fees, no per-seat lock-in.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8327" y="2214562"/>
            <a:ext cx="833735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1A1AA"/>
                </a:solidFill>
                <a:latin typeface="Inter"/>
              </a:rPr>
              <a:t>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2062" y="2214562"/>
            <a:ext cx="1941612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0A0820"/>
                </a:solidFill>
                <a:latin typeface="Inter"/>
              </a:rPr>
              <a:t>Annual</a:t>
            </a:r>
            <a:r>
              <a:rPr sz="975" b="1" i="0" u="none">
                <a:solidFill>
                  <a:srgbClr val="A3E635"/>
                </a:solidFill>
                <a:latin typeface="Inter"/>
              </a:rPr>
              <a:t xml:space="preserve">  · Save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057525"/>
            <a:ext cx="704999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874" y="3390900"/>
            <a:ext cx="5201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4516934"/>
            <a:ext cx="1731615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1" i="0" u="none">
                <a:solidFill>
                  <a:srgbClr val="F5F5F7"/>
                </a:solidFill>
                <a:latin typeface="Inter"/>
              </a:rPr>
              <a:t>1M</a:t>
            </a:r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 requests / mo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4783634"/>
            <a:ext cx="1718072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3 deployments,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2 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5050334"/>
            <a:ext cx="127888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Community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5317034"/>
            <a:ext cx="1654373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Edge runtime + KV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475" y="5583734"/>
            <a:ext cx="106040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GitHub previews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809875"/>
            <a:ext cx="2962573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Starter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648075"/>
            <a:ext cx="296257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For solo builders shipping side projects.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943350"/>
            <a:ext cx="296257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Start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5148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7815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50482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5314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55816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6010275"/>
            <a:ext cx="296257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Inter"/>
              </a:rPr>
              <a:t>No credit card required.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1621" y="3276600"/>
            <a:ext cx="71407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/ seat /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798" y="4383584"/>
            <a:ext cx="199013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1" i="0" u="none">
                <a:solidFill>
                  <a:srgbClr val="F5F5F7"/>
                </a:solidFill>
                <a:latin typeface="Inter"/>
              </a:rPr>
              <a:t>50M</a:t>
            </a:r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 requests, then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$0.40 /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798" y="4650284"/>
            <a:ext cx="2344936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Unlimited deployments,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31 regions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798" y="4916984"/>
            <a:ext cx="1962894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SLO dashboards +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p95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798" y="5183684"/>
            <a:ext cx="2145209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SSO, audit log, role-based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798" y="5450384"/>
            <a:ext cx="1374428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Priority Slack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2798" y="5717084"/>
            <a:ext cx="2226171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Custom domains + edge functions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7018" y="2333625"/>
            <a:ext cx="1337667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820"/>
                </a:solidFill>
                <a:latin typeface="Inter"/>
              </a:rPr>
              <a:t>Most popular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7048" y="2695575"/>
            <a:ext cx="32377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E9D5FF"/>
                </a:solidFill>
                <a:latin typeface="Inter"/>
              </a:rPr>
              <a:t>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7048" y="2943225"/>
            <a:ext cx="1057424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 i="0" u="none">
                <a:gradFill rotWithShape="1">
                  <a:gsLst>
                    <a:gs pos="0">
                      <a:srgbClr val="F5F5F7"/>
                    </a:gs>
                    <a:gs pos="50000">
                      <a:srgbClr val="E9D5FF"/>
                    </a:gs>
                    <a:gs pos="100000">
                      <a:srgbClr val="FBCFE8"/>
                    </a:gs>
                  </a:gsLst>
                  <a:lin ang="1200000" scaled="0"/>
                </a:gradFill>
                <a:latin typeface="Inter"/>
              </a:rPr>
              <a:t>$49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7048" y="3533775"/>
            <a:ext cx="323775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For teams shipping production AI features.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7048" y="3829050"/>
            <a:ext cx="3237756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820"/>
                </a:solidFill>
                <a:latin typeface="Inter"/>
              </a:rPr>
              <a:t>Start 14-day trial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7048" y="4381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7048" y="46482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7048" y="49149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7048" y="51816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7048" y="54483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7048" y="5715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BCFE8"/>
                </a:solidFill>
                <a:latin typeface="Inter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7048" y="6143625"/>
            <a:ext cx="3237756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Inter"/>
              </a:rPr>
              <a:t>Includes everything in Starter.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1554" y="3057525"/>
            <a:ext cx="2153989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Custom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7304" y="4516934"/>
            <a:ext cx="221992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Volume pricing &amp;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committed 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7304" y="4783634"/>
            <a:ext cx="2354461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 xml:space="preserve">VPC peering, BYOK, </a:t>
            </a:r>
            <a:r>
              <a:rPr sz="1012" b="1" i="0" u="none">
                <a:solidFill>
                  <a:srgbClr val="F5F5F7"/>
                </a:solidFill>
                <a:latin typeface="Inter"/>
              </a:rPr>
              <a:t>SOC 2 + HIPAA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7304" y="5050334"/>
            <a:ext cx="1881485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Dedicated solutions architect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7304" y="5317034"/>
            <a:ext cx="1722090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99.99% SLA + 24/7 on-call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67304" y="5583734"/>
            <a:ext cx="1810792" cy="1863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D4D4D8"/>
                </a:solidFill>
                <a:latin typeface="Inter"/>
              </a:rPr>
              <a:t>SSO/SCIM, custom retention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1554" y="2809875"/>
            <a:ext cx="296272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Enterprise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1554" y="3648075"/>
            <a:ext cx="29627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For platforms with regulated workloads.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1554" y="3943350"/>
            <a:ext cx="296272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Talk to sales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1554" y="45148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1554" y="47815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1554" y="50482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1554" y="5314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1554" y="55816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1554" y="6010275"/>
            <a:ext cx="296272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Inter"/>
              </a:rPr>
              <a:t>Includes everything in Pro.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" y="6496050"/>
            <a:ext cx="353883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All prices in USD · Billed monthly or annually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0" y="0"/>
            <a:ext cx="265048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Pricing that scales with your traffic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4D4D8"/>
      </a:accent1>
      <a:accent2>
        <a:srgbClr val="F5F5F7"/>
      </a:accent2>
      <a:accent3>
        <a:srgbClr val="A3E635"/>
      </a:accent3>
      <a:accent4>
        <a:srgbClr val="0A0820"/>
      </a:accent4>
      <a:accent5>
        <a:srgbClr val="A1A1AA"/>
      </a:accent5>
      <a:accent6>
        <a:srgbClr val="FBCFE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