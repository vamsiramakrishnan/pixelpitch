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78000" t="12000" r="22000" b="88000"/>
            </a:path>
          </a:gradFill>
          <a:xfrm>
            <a:off x="0" y="0"/>
            <a:ext cx="12192000" cy="649605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78418" y="6362700"/>
            <a:ext cx="75158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02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2584549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67E8F9"/>
                </a:solidFill>
                <a:latin typeface="Inter"/>
              </a:rPr>
              <a:t>BY THE NUMBERS ·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90625"/>
            <a:ext cx="6479084" cy="920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 xml:space="preserve">Trusted at </a:t>
            </a:r>
            <a:r>
              <a:rPr sz="3450" b="1" i="0" u="none">
                <a:gradFill rotWithShape="1">
                  <a:gsLst>
                    <a:gs pos="0">
                      <a:srgbClr val="06B6D4"/>
                    </a:gs>
                    <a:gs pos="50000">
                      <a:srgbClr val="818CF8"/>
                    </a:gs>
                    <a:gs pos="100000">
                      <a:srgbClr val="C084FC"/>
                    </a:gs>
                  </a:gsLst>
                  <a:lin ang="900000" scaled="0"/>
                </a:gradFill>
                <a:latin typeface="Inter"/>
              </a:rPr>
              <a:t>production scale</a:t>
            </a:r>
          </a:p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across every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0" y="1667768"/>
            <a:ext cx="3619500" cy="44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25" b="0" i="0" u="none">
                <a:solidFill>
                  <a:srgbClr val="A1A1AA"/>
                </a:solidFill>
                <a:latin typeface="Inter"/>
              </a:rPr>
              <a:t>Live telemetry from the Lattice control plane — last 30 days, all customer environments included.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176588"/>
            <a:ext cx="123631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Requests 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6926" y="3133725"/>
            <a:ext cx="62239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▲ 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533775"/>
            <a:ext cx="2851100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38.6</a:t>
            </a:r>
            <a:r>
              <a:rPr sz="315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598194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Across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14,200 deployments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 in 31 regions. p95 latency steady at 47ms.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176588"/>
            <a:ext cx="128528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Active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2139" y="3133725"/>
            <a:ext cx="6493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▲ 4.2×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375" y="3533775"/>
            <a:ext cx="2851100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06B6D4"/>
                    </a:gs>
                    <a:gs pos="60000">
                      <a:srgbClr val="6366F1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14.2</a:t>
            </a:r>
            <a:r>
              <a:rPr sz="3150" b="1" i="0" u="none">
                <a:gradFill rotWithShape="1">
                  <a:gsLst>
                    <a:gs pos="0">
                      <a:srgbClr val="06B6D4"/>
                    </a:gs>
                    <a:gs pos="60000">
                      <a:srgbClr val="6366F1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4598194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Including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312 of the Forbes 2000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>. Net dollar retention of 137% YoY.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6" y="3176588"/>
            <a:ext cx="136668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Uptime, last 12mo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1113" y="3133725"/>
            <a:ext cx="5826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3E635"/>
                </a:solidFill>
                <a:latin typeface="Inter"/>
              </a:rPr>
              <a:t>99.99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6" y="3533775"/>
            <a:ext cx="2851249" cy="931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4</a:t>
            </a:r>
            <a:r>
              <a:rPr sz="3150" b="1" i="0" u="none">
                <a:gradFill rotWithShape="1">
                  <a:gsLst>
                    <a:gs pos="0">
                      <a:srgbClr val="A3E635"/>
                    </a:gs>
                    <a:gs pos="50000">
                      <a:srgbClr val="34D399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×9s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6" y="4598194"/>
            <a:ext cx="2851249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Zero customer-impacting incidents on the data plane. </a:t>
            </a:r>
            <a:r>
              <a:rPr sz="1050" b="1" i="0" u="none">
                <a:solidFill>
                  <a:srgbClr val="E4E4E7"/>
                </a:solidFill>
                <a:latin typeface="Inter"/>
              </a:rPr>
              <a:t>RTO &lt; 60s</a:t>
            </a:r>
            <a:r>
              <a:rPr sz="1050" b="0" i="0" u="none">
                <a:solidFill>
                  <a:srgbClr val="A1A1AA"/>
                </a:solidFill>
                <a:latin typeface="Inter"/>
              </a:rPr>
              <a:t xml:space="preserve"> globally.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362700"/>
            <a:ext cx="33859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 xml:space="preserve">Source · </a:t>
            </a:r>
            <a:r>
              <a:rPr sz="900" b="1" i="0" u="none">
                <a:solidFill>
                  <a:srgbClr val="A1A1AA"/>
                </a:solidFill>
                <a:latin typeface="Inter"/>
              </a:rPr>
              <a:t>status.lattice.dev</a:t>
            </a:r>
            <a:r>
              <a:rPr sz="900" b="0" i="0" u="none">
                <a:solidFill>
                  <a:srgbClr val="52525B"/>
                </a:solidFill>
                <a:latin typeface="Inter"/>
              </a:rPr>
              <a:t xml:space="preserve"> · Apr 30,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0"/>
            <a:ext cx="2069157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Trusted at production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3E635"/>
      </a:accent2>
      <a:accent3>
        <a:srgbClr val="A1A1AA"/>
      </a:accent3>
      <a:accent4>
        <a:srgbClr val="1E1B4B"/>
      </a:accent4>
      <a:accent5>
        <a:srgbClr val="0A0820"/>
      </a:accent5>
      <a:accent6>
        <a:srgbClr val="14123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