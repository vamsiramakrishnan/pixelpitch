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5000">
                <a:srgbClr val="14102E"/>
              </a:gs>
              <a:gs pos="55000">
                <a:srgbClr val="0A0820"/>
              </a:gs>
              <a:gs pos="82000">
                <a:srgbClr val="050510"/>
              </a:gs>
              <a:gs pos="100000">
                <a:srgbClr val="050510"/>
              </a:gs>
            </a:gsLst>
            <a:path path="circle">
              <a:fillToRect l="10000" t="10000" r="90000" b="90000"/>
            </a:path>
          </a:gradFill>
          <a:xfrm>
            <a:off x="0" y="0"/>
            <a:ext cx="12192000" cy="64008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467279" y="1305818"/>
            <a:ext cx="91157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A1A1AA"/>
                </a:solidFill>
                <a:latin typeface="Inter"/>
              </a:rPr>
              <a:t>Forbes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1276" y="1305818"/>
            <a:ext cx="771227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A1A1AA"/>
                </a:solidFill>
                <a:latin typeface="Inter"/>
              </a:rPr>
              <a:t>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4928" y="1305818"/>
            <a:ext cx="72747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A1A1AA"/>
                </a:solidFill>
                <a:latin typeface="Inter"/>
              </a:rPr>
              <a:t>G2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6181" y="6262688"/>
            <a:ext cx="22621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FIN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2893516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5B4FC"/>
                </a:solidFill>
                <a:latin typeface="Inter"/>
              </a:rPr>
              <a:t>CUSTOMERS · A SHORT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19175"/>
            <a:ext cx="6584752" cy="41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 xml:space="preserve">14,200 teams build on </a:t>
            </a:r>
            <a:r>
              <a:rPr sz="3150" b="1" i="0" u="none">
                <a:gradFill rotWithShape="1">
                  <a:gsLst>
                    <a:gs pos="0">
                      <a:srgbClr val="06B6D4"/>
                    </a:gs>
                    <a:gs pos="50000">
                      <a:srgbClr val="818CF8"/>
                    </a:gs>
                    <a:gs pos="100000">
                      <a:srgbClr val="C084FC"/>
                    </a:gs>
                  </a:gsLst>
                  <a:lin ang="900000" scaled="0"/>
                </a:gradFill>
                <a:latin typeface="Inter"/>
              </a:rPr>
              <a:t>Lattice.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279" y="943868"/>
            <a:ext cx="911572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1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312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1276" y="943868"/>
            <a:ext cx="771227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1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4928" y="943868"/>
            <a:ext cx="727472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1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4.9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843" y="2276475"/>
            <a:ext cx="67538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SINCE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8629" y="2943225"/>
            <a:ext cx="102334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E9D5FF"/>
                </a:solidFill>
                <a:latin typeface="Inter"/>
              </a:rPr>
              <a:t>NOTION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530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LINEAR</a:t>
            </a:r>
            <a:r>
              <a:rPr sz="800" b="1" i="0" u="none">
                <a:solidFill>
                  <a:srgbClr val="52525B"/>
                </a:solidFill>
                <a:latin typeface="Inter"/>
              </a:rPr>
              <a:t>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15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67E8F9"/>
                </a:solidFill>
                <a:latin typeface="Inter"/>
              </a:rPr>
              <a:t>VERCEL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85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530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RESEND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15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BEF264"/>
                </a:solidFill>
                <a:latin typeface="Inter"/>
              </a:rPr>
              <a:t>STRIPE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FRAMER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85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CD34D"/>
                </a:solidFill>
                <a:latin typeface="Inter"/>
              </a:rPr>
              <a:t>FIGMA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CLAY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745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SUPABASE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5300" y="4019550"/>
            <a:ext cx="3581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67E8F9"/>
                </a:solidFill>
                <a:latin typeface="Inter"/>
              </a:rPr>
              <a:t>ANTHROPIC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RIVET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85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RECRAFT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RETOOL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745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WARP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530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PRISMA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15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PLAID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BRAINTRUST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85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ARC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6327" y="5419725"/>
            <a:ext cx="6012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1704" y="5419725"/>
            <a:ext cx="107007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D4D4D8"/>
                </a:solidFill>
                <a:latin typeface="Inter"/>
              </a:rPr>
              <a:t>END OF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0073" y="5424488"/>
            <a:ext cx="17100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257925"/>
            <a:ext cx="245313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Built by </a:t>
            </a:r>
            <a:r>
              <a:rPr sz="975" b="1" i="0" u="none">
                <a:gradFill rotWithShape="1">
                  <a:gsLst>
                    <a:gs pos="0">
                      <a:srgbClr val="06B6D4"/>
                    </a:gs>
                    <a:gs pos="50000">
                      <a:srgbClr val="818CF8"/>
                    </a:gs>
                    <a:gs pos="100000">
                      <a:srgbClr val="C084FC"/>
                    </a:gs>
                  </a:gsLst>
                  <a:lin ang="1200000" scaled="0"/>
                </a:gradFill>
                <a:latin typeface="Inter"/>
              </a:rPr>
              <a:t>Lattice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· lattice.dev/customers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0"/>
            <a:ext cx="2284065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14,200 teams build on Lattice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A0820"/>
      </a:accent1>
      <a:accent2>
        <a:srgbClr val="0F0F1F"/>
      </a:accent2>
      <a:accent3>
        <a:srgbClr val="141232"/>
      </a:accent3>
      <a:accent4>
        <a:srgbClr val="F5F5F7"/>
      </a:accent4>
      <a:accent5>
        <a:srgbClr val="A1A1AA"/>
      </a:accent5>
      <a:accent6>
        <a:srgbClr val="6366F1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