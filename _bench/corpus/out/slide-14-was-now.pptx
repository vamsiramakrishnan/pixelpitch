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F Pro Display" panose="020B0604020202020204" charset="0"/>
      <p:regular r:id="rIdSlidifyFont1"/>
      <p:bold r:id="rIdSlidifyFont2"/>
    </p:embeddedFont>
    <p:embeddedFont>
      <p:font typeface="SF Mono" panose="020B0609040504020204" charset="0"/>
      <p:regular r:id="rIdSlidifyFont3"/>
      <p:bold r:id="rIdSlidify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52906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30D158"/>
                </a:solidFill>
                <a:latin typeface="Sf Pro Display"/>
              </a:rPr>
              <a:t>Generational leap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3386"/>
            <a:ext cx="8572500" cy="109716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0" b="1" i="0" u="none">
                <a:solidFill>
                  <a:srgbClr val="000000"/>
                </a:solidFill>
                <a:latin typeface="Sf Pro Display"/>
              </a:rPr>
              <a:t>Render times, halved. And then halved again.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33700"/>
            <a:ext cx="457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0000"/>
                </a:solidFill>
                <a:latin typeface="Sf Pro Display"/>
              </a:rPr>
              <a:t>Was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09900"/>
            <a:ext cx="4178052" cy="19907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3500" b="1" i="0" u="none">
                <a:solidFill>
                  <a:srgbClr val="000000"/>
                </a:solidFill>
                <a:latin typeface="Consolas"/>
              </a:rPr>
              <a:t>12.4</a:t>
            </a:r>
            <a:r>
              <a:rPr sz="3600" b="1" i="0" u="none">
                <a:solidFill>
                  <a:srgbClr val="000000"/>
                </a:solidFill>
                <a:latin typeface="Consolas"/>
              </a:rPr>
              <a:t xml:space="preserve">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11030"/>
            <a:ext cx="4000500" cy="2227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000000"/>
                </a:solidFill>
                <a:latin typeface="Sf Pro Display"/>
              </a:rPr>
              <a:t>Previous generation, average frame.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0" y="4076700"/>
            <a:ext cx="685800" cy="0"/>
          </a:xfrm>
          <a:prstGeom prst="line">
            <a:avLst/>
          </a:prstGeom>
          <a:ln w="19050">
            <a:solidFill>
              <a:srgbClr val="30D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6286500" y="3962400"/>
            <a:ext cx="190500" cy="228600"/>
          </a:xfrm>
          <a:custGeom>
            <a:avLst/>
            <a:gdLst/>
            <a:ahLst/>
            <a:cxnLst/>
            <a:rect l="l" t="t" r="r" b="b"/>
            <a:pathLst>
              <a:path w="190500" h="228600">
                <a:moveTo>
                  <a:pt x="0" y="0"/>
                </a:moveTo>
                <a:lnTo>
                  <a:pt x="190500" y="114300"/>
                </a:lnTo>
                <a:lnTo>
                  <a:pt x="0" y="228600"/>
                </a:lnTo>
              </a:path>
            </a:pathLst>
          </a:custGeom>
          <a:noFill/>
          <a:ln w="1905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705600" y="2933700"/>
            <a:ext cx="457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30D158"/>
                </a:solidFill>
                <a:latin typeface="Sf Pro Display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09900"/>
            <a:ext cx="3214390" cy="19907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3500" b="1" i="0" u="none">
                <a:solidFill>
                  <a:srgbClr val="000000"/>
                </a:solidFill>
                <a:latin typeface="Consolas"/>
              </a:rPr>
              <a:t>2.9</a:t>
            </a:r>
            <a:r>
              <a:rPr sz="3600" b="1" i="0" u="none">
                <a:solidFill>
                  <a:srgbClr val="30D158"/>
                </a:solidFill>
                <a:latin typeface="Consolas"/>
              </a:rPr>
              <a:t xml:space="preserve">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4911030"/>
            <a:ext cx="4000500" cy="2227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000000"/>
                </a:solidFill>
                <a:latin typeface="Sf Pro Display"/>
              </a:rPr>
              <a:t>Same frame, on the new silicon.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5695" y="6286500"/>
            <a:ext cx="4819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0000"/>
                </a:solidFill>
                <a:latin typeface="Sf Pro Display"/>
              </a:rPr>
              <a:t>14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0D158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