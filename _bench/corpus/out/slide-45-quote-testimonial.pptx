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  <p:boldItalic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43000" y="1123950"/>
            <a:ext cx="9982200" cy="3867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43000" y="1123950"/>
            <a:ext cx="1333500" cy="2962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0" b="1" i="0" u="none">
                <a:solidFill>
                  <a:srgbClr val="2D1F1F"/>
                </a:solidFill>
                <a:latin typeface="Source Serif Pro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53700" y="3724275"/>
            <a:ext cx="571500" cy="1266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0" b="1" i="0" u="none">
                <a:solidFill>
                  <a:srgbClr val="2D1F1F"/>
                </a:solidFill>
                <a:latin typeface="Source Serif Pro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62000"/>
            <a:ext cx="1222474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C89B8"/>
                </a:solidFill>
                <a:latin typeface="Inter"/>
              </a:rPr>
              <a:t>In their own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2676525"/>
            <a:ext cx="8059489" cy="95011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3150" b="0" i="1" u="none">
                <a:solidFill>
                  <a:srgbClr val="2D1F1F"/>
                </a:solidFill>
                <a:latin typeface="Source Serif Pro"/>
              </a:rPr>
              <a:t xml:space="preserve">
      It's the first tool that </a:t>
            </a:r>
            <a:r>
              <a:rPr sz="3150" b="1" i="1" u="none">
                <a:solidFill>
                  <a:srgbClr val="E76F51"/>
                </a:solidFill>
                <a:latin typeface="Source Serif Pro"/>
              </a:rPr>
              <a:t>didn't ask me to hurry</a:t>
            </a:r>
            <a:r>
              <a:rPr sz="3150" b="0" i="1" u="none">
                <a:solidFill>
                  <a:srgbClr val="2D1F1F"/>
                </a:solidFill>
                <a:latin typeface="Source Serif Pro"/>
              </a:rPr>
              <a:t xml:space="preserve"> — and somehow, that's exactly when the work got better.
    </a:t>
            </a:r>
          </a:p>
        </p:txBody>
      </p:sp>
      <p:sp>
        <p:nvSpPr>
          <p:cNvPr id="8" name="Oval 7"/>
          <p:cNvSpPr/>
          <p:nvPr/>
        </p:nvSpPr>
        <p:spPr>
          <a:xfrm>
            <a:off x="3452961" y="5024438"/>
            <a:ext cx="57150" cy="5715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43000" y="6267450"/>
            <a:ext cx="123735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>Conversation no.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D1F1F"/>
      </a:accent1>
      <a:accent2>
        <a:srgbClr val="F5F1EB"/>
      </a:accent2>
      <a:accent3>
        <a:srgbClr val="7A6A6A"/>
      </a:accent3>
      <a:accent4>
        <a:srgbClr val="9C89B8"/>
      </a:accent4>
      <a:accent5>
        <a:srgbClr val="E76F51"/>
      </a:accent5>
      <a:accent6>
        <a:srgbClr val="A8988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