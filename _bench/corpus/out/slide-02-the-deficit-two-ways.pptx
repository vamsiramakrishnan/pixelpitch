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Source Serif Pro" panose="02040603050405020304" charset="0"/>
      <p:regular r:id="rIdSlidifyFont1"/>
      <p:bold r:id="rIdSlidifyFont2"/>
      <p:italic r:id="rIdSlidifyFont3"/>
    </p:embeddedFont>
    <p:embeddedFont>
      <p:font typeface="IBM Plex Mono" panose="020B0609040504020204" charset="0"/>
      <p:regular r:id="rIdSlidifyFont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Relationship Id="rIdSlidifyFont3" Type="http://schemas.openxmlformats.org/officeDocument/2006/relationships/font" Target="fonts/font3.fntdata"/><Relationship Id="rIdSlidifyFont4" Type="http://schemas.openxmlformats.org/officeDocument/2006/relationships/font" Target="fonts/font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400" y="381000"/>
            <a:ext cx="111252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E5F8C"/>
                </a:solidFill>
                <a:latin typeface="Inter"/>
              </a:rPr>
              <a:t>Public Finance · Two-up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590550"/>
            <a:ext cx="10477500" cy="560040"/>
          </a:xfrm>
          <a:prstGeom prst="rect">
            <a:avLst/>
          </a:prstGeom>
          <a:noFill/>
        </p:spPr>
        <p:txBody>
          <a:bodyPr wrap="none" lIns="0" rIns="0" tIns="0" bIns="0">
            <a:normAutofit/>
          </a:bodyPr>
          <a:lstStyle/>
          <a:p>
            <a:pPr algn="l"/>
            <a:r>
              <a:rPr sz="4200" b="1" i="0" u="none">
                <a:solidFill>
                  <a:srgbClr val="1A1A1A"/>
                </a:solidFill>
                <a:latin typeface="Source Serif Pro"/>
              </a:rPr>
              <a:t>The federal deficit, two 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293465"/>
            <a:ext cx="9805541" cy="4318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75" b="0" i="0" u="none">
                <a:solidFill>
                  <a:srgbClr val="1A1A1A"/>
                </a:solidFill>
                <a:latin typeface="Source Serif Pro"/>
              </a:rPr>
              <a:t xml:space="preserve">In raw dollars the deficit looks unprecedented. As a share of GDP it has been here before — </a:t>
            </a:r>
            <a:r>
              <a:rPr sz="1275" b="0" i="1" u="none">
                <a:solidFill>
                  <a:srgbClr val="1A1A1A"/>
                </a:solidFill>
                <a:latin typeface="Source Serif Pro"/>
              </a:rPr>
              <a:t>twice in the last forty years</a:t>
            </a:r>
            <a:r>
              <a:rPr sz="1275" b="0" i="0" u="none">
                <a:solidFill>
                  <a:srgbClr val="1A1A1A"/>
                </a:solidFill>
                <a:latin typeface="Source Serif Pro"/>
              </a:rPr>
              <a:t xml:space="preserve">. </a:t>
            </a:r>
            <a:r>
              <a:rPr sz="1275" b="1" i="0" u="none">
                <a:solidFill>
                  <a:srgbClr val="1A1A1A"/>
                </a:solidFill>
                <a:latin typeface="Source Serif Pro"/>
              </a:rPr>
              <a:t>Same metric, two scales, two different stories.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2081064"/>
            <a:ext cx="55245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A · Nominal dollars (USD trillions)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2281089"/>
            <a:ext cx="5012085" cy="552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Source Serif Pro"/>
              </a:rPr>
              <a:t xml:space="preserve">The headline number. Each bar is one fiscal year's deficit, not adjusted for inflation or population. The 2020 spike is COVID relief; the 2024 figure of 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$1.83T</a:t>
            </a:r>
            <a:r>
              <a:rPr sz="1050" b="0" i="0" u="none">
                <a:solidFill>
                  <a:srgbClr val="1A1A1A"/>
                </a:solidFill>
                <a:latin typeface="Source Serif Pro"/>
              </a:rPr>
              <a:t xml:space="preserve"> is the second-largest on record.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651" y="3319314"/>
            <a:ext cx="4808041" cy="1962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85651" y="3319314"/>
            <a:ext cx="17631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3.0T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651" y="3890814"/>
            <a:ext cx="17631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2.0T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651" y="4462314"/>
            <a:ext cx="17631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1.0T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476" y="5033814"/>
            <a:ext cx="47774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9594" y="4805214"/>
            <a:ext cx="119211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.44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8694" y="4748064"/>
            <a:ext cx="119211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.59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97794" y="4652814"/>
            <a:ext cx="119211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.66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16894" y="4462314"/>
            <a:ext cx="119211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.78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5994" y="4233714"/>
            <a:ext cx="119211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.98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55094" y="4538514"/>
            <a:ext cx="119211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.66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4194" y="4424214"/>
            <a:ext cx="119211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.78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407" y="3376464"/>
            <a:ext cx="166985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3.13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8507" y="3947964"/>
            <a:ext cx="166985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2.78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07607" y="4328964"/>
            <a:ext cx="166985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1.38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6707" y="3795564"/>
            <a:ext cx="166985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1.83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3315" y="5186214"/>
            <a:ext cx="11177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'14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0615" y="5186214"/>
            <a:ext cx="11177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'17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77915" y="5186214"/>
            <a:ext cx="11177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'20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5215" y="5186214"/>
            <a:ext cx="11177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'23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5757714"/>
            <a:ext cx="322480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1" u="none">
                <a:solidFill>
                  <a:srgbClr val="000000"/>
                </a:solidFill>
                <a:latin typeface="Source Serif Pro"/>
              </a:rPr>
              <a:t xml:space="preserve">All bars in current dollars. </a:t>
            </a:r>
            <a:r>
              <a:rPr sz="825" b="0" i="1" u="none">
                <a:solidFill>
                  <a:srgbClr val="000000"/>
                </a:solidFill>
                <a:latin typeface="Source Serif Pro"/>
              </a:rPr>
              <a:t>The 2020 figure is the COVID-19 fiscal response.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5100" y="2081064"/>
            <a:ext cx="55245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B · Share of GDP (%)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5100" y="2281089"/>
            <a:ext cx="4881116" cy="561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1A1A1A"/>
                </a:solidFill>
                <a:latin typeface="Source Serif Pro"/>
              </a:rPr>
              <a:t xml:space="preserve">The economist's number. Same eleven years, same deficits — but now sized against the economy that produced them. The picture flattens. 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2024 = 6.3%</a:t>
            </a:r>
            <a:r>
              <a:rPr sz="1050" b="0" i="0" u="none">
                <a:solidFill>
                  <a:srgbClr val="1A1A1A"/>
                </a:solidFill>
                <a:latin typeface="Source Serif Pro"/>
              </a:rPr>
              <a:t xml:space="preserve"> of GDP, well below the </a:t>
            </a:r>
            <a:r>
              <a:rPr sz="1050" b="0" i="0" u="none">
                <a:solidFill>
                  <a:srgbClr val="1A1A1A"/>
                </a:solidFill>
                <a:latin typeface="Courier New"/>
              </a:rPr>
              <a:t>14.7%</a:t>
            </a:r>
            <a:r>
              <a:rPr sz="1050" b="0" i="0" u="none">
                <a:solidFill>
                  <a:srgbClr val="1A1A1A"/>
                </a:solidFill>
                <a:latin typeface="Source Serif Pro"/>
              </a:rPr>
              <a:t xml:space="preserve"> peak of 2020 and roughly equal to 1983.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67351" y="3052614"/>
            <a:ext cx="5162699" cy="2238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6667351" y="3328839"/>
            <a:ext cx="17159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15%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67351" y="3900339"/>
            <a:ext cx="171599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10%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14976" y="4471839"/>
            <a:ext cx="123974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91176" y="5043339"/>
            <a:ext cx="47774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0780" y="4262289"/>
            <a:ext cx="82927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1983 baseline · 6.0%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58262" y="3052614"/>
            <a:ext cx="567649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2020 · 14.7%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45015" y="5195739"/>
            <a:ext cx="11177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'14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02315" y="5195739"/>
            <a:ext cx="11177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'17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59615" y="5195739"/>
            <a:ext cx="11177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'20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16915" y="5195739"/>
            <a:ext cx="111770" cy="95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'23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5100" y="5767239"/>
            <a:ext cx="211276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1" u="none">
                <a:solidFill>
                  <a:srgbClr val="000000"/>
                </a:solidFill>
                <a:latin typeface="Source Serif Pro"/>
              </a:rPr>
              <a:t xml:space="preserve">Same eleven years. </a:t>
            </a:r>
            <a:r>
              <a:rPr sz="825" b="0" i="1" u="none">
                <a:solidFill>
                  <a:srgbClr val="000000"/>
                </a:solidFill>
                <a:latin typeface="Source Serif Pro"/>
              </a:rPr>
              <a:t>The crisis collapses to a pulse.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3400" y="6524625"/>
            <a:ext cx="345236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000000"/>
                </a:solidFill>
                <a:latin typeface="Inter"/>
              </a:rPr>
              <a:t>Source · CBO Historical Budget Data, FY 2014–2024 · BEA national accounts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78889" y="6619875"/>
            <a:ext cx="77971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000000"/>
                </a:solidFill>
                <a:latin typeface="Consolas"/>
              </a:rPr>
              <a:t>FIG. 02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A1A1A"/>
      </a:accent1>
      <a:accent2>
        <a:srgbClr val="FAFAF6"/>
      </a:accent2>
      <a:accent3>
        <a:srgbClr val="1E5F8C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