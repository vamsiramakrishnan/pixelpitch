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ource Serif Pro" panose="02040603050405020304" charset="0"/>
      <p:regular r:id="rIdSlidifyFont1"/>
      <p:bold r:id="rIdSlidifyFont2"/>
    </p:embeddedFont>
    <p:embeddedFont>
      <p:font typeface="IBM Plex Mono" panose="020B0609040504020204" charset="0"/>
      <p:regular r:id="rIdSlidifyFont3"/>
      <p:bold r:id="rIdSlidifyFont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Relationship Id="rIdSlidifyFont4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533400" y="457200"/>
            <a:ext cx="111252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C41E3A"/>
                </a:solidFill>
                <a:latin typeface="Inter"/>
              </a:rPr>
              <a:t>The State of the Union · Economy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685800"/>
            <a:ext cx="609600" cy="1905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33400" y="857250"/>
            <a:ext cx="8382000" cy="120015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4500" b="1" i="0" u="none">
                <a:solidFill>
                  <a:srgbClr val="1A1A1A"/>
                </a:solidFill>
                <a:latin typeface="Source Serif Pro"/>
              </a:rPr>
              <a:t>Wages climbed, then prices climbed faster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2209800"/>
            <a:ext cx="7429500" cy="5313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0" i="0" u="none">
                <a:solidFill>
                  <a:srgbClr val="1A1A1A"/>
                </a:solidFill>
                <a:latin typeface="Source Serif Pro"/>
              </a:rPr>
              <a:t>Real median household income outran inflation for most of two decades. After 2021 the lines crossed, and households felt it before the data confirmed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931616"/>
            <a:ext cx="111252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0" i="0" u="none">
                <a:solidFill>
                  <a:srgbClr val="000000"/>
                </a:solidFill>
                <a:latin typeface="Inter"/>
              </a:rPr>
              <a:t>By the Editorial Graphics Desk · Updated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3552" y="3286125"/>
            <a:ext cx="7363941" cy="25812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93552" y="3305175"/>
            <a:ext cx="1630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3552" y="3876675"/>
            <a:ext cx="1630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175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552" y="4448175"/>
            <a:ext cx="1630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150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3552" y="5019675"/>
            <a:ext cx="1630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125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552" y="5591175"/>
            <a:ext cx="16309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5762625"/>
            <a:ext cx="12830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'94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7900" y="5762625"/>
            <a:ext cx="12830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5762625"/>
            <a:ext cx="12830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'06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0100" y="5762625"/>
            <a:ext cx="12830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1200" y="5762625"/>
            <a:ext cx="12830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2300" y="5762625"/>
            <a:ext cx="12830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'24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5350" y="3409950"/>
            <a:ext cx="104933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2021 · The crossover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5350" y="3552825"/>
            <a:ext cx="214416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1A1A1A"/>
                </a:solidFill>
                <a:latin typeface="Inter"/>
              </a:rPr>
              <a:t>CPI overtakes wage index for first time since 2008.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22406" y="3286125"/>
            <a:ext cx="33508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+92 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22406" y="3533775"/>
            <a:ext cx="335087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+98 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1100" y="1752600"/>
            <a:ext cx="2857500" cy="180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25" b="1" i="0" u="none">
                <a:solidFill>
                  <a:srgbClr val="1A1A1A"/>
                </a:solidFill>
                <a:latin typeface="Inter"/>
              </a:rPr>
              <a:t>Inflection points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1100" y="2047875"/>
            <a:ext cx="2857500" cy="3598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0">
                <a:solidFill>
                  <a:srgbClr val="1A1A1A"/>
                </a:solidFill>
                <a:latin typeface="Source Serif Pro"/>
              </a:rPr>
              <a:t>• 2001 · Dot-com bust. Wages stall for 18 months while CPI keeps a 2.4% trend.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1100" y="2541091"/>
            <a:ext cx="2857500" cy="3598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0">
                <a:solidFill>
                  <a:srgbClr val="1A1A1A"/>
                </a:solidFill>
                <a:latin typeface="Source Serif Pro"/>
              </a:rPr>
              <a:t>• 2008 · Financial crisis. First period since 1994 where real wages decline two years running.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01100" y="3034308"/>
            <a:ext cx="2857500" cy="3598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0">
                <a:solidFill>
                  <a:srgbClr val="1A1A1A"/>
                </a:solidFill>
                <a:latin typeface="Source Serif Pro"/>
              </a:rPr>
              <a:t>• 2015 · Recovery gap. CPI lulls below 1.5%; wage index reopens its lead.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01100" y="3527524"/>
            <a:ext cx="2857500" cy="3598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0">
                <a:solidFill>
                  <a:srgbClr val="1A1A1A"/>
                </a:solidFill>
                <a:latin typeface="Source Serif Pro"/>
              </a:rPr>
              <a:t>• 2021 · The crossover. Pandemic shock, supply chains, energy spike — CPI overtakes wages.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01100" y="4020741"/>
            <a:ext cx="2857500" cy="35986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75" b="0">
                <a:solidFill>
                  <a:srgbClr val="1A1A1A"/>
                </a:solidFill>
                <a:latin typeface="Source Serif Pro"/>
              </a:rPr>
              <a:t>• 2024 · Now. Wage index 192; CPI 198. The 6-point gap is what households call "still behind."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" y="6486525"/>
            <a:ext cx="3547467" cy="2000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Inter"/>
              </a:rPr>
              <a:t>Source · BLS CPI-U series and Census ASEC, 1994–2024 · The Times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78889" y="6581775"/>
            <a:ext cx="779711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000000"/>
                </a:solidFill>
                <a:latin typeface="Consolas"/>
              </a:rPr>
              <a:t>FIG. 01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A1A1A"/>
      </a:accent1>
      <a:accent2>
        <a:srgbClr val="FAFAF6"/>
      </a:accent2>
      <a:accent3>
        <a:srgbClr val="C41E3A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