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28000">
                <a:srgbClr val="14102E"/>
              </a:gs>
              <a:gs pos="55000">
                <a:srgbClr val="0A0820"/>
              </a:gs>
              <a:gs pos="80000">
                <a:srgbClr val="050510"/>
              </a:gs>
              <a:gs pos="100000">
                <a:srgbClr val="050510"/>
              </a:gs>
            </a:gsLst>
            <a:path path="circle">
              <a:fillToRect l="20000" t="80000" r="80000" b="20000"/>
            </a:path>
          </a:gradFill>
          <a:xfrm>
            <a:off x="0" y="0"/>
            <a:ext cx="12192000" cy="68580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53738" y="6496050"/>
            <a:ext cx="72866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04 /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2317403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BEF264"/>
                </a:solidFill>
                <a:latin typeface="Inter"/>
              </a:rPr>
              <a:t>PLATFORM · ONE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66775"/>
            <a:ext cx="5206752" cy="8399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5F5F7"/>
                </a:solidFill>
                <a:latin typeface="Inter"/>
              </a:rPr>
              <a:t>Everything you need</a:t>
            </a:r>
          </a:p>
          <a:p>
            <a:pPr algn="l"/>
            <a:r>
              <a:rPr sz="3150" b="1" i="0" u="none">
                <a:solidFill>
                  <a:srgbClr val="F5F5F7"/>
                </a:solidFill>
                <a:latin typeface="Inter"/>
              </a:rPr>
              <a:t xml:space="preserve">to ship </a:t>
            </a:r>
            <a:r>
              <a:rPr sz="3150" b="1" i="0" u="none">
                <a:gradFill rotWithShape="1">
                  <a:gsLst>
                    <a:gs pos="0">
                      <a:srgbClr val="A3E635"/>
                    </a:gs>
                    <a:gs pos="50000">
                      <a:srgbClr val="34D399"/>
                    </a:gs>
                    <a:gs pos="100000">
                      <a:srgbClr val="06B6D4"/>
                    </a:gs>
                  </a:gsLst>
                  <a:lin ang="900000" scaled="0"/>
                </a:gradFill>
                <a:latin typeface="Inter"/>
              </a:rPr>
              <a:t>AI in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3900" y="1087041"/>
            <a:ext cx="3238500" cy="619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 u="none">
                <a:solidFill>
                  <a:srgbClr val="A1A1AA"/>
                </a:solidFill>
                <a:latin typeface="Inter"/>
              </a:rPr>
              <a:t>Six primitives, designed to compose. Pick the ones you need — replace any of them with your own when you outgrow 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466975"/>
            <a:ext cx="3876973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9D5FF"/>
                </a:solidFill>
                <a:latin typeface="Inter"/>
              </a:rPr>
              <a:t xml:space="preserve">
        Inference Edge
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2905125"/>
            <a:ext cx="3429000" cy="1899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50" b="1" i="0" u="none">
                <a:gradFill rotWithShape="1">
                  <a:gsLst>
                    <a:gs pos="0">
                      <a:srgbClr val="F5F5F7"/>
                    </a:gs>
                    <a:gs pos="50000">
                      <a:srgbClr val="E9D5FF"/>
                    </a:gs>
                    <a:gs pos="100000">
                      <a:srgbClr val="FBCFE8"/>
                    </a:gs>
                  </a:gsLst>
                  <a:lin ang="1200000" scaled="0"/>
                </a:gradFill>
                <a:latin typeface="Inter"/>
              </a:rPr>
              <a:t>Sub-50ms</a:t>
            </a:r>
            <a:r>
              <a:rPr sz="2850" b="1" i="0" u="none">
                <a:solidFill>
                  <a:srgbClr val="F5F5F7"/>
                </a:solidFill>
                <a:latin typeface="Inter"/>
              </a:rPr>
              <a:t xml:space="preserve"> inference, in every region your users live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938266"/>
            <a:ext cx="3619500" cy="8286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7" b="0" i="0" u="none">
                <a:solidFill>
                  <a:srgbClr val="D4D4D8"/>
                </a:solidFill>
                <a:latin typeface="Inter"/>
              </a:rPr>
              <a:t xml:space="preserve">
        Cold-start </a:t>
            </a:r>
            <a:r>
              <a:rPr sz="1087" b="1" i="0" u="none">
                <a:solidFill>
                  <a:srgbClr val="FBCFE8"/>
                </a:solidFill>
                <a:latin typeface="Inter"/>
              </a:rPr>
              <a:t>under 90ms</a:t>
            </a:r>
            <a:r>
              <a:rPr sz="1087" b="0" i="0" u="none">
                <a:solidFill>
                  <a:srgbClr val="D4D4D8"/>
                </a:solidFill>
                <a:latin typeface="Inter"/>
              </a:rPr>
              <a:t xml:space="preserve"> on Anthropic, OpenAI, Mistral and any model you bring.
        Automatic fallback, streaming-first, request-level cost telemetry.
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5938391"/>
            <a:ext cx="3876973" cy="8340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Consolas"/>
              </a:rPr>
              <a:t>// One call. Any model. Any region.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
</a:t>
            </a:r>
            <a:r>
              <a:rPr sz="900" b="0" i="0" u="none">
                <a:solidFill>
                  <a:srgbClr val="C4B5FD"/>
                </a:solidFill>
                <a:latin typeface="Consolas"/>
              </a:rPr>
              <a:t>const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 r = </a:t>
            </a:r>
            <a:r>
              <a:rPr sz="900" b="0" i="0" u="none">
                <a:solidFill>
                  <a:srgbClr val="C4B5FD"/>
                </a:solidFill>
                <a:latin typeface="Consolas"/>
              </a:rPr>
              <a:t>await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 lattice.</a:t>
            </a:r>
            <a:r>
              <a:rPr sz="900" b="0" i="0" u="none">
                <a:solidFill>
                  <a:srgbClr val="67E8F9"/>
                </a:solidFill>
                <a:latin typeface="Consolas"/>
              </a:rPr>
              <a:t>infer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({
  model: </a:t>
            </a:r>
            <a:r>
              <a:rPr sz="900" b="0" i="0" u="none">
                <a:solidFill>
                  <a:srgbClr val="BEF264"/>
                </a:solidFill>
                <a:latin typeface="Consolas"/>
              </a:rPr>
              <a:t>"claude-opus-4.7"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,
  region: </a:t>
            </a:r>
            <a:r>
              <a:rPr sz="900" b="0" i="0" u="none">
                <a:solidFill>
                  <a:srgbClr val="BEF264"/>
                </a:solidFill>
                <a:latin typeface="Consolas"/>
              </a:rPr>
              <a:t>"auto"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,
  stream: </a:t>
            </a:r>
            <a:r>
              <a:rPr sz="900" b="0" i="0" u="none">
                <a:solidFill>
                  <a:srgbClr val="C4B5FD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D4D4D8"/>
                </a:solidFill>
                <a:latin typeface="Consolas"/>
              </a:rPr>
              <a:t xml:space="preserve">,
});
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6848475"/>
            <a:ext cx="879872" cy="9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Streaming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897" y="6848475"/>
            <a:ext cx="730895" cy="9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Failover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9942" y="6848475"/>
            <a:ext cx="897285" cy="9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31 regions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377" y="6848475"/>
            <a:ext cx="938212" cy="9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Cost-aware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7648" y="2390775"/>
            <a:ext cx="264303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
        Observability
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648" y="2790825"/>
            <a:ext cx="2643039" cy="4819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Trace every token, prompt, retry.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7648" y="3348930"/>
            <a:ext cx="264303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OTel-native. Pipe to Datadog, Honeycomb, or query in-product.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3236" y="3968055"/>
            <a:ext cx="859185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+3.4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3236" y="4206180"/>
            <a:ext cx="859185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vs. last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286" y="2390775"/>
            <a:ext cx="264303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
        Evals
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0286" y="2790825"/>
            <a:ext cx="2643039" cy="4819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CI for prompts &amp; agents.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0286" y="3348930"/>
            <a:ext cx="264303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Block deploys when quality regresses. Score: </a:t>
            </a:r>
            <a:r>
              <a:rPr sz="975" b="1" i="0" u="none">
                <a:solidFill>
                  <a:srgbClr val="E4E4E7"/>
                </a:solidFill>
                <a:latin typeface="Inter"/>
              </a:rPr>
              <a:t>F1, BLEU, custom rubric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6854" y="4087118"/>
            <a:ext cx="29646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3E635"/>
                </a:solidFill>
                <a:latin typeface="Inter"/>
              </a:rPr>
              <a:t>92%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7648" y="4514850"/>
            <a:ext cx="264303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
        Caching
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7648" y="4914900"/>
            <a:ext cx="2643039" cy="4819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Semantic + KV cache, free.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7648" y="5473005"/>
            <a:ext cx="2643039" cy="5572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Up to </a:t>
            </a:r>
            <a:r>
              <a:rPr sz="975" b="1" i="0" u="none">
                <a:solidFill>
                  <a:srgbClr val="E4E4E7"/>
                </a:solidFill>
                <a:latin typeface="Inter"/>
              </a:rPr>
              <a:t>78% cost reduction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 on repeat prompts. Auto-invalidates on schema drift.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0286" y="4514850"/>
            <a:ext cx="264303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
        Guardrails
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0286" y="4914900"/>
            <a:ext cx="2643039" cy="4819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5F5F7"/>
                </a:solidFill>
                <a:latin typeface="Inter"/>
              </a:rPr>
              <a:t>Policy &amp; PII, before the model sees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0286" y="5473005"/>
            <a:ext cx="264303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Drop-in moderation. </a:t>
            </a:r>
            <a:r>
              <a:rPr sz="975" b="1" i="0" u="none">
                <a:solidFill>
                  <a:srgbClr val="E4E4E7"/>
                </a:solidFill>
                <a:latin typeface="Inter"/>
              </a:rPr>
              <a:t>SOC 2 + HIPAA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>-ready, per-tenant rules.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0286" y="5844480"/>
            <a:ext cx="383232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PII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0669" y="5844480"/>
            <a:ext cx="709315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Toxicity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7134" y="5844480"/>
            <a:ext cx="785812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Jailbreak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0286" y="6120705"/>
            <a:ext cx="833884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D4D8"/>
                </a:solidFill>
                <a:latin typeface="Inter"/>
              </a:rPr>
              <a:t>+24 more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96050"/>
            <a:ext cx="320918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Six primitives · One SDK · Six lines of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0"/>
            <a:ext cx="3399681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5F5F7"/>
                </a:solidFill>
                <a:latin typeface="Inter"/>
              </a:rPr>
              <a:t>Everything you need to ship AI in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6366F1"/>
      </a:accent2>
      <a:accent3>
        <a:srgbClr val="C084FC"/>
      </a:accent3>
      <a:accent4>
        <a:srgbClr val="06B6D4"/>
      </a:accent4>
      <a:accent5>
        <a:srgbClr val="818CF8"/>
      </a:accent5>
      <a:accent6>
        <a:srgbClr val="0A082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