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  <p:embeddedFont>
      <p:font typeface="IBM Plex Mono" panose="020B0609040504020204" charset="0"/>
      <p:regular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Inter"/>
              </a:rPr>
              <a:t>Connectivity · Block grid + ranked sidebar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74295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Where broadband still doesn't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775222"/>
            <a:ext cx="7010251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Share of households without a 25/3 Mbps wired connection, by state. The map below uses a tile per state — area is uniform, color encodes the gap.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Ten states have a connectivity deficit above 18%.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352377"/>
            <a:ext cx="7239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U.S. tile map · % households unserved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42877"/>
            <a:ext cx="7239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ource Serif Pro"/>
              </a:rPr>
              <a:t>Each square is one state at equal weight. Darker = a larger share of households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640" y="3000077"/>
            <a:ext cx="6872055" cy="3162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24421" y="30000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2319" y="3000077"/>
            <a:ext cx="1571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640" y="3609677"/>
            <a:ext cx="1693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312" y="36096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3621" y="3609677"/>
            <a:ext cx="15395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221" y="36096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7017" y="36096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4029" y="3609677"/>
            <a:ext cx="1281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9034" y="3609677"/>
            <a:ext cx="11653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327" y="3609677"/>
            <a:ext cx="13655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5221" y="36096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519" y="42192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6923" y="42192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4840" y="4219277"/>
            <a:ext cx="1750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6123" y="4219277"/>
            <a:ext cx="14608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6112" y="42192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1517" y="4219277"/>
            <a:ext cx="9578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5312" y="4219277"/>
            <a:ext cx="1053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8719" y="42192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7993" y="4219277"/>
            <a:ext cx="1383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9527" y="4219277"/>
            <a:ext cx="1339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6225" y="42192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3312" y="4219277"/>
            <a:ext cx="1047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421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9825" y="48288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0719" y="4828877"/>
            <a:ext cx="1613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6123" y="48288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040" y="4828877"/>
            <a:ext cx="1730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5323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KY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3240" y="4828877"/>
            <a:ext cx="1750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WV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8393" y="4828877"/>
            <a:ext cx="1383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5417" y="48288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3723" y="48288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3323" y="48288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217" y="4828877"/>
            <a:ext cx="1634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9825" y="54384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7817" y="5438477"/>
            <a:ext cx="1629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56123" y="5438477"/>
            <a:ext cx="145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28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8225" y="54384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20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4523" y="5438477"/>
            <a:ext cx="14608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SC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1221" y="5438477"/>
            <a:ext cx="15186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DC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712" y="6048077"/>
            <a:ext cx="1047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HI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50319" y="60480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68625" y="60480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69519" y="6048077"/>
            <a:ext cx="15716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7825" y="6048077"/>
            <a:ext cx="1423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8719" y="6048077"/>
            <a:ext cx="1576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12829" y="6048077"/>
            <a:ext cx="1306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FL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52327" y="6048077"/>
            <a:ext cx="1402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757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68533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8948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10443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313980" y="6581477"/>
            <a:ext cx="209550" cy="13335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8229600" y="2352377"/>
            <a:ext cx="342900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Top 10 · Largest connectivity gap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2628602"/>
            <a:ext cx="3429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Source Serif Pro"/>
              </a:rPr>
              <a:t>Share of state households without a 25/3 wired connection.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29667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77250" y="29524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Mississippi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0700" y="2990552"/>
            <a:ext cx="163830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11125200" y="29667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26.8%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32239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250" y="320962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Arkansas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0700" y="32477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9410700" y="3247727"/>
            <a:ext cx="147444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1125200" y="32239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24.1%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348109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77250" y="346680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West Virginia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0700" y="350490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9410700" y="3504902"/>
            <a:ext cx="1441698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11125200" y="348109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23.6%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373826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77250" y="372397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New Mexico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10700" y="376207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9410700" y="3762077"/>
            <a:ext cx="1376065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11125200" y="373826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22.5%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39954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77250" y="39811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Alabama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0700" y="401925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9410700" y="4019252"/>
            <a:ext cx="1277838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1125200" y="39954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20.9%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42526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77250" y="423832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Kentucky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410700" y="42764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9410700" y="4276427"/>
            <a:ext cx="1245096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1125200" y="42526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20.3%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0" y="450979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77250" y="449550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Montana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410700" y="453360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9410700" y="4533602"/>
            <a:ext cx="1212205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11125200" y="450979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19.8%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476696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77250" y="4752677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Oklahoma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10700" y="479077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9410700" y="4790777"/>
            <a:ext cx="1179463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11125200" y="476696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19.2%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0" y="502414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77250" y="5009852"/>
            <a:ext cx="8572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North Carolina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0700" y="5047952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9410700" y="5047952"/>
            <a:ext cx="1146721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11125200" y="502414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18.7%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29600" y="535751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77250" y="5267027"/>
            <a:ext cx="857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A1A1A"/>
                </a:solidFill>
                <a:latin typeface="Source Serif Pro"/>
              </a:rPr>
              <a:t>Mississippi Delta avg.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410700" y="5381327"/>
            <a:ext cx="1638300" cy="762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9410700" y="5381327"/>
            <a:ext cx="1113979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11125200" y="535751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1A1A1A"/>
                </a:solidFill>
                <a:latin typeface="Consolas"/>
              </a:rPr>
              <a:t>18.1%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3400" y="6524625"/>
            <a:ext cx="436944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FCC Form 477 (Dec 2023) · Microsoft Airband measured-connection data · Times analysis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05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C41E3A"/>
      </a:accent2>
      <a:accent3>
        <a:srgbClr val="1E5F8C"/>
      </a:accent3>
      <a:accent4>
        <a:srgbClr val="FAFAF6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