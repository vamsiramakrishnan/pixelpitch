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</p:embeddedFont>
    <p:embeddedFont>
      <p:font typeface="IBM Plex Mono" panose="020B0609040504020204" charset="0"/>
      <p:regular r:id="rIdSlidifyFont3"/>
      <p:bold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Inter"/>
              </a:rPr>
              <a:t>Housing · Small multiples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0477500" cy="53994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1A1A1A"/>
                </a:solidFill>
                <a:latin typeface="Source Serif Pro"/>
              </a:rPr>
              <a:t>Six cities, one shared y-axis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54323"/>
            <a:ext cx="9221986" cy="3981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1A1A1A"/>
                </a:solidFill>
                <a:latin typeface="Source Serif Pro"/>
              </a:rPr>
              <a:t xml:space="preserve">Median monthly rent for a one-bedroom, indexed to </a:t>
            </a:r>
            <a:r>
              <a:rPr sz="1200" b="1" i="0" u="none">
                <a:solidFill>
                  <a:srgbClr val="1A1A1A"/>
                </a:solidFill>
                <a:latin typeface="Source Serif Pro"/>
              </a:rPr>
              <a:t>January 2019 = 100</a:t>
            </a:r>
            <a:r>
              <a:rPr sz="1200" b="0" i="0" u="none">
                <a:solidFill>
                  <a:srgbClr val="1A1A1A"/>
                </a:solidFill>
                <a:latin typeface="Source Serif Pro"/>
              </a:rPr>
              <a:t>. Same scale, same window, six different answers. Boise looks like a different country than Pittsburgh.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1648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Boise,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317254"/>
            <a:ext cx="169753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178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+78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3900" y="2631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3900" y="3012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3900" y="3393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3900" y="37745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723900" y="2822079"/>
            <a:ext cx="3333750" cy="952500"/>
          </a:xfrm>
          <a:custGeom>
            <a:avLst/>
            <a:gdLst/>
            <a:ahLst/>
            <a:cxnLst/>
            <a:rect l="l" t="t" r="r" b="b"/>
            <a:pathLst>
              <a:path w="3333750" h="952500">
                <a:moveTo>
                  <a:pt x="0" y="952500"/>
                </a:moveTo>
                <a:lnTo>
                  <a:pt x="552450" y="895350"/>
                </a:lnTo>
                <a:lnTo>
                  <a:pt x="1104900" y="742950"/>
                </a:lnTo>
                <a:lnTo>
                  <a:pt x="1657350" y="400050"/>
                </a:lnTo>
                <a:lnTo>
                  <a:pt x="2209800" y="114300"/>
                </a:lnTo>
                <a:lnTo>
                  <a:pt x="2762250" y="0"/>
                </a:lnTo>
                <a:lnTo>
                  <a:pt x="3333750" y="5715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029075" y="285065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 13"/>
          <p:cNvCxnSpPr/>
          <p:nvPr/>
        </p:nvCxnSpPr>
        <p:spPr>
          <a:xfrm>
            <a:off x="2933700" y="2936379"/>
            <a:ext cx="0" cy="838200"/>
          </a:xfrm>
          <a:prstGeom prst="line">
            <a:avLst/>
          </a:prstGeom>
          <a:ln w="9525">
            <a:solidFill>
              <a:srgbClr val="000000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1020" y="26087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30" y="37517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848749"/>
            <a:ext cx="377190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0" i="0">
                <a:solidFill>
                  <a:srgbClr val="1A1A1A"/>
                </a:solidFill>
                <a:latin typeface="Inter"/>
              </a:rPr>
              <a:t>peak '22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1500" y="21648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Phoenix, AZ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1500" y="2317254"/>
            <a:ext cx="169753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156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+56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2631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3012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3393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37745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4572000" y="3069729"/>
            <a:ext cx="3333750" cy="704850"/>
          </a:xfrm>
          <a:custGeom>
            <a:avLst/>
            <a:gdLst/>
            <a:ahLst/>
            <a:cxnLst/>
            <a:rect l="l" t="t" r="r" b="b"/>
            <a:pathLst>
              <a:path w="3333750" h="704850">
                <a:moveTo>
                  <a:pt x="0" y="704850"/>
                </a:moveTo>
                <a:lnTo>
                  <a:pt x="552450" y="628650"/>
                </a:lnTo>
                <a:lnTo>
                  <a:pt x="1104900" y="438150"/>
                </a:lnTo>
                <a:lnTo>
                  <a:pt x="1657350" y="190500"/>
                </a:lnTo>
                <a:lnTo>
                  <a:pt x="2209800" y="57150"/>
                </a:lnTo>
                <a:lnTo>
                  <a:pt x="2762250" y="19050"/>
                </a:lnTo>
                <a:lnTo>
                  <a:pt x="333375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7877175" y="304115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389120" y="26087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1030" y="37517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648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Austin, 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17254"/>
            <a:ext cx="169753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142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+42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20100" y="2631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20100" y="3012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20100" y="33935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420100" y="37745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8420100" y="3012579"/>
            <a:ext cx="3333750" cy="762000"/>
          </a:xfrm>
          <a:custGeom>
            <a:avLst/>
            <a:gdLst/>
            <a:ahLst/>
            <a:cxnLst/>
            <a:rect l="l" t="t" r="r" b="b"/>
            <a:pathLst>
              <a:path w="3333750" h="762000">
                <a:moveTo>
                  <a:pt x="0" y="762000"/>
                </a:moveTo>
                <a:lnTo>
                  <a:pt x="552450" y="647700"/>
                </a:lnTo>
                <a:lnTo>
                  <a:pt x="1104900" y="361950"/>
                </a:lnTo>
                <a:lnTo>
                  <a:pt x="1657350" y="0"/>
                </a:lnTo>
                <a:lnTo>
                  <a:pt x="2209800" y="114300"/>
                </a:lnTo>
                <a:lnTo>
                  <a:pt x="2762250" y="209550"/>
                </a:lnTo>
                <a:lnTo>
                  <a:pt x="3333750" y="26670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1725275" y="325070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237220" y="26087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9130" y="37517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4600" y="2905899"/>
            <a:ext cx="471488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 i="0">
                <a:solidFill>
                  <a:srgbClr val="1A1A1A"/>
                </a:solidFill>
                <a:latin typeface="Inter"/>
              </a:rPr>
              <a:t>cooled '23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44127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Chicago, 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4565154"/>
            <a:ext cx="169753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118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+18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3900" y="4879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3900" y="5260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3900" y="5641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3900" y="60224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723900" y="5717679"/>
            <a:ext cx="3333750" cy="304800"/>
          </a:xfrm>
          <a:custGeom>
            <a:avLst/>
            <a:gdLst/>
            <a:ahLst/>
            <a:cxnLst/>
            <a:rect l="l" t="t" r="r" b="b"/>
            <a:pathLst>
              <a:path w="3333750" h="304800">
                <a:moveTo>
                  <a:pt x="0" y="304800"/>
                </a:moveTo>
                <a:lnTo>
                  <a:pt x="552450" y="285750"/>
                </a:lnTo>
                <a:lnTo>
                  <a:pt x="1104900" y="190500"/>
                </a:lnTo>
                <a:lnTo>
                  <a:pt x="1657350" y="95250"/>
                </a:lnTo>
                <a:lnTo>
                  <a:pt x="2209800" y="38100"/>
                </a:lnTo>
                <a:lnTo>
                  <a:pt x="2762250" y="0"/>
                </a:lnTo>
                <a:lnTo>
                  <a:pt x="333375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029075" y="568910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41020" y="48566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2930" y="59996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1500" y="44127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San Francisco, 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1500" y="4565154"/>
            <a:ext cx="1571327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96</a:t>
            </a:r>
            <a:r>
              <a:rPr sz="825" b="1" i="0" u="none">
                <a:solidFill>
                  <a:srgbClr val="1E5F8C"/>
                </a:solidFill>
                <a:latin typeface="Consolas"/>
              </a:rPr>
              <a:t xml:space="preserve"> −4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0" y="4879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0" y="5260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0" y="5641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0" y="60224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4572000" y="5946279"/>
            <a:ext cx="3333750" cy="152400"/>
          </a:xfrm>
          <a:custGeom>
            <a:avLst/>
            <a:gdLst/>
            <a:ahLst/>
            <a:cxnLst/>
            <a:rect l="l" t="t" r="r" b="b"/>
            <a:pathLst>
              <a:path w="3333750" h="152400">
                <a:moveTo>
                  <a:pt x="0" y="76200"/>
                </a:moveTo>
                <a:lnTo>
                  <a:pt x="552450" y="114300"/>
                </a:lnTo>
                <a:lnTo>
                  <a:pt x="1104900" y="152400"/>
                </a:lnTo>
                <a:lnTo>
                  <a:pt x="1657350" y="95250"/>
                </a:lnTo>
                <a:lnTo>
                  <a:pt x="2209800" y="57150"/>
                </a:lnTo>
                <a:lnTo>
                  <a:pt x="2762250" y="19050"/>
                </a:lnTo>
                <a:lnTo>
                  <a:pt x="333375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877175" y="591770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389120" y="48566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1030" y="59996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86500" y="6106299"/>
            <a:ext cx="518636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 i="0">
                <a:solidFill>
                  <a:srgbClr val="1E5F8C"/>
                </a:solidFill>
                <a:latin typeface="Inter"/>
              </a:rPr>
              <a:t>net decline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412754"/>
            <a:ext cx="3619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A1A1A"/>
                </a:solidFill>
                <a:latin typeface="Inter"/>
              </a:rPr>
              <a:t>Pittsburgh, PA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565154"/>
            <a:ext cx="163443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2019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100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 xml:space="preserve"> · 2025 · </a:t>
            </a:r>
            <a:r>
              <a:rPr sz="825" b="0" i="0" u="none">
                <a:solidFill>
                  <a:srgbClr val="000000"/>
                </a:solidFill>
                <a:latin typeface="Consolas"/>
              </a:rPr>
              <a:t>108</a:t>
            </a:r>
            <a:r>
              <a:rPr sz="825" b="1" i="0" u="none">
                <a:solidFill>
                  <a:srgbClr val="C41E3A"/>
                </a:solidFill>
                <a:latin typeface="Consolas"/>
              </a:rPr>
              <a:t xml:space="preserve"> +8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420100" y="4879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420100" y="5260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420100" y="5641479"/>
            <a:ext cx="333375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420100" y="6022479"/>
            <a:ext cx="333375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8420100" y="5793879"/>
            <a:ext cx="3333750" cy="228600"/>
          </a:xfrm>
          <a:custGeom>
            <a:avLst/>
            <a:gdLst/>
            <a:ahLst/>
            <a:cxnLst/>
            <a:rect l="l" t="t" r="r" b="b"/>
            <a:pathLst>
              <a:path w="3333750" h="228600">
                <a:moveTo>
                  <a:pt x="0" y="228600"/>
                </a:moveTo>
                <a:lnTo>
                  <a:pt x="552450" y="209550"/>
                </a:lnTo>
                <a:lnTo>
                  <a:pt x="1104900" y="171450"/>
                </a:lnTo>
                <a:lnTo>
                  <a:pt x="1657350" y="114300"/>
                </a:lnTo>
                <a:lnTo>
                  <a:pt x="2209800" y="57150"/>
                </a:lnTo>
                <a:lnTo>
                  <a:pt x="2762250" y="19050"/>
                </a:lnTo>
                <a:lnTo>
                  <a:pt x="333375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1725275" y="5765304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8237220" y="4856619"/>
            <a:ext cx="125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200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9130" y="5999619"/>
            <a:ext cx="838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 i="0">
                <a:solidFill>
                  <a:srgbClr val="000000"/>
                </a:solidFill>
                <a:latin typeface="Inter"/>
              </a:rPr>
              <a:t>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3400" y="6524625"/>
            <a:ext cx="362694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Apartment List Rent Estimates, Jan 2019–Jan 2025 · The Times analysis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78889" y="66198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03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FAFAF6"/>
      </a:accent2>
      <a:accent3>
        <a:srgbClr val="C41E3A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