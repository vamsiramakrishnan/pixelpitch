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-1143000" y="3238500"/>
            <a:ext cx="2800350" cy="28194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0408" y="13514"/>
                </a:moveTo>
                <a:cubicBezTo>
                  <a:pt x="51020" y="0"/>
                  <a:pt x="85034" y="13514"/>
                  <a:pt x="92517" y="40541"/>
                </a:cubicBezTo>
                <a:cubicBezTo>
                  <a:pt x="100000" y="67568"/>
                  <a:pt x="78231" y="91892"/>
                  <a:pt x="51020" y="95946"/>
                </a:cubicBezTo>
                <a:cubicBezTo>
                  <a:pt x="23810" y="100000"/>
                  <a:pt x="0" y="81081"/>
                  <a:pt x="680" y="55405"/>
                </a:cubicBezTo>
                <a:cubicBezTo>
                  <a:pt x="1361" y="40541"/>
                  <a:pt x="6803" y="23649"/>
                  <a:pt x="20408" y="13514"/>
                </a:cubicBezTo>
                <a:close/>
              </a:path>
            </a:pathLst>
          </a:custGeom>
          <a:solidFill>
            <a:srgbClr val="A78BF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9334500" y="-400050"/>
            <a:ext cx="3048000" cy="32194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1250" y="592"/>
                </a:moveTo>
                <a:cubicBezTo>
                  <a:pt x="62500" y="6509"/>
                  <a:pt x="93750" y="30178"/>
                  <a:pt x="96875" y="56805"/>
                </a:cubicBezTo>
                <a:cubicBezTo>
                  <a:pt x="100000" y="83432"/>
                  <a:pt x="75000" y="100000"/>
                  <a:pt x="50000" y="95266"/>
                </a:cubicBezTo>
                <a:cubicBezTo>
                  <a:pt x="25000" y="90533"/>
                  <a:pt x="6250" y="77515"/>
                  <a:pt x="3125" y="58580"/>
                </a:cubicBezTo>
                <a:cubicBezTo>
                  <a:pt x="0" y="39645"/>
                  <a:pt x="9375" y="21893"/>
                  <a:pt x="18750" y="14793"/>
                </a:cubicBezTo>
                <a:cubicBezTo>
                  <a:pt x="23750" y="11243"/>
                  <a:pt x="26875" y="0"/>
                  <a:pt x="31250" y="592"/>
                </a:cubicBezTo>
                <a:close/>
              </a:path>
            </a:pathLst>
          </a:custGeom>
          <a:solidFill>
            <a:srgbClr val="E9C46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9715500" y="5524500"/>
            <a:ext cx="2286000" cy="1524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3333" y="12500"/>
                </a:moveTo>
                <a:cubicBezTo>
                  <a:pt x="66667" y="0"/>
                  <a:pt x="100000" y="25000"/>
                  <a:pt x="100000" y="62500"/>
                </a:cubicBezTo>
                <a:cubicBezTo>
                  <a:pt x="100000" y="100000"/>
                  <a:pt x="66667" y="100000"/>
                  <a:pt x="33333" y="87500"/>
                </a:cubicBezTo>
                <a:cubicBezTo>
                  <a:pt x="0" y="75000"/>
                  <a:pt x="0" y="25000"/>
                  <a:pt x="33333" y="12500"/>
                </a:cubicBezTo>
                <a:close/>
              </a:path>
            </a:pathLst>
          </a:custGeom>
          <a:solidFill>
            <a:srgbClr val="F7B2A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162550" y="1295400"/>
            <a:ext cx="190500" cy="190500"/>
          </a:xfrm>
          <a:prstGeom prst="ellipse">
            <a:avLst/>
          </a:prstGeom>
          <a:solidFill>
            <a:srgbClr val="E76F5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162550" y="2228850"/>
            <a:ext cx="190500" cy="190500"/>
          </a:xfrm>
          <a:prstGeom prst="ellipse">
            <a:avLst/>
          </a:prstGeom>
          <a:solidFill>
            <a:srgbClr val="F4A261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62550" y="3162300"/>
            <a:ext cx="190500" cy="190500"/>
          </a:xfrm>
          <a:prstGeom prst="ellipse">
            <a:avLst/>
          </a:prstGeom>
          <a:solidFill>
            <a:srgbClr val="2A9D8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62550" y="4095750"/>
            <a:ext cx="190500" cy="190500"/>
          </a:xfrm>
          <a:prstGeom prst="ellipse">
            <a:avLst/>
          </a:prstGeom>
          <a:solidFill>
            <a:srgbClr val="A78BF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162550" y="5029200"/>
            <a:ext cx="190500" cy="190500"/>
          </a:xfrm>
          <a:prstGeom prst="ellipse">
            <a:avLst/>
          </a:prstGeom>
          <a:solidFill>
            <a:srgbClr val="E9C46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914400" y="1790700"/>
            <a:ext cx="3086100" cy="1333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7143"/>
                </a:moveTo>
                <a:cubicBezTo>
                  <a:pt x="32099" y="0"/>
                  <a:pt x="69136" y="100000"/>
                  <a:pt x="100000" y="28571"/>
                </a:cubicBezTo>
              </a:path>
            </a:pathLst>
          </a:custGeom>
          <a:noFill/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1714500" y="2762250"/>
            <a:ext cx="723900" cy="7810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6316" y="12195"/>
                </a:moveTo>
                <a:cubicBezTo>
                  <a:pt x="65789" y="0"/>
                  <a:pt x="100000" y="24390"/>
                  <a:pt x="92105" y="60976"/>
                </a:cubicBezTo>
                <a:cubicBezTo>
                  <a:pt x="84211" y="97561"/>
                  <a:pt x="26316" y="100000"/>
                  <a:pt x="10526" y="70732"/>
                </a:cubicBezTo>
                <a:cubicBezTo>
                  <a:pt x="0" y="51220"/>
                  <a:pt x="5263" y="21951"/>
                  <a:pt x="26316" y="12195"/>
                </a:cubicBezTo>
                <a:close/>
              </a:path>
            </a:pathLst>
          </a:custGeom>
          <a:noFill/>
          <a:ln w="14288">
            <a:solidFill>
              <a:srgbClr val="264653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914400" y="3829050"/>
            <a:ext cx="2514600" cy="190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16667" y="10000"/>
                  <a:pt x="33333" y="100000"/>
                  <a:pt x="50000" y="50000"/>
                </a:cubicBezTo>
                <a:cubicBezTo>
                  <a:pt x="66667" y="0"/>
                  <a:pt x="81818" y="100000"/>
                  <a:pt x="100000" y="50000"/>
                </a:cubicBezTo>
              </a:path>
            </a:pathLst>
          </a:custGeom>
          <a:noFill/>
          <a:ln w="12382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914400" y="4229100"/>
            <a:ext cx="438150" cy="3238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47059"/>
                </a:moveTo>
                <a:cubicBezTo>
                  <a:pt x="30435" y="0"/>
                  <a:pt x="78261" y="0"/>
                  <a:pt x="100000" y="41176"/>
                </a:cubicBezTo>
                <a:cubicBezTo>
                  <a:pt x="73913" y="82353"/>
                  <a:pt x="30435" y="100000"/>
                  <a:pt x="0" y="47059"/>
                </a:cubicBezTo>
                <a:close/>
              </a:path>
            </a:pathLst>
          </a:custGeom>
          <a:noFill/>
          <a:ln w="1333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952500" y="4305300"/>
            <a:ext cx="400050" cy="762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33333" y="50000"/>
                  <a:pt x="66667" y="0"/>
                  <a:pt x="100000" y="75000"/>
                </a:cubicBezTo>
              </a:path>
            </a:pathLst>
          </a:custGeom>
          <a:noFill/>
          <a:ln w="10478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4991100" y="1143000"/>
            <a:ext cx="114300" cy="438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3333" y="0"/>
                </a:moveTo>
                <a:cubicBezTo>
                  <a:pt x="100000" y="30435"/>
                  <a:pt x="0" y="65217"/>
                  <a:pt x="66667" y="100000"/>
                </a:cubicBezTo>
              </a:path>
            </a:pathLst>
          </a:custGeom>
          <a:noFill/>
          <a:ln w="11430">
            <a:solidFill>
              <a:srgbClr val="2D1F1F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14400" y="685800"/>
            <a:ext cx="108867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E76F51"/>
                </a:solidFill>
                <a:latin typeface="Inter"/>
              </a:rPr>
              <a:t>What we believe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312664"/>
            <a:ext cx="4076551" cy="4857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2D1F1F"/>
                </a:solidFill>
                <a:latin typeface="Source Serif Pro"/>
              </a:rPr>
              <a:t xml:space="preserve">Five quiet </a:t>
            </a:r>
            <a:r>
              <a:rPr sz="3450" b="0" i="1" u="none">
                <a:solidFill>
                  <a:srgbClr val="264653"/>
                </a:solidFill>
                <a:latin typeface="Source Serif Pro"/>
              </a:rPr>
              <a:t>convictions</a:t>
            </a:r>
            <a:r>
              <a:rPr sz="3450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495550"/>
            <a:ext cx="3619500" cy="659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A2A2A"/>
                </a:solidFill>
                <a:latin typeface="Inter"/>
              </a:rPr>
              <a:t>We wrote them down so we'd remember on the days the noise got loud. They aren't rules. They're the shape of the work, when the work goes well.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0" y="1028700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0" y="1028700"/>
            <a:ext cx="1404045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 xml:space="preserve">Slow is a </a:t>
            </a:r>
            <a:r>
              <a:rPr sz="1575" b="0" i="1" u="none">
                <a:solidFill>
                  <a:srgbClr val="E76F51"/>
                </a:solidFill>
                <a:latin typeface="Source Serif Pro"/>
              </a:rPr>
              <a:t>feature</a:t>
            </a:r>
            <a:r>
              <a:rPr sz="1575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9300" y="1306711"/>
            <a:ext cx="4104084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Speed without consideration is just hurry, and hurry leaves a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1727150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ii.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9300" y="1727150"/>
            <a:ext cx="3094732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>Whitespace is a kindness.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9300" y="2005161"/>
            <a:ext cx="3094732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What we leave out tells the reader we trust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2425601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iii.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9300" y="2425601"/>
            <a:ext cx="4001244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>Make it by hand, when you can.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9300" y="2703612"/>
            <a:ext cx="4001244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The wobble is the warmth. We do not optimize the wobble away.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0" y="3124051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iv.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9300" y="3124051"/>
            <a:ext cx="1366986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 xml:space="preserve">Soft is not </a:t>
            </a:r>
            <a:r>
              <a:rPr sz="1575" b="0" i="1" u="none">
                <a:solidFill>
                  <a:srgbClr val="E76F51"/>
                </a:solidFill>
                <a:latin typeface="Source Serif Pro"/>
              </a:rPr>
              <a:t>weak</a:t>
            </a:r>
            <a:r>
              <a:rPr sz="1575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9300" y="3402062"/>
            <a:ext cx="4598045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A round corner has held more weight than a sharp one, in our experience.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3822502"/>
            <a:ext cx="304800" cy="21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9C89B8"/>
                </a:solidFill>
                <a:latin typeface="Source Serif Pro"/>
              </a:rPr>
              <a:t>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9300" y="3822502"/>
            <a:ext cx="3890516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75" b="1" i="0" u="none">
                <a:solidFill>
                  <a:srgbClr val="2D1F1F"/>
                </a:solidFill>
                <a:latin typeface="Source Serif Pro"/>
              </a:rPr>
              <a:t>Begin where the light 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9300" y="4100512"/>
            <a:ext cx="3890516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A3A3A"/>
                </a:solidFill>
                <a:latin typeface="Inter"/>
              </a:rPr>
              <a:t>If a thing won't start, move closer to a window. Then try again.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267450"/>
            <a:ext cx="266938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>Pinned above the studio sink · revised slowly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D1F1F"/>
      </a:accent1>
      <a:accent2>
        <a:srgbClr val="9C89B8"/>
      </a:accent2>
      <a:accent3>
        <a:srgbClr val="4A3A3A"/>
      </a:accent3>
      <a:accent4>
        <a:srgbClr val="E8F0EB"/>
      </a:accent4>
      <a:accent5>
        <a:srgbClr val="7A6A6A"/>
      </a:accent5>
      <a:accent6>
        <a:srgbClr val="E76F51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