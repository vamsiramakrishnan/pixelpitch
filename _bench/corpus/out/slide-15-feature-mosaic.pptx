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90532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453A"/>
                </a:solidFill>
                <a:latin typeface="Sf Pro Display"/>
              </a:rPr>
              <a:t>What's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47936"/>
            <a:ext cx="7357467" cy="51196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FFFFFF"/>
                </a:solidFill>
                <a:latin typeface="Sf Pro Display"/>
              </a:rPr>
              <a:t>Four things, and they all matter.</a:t>
            </a:r>
          </a:p>
        </p:txBody>
      </p:sp>
      <p:sp>
        <p:nvSpPr>
          <p:cNvPr id="5" name="Oval 4"/>
          <p:cNvSpPr/>
          <p:nvPr/>
        </p:nvSpPr>
        <p:spPr>
          <a:xfrm>
            <a:off x="857250" y="2457450"/>
            <a:ext cx="419100" cy="4191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650" y="2609850"/>
            <a:ext cx="114300" cy="114300"/>
          </a:xfrm>
          <a:prstGeom prst="ellipse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2000" y="32004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Always-on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242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A single dial that tracks attention without ever leaving the frame.</a:t>
            </a:r>
          </a:p>
        </p:txBody>
      </p:sp>
      <p:sp>
        <p:nvSpPr>
          <p:cNvPr id="9" name="Freeform 8"/>
          <p:cNvSpPr/>
          <p:nvPr/>
        </p:nvSpPr>
        <p:spPr>
          <a:xfrm>
            <a:off x="6553200" y="2438400"/>
            <a:ext cx="457200" cy="419100"/>
          </a:xfrm>
          <a:custGeom>
            <a:avLst/>
            <a:gdLst/>
            <a:ahLst/>
            <a:cxnLst/>
            <a:rect l="l" t="t" r="r" b="b"/>
            <a:pathLst>
              <a:path w="457200" h="419100">
                <a:moveTo>
                  <a:pt x="228600" y="0"/>
                </a:moveTo>
                <a:lnTo>
                  <a:pt x="457200" y="419100"/>
                </a:lnTo>
                <a:lnTo>
                  <a:pt x="0" y="419100"/>
                </a:lnTo>
                <a:close/>
              </a:path>
            </a:pathLst>
          </a:cu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 9"/>
          <p:cNvCxnSpPr/>
          <p:nvPr/>
        </p:nvCxnSpPr>
        <p:spPr>
          <a:xfrm>
            <a:off x="6781800" y="2571750"/>
            <a:ext cx="0" cy="209550"/>
          </a:xfrm>
          <a:prstGeom prst="line">
            <a:avLst/>
          </a:prstGeom>
          <a:ln w="19050">
            <a:solidFill>
              <a:srgbClr val="FF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77000" y="32004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Adaptive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5242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Throttles up under pressure, sleeps the rest of the time.</a:t>
            </a:r>
          </a:p>
        </p:txBody>
      </p:sp>
      <p:sp>
        <p:nvSpPr>
          <p:cNvPr id="13" name="Freeform 12"/>
          <p:cNvSpPr/>
          <p:nvPr/>
        </p:nvSpPr>
        <p:spPr>
          <a:xfrm>
            <a:off x="857250" y="4476750"/>
            <a:ext cx="419100" cy="495300"/>
          </a:xfrm>
          <a:custGeom>
            <a:avLst/>
            <a:gdLst/>
            <a:ahLst/>
            <a:cxnLst/>
            <a:rect l="l" t="t" r="r" b="b"/>
            <a:pathLst>
              <a:path w="419100" h="495300">
                <a:moveTo>
                  <a:pt x="209550" y="0"/>
                </a:moveTo>
                <a:lnTo>
                  <a:pt x="419100" y="123825"/>
                </a:lnTo>
                <a:lnTo>
                  <a:pt x="419100" y="371475"/>
                </a:lnTo>
                <a:lnTo>
                  <a:pt x="209550" y="495300"/>
                </a:lnTo>
                <a:lnTo>
                  <a:pt x="0" y="371475"/>
                </a:lnTo>
                <a:lnTo>
                  <a:pt x="0" y="123825"/>
                </a:lnTo>
                <a:close/>
              </a:path>
            </a:pathLst>
          </a:cu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28700" y="4686300"/>
            <a:ext cx="76200" cy="76200"/>
          </a:xfrm>
          <a:prstGeom prst="ellipse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62000" y="52578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Hex-core 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5816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Six identical cores, scheduled by an entirely new kernel.</a:t>
            </a:r>
          </a:p>
        </p:txBody>
      </p:sp>
      <p:sp>
        <p:nvSpPr>
          <p:cNvPr id="17" name="Oval 16"/>
          <p:cNvSpPr/>
          <p:nvPr/>
        </p:nvSpPr>
        <p:spPr>
          <a:xfrm>
            <a:off x="6591300" y="4533900"/>
            <a:ext cx="152400" cy="1524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819900" y="4533900"/>
            <a:ext cx="152400" cy="1524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705600" y="4762500"/>
            <a:ext cx="152400" cy="1524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6667500" y="4686300"/>
            <a:ext cx="114300" cy="76200"/>
          </a:xfrm>
          <a:prstGeom prst="line">
            <a:avLst/>
          </a:prstGeom>
          <a:ln w="14288">
            <a:solidFill>
              <a:srgbClr val="FF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781800" y="4686300"/>
            <a:ext cx="114300" cy="76200"/>
          </a:xfrm>
          <a:prstGeom prst="line">
            <a:avLst/>
          </a:prstGeom>
          <a:ln w="14288">
            <a:solidFill>
              <a:srgbClr val="FF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77000" y="52578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Constellation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55816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All your devices, in agreement, without a server in the middle.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8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15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453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