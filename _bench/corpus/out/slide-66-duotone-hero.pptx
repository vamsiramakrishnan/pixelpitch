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gradFill flip="none" rotWithShape="1">
            <a:gsLst>
              <a:gs pos="0">
                <a:srgbClr val="000000">
                  <a:alpha val="0"/>
                </a:srgbClr>
              </a:gs>
              <a:gs pos="30000">
                <a:srgbClr val="000000">
                  <a:alpha val="0"/>
                </a:srgbClr>
              </a:gs>
              <a:gs pos="41667">
                <a:srgbClr val="000000">
                  <a:alpha val="9167"/>
                </a:srgbClr>
              </a:gs>
              <a:gs pos="53333">
                <a:srgbClr val="010001">
                  <a:alpha val="18333"/>
                </a:srgbClr>
              </a:gs>
              <a:gs pos="65000">
                <a:srgbClr val="020103">
                  <a:alpha val="27500"/>
                </a:srgbClr>
              </a:gs>
              <a:gs pos="76667">
                <a:srgbClr val="040308">
                  <a:alpha val="36667"/>
                </a:srgbClr>
              </a:gs>
              <a:gs pos="88333">
                <a:srgbClr val="050610">
                  <a:alpha val="45833"/>
                </a:srgbClr>
              </a:gs>
              <a:gs pos="100000">
                <a:srgbClr val="050C18">
                  <a:alpha val="55000"/>
                </a:srgbClr>
              </a:gs>
            </a:gsLst>
            <a:path path="circle">
              <a:fillToRect l="60000" t="45000" r="40000" b="55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62000" y="1143000"/>
            <a:ext cx="376926" cy="438150"/>
          </a:xfrm>
          <a:prstGeom prst="rect">
            <a:avLst/>
          </a:prstGeom>
          <a:solidFill>
            <a:srgbClr val="FF5B1F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1422"/>
                </a:solidFill>
                <a:latin typeface="Inter Display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9700" y="1238250"/>
            <a:ext cx="1867049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F5B1F"/>
                </a:solidFill>
                <a:latin typeface="Inter Display"/>
              </a:rPr>
              <a:t>A film by R. Sayre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700" y="1447800"/>
            <a:ext cx="145896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Inter Display"/>
              </a:rPr>
              <a:t>a study in three nights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143125"/>
            <a:ext cx="5708749" cy="287803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1100" b="1" i="0" u="none">
                <a:solidFill>
                  <a:srgbClr val="FFFFFF"/>
                </a:solidFill>
                <a:latin typeface="Inter Display"/>
              </a:rPr>
              <a:t xml:space="preserve">
    THE </a:t>
            </a:r>
            <a:r>
              <a:rPr sz="11100" b="0" i="1" u="none">
                <a:solidFill>
                  <a:srgbClr val="FF5B1F"/>
                </a:solidFill>
                <a:latin typeface="Tiempos Headline"/>
              </a:rPr>
              <a:t>Quiet</a:t>
            </a:r>
          </a:p>
          <a:p>
            <a:pPr algn="l"/>
            <a:r>
              <a:rPr sz="11100" b="1" i="0" u="none">
                <a:solidFill>
                  <a:srgbClr val="FFFFFF"/>
                </a:solidFill>
                <a:latin typeface="Inter Display"/>
              </a:rPr>
              <a:t xml:space="preserve">HOURS.
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053012"/>
            <a:ext cx="5143500" cy="442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Inter Display"/>
              </a:rPr>
              <a:t xml:space="preserve">A widow, a locksmith, and a stretch of coastal
    highway no one drives anymore. Photographed in
    8mm and 65mm. Scored by Hildur Gudnadottir.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3653" y="4661595"/>
            <a:ext cx="1016347" cy="8953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r"/>
            <a:r>
              <a:rPr sz="6300" b="1" i="0" u="none">
                <a:solidFill>
                  <a:srgbClr val="FFFFFF"/>
                </a:solidFill>
                <a:latin typeface="Inter Display"/>
              </a:rPr>
              <a:t>88</a:t>
            </a:r>
            <a:r>
              <a:rPr sz="6300" b="1" i="0" u="none">
                <a:solidFill>
                  <a:srgbClr val="FF5B1F"/>
                </a:solidFill>
                <a:latin typeface="Inter Display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30594" y="5534025"/>
            <a:ext cx="1199406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FFFFFF"/>
                </a:solidFill>
                <a:latin typeface="Inter Display"/>
              </a:rPr>
              <a:t>Minutes / 65mm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5B1F"/>
      </a:accent1>
      <a:accent2>
        <a:srgbClr val="0A1422"/>
      </a:accent2>
      <a:accent3>
        <a:srgbClr val="050C18"/>
      </a:accent3>
      <a:accent4>
        <a:srgbClr val="1E5F8C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