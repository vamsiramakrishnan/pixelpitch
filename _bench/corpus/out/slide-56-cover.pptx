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boldItalic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304800"/>
            <a:ext cx="171450" cy="1714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878961" y="338138"/>
            <a:ext cx="370343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Confidential · Working Draft · Not for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23925"/>
            <a:ext cx="2030611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Confidential · Internal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38250"/>
            <a:ext cx="331782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Report · ESP-2026-Q2-014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390650"/>
            <a:ext cx="2506861" cy="41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Source Serif Pro"/>
              </a:rPr>
              <a:t xml:space="preserve">The Enterprise Software </a:t>
            </a:r>
            <a:r>
              <a:rPr sz="1350" b="1" i="1" u="none">
                <a:solidFill>
                  <a:srgbClr val="475569"/>
                </a:solidFill>
                <a:latin typeface="Source Serif Pro"/>
              </a:rPr>
              <a:t>Quarterly</a:t>
            </a:r>
          </a:p>
          <a:p>
            <a:pPr algn="l"/>
            <a:r>
              <a:rPr sz="1350" b="1" i="0" u="none">
                <a:solidFill>
                  <a:srgbClr val="1A1A1A"/>
                </a:solidFill>
                <a:latin typeface="Source Serif Pro"/>
              </a:rPr>
              <a:t>Spring 2026 issue, vol. XII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941016"/>
            <a:ext cx="114300" cy="11430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57250" y="1945779"/>
            <a:ext cx="158933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Series · Practice POVs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0"/>
            <a:ext cx="331782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Prepared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90975"/>
            <a:ext cx="3100983" cy="51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Source Serif Pro"/>
              </a:rPr>
              <a:t>Helmsworth Industries plc — Office of the Chief Strategy Officer</a:t>
            </a:r>
            <a:r>
              <a:rPr sz="825" b="0" i="0" u="none">
                <a:solidFill>
                  <a:srgbClr val="475569"/>
                </a:solidFill>
                <a:latin typeface="Inter"/>
              </a:rPr>
              <a:t>Steering committee · Project Atlas, workstream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796135"/>
            <a:ext cx="331782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977110"/>
            <a:ext cx="2599432" cy="317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Source Serif Pro"/>
              </a:rPr>
              <a:t>Beacon &amp; Lowe — Enterprise Software Practice</a:t>
            </a:r>
            <a:r>
              <a:rPr sz="825" b="0" i="0" u="none">
                <a:solidFill>
                  <a:srgbClr val="475569"/>
                </a:solidFill>
                <a:latin typeface="Inter"/>
              </a:rPr>
              <a:t>Lead: M. Okafor · Co-leads: J. Aalto, R. Vance, S. Iyer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588943"/>
            <a:ext cx="331782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Date of issue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769918"/>
            <a:ext cx="2073473" cy="317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Source Serif Pro"/>
              </a:rPr>
              <a:t>30 April 2026</a:t>
            </a:r>
            <a:r>
              <a:rPr sz="825" b="0" i="0" u="none">
                <a:solidFill>
                  <a:srgbClr val="475569"/>
                </a:solidFill>
                <a:latin typeface="Inter"/>
              </a:rPr>
              <a:t>Supersedes: 28 February 2026 working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550" y="914400"/>
            <a:ext cx="70358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Strategic outlook 2026 – 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550" y="1238250"/>
            <a:ext cx="4171355" cy="115996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1A1A1A"/>
                </a:solidFill>
                <a:latin typeface="Source Serif Pro"/>
              </a:rPr>
              <a:t>Concentration, capability,</a:t>
            </a:r>
          </a:p>
          <a:p>
            <a:pPr algn="l"/>
            <a:r>
              <a:rPr sz="2850" b="1" i="0" u="none">
                <a:solidFill>
                  <a:srgbClr val="1A1A1A"/>
                </a:solidFill>
                <a:latin typeface="Source Serif Pro"/>
              </a:rPr>
              <a:t xml:space="preserve">and the </a:t>
            </a:r>
            <a:r>
              <a:rPr sz="2850" b="1" i="1" u="none">
                <a:solidFill>
                  <a:srgbClr val="0B3A5C"/>
                </a:solidFill>
                <a:latin typeface="Source Serif Pro"/>
              </a:rPr>
              <a:t>narrowing window</a:t>
            </a:r>
          </a:p>
          <a:p>
            <a:pPr algn="l"/>
            <a:r>
              <a:rPr sz="2850" b="1" i="0" u="none">
                <a:solidFill>
                  <a:srgbClr val="1A1A1A"/>
                </a:solidFill>
                <a:latin typeface="Source Serif Pro"/>
              </a:rPr>
              <a:t>for enterprise software bets.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550" y="2530525"/>
            <a:ext cx="6286500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ource Serif Pro"/>
              </a:rPr>
              <a:t>A field study of 412 buyers, 218 transformations, and 11 vendors — with the operating-model implications for the next 36 months of capital allocation.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550" y="3437186"/>
            <a:ext cx="70358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Contents · six sections, 84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550" y="5685532"/>
            <a:ext cx="21928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Field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6550" y="5847457"/>
            <a:ext cx="2192834" cy="2095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nter"/>
              </a:rPr>
              <a:t>412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6550" y="6095107"/>
            <a:ext cx="2192834" cy="1532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ource Serif Pro"/>
              </a:rPr>
              <a:t>enterprise software buyers, fielded Q3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984" y="5685532"/>
            <a:ext cx="21928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Transformations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984" y="5847457"/>
            <a:ext cx="2192834" cy="2095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nter"/>
              </a:rPr>
              <a:t>218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984" y="6095107"/>
            <a:ext cx="2192834" cy="1532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ource Serif Pro"/>
              </a:rPr>
              <a:t>large-enterprise programs, FY 2021–FY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9418" y="5685532"/>
            <a:ext cx="21928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Modeling 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9418" y="5828407"/>
            <a:ext cx="411659" cy="2381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nter"/>
              </a:rPr>
              <a:t>36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9418" y="6095107"/>
            <a:ext cx="2192834" cy="1532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ource Serif Pro"/>
              </a:rPr>
              <a:t>planning window through Q1 FY 2029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24625"/>
            <a:ext cx="348540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Beacon &amp; Lowe LLP · New York · London · Singapore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2948" y="6524625"/>
            <a:ext cx="336024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The Enterprise Software Quarterly · Spring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56 / 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475569"/>
      </a:accent2>
      <a:accent3>
        <a:srgbClr val="0B3A5C"/>
      </a:accent3>
      <a:accent4>
        <a:srgbClr val="F7F5F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