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Tiempos Headline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906667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140F0A">
                  <a:alpha val="10000"/>
                </a:srgbClr>
              </a:gs>
              <a:gs pos="5833">
                <a:srgbClr val="140F0A">
                  <a:alpha val="8333"/>
                </a:srgbClr>
              </a:gs>
              <a:gs pos="11667">
                <a:srgbClr val="140F0A">
                  <a:alpha val="6667"/>
                </a:srgbClr>
              </a:gs>
              <a:gs pos="17500">
                <a:srgbClr val="140F0A">
                  <a:alpha val="5000"/>
                </a:srgbClr>
              </a:gs>
              <a:gs pos="23333">
                <a:srgbClr val="140F0A">
                  <a:alpha val="3333"/>
                </a:srgbClr>
              </a:gs>
              <a:gs pos="29167">
                <a:srgbClr val="140F0A">
                  <a:alpha val="1667"/>
                </a:srgbClr>
              </a:gs>
              <a:gs pos="35000">
                <a:srgbClr val="140F0A">
                  <a:alpha val="0"/>
                </a:srgbClr>
              </a:gs>
              <a:gs pos="45833">
                <a:srgbClr val="140F0A">
                  <a:alpha val="7500"/>
                </a:srgbClr>
              </a:gs>
              <a:gs pos="56667">
                <a:srgbClr val="140F0A">
                  <a:alpha val="15000"/>
                </a:srgbClr>
              </a:gs>
              <a:gs pos="67500">
                <a:srgbClr val="140F0A">
                  <a:alpha val="22500"/>
                </a:srgbClr>
              </a:gs>
              <a:gs pos="78333">
                <a:srgbClr val="140F0A">
                  <a:alpha val="30000"/>
                </a:srgbClr>
              </a:gs>
              <a:gs pos="89167">
                <a:srgbClr val="140F0A">
                  <a:alpha val="37500"/>
                </a:srgbClr>
              </a:gs>
              <a:gs pos="100000">
                <a:srgbClr val="140F0A">
                  <a:alpha val="45000"/>
                </a:srgbClr>
              </a:gs>
            </a:gsLst>
            <a:lin ang="5400000" scaled="0"/>
          </a:gradFill>
          <a:xfrm>
            <a:off x="0" y="0"/>
            <a:ext cx="6477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266700"/>
            <a:ext cx="12550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 Display"/>
              </a:rPr>
              <a:t>Aperture · 062</a:t>
            </a:r>
          </a:p>
        </p:txBody>
      </p:sp>
      <p:sp>
        <p:nvSpPr>
          <p:cNvPr id="6" name="Rectangle 5"/>
          <p:cNvSpPr/>
          <p:nvPr/>
        </p:nvSpPr>
        <p:spPr>
          <a:xfrm>
            <a:off x="8330654" y="661988"/>
            <a:ext cx="2645271" cy="9525"/>
          </a:xfrm>
          <a:prstGeom prst="rect">
            <a:avLst/>
          </a:prstGeom>
          <a:solidFill>
            <a:srgbClr val="C8B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162800" y="1123950"/>
            <a:ext cx="43434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501E"/>
                </a:solidFill>
                <a:latin typeface="Inter Display"/>
              </a:rPr>
              <a:t>An interview — in three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0" y="1371600"/>
            <a:ext cx="3117205" cy="21202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550" b="1" i="0" u="none">
                <a:solidFill>
                  <a:srgbClr val="1A1612"/>
                </a:solidFill>
                <a:latin typeface="Tiempos Headline"/>
              </a:rPr>
              <a:t xml:space="preserve">
      What the</a:t>
            </a:r>
          </a:p>
          <a:p>
            <a:pPr algn="l"/>
            <a:r>
              <a:rPr sz="5550" b="1" i="0" u="none">
                <a:solidFill>
                  <a:srgbClr val="1A1612"/>
                </a:solidFill>
                <a:latin typeface="Tiempos Headline"/>
              </a:rPr>
              <a:t>quiet hours</a:t>
            </a:r>
          </a:p>
          <a:p>
            <a:pPr algn="l"/>
            <a:r>
              <a:rPr sz="5550" b="1" i="0" u="none">
                <a:solidFill>
                  <a:srgbClr val="1A1612"/>
                </a:solidFill>
                <a:latin typeface="Tiempos Headline"/>
              </a:rPr>
              <a:t xml:space="preserve">are </a:t>
            </a:r>
            <a:r>
              <a:rPr sz="5550" b="1" i="1" u="none">
                <a:solidFill>
                  <a:srgbClr val="1A1612"/>
                </a:solidFill>
                <a:latin typeface="Tiempos Headline"/>
              </a:rPr>
              <a:t>for</a:t>
            </a:r>
            <a:r>
              <a:rPr sz="5550" b="1" i="0" u="none">
                <a:solidFill>
                  <a:srgbClr val="1A1612"/>
                </a:solidFill>
                <a:latin typeface="Tiempos Headline"/>
              </a:rPr>
              <a:t xml:space="preserve">.
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3666083"/>
            <a:ext cx="4343400" cy="542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 i="0" u="none">
                <a:solidFill>
                  <a:srgbClr val="3A3128"/>
                </a:solidFill>
                <a:latin typeface="Tiempos Headline"/>
              </a:rPr>
              <a:t xml:space="preserve">The novelist on slow mornings, the cost of an
      honest sentence, and learning to leave a draft
      alone for a year.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800" y="4494758"/>
            <a:ext cx="2038350" cy="11956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The kettle is on for the second time. Halberstam
      writes longhand until eleven, then walks. Then,
      she has said in earlier interviews, the day
      becomes a kind of weather one consents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800" y="4513808"/>
            <a:ext cx="4343400" cy="18228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Her new novel </a:t>
            </a:r>
            <a:r>
              <a:rPr sz="1012" b="0" i="1" u="none">
                <a:solidFill>
                  <a:srgbClr val="1A1612"/>
                </a:solidFill>
                <a:latin typeface="Tiempos Headline"/>
              </a:rPr>
              <a:t>The Inland Sea</a:t>
            </a:r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 is shorter
      than the last by half. “I wanted the silence
      to be load-bearing,” she says. “Not a pause
      between things — the thing itself.”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7850" y="4979045"/>
            <a:ext cx="2038350" cy="99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We meet in the kitchen, then the study, then
      a back porch that looks at nothing in particular.
      In each room she is slightly different, more
      careful with what she will say.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7850" y="6061174"/>
            <a:ext cx="2038350" cy="5978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/>
            <a:r>
              <a:rPr sz="1012" b="0" i="0" u="none">
                <a:solidFill>
                  <a:srgbClr val="1A1612"/>
                </a:solidFill>
                <a:latin typeface="Tiempos Headline"/>
              </a:rPr>
              <a:t xml:space="preserve">“A page should cost something,” she offers,
      stirring nothing in her cup. “Otherwise it
      isn't a page. It's a sound.”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612"/>
      </a:accent1>
      <a:accent2>
        <a:srgbClr val="7A6A55"/>
      </a:accent2>
      <a:accent3>
        <a:srgbClr val="140F0A"/>
      </a:accent3>
      <a:accent4>
        <a:srgbClr val="F3EFE7"/>
      </a:accent4>
      <a:accent5>
        <a:srgbClr val="C8B89C"/>
      </a:accent5>
      <a:accent6>
        <a:srgbClr val="A3501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