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  <p:italic r:id="rIdSlidify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-857250" y="-381000"/>
            <a:ext cx="3333750" cy="304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4286" y="6250"/>
                </a:moveTo>
                <a:cubicBezTo>
                  <a:pt x="48571" y="0"/>
                  <a:pt x="88571" y="21875"/>
                  <a:pt x="94286" y="53125"/>
                </a:cubicBezTo>
                <a:cubicBezTo>
                  <a:pt x="100000" y="84375"/>
                  <a:pt x="71429" y="100000"/>
                  <a:pt x="42857" y="91875"/>
                </a:cubicBezTo>
                <a:cubicBezTo>
                  <a:pt x="14286" y="83750"/>
                  <a:pt x="0" y="62500"/>
                  <a:pt x="571" y="37500"/>
                </a:cubicBezTo>
                <a:cubicBezTo>
                  <a:pt x="1143" y="21875"/>
                  <a:pt x="0" y="9375"/>
                  <a:pt x="14286" y="6250"/>
                </a:cubicBezTo>
                <a:close/>
              </a:path>
            </a:pathLst>
          </a:custGeom>
          <a:solidFill>
            <a:srgbClr val="F7B2A2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9620250" y="4953000"/>
            <a:ext cx="3048000" cy="2286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8125" y="8333"/>
                </a:moveTo>
                <a:cubicBezTo>
                  <a:pt x="56250" y="0"/>
                  <a:pt x="87500" y="16667"/>
                  <a:pt x="93750" y="50000"/>
                </a:cubicBezTo>
                <a:cubicBezTo>
                  <a:pt x="100000" y="83333"/>
                  <a:pt x="78125" y="100000"/>
                  <a:pt x="53125" y="100000"/>
                </a:cubicBezTo>
                <a:cubicBezTo>
                  <a:pt x="28125" y="100000"/>
                  <a:pt x="6250" y="83333"/>
                  <a:pt x="3125" y="58333"/>
                </a:cubicBezTo>
                <a:cubicBezTo>
                  <a:pt x="0" y="33333"/>
                  <a:pt x="9375" y="25000"/>
                  <a:pt x="18750" y="18333"/>
                </a:cubicBezTo>
                <a:cubicBezTo>
                  <a:pt x="23750" y="15000"/>
                  <a:pt x="25000" y="11667"/>
                  <a:pt x="28125" y="8333"/>
                </a:cubicBezTo>
                <a:close/>
              </a:path>
            </a:pathLst>
          </a:custGeom>
          <a:solidFill>
            <a:srgbClr val="A78BFA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5219700" y="5429250"/>
            <a:ext cx="1447800" cy="12382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4211" y="7692"/>
                </a:moveTo>
                <a:cubicBezTo>
                  <a:pt x="73684" y="0"/>
                  <a:pt x="100000" y="23077"/>
                  <a:pt x="97368" y="53846"/>
                </a:cubicBezTo>
                <a:cubicBezTo>
                  <a:pt x="94737" y="84615"/>
                  <a:pt x="60526" y="100000"/>
                  <a:pt x="31579" y="89231"/>
                </a:cubicBezTo>
                <a:cubicBezTo>
                  <a:pt x="2632" y="78462"/>
                  <a:pt x="0" y="41538"/>
                  <a:pt x="13158" y="20000"/>
                </a:cubicBezTo>
                <a:cubicBezTo>
                  <a:pt x="19737" y="10769"/>
                  <a:pt x="26316" y="9231"/>
                  <a:pt x="34211" y="7692"/>
                </a:cubicBezTo>
                <a:close/>
              </a:path>
            </a:pathLst>
          </a:custGeom>
          <a:solidFill>
            <a:srgbClr val="E9C46A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409700" y="4933950"/>
            <a:ext cx="419100" cy="419100"/>
          </a:xfrm>
          <a:prstGeom prst="ellipse">
            <a:avLst/>
          </a:prstGeom>
          <a:solidFill>
            <a:srgbClr val="2A9D8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0591800" y="1924050"/>
            <a:ext cx="342900" cy="342900"/>
          </a:xfrm>
          <a:prstGeom prst="ellipse">
            <a:avLst/>
          </a:prstGeom>
          <a:solidFill>
            <a:srgbClr val="F4A26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5524500" y="1104900"/>
            <a:ext cx="1143000" cy="1333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42857"/>
                </a:moveTo>
                <a:cubicBezTo>
                  <a:pt x="33333" y="0"/>
                  <a:pt x="66667" y="100000"/>
                  <a:pt x="100000" y="28571"/>
                </a:cubicBezTo>
              </a:path>
            </a:pathLst>
          </a:custGeom>
          <a:noFill/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2457450" y="4686300"/>
            <a:ext cx="304800" cy="2667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8750" y="64286"/>
                </a:moveTo>
                <a:cubicBezTo>
                  <a:pt x="0" y="35714"/>
                  <a:pt x="31250" y="0"/>
                  <a:pt x="50000" y="28571"/>
                </a:cubicBezTo>
                <a:cubicBezTo>
                  <a:pt x="68750" y="0"/>
                  <a:pt x="100000" y="35714"/>
                  <a:pt x="81250" y="64286"/>
                </a:cubicBezTo>
                <a:cubicBezTo>
                  <a:pt x="68750" y="85714"/>
                  <a:pt x="50000" y="100000"/>
                  <a:pt x="50000" y="100000"/>
                </a:cubicBezTo>
                <a:cubicBezTo>
                  <a:pt x="50000" y="100000"/>
                  <a:pt x="31250" y="85714"/>
                  <a:pt x="18750" y="64286"/>
                </a:cubicBezTo>
                <a:close/>
              </a:path>
            </a:pathLst>
          </a:custGeom>
          <a:noFill/>
          <a:ln w="14288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7296150" y="4648200"/>
            <a:ext cx="400050" cy="381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45000"/>
                </a:moveTo>
                <a:cubicBezTo>
                  <a:pt x="28571" y="0"/>
                  <a:pt x="80952" y="0"/>
                  <a:pt x="100000" y="40000"/>
                </a:cubicBezTo>
                <a:cubicBezTo>
                  <a:pt x="76190" y="85000"/>
                  <a:pt x="28571" y="100000"/>
                  <a:pt x="0" y="45000"/>
                </a:cubicBezTo>
                <a:close/>
              </a:path>
            </a:pathLst>
          </a:custGeom>
          <a:noFill/>
          <a:ln w="14288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7334250" y="4743450"/>
            <a:ext cx="361950" cy="762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36842" y="50000"/>
                  <a:pt x="73684" y="0"/>
                  <a:pt x="100000" y="75000"/>
                </a:cubicBezTo>
              </a:path>
            </a:pathLst>
          </a:custGeom>
          <a:noFill/>
          <a:ln w="1143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4572000" y="4038600"/>
            <a:ext cx="3048000" cy="190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40000"/>
                </a:moveTo>
                <a:cubicBezTo>
                  <a:pt x="18750" y="0"/>
                  <a:pt x="37500" y="100000"/>
                  <a:pt x="56250" y="50000"/>
                </a:cubicBezTo>
                <a:cubicBezTo>
                  <a:pt x="75000" y="0"/>
                  <a:pt x="87500" y="100000"/>
                  <a:pt x="100000" y="50000"/>
                </a:cubicBezTo>
              </a:path>
            </a:pathLst>
          </a:custGeom>
          <a:noFill/>
          <a:ln w="11430">
            <a:solidFill>
              <a:srgbClr val="264653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0" y="914400"/>
            <a:ext cx="121920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 i="0" u="none">
                <a:solidFill>
                  <a:srgbClr val="E76F51"/>
                </a:solidFill>
                <a:latin typeface="Inter"/>
              </a:rPr>
              <a:t>Designed with breathing 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2713" y="1821061"/>
            <a:ext cx="7826573" cy="12458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4500" b="1" i="0" u="none">
                <a:solidFill>
                  <a:srgbClr val="2D1F1F"/>
                </a:solidFill>
                <a:latin typeface="Source Serif Pro"/>
              </a:rPr>
              <a:t xml:space="preserve">Made for the </a:t>
            </a:r>
            <a:r>
              <a:rPr sz="4500" b="0" i="1" u="none">
                <a:solidFill>
                  <a:srgbClr val="264653"/>
                </a:solidFill>
                <a:latin typeface="Source Serif Pro"/>
              </a:rPr>
              <a:t>long breath</a:t>
            </a:r>
            <a:r>
              <a:rPr sz="4500" b="1" i="0" u="none">
                <a:solidFill>
                  <a:srgbClr val="2D1F1F"/>
                </a:solidFill>
                <a:latin typeface="Source Serif Pro"/>
              </a:rPr>
              <a:t>, not the short sprint.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1325"/>
            <a:ext cx="12192000" cy="5342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75" b="0" i="0" u="none">
                <a:solidFill>
                  <a:srgbClr val="4A3A3A"/>
                </a:solidFill>
                <a:latin typeface="Inter"/>
              </a:rPr>
              <a:t>A way of working that treats focus the way good cooks treat heat — patiently, with attention, and with a willingness to wait for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533900"/>
            <a:ext cx="3390900" cy="1552426"/>
          </a:xfrm>
          <a:prstGeom prst="roundRect">
            <a:avLst/>
          </a:prstGeom>
          <a:solidFill>
            <a:srgbClr val="FEF6E8"/>
          </a:solidFill>
          <a:ln>
            <a:noFill/>
          </a:ln>
          <a:effectLst>
            <a:outerShdw blurRad="228600" dist="76200" dir="5400000" algn="ctr" rotWithShape="0">
              <a:srgbClr val="2D1F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552700" y="4838700"/>
            <a:ext cx="2857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9C89B8"/>
                </a:solidFill>
                <a:latin typeface="Inter"/>
              </a:rP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2700" y="5057775"/>
            <a:ext cx="1478459" cy="2381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2D1F1F"/>
                </a:solidFill>
                <a:latin typeface="Source Serif Pro"/>
              </a:rPr>
              <a:t xml:space="preserve">Begin </a:t>
            </a:r>
            <a:r>
              <a:rPr sz="1650" b="0" i="1" u="none">
                <a:solidFill>
                  <a:srgbClr val="E76F51"/>
                </a:solidFill>
                <a:latin typeface="Source Serif Pro"/>
              </a:rPr>
              <a:t>once</a:t>
            </a:r>
            <a:r>
              <a:rPr sz="1650" b="1" i="0" u="none">
                <a:solidFill>
                  <a:srgbClr val="2D1F1F"/>
                </a:solidFill>
                <a:latin typeface="Source Serif Pro"/>
              </a:rPr>
              <a:t>, well.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2700" y="5385346"/>
            <a:ext cx="2857500" cy="3961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A3A3A"/>
                </a:solidFill>
                <a:latin typeface="Inter"/>
              </a:rPr>
              <a:t>One thing at a time, until it has the shape it deserves. Then the next.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8500" y="4533900"/>
            <a:ext cx="3390900" cy="1552426"/>
          </a:xfrm>
          <a:prstGeom prst="roundRect">
            <a:avLst/>
          </a:prstGeom>
          <a:solidFill>
            <a:srgbClr val="FEF6E8"/>
          </a:solidFill>
          <a:ln>
            <a:noFill/>
          </a:ln>
          <a:effectLst>
            <a:outerShdw blurRad="228600" dist="76200" dir="5400000" algn="ctr" rotWithShape="0">
              <a:srgbClr val="2D1F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7315200" y="4838700"/>
            <a:ext cx="2857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9C89B8"/>
                </a:solidFill>
                <a:latin typeface="Inter"/>
              </a:rPr>
              <a:t>Posture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057775"/>
            <a:ext cx="2857500" cy="25137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2D1F1F"/>
                </a:solidFill>
                <a:latin typeface="Source Serif Pro"/>
              </a:rPr>
              <a:t>Soft attention.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385346"/>
            <a:ext cx="2857500" cy="3961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A3A3A"/>
                </a:solidFill>
                <a:latin typeface="Inter"/>
              </a:rPr>
              <a:t>Hold your task the way you'd hold a sleeping cat. Firmly, but never tightly.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D1F1F"/>
      </a:accent1>
      <a:accent2>
        <a:srgbClr val="4A3A3A"/>
      </a:accent2>
      <a:accent3>
        <a:srgbClr val="FDE2E4"/>
      </a:accent3>
      <a:accent4>
        <a:srgbClr val="FEF6E8"/>
      </a:accent4>
      <a:accent5>
        <a:srgbClr val="9C89B8"/>
      </a:accent5>
      <a:accent6>
        <a:srgbClr val="E76F51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