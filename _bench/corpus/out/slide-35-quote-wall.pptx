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gradFill flip="none" rotWithShape="1">
            <a:gsLst>
              <a:gs pos="0">
                <a:srgbClr val="1E1B4B"/>
              </a:gs>
              <a:gs pos="28000">
                <a:srgbClr val="14102E"/>
              </a:gs>
              <a:gs pos="55000">
                <a:srgbClr val="0A0820"/>
              </a:gs>
              <a:gs pos="80000">
                <a:srgbClr val="050510"/>
              </a:gs>
              <a:gs pos="100000">
                <a:srgbClr val="050510"/>
              </a:gs>
            </a:gsLst>
            <a:path path="circle">
              <a:fillToRect l="80000" t="90000" r="20000" b="10000"/>
            </a:path>
          </a:gradFill>
          <a:xfrm>
            <a:off x="0" y="0"/>
            <a:ext cx="12192000" cy="6629400"/>
          </a:xfrm>
          <a:prstGeom prst="rect">
            <a:avLst/>
          </a:prstGeom>
        </p:spPr>
        <p:txBody>
          <a:bodyPr wrap="square" lIns="0" rIns="0" tIns="0" bIns="0">
            <a:normAutofit/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853738" y="6496050"/>
            <a:ext cx="728662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05 /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3164235" cy="295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F9A8D4"/>
                </a:solidFill>
                <a:latin typeface="Inter"/>
              </a:rPr>
              <a:t>CUSTOMERS · IN THEIR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9175"/>
            <a:ext cx="6830020" cy="4600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450" b="1" i="0" u="none">
                <a:solidFill>
                  <a:srgbClr val="F5F5F7"/>
                </a:solidFill>
                <a:latin typeface="Inter"/>
              </a:rPr>
              <a:t xml:space="preserve">Teams ship faster </a:t>
            </a:r>
            <a:r>
              <a:rPr sz="3450" b="1" i="0" u="none">
                <a:gradFill rotWithShape="1">
                  <a:gsLst>
                    <a:gs pos="0">
                      <a:srgbClr val="FBBF24"/>
                    </a:gs>
                    <a:gs pos="50000">
                      <a:srgbClr val="F472B6"/>
                    </a:gs>
                    <a:gs pos="100000">
                      <a:srgbClr val="EC4899"/>
                    </a:gs>
                  </a:gsLst>
                  <a:lin ang="900000" scaled="0"/>
                </a:gradFill>
                <a:latin typeface="Inter"/>
              </a:rPr>
              <a:t>on Lattice.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54604" y="1126778"/>
            <a:ext cx="212779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b="0" i="0" u="none">
                <a:solidFill>
                  <a:srgbClr val="FBBF24"/>
                </a:solidFill>
                <a:latin typeface="Inter"/>
              </a:rPr>
              <a:t>★ ★ ★ ★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54604" y="1336328"/>
            <a:ext cx="2127796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F5F5F7"/>
                </a:solidFill>
                <a:latin typeface="Inter"/>
              </a:rPr>
              <a:t>4.9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on G2 · </a:t>
            </a:r>
            <a:r>
              <a:rPr sz="975" b="1" i="0" u="none">
                <a:solidFill>
                  <a:srgbClr val="F5F5F7"/>
                </a:solidFill>
                <a:latin typeface="Inter"/>
              </a:rPr>
              <a:t>240+</a:t>
            </a:r>
            <a:r>
              <a:rPr sz="975" b="0" i="0" u="none">
                <a:solidFill>
                  <a:srgbClr val="A1A1AA"/>
                </a:solidFill>
                <a:latin typeface="Inter"/>
              </a:rPr>
              <a:t xml:space="preserve"> verified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8275" y="5453062"/>
            <a:ext cx="1507480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Maya Reyes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8275" y="5624512"/>
            <a:ext cx="150748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Head of Platform · Notion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733675"/>
            <a:ext cx="30416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400425"/>
            <a:ext cx="3041600" cy="11809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We replaced four vendors with Lattice and our AI cost dropped </a:t>
            </a:r>
            <a:r>
              <a:rPr sz="1200" b="1" i="0" u="none">
                <a:gradFill rotWithShape="1">
                  <a:gsLst>
                    <a:gs pos="0">
                      <a:srgbClr val="818CF8"/>
                    </a:gs>
                    <a:gs pos="50000">
                      <a:srgbClr val="C084FC"/>
                    </a:gs>
                    <a:gs pos="100000">
                      <a:srgbClr val="EC4899"/>
                    </a:gs>
                  </a:gsLst>
                  <a:lin ang="1200000" scaled="0"/>
                </a:gradFill>
                <a:latin typeface="Inter"/>
              </a:rPr>
              <a:t>72% in a quarter.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The eval pipeline alone saved us from shipping a regression on launch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714726"/>
            <a:ext cx="88329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72%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8170" y="4714726"/>
            <a:ext cx="70499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Series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MR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467" y="5491162"/>
            <a:ext cx="487859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NTN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5675" y="5453062"/>
            <a:ext cx="132903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Jordan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5675" y="5624512"/>
            <a:ext cx="1329035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Staff Engineer · Linear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5125" y="2733675"/>
            <a:ext cx="30416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06B6D4"/>
                    </a:gs>
                    <a:gs pos="100000">
                      <a:srgbClr val="6366F1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5125" y="3400425"/>
            <a:ext cx="3041600" cy="9447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From </a:t>
            </a:r>
            <a:r>
              <a:rPr sz="1200" b="1" i="0" u="none">
                <a:gradFill rotWithShape="1">
                  <a:gsLst>
                    <a:gs pos="0">
                      <a:srgbClr val="06B6D4"/>
                    </a:gs>
                    <a:gs pos="100000">
                      <a:srgbClr val="818CF8"/>
                    </a:gs>
                  </a:gsLst>
                  <a:lin ang="1200000" scaled="0"/>
                </a:gradFill>
                <a:latin typeface="Inter"/>
              </a:rPr>
              <a:t>prototype to 8M users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without a platform team. The observability story is what closed it for us — every prompt, every retry, traced.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5125" y="4478536"/>
            <a:ext cx="821978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8M MAU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4253" y="4478536"/>
            <a:ext cx="80322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Public 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5125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JK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0476" y="5491162"/>
            <a:ext cx="47625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LNR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76" y="5453062"/>
            <a:ext cx="829717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F5F5F7"/>
                </a:solidFill>
                <a:latin typeface="Inter"/>
              </a:rPr>
              <a:t>Ade Okafor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3076" y="5624512"/>
            <a:ext cx="829717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37" b="0" i="0" u="none">
                <a:solidFill>
                  <a:srgbClr val="A1A1AA"/>
                </a:solidFill>
                <a:latin typeface="Inter"/>
              </a:rPr>
              <a:t>CISO · Ramp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526" y="2733675"/>
            <a:ext cx="3041749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 i="0" u="none">
                <a:gradFill rotWithShape="1">
                  <a:gsLst>
                    <a:gs pos="0">
                      <a:srgbClr val="A3E635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Source Serif Pr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526" y="3400425"/>
            <a:ext cx="3041749" cy="9447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Our security review took </a:t>
            </a:r>
            <a:r>
              <a:rPr sz="1200" b="1" i="0" u="none">
                <a:gradFill rotWithShape="1">
                  <a:gsLst>
                    <a:gs pos="0">
                      <a:srgbClr val="A3E635"/>
                    </a:gs>
                    <a:gs pos="100000">
                      <a:srgbClr val="10B981"/>
                    </a:gs>
                  </a:gsLst>
                  <a:lin ang="1200000" scaled="0"/>
                </a:gradFill>
                <a:latin typeface="Inter"/>
              </a:rPr>
              <a:t>three days, not three months.</a:t>
            </a:r>
            <a:r>
              <a:rPr sz="1200" b="0" i="0" u="none">
                <a:solidFill>
                  <a:srgbClr val="E4E4E7"/>
                </a:solidFill>
                <a:latin typeface="Inter"/>
              </a:rPr>
              <a:t xml:space="preserve"> SOC 2, BYOK, audit logs — everything was already in the box. It just worked.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526" y="4478536"/>
            <a:ext cx="979438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3E635"/>
                </a:solidFill>
                <a:latin typeface="Inter"/>
              </a:rPr>
              <a:t>▲ 30× faster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9114" y="4478536"/>
            <a:ext cx="83239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Regulated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526" y="538162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u="none">
                <a:solidFill>
                  <a:srgbClr val="0A0820"/>
                </a:solidFill>
                <a:latin typeface="Inter"/>
              </a:rPr>
              <a:t>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1534" y="5491162"/>
            <a:ext cx="50274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A1A1AA"/>
                </a:solidFill>
                <a:latin typeface="Inter"/>
              </a:rPr>
              <a:t>RMP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96050"/>
            <a:ext cx="2560141" cy="133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52525B"/>
                </a:solidFill>
                <a:latin typeface="Inter"/>
              </a:rPr>
              <a:t>240+ teams · 31 regions · One 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0"/>
            <a:ext cx="214119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F5F5F7"/>
                </a:solidFill>
                <a:latin typeface="Inter"/>
              </a:rPr>
              <a:t>Teams ship faster on Lattice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5F5F7"/>
      </a:accent1>
      <a:accent2>
        <a:srgbClr val="0A0820"/>
      </a:accent2>
      <a:accent3>
        <a:srgbClr val="A1A1AA"/>
      </a:accent3>
      <a:accent4>
        <a:srgbClr val="A3E635"/>
      </a:accent4>
      <a:accent5>
        <a:srgbClr val="C084FC"/>
      </a:accent5>
      <a:accent6>
        <a:srgbClr val="6366F1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