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14 · Competitive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38225"/>
            <a:ext cx="8265021" cy="70246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400" b="1" i="0" u="none">
                <a:solidFill>
                  <a:srgbClr val="1A1A1A"/>
                </a:solidFill>
                <a:latin typeface="Source Serif Pro"/>
              </a:rPr>
              <a:t>Three of eleven vendors clear both bars; the long tail still wins on price, not capability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90712"/>
            <a:ext cx="8763000" cy="469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475569"/>
                </a:solidFill>
                <a:latin typeface="Source Serif Pro"/>
              </a:rPr>
              <a:t>Across n=412 buyer evaluations completed in Q3 2025, only Northstack, Aldermark, and Veridian combined top-quartile depth-of-feature scores with a credible go-to-market footprint outside North America — a pattern unchanged since our 2023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71700"/>
            <a:ext cx="114300" cy="2308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Depth of platform capability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1700"/>
            <a:ext cx="26104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67325"/>
            <a:ext cx="23946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0700" y="2171700"/>
            <a:ext cx="57340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00225" y="3781425"/>
            <a:ext cx="5715000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57725" y="2181225"/>
            <a:ext cx="9525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00225" y="2981325"/>
            <a:ext cx="57150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00225" y="4581525"/>
            <a:ext cx="5715000" cy="9525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28975" y="2181225"/>
            <a:ext cx="9525" cy="32004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86475" y="2181225"/>
            <a:ext cx="9525" cy="3200400"/>
          </a:xfrm>
          <a:prstGeom prst="rect">
            <a:avLst/>
          </a:prstGeom>
          <a:solidFill>
            <a:srgbClr val="000000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95475" y="2257425"/>
            <a:ext cx="85278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A ·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400" y="2257425"/>
            <a:ext cx="644575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B · Leader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5475" y="5200650"/>
            <a:ext cx="441424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 · 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3386" y="5200650"/>
            <a:ext cx="56658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D · Scale</a:t>
            </a:r>
          </a:p>
        </p:txBody>
      </p:sp>
      <p:sp>
        <p:nvSpPr>
          <p:cNvPr id="21" name="Oval 20"/>
          <p:cNvSpPr/>
          <p:nvPr/>
        </p:nvSpPr>
        <p:spPr>
          <a:xfrm>
            <a:off x="5962650" y="2690515"/>
            <a:ext cx="133350" cy="133350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124575" y="2547640"/>
            <a:ext cx="52253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Northstack</a:t>
            </a:r>
          </a:p>
        </p:txBody>
      </p:sp>
      <p:sp>
        <p:nvSpPr>
          <p:cNvPr id="23" name="Oval 22"/>
          <p:cNvSpPr/>
          <p:nvPr/>
        </p:nvSpPr>
        <p:spPr>
          <a:xfrm>
            <a:off x="5400675" y="2892028"/>
            <a:ext cx="114300" cy="114300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553075" y="2739628"/>
            <a:ext cx="49485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Aldermark</a:t>
            </a:r>
          </a:p>
        </p:txBody>
      </p:sp>
      <p:sp>
        <p:nvSpPr>
          <p:cNvPr id="25" name="Oval 24"/>
          <p:cNvSpPr/>
          <p:nvPr/>
        </p:nvSpPr>
        <p:spPr>
          <a:xfrm>
            <a:off x="6434138" y="3152924"/>
            <a:ext cx="104775" cy="104775"/>
          </a:xfrm>
          <a:prstGeom prst="ellipse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581775" y="2995761"/>
            <a:ext cx="38918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Veridian</a:t>
            </a:r>
          </a:p>
        </p:txBody>
      </p:sp>
      <p:sp>
        <p:nvSpPr>
          <p:cNvPr id="27" name="Oval 26"/>
          <p:cNvSpPr/>
          <p:nvPr/>
        </p:nvSpPr>
        <p:spPr>
          <a:xfrm>
            <a:off x="3462338" y="2832795"/>
            <a:ext cx="104775" cy="1047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609975" y="2675632"/>
            <a:ext cx="489049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Quartzline</a:t>
            </a:r>
          </a:p>
        </p:txBody>
      </p:sp>
      <p:sp>
        <p:nvSpPr>
          <p:cNvPr id="29" name="Oval 28"/>
          <p:cNvSpPr/>
          <p:nvPr/>
        </p:nvSpPr>
        <p:spPr>
          <a:xfrm>
            <a:off x="2781300" y="3349675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2924175" y="3187750"/>
            <a:ext cx="4945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Brightlade</a:t>
            </a:r>
          </a:p>
        </p:txBody>
      </p:sp>
      <p:sp>
        <p:nvSpPr>
          <p:cNvPr id="31" name="Oval 30"/>
          <p:cNvSpPr/>
          <p:nvPr/>
        </p:nvSpPr>
        <p:spPr>
          <a:xfrm>
            <a:off x="4157662" y="3546425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295775" y="3379738"/>
            <a:ext cx="45020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Forrowex</a:t>
            </a:r>
          </a:p>
        </p:txBody>
      </p:sp>
      <p:sp>
        <p:nvSpPr>
          <p:cNvPr id="33" name="Oval 32"/>
          <p:cNvSpPr/>
          <p:nvPr/>
        </p:nvSpPr>
        <p:spPr>
          <a:xfrm>
            <a:off x="5176838" y="4113014"/>
            <a:ext cx="104775" cy="1047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324475" y="4241602"/>
            <a:ext cx="50586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Crestmoor</a:t>
            </a:r>
          </a:p>
        </p:txBody>
      </p:sp>
      <p:sp>
        <p:nvSpPr>
          <p:cNvPr id="35" name="Oval 34"/>
          <p:cNvSpPr/>
          <p:nvPr/>
        </p:nvSpPr>
        <p:spPr>
          <a:xfrm>
            <a:off x="6196012" y="4359473"/>
            <a:ext cx="123825" cy="1238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353175" y="4497586"/>
            <a:ext cx="3723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Halberd</a:t>
            </a:r>
          </a:p>
        </p:txBody>
      </p:sp>
      <p:sp>
        <p:nvSpPr>
          <p:cNvPr id="37" name="Oval 36"/>
          <p:cNvSpPr/>
          <p:nvPr/>
        </p:nvSpPr>
        <p:spPr>
          <a:xfrm>
            <a:off x="3014662" y="4634657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3152775" y="4753719"/>
            <a:ext cx="44455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Otterbein</a:t>
            </a:r>
          </a:p>
        </p:txBody>
      </p:sp>
      <p:sp>
        <p:nvSpPr>
          <p:cNvPr id="39" name="Oval 38"/>
          <p:cNvSpPr/>
          <p:nvPr/>
        </p:nvSpPr>
        <p:spPr>
          <a:xfrm>
            <a:off x="3929062" y="4826645"/>
            <a:ext cx="85725" cy="857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4067175" y="4945707"/>
            <a:ext cx="35004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Mendip</a:t>
            </a:r>
          </a:p>
        </p:txBody>
      </p:sp>
      <p:sp>
        <p:nvSpPr>
          <p:cNvPr id="41" name="Oval 40"/>
          <p:cNvSpPr/>
          <p:nvPr/>
        </p:nvSpPr>
        <p:spPr>
          <a:xfrm>
            <a:off x="6781800" y="4821882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6391275" y="4945707"/>
            <a:ext cx="32251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Pellish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5905" y="2028825"/>
            <a:ext cx="102364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Median GTM 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0700" y="5657850"/>
            <a:ext cx="57150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 u="none">
                <a:solidFill>
                  <a:srgbClr val="1A1A1A"/>
                </a:solidFill>
                <a:latin typeface="Inter"/>
              </a:rPr>
              <a:t>Go-to-market reach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0" y="2171700"/>
            <a:ext cx="1356271" cy="1602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87" b="1" i="0" u="none">
                <a:solidFill>
                  <a:srgbClr val="1A1A1A"/>
                </a:solidFill>
                <a:latin typeface="Source Serif Pro"/>
              </a:rPr>
              <a:t>Vendors plotted (n=11)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0500" y="3322588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04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Quartzline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7.6%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0500" y="3598813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05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Brightlade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5.3%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0500" y="3875038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06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Halberd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4.9%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0" y="4151263"/>
            <a:ext cx="3771900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07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  Other (5) </a:t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>35.9%</a:t>
            </a:r>
            <a:r>
              <a:rPr sz="900" b="0" i="0" u="none">
                <a:solidFill>
                  <a:srgbClr val="1A1A1A"/>
                </a:solidFill>
                <a:latin typeface="Inter"/>
              </a:rPr>
              <a:t xml:space="preserve">
     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0500" y="5029200"/>
            <a:ext cx="3771900" cy="960686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953375" y="5153025"/>
            <a:ext cx="34861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So what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3375" y="5324475"/>
            <a:ext cx="3435400" cy="514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1A1A1A"/>
                </a:solidFill>
                <a:latin typeface="Source Serif Pro"/>
              </a:rPr>
              <a:t>Quadrant B is contestable for at most one entrant by 2027; specialists in A face a binary — acquire reach within 18 months, or accept share erosion of 180–240 bps annually.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6353175"/>
            <a:ext cx="833348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vendor benchmarking, March 2026; based on n=412 enterprise software buyers, Q3 2025; depth-of-capability score is a 24-criterion weighted index.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Bars defined at 75th-percentile thresholds.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Eleven vendors with &gt;0.5% share.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Modeled under base-case GTM scenario.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51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475569"/>
      </a:accent2>
      <a:accent3>
        <a:srgbClr val="0B3A5C"/>
      </a:accent3>
      <a:accent4>
        <a:srgbClr val="F7F5F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