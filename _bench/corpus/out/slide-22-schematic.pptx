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JetBrains Mono" panose="020B0609040504020204" charset="0"/>
      <p:regular r:id="rIdSlidifyFont1"/>
      <p:bold r:id="rIdSlidify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800" cy="6400800"/>
          </a:xfrm>
          <a:prstGeom prst="rect">
            <a:avLst/>
          </a:prstGeo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762000"/>
            <a:ext cx="11430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5722"/>
                </a:solidFill>
                <a:latin typeface="Consolas"/>
              </a:rPr>
              <a:t>// 22 — SCHEMATIC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81075"/>
            <a:ext cx="11430000" cy="41999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150" b="1" i="0" u="none">
                <a:solidFill>
                  <a:srgbClr val="0A0A0A"/>
                </a:solidFill>
                <a:latin typeface="Consolas"/>
              </a:rPr>
              <a:t>INGEST → NORMALIZE →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96971" y="781050"/>
            <a:ext cx="1514029" cy="657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0A0A0A"/>
                </a:solidFill>
                <a:latin typeface="Consolas"/>
              </a:rPr>
              <a:t>BLOCK  SERVICE UNIT</a:t>
            </a:r>
          </a:p>
          <a:p>
            <a:pPr algn="r"/>
            <a:r>
              <a:rPr sz="825" b="1" i="0" u="none">
                <a:solidFill>
                  <a:srgbClr val="0A0A0A"/>
                </a:solidFill>
                <a:latin typeface="Consolas"/>
              </a:rPr>
              <a:t>HOT    ACTIVE PATH</a:t>
            </a:r>
          </a:p>
          <a:p>
            <a:pPr algn="r"/>
            <a:r>
              <a:rPr sz="825" b="1" i="0" u="none">
                <a:solidFill>
                  <a:srgbClr val="0A0A0A"/>
                </a:solidFill>
                <a:latin typeface="Consolas"/>
              </a:rPr>
              <a:t xml:space="preserve">
    PROTOCOL  HTTP/2 // gRPC</a:t>
            </a:r>
          </a:p>
          <a:p>
            <a:pPr algn="r"/>
            <a:r>
              <a:rPr sz="825" b="1" i="0" u="none">
                <a:solidFill>
                  <a:srgbClr val="0A0A0A"/>
                </a:solidFill>
                <a:latin typeface="Consolas"/>
              </a:rPr>
              <a:t xml:space="preserve">
    LATENCY   p50 14ms
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2524125"/>
            <a:ext cx="8629352" cy="27622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66750" y="2524125"/>
            <a:ext cx="75708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A"/>
                </a:solidFill>
                <a:latin typeface="Consolas"/>
              </a:rPr>
              <a:t>[01]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2781300"/>
            <a:ext cx="88314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0A0A0A"/>
                </a:solidFill>
                <a:latin typeface="Consolas"/>
              </a:rPr>
              <a:t>edge-rx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3105150"/>
            <a:ext cx="1135559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tcp/443 // 8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3276600"/>
            <a:ext cx="57131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qps 38.6K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3448050"/>
            <a:ext cx="378619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OK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3250" y="2524125"/>
            <a:ext cx="68818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A"/>
                </a:solidFill>
                <a:latin typeface="Consolas"/>
              </a:rPr>
              <a:t>[02]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3250" y="2781300"/>
            <a:ext cx="88314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0A0A0A"/>
                </a:solidFill>
                <a:latin typeface="Consolas"/>
              </a:rPr>
              <a:t>kfk-buf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250" y="3105150"/>
            <a:ext cx="883146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part 24 // r=3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3250" y="3276600"/>
            <a:ext cx="57131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lag 1.18K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3250" y="3448050"/>
            <a:ext cx="504676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HOLD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9750" y="2524125"/>
            <a:ext cx="963513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A"/>
                </a:solidFill>
                <a:latin typeface="Consolas"/>
              </a:rPr>
              <a:t>[03] NORMALIZE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9750" y="2781300"/>
            <a:ext cx="1009352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0A0A0A"/>
                </a:solidFill>
                <a:latin typeface="Consolas"/>
              </a:rPr>
              <a:t>norm-svc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9750" y="3105150"/>
            <a:ext cx="883146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parse + dedupe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9750" y="3276600"/>
            <a:ext cx="44515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cpu 62%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9750" y="3448050"/>
            <a:ext cx="441573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HOT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0" y="2524125"/>
            <a:ext cx="68818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A"/>
                </a:solidFill>
                <a:latin typeface="Consolas"/>
              </a:rPr>
              <a:t>[04] 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0" y="2781300"/>
            <a:ext cx="1009352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0A0A0A"/>
                </a:solidFill>
                <a:latin typeface="Consolas"/>
              </a:rPr>
              <a:t>cold-tbl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0" y="3105150"/>
            <a:ext cx="820043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parquet // s3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750" y="3276600"/>
            <a:ext cx="76055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2.4 TB / 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0" y="3448050"/>
            <a:ext cx="378619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OK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9750" y="4429125"/>
            <a:ext cx="626715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A"/>
                </a:solidFill>
                <a:latin typeface="Consolas"/>
              </a:rPr>
              <a:t>[05] SINK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9750" y="4676775"/>
            <a:ext cx="91752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obs-sink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19750" y="4991100"/>
            <a:ext cx="820043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log +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9750" y="5162550"/>
            <a:ext cx="441573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TAP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90800" y="2886075"/>
            <a:ext cx="34409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net/01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67300" y="2886075"/>
            <a:ext cx="34409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net/02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4300" y="2886075"/>
            <a:ext cx="34409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net/03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7500" y="3990975"/>
            <a:ext cx="34409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tap/01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19250" y="4695825"/>
            <a:ext cx="34409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hot/01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1000" y="5886450"/>
            <a:ext cx="1143000" cy="457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19100" y="59245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33400" y="59245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47700" y="59245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762000" y="59245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876300" y="5924550"/>
            <a:ext cx="76200" cy="762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990600" y="59245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104900" y="59245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219200" y="59245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1333500" y="59245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19100" y="60388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533400" y="60388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647700" y="60388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762000" y="60388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876300" y="60388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990600" y="60388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1104900" y="60388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1219200" y="6038850"/>
            <a:ext cx="76200" cy="762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1333500" y="60388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19100" y="61531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533400" y="61531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647700" y="61531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762000" y="61531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876300" y="61531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990600" y="61531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1104900" y="61531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1219200" y="6153150"/>
            <a:ext cx="76200" cy="762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1333500" y="6153150"/>
            <a:ext cx="76200" cy="76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381000" y="6410325"/>
            <a:ext cx="48696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NET 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5116" y="6410325"/>
            <a:ext cx="48696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NET 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69231" y="6410325"/>
            <a:ext cx="360759" cy="219075"/>
          </a:xfrm>
          <a:prstGeom prst="rect">
            <a:avLst/>
          </a:prstGeom>
          <a:solidFill>
            <a:srgbClr val="FF5722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>HOT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87141" y="6410325"/>
            <a:ext cx="423862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SINK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FAF9"/>
      </a:accent1>
      <a:accent2>
        <a:srgbClr val="FF5722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