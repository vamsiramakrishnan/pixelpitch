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vnd.openxmlformats-officedocument.obfuscatedFont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Source Serif Pro" panose="02040603050405020304" charset="0"/>
      <p:regular r:id="rIdSlidifyFont1"/>
      <p:bold r:id="rIdSlidifyFont2"/>
      <p:italic r:id="rIdSlidifyFont3"/>
      <p:boldItalic r:id="rIdSlidify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SlidifyFont1" Type="http://schemas.openxmlformats.org/officeDocument/2006/relationships/font" Target="fonts/font1.fntdata"/><Relationship Id="rIdSlidifyFont2" Type="http://schemas.openxmlformats.org/officeDocument/2006/relationships/font" Target="fonts/font2.fntdata"/><Relationship Id="rIdSlidifyFont3" Type="http://schemas.openxmlformats.org/officeDocument/2006/relationships/font" Target="fonts/font3.fntdata"/><Relationship Id="rIdSlidifyFont4" Type="http://schemas.openxmlformats.org/officeDocument/2006/relationships/font" Target="fonts/font4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45956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09600" y="704850"/>
            <a:ext cx="109728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Exhibit 62 · Buyer-Reported Capability Gaps, Top 10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885825"/>
            <a:ext cx="609600" cy="190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609600" y="1047750"/>
            <a:ext cx="9317831" cy="651421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l"/>
            <a:r>
              <a:rPr sz="2250" b="1" i="0" u="none">
                <a:solidFill>
                  <a:srgbClr val="1A1A1A"/>
                </a:solidFill>
                <a:latin typeface="Source Serif Pro"/>
              </a:rPr>
              <a:t>AI-grounded reporting tops the gap list for the second straight year — eight of ten gaps moved against vendors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826716"/>
            <a:ext cx="9334500" cy="44172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Source Serif Pro"/>
              </a:rPr>
              <a:t>Buyers rate the unmet-need score on a 0–100 scale across 24 capability dimensions; positive deltas indicate gaps widening since FY 2024. Year-on-year movement is positive in eight cases, neutral in one, narrowing in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2182713"/>
            <a:ext cx="3429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Rank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5850" y="2182713"/>
            <a:ext cx="20955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1A1A1A"/>
                </a:solidFill>
                <a:latin typeface="Inter"/>
              </a:rPr>
              <a:t>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4700" y="2182713"/>
            <a:ext cx="510540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475569"/>
                </a:solidFill>
                <a:latin typeface="Inter"/>
              </a:rPr>
              <a:t>Unmet-need score, 0–100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56923" y="2152650"/>
            <a:ext cx="453777" cy="13483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Score</a:t>
            </a:r>
            <a:r>
              <a:rPr sz="800" b="1" i="0" u="none">
                <a:solidFill>
                  <a:srgbClr val="0B3A5C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4050" y="2182713"/>
            <a:ext cx="8572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YoY 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34650" y="2182713"/>
            <a:ext cx="10477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Prior rank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255895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2630388"/>
            <a:ext cx="20955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Citation-backed answers across enterprise corpora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14700" y="257323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324225" y="2573238"/>
            <a:ext cx="4280446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3381375" y="260181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84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3450" y="258752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84.2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2745" y="260181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+6.8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31736" y="2601813"/>
            <a:ext cx="5506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#01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−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flat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308282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5850" y="321141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Audit-grade provenance across SaaS estate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4700" y="309711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>
            <a:off x="3324225" y="3097113"/>
            <a:ext cx="4025652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3381375" y="312568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3450" y="311140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78.6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7827" y="3125688"/>
            <a:ext cx="40347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+11.4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51232" y="3125688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#05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354955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5850" y="367813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Sub-1s response on &gt;1B-row analytics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14700" y="356383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324225" y="3563838"/>
            <a:ext cx="3770858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381375" y="359241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53450" y="357812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73.9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2745" y="359241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+4.2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51232" y="3592413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#04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9600" y="401627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5850" y="414486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EU, UK, IN, BR sovereignty by default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14700" y="403056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324225" y="4030563"/>
            <a:ext cx="3618012" cy="171450"/>
          </a:xfrm>
          <a:prstGeom prst="rect">
            <a:avLst/>
          </a:prstGeom>
          <a:solidFill>
            <a:srgbClr val="0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3381375" y="405913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71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53450" y="404485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70.8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91725" y="4059138"/>
            <a:ext cx="40957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+18.6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56739" y="4059138"/>
            <a:ext cx="525661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#11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9600" y="448300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85850" y="461158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Long-running, recoverable, multi-vendor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14700" y="449728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3324225" y="4497288"/>
            <a:ext cx="3363218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TextBox 48"/>
          <p:cNvSpPr txBox="1"/>
          <p:nvPr/>
        </p:nvSpPr>
        <p:spPr>
          <a:xfrm>
            <a:off x="3381375" y="452586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66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3450" y="451157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66.1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2745" y="452586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+3.1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051232" y="4525863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#06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09600" y="494972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85850" y="507831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Per-feature, per-seat, per-event billing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14700" y="496401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3324225" y="4964013"/>
            <a:ext cx="3159323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3381375" y="499258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62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3450" y="497830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61.7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052745" y="4992588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+5.4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051232" y="4992588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#07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↑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+1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09600" y="541645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07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5850" y="554503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Sub-50ms inference at branch sites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14700" y="543073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/>
          <p:cNvSpPr/>
          <p:nvPr/>
        </p:nvSpPr>
        <p:spPr>
          <a:xfrm>
            <a:off x="3324225" y="5430738"/>
            <a:ext cx="2955578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/>
          <p:cNvSpPr txBox="1"/>
          <p:nvPr/>
        </p:nvSpPr>
        <p:spPr>
          <a:xfrm>
            <a:off x="3381375" y="545931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58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53450" y="544502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57.9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52745" y="5459313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7A1F3D"/>
                </a:solidFill>
                <a:latin typeface="Inter"/>
              </a:rPr>
              <a:t xml:space="preserve">▼ </a:t>
            </a:r>
            <a:r>
              <a:rPr sz="862" b="1" i="0" u="none">
                <a:solidFill>
                  <a:srgbClr val="7A1F3D"/>
                </a:solidFill>
                <a:latin typeface="Inter"/>
              </a:rPr>
              <a:t>−2.6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051232" y="5459313"/>
            <a:ext cx="531168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#03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↓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−4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09600" y="5883176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85850" y="6011763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ABAC at warehouse + app boundary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14700" y="589746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/>
          <p:cNvSpPr/>
          <p:nvPr/>
        </p:nvSpPr>
        <p:spPr>
          <a:xfrm>
            <a:off x="3324225" y="5897463"/>
            <a:ext cx="2751683" cy="17145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/>
          <p:cNvSpPr txBox="1"/>
          <p:nvPr/>
        </p:nvSpPr>
        <p:spPr>
          <a:xfrm>
            <a:off x="3381375" y="5926038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54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53450" y="5911751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54.2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52745" y="5926038"/>
            <a:ext cx="348555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0B3A5C"/>
                </a:solidFill>
                <a:latin typeface="Inter"/>
              </a:rPr>
              <a:t xml:space="preserve">▲ </a:t>
            </a:r>
            <a:r>
              <a:rPr sz="862" b="1" i="0" u="none">
                <a:solidFill>
                  <a:srgbClr val="0B3A5C"/>
                </a:solidFill>
                <a:latin typeface="Inter"/>
              </a:rPr>
              <a:t>+1.8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031736" y="5926038"/>
            <a:ext cx="5506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#08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−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flat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09600" y="6349901"/>
            <a:ext cx="342900" cy="2000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09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85850" y="6478488"/>
            <a:ext cx="2095500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OpenTelemetry-native, vendor-agnostic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314700" y="6364188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/>
          <p:cNvSpPr/>
          <p:nvPr/>
        </p:nvSpPr>
        <p:spPr>
          <a:xfrm>
            <a:off x="3324225" y="6364188"/>
            <a:ext cx="2445990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/>
          <p:cNvSpPr txBox="1"/>
          <p:nvPr/>
        </p:nvSpPr>
        <p:spPr>
          <a:xfrm>
            <a:off x="3381375" y="6392763"/>
            <a:ext cx="111323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FFFFFF"/>
                </a:solidFill>
                <a:latin typeface="Inter"/>
              </a:rPr>
              <a:t>48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553450" y="6378476"/>
            <a:ext cx="85725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48.3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51703" y="6392763"/>
            <a:ext cx="349597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25" b="1" i="0" u="none">
                <a:solidFill>
                  <a:srgbClr val="64748B"/>
                </a:solidFill>
                <a:latin typeface="Inter"/>
              </a:rPr>
              <a:t xml:space="preserve">▬ </a:t>
            </a:r>
            <a:r>
              <a:rPr sz="862" b="1" i="0" u="none">
                <a:solidFill>
                  <a:srgbClr val="64748B"/>
                </a:solidFill>
                <a:latin typeface="Inter"/>
              </a:rPr>
              <a:t>+0.4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1031736" y="6392763"/>
            <a:ext cx="550664" cy="114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 b="1" i="0" u="none">
                <a:solidFill>
                  <a:srgbClr val="1A1A1A"/>
                </a:solidFill>
                <a:latin typeface="Inter"/>
              </a:rPr>
              <a:t>#09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· 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>−</a:t>
            </a:r>
            <a:r>
              <a:rPr sz="800" b="0" i="0" u="none">
                <a:solidFill>
                  <a:srgbClr val="475569"/>
                </a:solidFill>
                <a:latin typeface="Inter"/>
              </a:rPr>
              <a:t xml:space="preserve"> flat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09600" y="6816626"/>
            <a:ext cx="342900" cy="413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350" b="1" i="0" u="none">
                <a:solidFill>
                  <a:srgbClr val="0B3A5C"/>
                </a:solidFill>
                <a:latin typeface="Source Serif Pro"/>
              </a:rPr>
              <a:t>10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14700" y="6830913"/>
            <a:ext cx="5105400" cy="171450"/>
          </a:xfrm>
          <a:prstGeom prst="rect">
            <a:avLst/>
          </a:prstGeom>
          <a:solidFill>
            <a:srgbClr val="0B3A5C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/>
          <p:cNvSpPr/>
          <p:nvPr/>
        </p:nvSpPr>
        <p:spPr>
          <a:xfrm>
            <a:off x="3324225" y="6830913"/>
            <a:ext cx="2191196" cy="17145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8553450" y="6845201"/>
            <a:ext cx="857250" cy="127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75" b="1" i="0" u="none">
                <a:solidFill>
                  <a:srgbClr val="1A1A1A"/>
                </a:solidFill>
                <a:latin typeface="Inter"/>
              </a:rPr>
              <a:t>43.1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09600" y="5657850"/>
            <a:ext cx="3505200" cy="702766"/>
          </a:xfrm>
          <a:prstGeom prst="rect">
            <a:avLst/>
          </a:prstGeom>
          <a:solidFill>
            <a:srgbClr val="F7F5F2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733425" y="5762625"/>
            <a:ext cx="32575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Risers (4)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33425" y="5915025"/>
            <a:ext cx="3210371" cy="298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>Sovereignty &amp; lineage capabilities widened gap fastest, +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15.0 ppts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 on average since FY 2024.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343400" y="5657850"/>
            <a:ext cx="3505200" cy="702766"/>
          </a:xfrm>
          <a:prstGeom prst="rect">
            <a:avLst/>
          </a:prstGeom>
          <a:solidFill>
            <a:srgbClr val="F7F5F2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4467225" y="5762625"/>
            <a:ext cx="32575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Decliners (1)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467225" y="5915025"/>
            <a:ext cx="2669679" cy="2989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Edge runtimes narrowed by 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2.6 ppts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>; first material vendor improvement in three cycles.</a:t>
            </a:r>
          </a:p>
        </p:txBody>
      </p:sp>
      <p:sp>
        <p:nvSpPr>
          <p:cNvPr id="95" name="Rectangle 94"/>
          <p:cNvSpPr/>
          <p:nvPr/>
        </p:nvSpPr>
        <p:spPr>
          <a:xfrm>
            <a:off x="8077200" y="5657850"/>
            <a:ext cx="3505200" cy="702766"/>
          </a:xfrm>
          <a:prstGeom prst="rect">
            <a:avLst/>
          </a:prstGeom>
          <a:solidFill>
            <a:srgbClr val="F7F5F2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8201025" y="5762625"/>
            <a:ext cx="3257550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1" i="0" u="none">
                <a:solidFill>
                  <a:srgbClr val="0B3A5C"/>
                </a:solidFill>
                <a:latin typeface="Inter"/>
              </a:rPr>
              <a:t>Implication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8201025" y="5915025"/>
            <a:ext cx="3200846" cy="3180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Roadmap funding should target the 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top 4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 — together they account for </a:t>
            </a:r>
            <a:r>
              <a:rPr sz="900" b="1" i="0" u="none">
                <a:solidFill>
                  <a:srgbClr val="0B3A5C"/>
                </a:solidFill>
                <a:latin typeface="Source Serif Pro"/>
              </a:rPr>
              <a:t>~58%</a:t>
            </a:r>
            <a:r>
              <a:rPr sz="900" b="0" i="0" u="none">
                <a:solidFill>
                  <a:srgbClr val="1A1A1A"/>
                </a:solidFill>
                <a:latin typeface="Source Serif Pro"/>
              </a:rPr>
              <a:t xml:space="preserve"> of stated buyer urgency.</a:t>
            </a:r>
            <a:r>
              <a:rPr sz="800" b="1" i="0" u="none">
                <a:solidFill>
                  <a:srgbClr val="0B3A5C"/>
                </a:solidFill>
                <a:latin typeface="Source Serif Pro"/>
              </a:rPr>
              <a:t>3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09600" y="6353175"/>
            <a:ext cx="8532168" cy="27622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Source: Beacon &amp; Lowe Capability Gap Index, FY 2026; n=412 enterprise software buyers, fielded Q3 2025; YoY base is FY 2024 fielding of n=389.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1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Eight gaps widened, one flat, one narrowed.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2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Score is 100 × (importance − satisfaction). </a:t>
            </a:r>
            <a:r>
              <a:rPr sz="800" b="1" i="1" u="none">
                <a:solidFill>
                  <a:srgbClr val="0B3A5C"/>
                </a:solidFill>
                <a:latin typeface="Source Serif Pro"/>
              </a:rPr>
              <a:t>3</a:t>
            </a:r>
            <a:r>
              <a:rPr sz="800" b="0" i="1" u="none">
                <a:solidFill>
                  <a:srgbClr val="475569"/>
                </a:solidFill>
                <a:latin typeface="Source Serif Pro"/>
              </a:rPr>
              <a:t xml:space="preserve"> Urgency-weighted by buyer-stated planning window.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1190982" y="6524625"/>
            <a:ext cx="391418" cy="1047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00" b="0" i="0" u="none">
                <a:solidFill>
                  <a:srgbClr val="475569"/>
                </a:solidFill>
                <a:latin typeface="Inter"/>
              </a:rPr>
              <a:t>57 / 84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A1A1A"/>
      </a:accent1>
      <a:accent2>
        <a:srgbClr val="475569"/>
      </a:accent2>
      <a:accent3>
        <a:srgbClr val="0B3A5C"/>
      </a:accent3>
      <a:accent4>
        <a:srgbClr val="F7F5F2"/>
      </a:accent4>
      <a:accent5>
        <a:srgbClr val="94A3B8"/>
      </a:accent5>
      <a:accent6>
        <a:srgbClr val="7A1F3D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