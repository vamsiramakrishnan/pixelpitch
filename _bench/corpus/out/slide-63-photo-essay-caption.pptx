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Tiempos Headline" panose="02040603050405020304" charset="0"/>
      <p:regular r:id="rIdSlidifyFont1"/>
      <p:bold r:id="rIdSlidifyFont2"/>
      <p: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89438" y="457200"/>
            <a:ext cx="2817019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ECE6D8"/>
                </a:solidFill>
                <a:latin typeface="Tiempos Headline"/>
              </a:rPr>
              <a:t>Notes from a sinking coast — two photographs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19150"/>
            <a:ext cx="6497985" cy="4191000"/>
          </a:xfrm>
          <a:prstGeom prst="rect">
            <a:avLst/>
          </a:prstGeom>
          <a:solidFill>
            <a:srgbClr val="1A1814"/>
          </a:solidFill>
          <a:ln w="76200">
            <a:solidFill>
              <a:srgbClr val="EC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95350"/>
            <a:ext cx="6345585" cy="403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1009650"/>
            <a:ext cx="706176" cy="190500"/>
          </a:xfrm>
          <a:prstGeom prst="rect">
            <a:avLst/>
          </a:prstGeom>
          <a:solidFill>
            <a:srgbClr val="ECE6D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D0C0A"/>
                </a:solidFill>
                <a:latin typeface="Inter Display"/>
              </a:rPr>
              <a:t>PLATE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6185" y="819150"/>
            <a:ext cx="4246215" cy="4191000"/>
          </a:xfrm>
          <a:prstGeom prst="rect">
            <a:avLst/>
          </a:prstGeom>
          <a:solidFill>
            <a:srgbClr val="1A1814"/>
          </a:solidFill>
          <a:ln w="76200">
            <a:solidFill>
              <a:srgbClr val="EC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385" y="895350"/>
            <a:ext cx="4093815" cy="403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45735" y="1009650"/>
            <a:ext cx="706176" cy="190500"/>
          </a:xfrm>
          <a:prstGeom prst="rect">
            <a:avLst/>
          </a:prstGeom>
          <a:solidFill>
            <a:srgbClr val="ECE6D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D0C0A"/>
                </a:solidFill>
                <a:latin typeface="Inter Display"/>
              </a:rPr>
              <a:t>PLATE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438775"/>
            <a:ext cx="5185767" cy="9231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E5B06A"/>
                </a:solidFill>
                <a:latin typeface="Inter Display"/>
              </a:rPr>
              <a:t>Plate 01 — Aerial</a:t>
            </a:r>
            <a:r>
              <a:rPr sz="975" b="0" i="0" u="none">
                <a:solidFill>
                  <a:srgbClr val="CFC3A8"/>
                </a:solidFill>
                <a:latin typeface="Tiempos Headline"/>
              </a:rPr>
              <a:t xml:space="preserve">
      A salt marsh at low tide, photographed from
      </a:t>
            </a:r>
            <a:r>
              <a:rPr sz="975" b="0" i="1" u="none">
                <a:solidFill>
                  <a:srgbClr val="ECE6D8"/>
                </a:solidFill>
                <a:latin typeface="Tiempos Headline"/>
              </a:rPr>
              <a:t>350m above the Bay of Fundy</a:t>
            </a:r>
            <a:r>
              <a:rPr sz="975" b="0" i="0" u="none">
                <a:solidFill>
                  <a:srgbClr val="CFC3A8"/>
                </a:solidFill>
                <a:latin typeface="Tiempos Headline"/>
              </a:rPr>
              <a:t xml:space="preserve">.
      The bright veining is a tidal channel that has
      migrated nearly forty meters since the same frame
      was taken in 1998. Locals call this stretch
      </a:t>
            </a:r>
            <a:r>
              <a:rPr sz="975" b="0" i="1" u="none">
                <a:solidFill>
                  <a:srgbClr val="CFC3A8"/>
                </a:solidFill>
                <a:latin typeface="Tiempos Headline"/>
              </a:rPr>
              <a:t>the breathing field</a:t>
            </a:r>
            <a:r>
              <a:rPr sz="975" b="0" i="0" u="none">
                <a:solidFill>
                  <a:srgbClr val="CFC3A8"/>
                </a:solidFill>
                <a:latin typeface="Tiempos Headline"/>
              </a:rPr>
              <a:t xml:space="preserve">: at neap it is grass;
      at spring it is sea. The line between is a
      negotiation that the map will lose.
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5438775"/>
            <a:ext cx="5254972" cy="9231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E5B06A"/>
                </a:solidFill>
                <a:latin typeface="Inter Display"/>
              </a:rPr>
              <a:t>Plate 02 — The wall</a:t>
            </a:r>
            <a:r>
              <a:rPr sz="975" b="0" i="0" u="none">
                <a:solidFill>
                  <a:srgbClr val="CFC3A8"/>
                </a:solidFill>
                <a:latin typeface="Tiempos Headline"/>
              </a:rPr>
              <a:t xml:space="preserve">
      A retaining wall on the headland west of the
      village, poured the summer the lighthouse went
      automatic. The mason inscribed his initials and
      the year into the lower-left corner; both have
      since been overtaken by lichen. We photographed
      it in February, when the cold gives the concrete
      back its first colour — pale, faintly pink,
      the colour of an apology that is already too late.
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6524" y="6477000"/>
            <a:ext cx="81587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A6F54"/>
                </a:solidFill>
                <a:latin typeface="Inter Display"/>
              </a:rPr>
              <a:t>P. 084–085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CE6D8"/>
      </a:accent1>
      <a:accent2>
        <a:srgbClr val="0D0C0A"/>
      </a:accent2>
      <a:accent3>
        <a:srgbClr val="A99A7A"/>
      </a:accent3>
      <a:accent4>
        <a:srgbClr val="7A6F54"/>
      </a:accent4>
      <a:accent5>
        <a:srgbClr val="1A1814"/>
      </a:accent5>
      <a:accent6>
        <a:srgbClr val="CFC3A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