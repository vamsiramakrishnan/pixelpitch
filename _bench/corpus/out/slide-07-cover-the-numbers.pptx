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BM Plex Mono" panose="020B0609040504020204" charset="0"/>
      <p:regular r:id="rIdSlidifyFont1"/>
      <p:bold r:id="rIdSlidifyFont2"/>
    </p:embeddedFont>
    <p:embeddedFont>
      <p:font typeface="Source Serif Pro" panose="02040603050405020304" charset="0"/>
      <p:regular r:id="rIdSlidifyFont3"/>
      <p:bold r:id="rIdSlidifyFont4"/>
      <p:boldItalic r:id="rIdSlidify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0" y="342900"/>
            <a:ext cx="111252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514350"/>
            <a:ext cx="317524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The Times Editorial Graphics · 2026 Annual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9547" y="514350"/>
            <a:ext cx="194905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VOL. XII · APRIL 30 · NEW YORK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076325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Cover · The year, in seven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47775"/>
            <a:ext cx="111252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Consolas"/>
              </a:rPr>
              <a:t>A reporting project · 1,412 datapoints · 7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47800"/>
            <a:ext cx="9144595" cy="22848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850" b="1" i="0" u="none">
                <a:solidFill>
                  <a:srgbClr val="1A1A1A"/>
                </a:solidFill>
                <a:latin typeface="Source Serif Pro"/>
              </a:rPr>
              <a:t xml:space="preserve">The numbers that </a:t>
            </a:r>
            <a:r>
              <a:rPr sz="5850" b="1" i="1" u="none">
                <a:solidFill>
                  <a:srgbClr val="C41E3A"/>
                </a:solidFill>
                <a:latin typeface="Source Serif Pro"/>
              </a:rPr>
              <a:t>describe</a:t>
            </a:r>
            <a:r>
              <a:rPr sz="5850" b="1" i="0" u="none">
                <a:solidFill>
                  <a:srgbClr val="1A1A1A"/>
                </a:solidFill>
                <a:latin typeface="Source Serif Pro"/>
              </a:rPr>
              <a:t xml:space="preserve"> the year, before the year describes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889177"/>
            <a:ext cx="7237661" cy="762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1A1A1A"/>
                </a:solidFill>
                <a:latin typeface="Source Serif Pro"/>
              </a:rPr>
              <a:t xml:space="preserve">Wages and prices crossed. Newsrooms thinned. Broadband still missed twenty-three percent of the rural map. The federal deficit was either historic or routine — depending which axis you trusted. </a:t>
            </a:r>
            <a:r>
              <a:rPr sz="1500" b="1" i="0" u="none">
                <a:solidFill>
                  <a:srgbClr val="1A1A1A"/>
                </a:solidFill>
                <a:latin typeface="Source Serif Pro"/>
              </a:rPr>
              <a:t>Below: the dataset behind everything that follows.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333500"/>
            <a:ext cx="2286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Editor's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514475"/>
            <a:ext cx="2286000" cy="7179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A1A1A"/>
                </a:solidFill>
                <a:latin typeface="Source Serif Pro"/>
              </a:rPr>
              <a:t>"Numbers in this deck are rounded for the page; the long forms live in the appendix. Where two sources disagreed by less than 2%, we preferred the federal series."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987379"/>
            <a:ext cx="16192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Tiny dataset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5149304"/>
            <a:ext cx="1619250" cy="479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Source Serif Pro"/>
              </a:rPr>
              <a:t>Five headline figures from the seven slides that follow. Each is the lede of its own chart.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2225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Wage / CPI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225" y="5120729"/>
            <a:ext cx="434578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6</a:t>
            </a:r>
            <a:r>
              <a:rPr sz="1050" b="1" i="0" u="none">
                <a:solidFill>
                  <a:srgbClr val="1A1A1A"/>
                </a:solidFill>
                <a:latin typeface="Consolas"/>
              </a:rPr>
              <a:t xml:space="preserve"> 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2225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Consolas"/>
              </a:rPr>
              <a:t>CPI ahead, 2024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2225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562225" y="5720804"/>
            <a:ext cx="1524000" cy="209550"/>
          </a:xfrm>
          <a:custGeom>
            <a:avLst/>
            <a:gdLst/>
            <a:ahLst/>
            <a:cxnLst/>
            <a:rect l="l" t="t" r="r" b="b"/>
            <a:pathLst>
              <a:path w="1524000" h="209550">
                <a:moveTo>
                  <a:pt x="0" y="209550"/>
                </a:moveTo>
                <a:lnTo>
                  <a:pt x="209550" y="190500"/>
                </a:lnTo>
                <a:lnTo>
                  <a:pt x="419100" y="152400"/>
                </a:lnTo>
                <a:lnTo>
                  <a:pt x="628650" y="133350"/>
                </a:lnTo>
                <a:lnTo>
                  <a:pt x="838200" y="95250"/>
                </a:lnTo>
                <a:lnTo>
                  <a:pt x="1047750" y="57150"/>
                </a:lnTo>
                <a:lnTo>
                  <a:pt x="1257300" y="19050"/>
                </a:lnTo>
                <a:lnTo>
                  <a:pt x="1524000" y="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2562225" y="5701754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0" y="228600"/>
                </a:moveTo>
                <a:lnTo>
                  <a:pt x="209550" y="209550"/>
                </a:lnTo>
                <a:lnTo>
                  <a:pt x="419100" y="190500"/>
                </a:lnTo>
                <a:lnTo>
                  <a:pt x="628650" y="161925"/>
                </a:lnTo>
                <a:lnTo>
                  <a:pt x="838200" y="123825"/>
                </a:lnTo>
                <a:lnTo>
                  <a:pt x="1047750" y="76200"/>
                </a:lnTo>
                <a:lnTo>
                  <a:pt x="1257300" y="28575"/>
                </a:lnTo>
                <a:lnTo>
                  <a:pt x="1524000" y="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562225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01 · State of the union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8712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2024 deficit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8712" y="5120729"/>
            <a:ext cx="814834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$1.83</a:t>
            </a:r>
            <a:r>
              <a:rPr sz="1050" b="1" i="0" u="none">
                <a:solidFill>
                  <a:srgbClr val="1A1A1A"/>
                </a:solidFill>
                <a:latin typeface="Consolas"/>
              </a:rPr>
              <a:t xml:space="preserve">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8712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Consolas"/>
              </a:rPr>
              <a:t>+33% YoY (nominal)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8712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38712" y="5911304"/>
            <a:ext cx="133350" cy="571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48262" y="5892254"/>
            <a:ext cx="133350" cy="76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357812" y="5854154"/>
            <a:ext cx="133350" cy="1143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567362" y="5720804"/>
            <a:ext cx="133350" cy="2476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776912" y="5816054"/>
            <a:ext cx="133350" cy="152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986462" y="5873204"/>
            <a:ext cx="133350" cy="952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196012" y="5758904"/>
            <a:ext cx="133350" cy="2095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938712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02 · Two-up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Rents, Boise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120729"/>
            <a:ext cx="607516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+78</a:t>
            </a:r>
            <a:r>
              <a:rPr sz="1050" b="1" i="0" u="none">
                <a:solidFill>
                  <a:srgbClr val="1A1A1A"/>
                </a:solidFill>
                <a:latin typeface="Consolas"/>
              </a:rPr>
              <a:t xml:space="preserve">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Consolas"/>
              </a:rPr>
              <a:t>since Jan 2019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200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7315200" y="5720804"/>
            <a:ext cx="1524000" cy="247650"/>
          </a:xfrm>
          <a:custGeom>
            <a:avLst/>
            <a:gdLst/>
            <a:ahLst/>
            <a:cxnLst/>
            <a:rect l="l" t="t" r="r" b="b"/>
            <a:pathLst>
              <a:path w="1524000" h="247650">
                <a:moveTo>
                  <a:pt x="0" y="247650"/>
                </a:moveTo>
                <a:lnTo>
                  <a:pt x="257175" y="228600"/>
                </a:lnTo>
                <a:lnTo>
                  <a:pt x="514350" y="190500"/>
                </a:lnTo>
                <a:lnTo>
                  <a:pt x="762000" y="95250"/>
                </a:lnTo>
                <a:lnTo>
                  <a:pt x="1019175" y="19050"/>
                </a:lnTo>
                <a:lnTo>
                  <a:pt x="1276350" y="0"/>
                </a:lnTo>
                <a:lnTo>
                  <a:pt x="1524000" y="19050"/>
                </a:lnTo>
              </a:path>
            </a:pathLst>
          </a:custGeom>
          <a:noFill/>
          <a:ln w="14288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8815388" y="5716042"/>
            <a:ext cx="47625" cy="47625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7315200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03 · Six cities, one axis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1688" y="4987379"/>
            <a:ext cx="1966912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00000"/>
                </a:solidFill>
                <a:latin typeface="Inter"/>
              </a:rPr>
              <a:t>Newspapers lost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1688" y="5139779"/>
            <a:ext cx="1966912" cy="3238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1A1A1A"/>
                </a:solidFill>
                <a:latin typeface="Source Serif Pro"/>
              </a:rPr>
              <a:t>2,886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1688" y="5501729"/>
            <a:ext cx="19669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E5F8C"/>
                </a:solidFill>
                <a:latin typeface="Consolas"/>
              </a:rPr>
              <a:t>2005 → 2024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91688" y="5968454"/>
            <a:ext cx="1524000" cy="0"/>
          </a:xfrm>
          <a:prstGeom prst="line">
            <a:avLst/>
          </a:prstGeom>
          <a:ln w="9525">
            <a:solidFill>
              <a:srgbClr val="000000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9691688" y="5720804"/>
            <a:ext cx="1524000" cy="228600"/>
          </a:xfrm>
          <a:custGeom>
            <a:avLst/>
            <a:gdLst/>
            <a:ahLst/>
            <a:cxnLst/>
            <a:rect l="l" t="t" r="r" b="b"/>
            <a:pathLst>
              <a:path w="1524000" h="228600">
                <a:moveTo>
                  <a:pt x="0" y="0"/>
                </a:moveTo>
                <a:lnTo>
                  <a:pt x="257174" y="38100"/>
                </a:lnTo>
                <a:lnTo>
                  <a:pt x="514350" y="95250"/>
                </a:lnTo>
                <a:lnTo>
                  <a:pt x="762000" y="133350"/>
                </a:lnTo>
                <a:lnTo>
                  <a:pt x="1019174" y="171450"/>
                </a:lnTo>
                <a:lnTo>
                  <a:pt x="1276350" y="209550"/>
                </a:lnTo>
                <a:lnTo>
                  <a:pt x="1524000" y="228600"/>
                </a:lnTo>
              </a:path>
            </a:pathLst>
          </a:custGeom>
          <a:noFill/>
          <a:ln w="14288">
            <a:solidFill>
              <a:srgbClr val="1E5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667875" y="5696992"/>
            <a:ext cx="47625" cy="47625"/>
          </a:xfrm>
          <a:prstGeom prst="ellipse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1191875" y="5925592"/>
            <a:ext cx="47625" cy="47625"/>
          </a:xfrm>
          <a:prstGeom prst="ellipse">
            <a:avLst/>
          </a:prstGeom>
          <a:solidFill>
            <a:srgbClr val="1E5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9691688" y="6101804"/>
            <a:ext cx="1966912" cy="146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Source Serif Pro"/>
              </a:rPr>
              <a:t>Slide 04 · The quiet collapse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6486525"/>
            <a:ext cx="357931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This deck. Files: slides 01–07 · Reporting window: Q4 2024 — Q1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78889" y="65817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C41E3A"/>
      </a:accent2>
      <a:accent3>
        <a:srgbClr val="FAFAF6"/>
      </a:accent3>
      <a:accent4>
        <a:srgbClr val="1E5F8C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