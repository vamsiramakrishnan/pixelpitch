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</p:embeddedFont>
    <p:embeddedFont>
      <p:font typeface="IBM Plex Mono" panose="020B0609040504020204" charset="0"/>
      <p:regular r:id="rIdSlidifyFont3"/>
      <p:bold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114282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81000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D4A017"/>
                </a:solidFill>
                <a:latin typeface="Inter"/>
              </a:rPr>
              <a:t>Climate · 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477500" cy="107989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050" b="1" i="0" u="none">
                <a:solidFill>
                  <a:srgbClr val="1A1A1A"/>
                </a:solidFill>
                <a:latin typeface="Source Serif Pro"/>
              </a:rPr>
              <a:t>Pledged vs. delivered: G20 emissions, 2015 →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756172"/>
            <a:ext cx="10068967" cy="3981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1A1A1A"/>
                </a:solidFill>
                <a:latin typeface="Source Serif Pro"/>
              </a:rPr>
              <a:t xml:space="preserve">Each country's 2030 NDC target, its 2024 trajectory, and the gap between them. </a:t>
            </a:r>
            <a:r>
              <a:rPr sz="1200" b="1" i="0" u="none">
                <a:solidFill>
                  <a:srgbClr val="1A1A1A"/>
                </a:solidFill>
                <a:latin typeface="Source Serif Pro"/>
              </a:rPr>
              <a:t>Eight G20 economies are off-pledge</a:t>
            </a:r>
            <a:r>
              <a:rPr sz="1200" b="0" i="0" u="none">
                <a:solidFill>
                  <a:srgbClr val="1A1A1A"/>
                </a:solidFill>
                <a:latin typeface="Source Serif Pro"/>
              </a:rPr>
              <a:t>; three are ahead of schedule. The arrows show year-on-year delta — not progress against the pledge.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352377"/>
            <a:ext cx="3429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2352377"/>
            <a:ext cx="2469952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Country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9152" y="2352377"/>
            <a:ext cx="1543645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2015 baseline (MtCO₂e)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4247" y="2352377"/>
            <a:ext cx="1543794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2024 actual (MtCO₂e)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9491" y="2352377"/>
            <a:ext cx="1543794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2030 pledge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4735" y="2352377"/>
            <a:ext cx="1080641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YoY 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6826" y="2352377"/>
            <a:ext cx="1571774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Trajectory · verdict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2704802"/>
            <a:ext cx="1120825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China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peak before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152" y="2609552"/>
            <a:ext cx="1543645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11,860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247" y="2609552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13,450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9491" y="2609552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peak ≤14,000</a:t>
            </a:r>
          </a:p>
        </p:txBody>
      </p:sp>
      <p:sp>
        <p:nvSpPr>
          <p:cNvPr id="17" name="Freeform 16"/>
          <p:cNvSpPr/>
          <p:nvPr/>
        </p:nvSpPr>
        <p:spPr>
          <a:xfrm>
            <a:off x="10086826" y="2777133"/>
            <a:ext cx="762000" cy="133350"/>
          </a:xfrm>
          <a:custGeom>
            <a:avLst/>
            <a:gdLst/>
            <a:ahLst/>
            <a:cxnLst/>
            <a:rect l="l" t="t" r="r" b="b"/>
            <a:pathLst>
              <a:path w="762000" h="133350">
                <a:moveTo>
                  <a:pt x="0" y="133350"/>
                </a:moveTo>
                <a:lnTo>
                  <a:pt x="123825" y="114300"/>
                </a:lnTo>
                <a:lnTo>
                  <a:pt x="247650" y="95250"/>
                </a:lnTo>
                <a:lnTo>
                  <a:pt x="371475" y="57150"/>
                </a:lnTo>
                <a:lnTo>
                  <a:pt x="495300" y="38100"/>
                </a:lnTo>
                <a:lnTo>
                  <a:pt x="619125" y="19050"/>
                </a:lnTo>
                <a:lnTo>
                  <a:pt x="762000" y="0"/>
                </a:lnTo>
              </a:path>
            </a:pathLst>
          </a:custGeom>
          <a:noFill/>
          <a:ln w="14288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0925026" y="2753320"/>
            <a:ext cx="54947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D4A017"/>
                </a:solidFill>
                <a:latin typeface="Inter"/>
              </a:rPr>
              <a:t>At 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3205758"/>
            <a:ext cx="1406128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United States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−50% by 2030 vs. 2005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9152" y="3106638"/>
            <a:ext cx="1543645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5,830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247" y="3106638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5,030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9491" y="3106638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3,250</a:t>
            </a:r>
          </a:p>
        </p:txBody>
      </p:sp>
      <p:sp>
        <p:nvSpPr>
          <p:cNvPr id="23" name="Freeform 22"/>
          <p:cNvSpPr/>
          <p:nvPr/>
        </p:nvSpPr>
        <p:spPr>
          <a:xfrm>
            <a:off x="10086826" y="3301860"/>
            <a:ext cx="699046" cy="87381"/>
          </a:xfrm>
          <a:custGeom>
            <a:avLst/>
            <a:gdLst/>
            <a:ahLst/>
            <a:cxnLst/>
            <a:rect l="l" t="t" r="r" b="b"/>
            <a:pathLst>
              <a:path w="699046" h="87381">
                <a:moveTo>
                  <a:pt x="0" y="0"/>
                </a:moveTo>
                <a:lnTo>
                  <a:pt x="113595" y="17476"/>
                </a:lnTo>
                <a:lnTo>
                  <a:pt x="227190" y="34952"/>
                </a:lnTo>
                <a:lnTo>
                  <a:pt x="340785" y="52428"/>
                </a:lnTo>
                <a:lnTo>
                  <a:pt x="454380" y="52428"/>
                </a:lnTo>
                <a:lnTo>
                  <a:pt x="567975" y="69904"/>
                </a:lnTo>
                <a:lnTo>
                  <a:pt x="699046" y="87381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862072" y="3192363"/>
            <a:ext cx="796528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C41E3A"/>
                </a:solidFill>
                <a:latin typeface="Inter"/>
              </a:rPr>
              <a:t>Off pledge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3710583"/>
            <a:ext cx="1401217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India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−45% intensity by 2030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9152" y="3611463"/>
            <a:ext cx="1543645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2,510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4247" y="3611463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3,180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9491" y="3611463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intensity −45%</a:t>
            </a:r>
          </a:p>
        </p:txBody>
      </p:sp>
      <p:sp>
        <p:nvSpPr>
          <p:cNvPr id="29" name="Freeform 28"/>
          <p:cNvSpPr/>
          <p:nvPr/>
        </p:nvSpPr>
        <p:spPr>
          <a:xfrm>
            <a:off x="10086826" y="3792825"/>
            <a:ext cx="662881" cy="132576"/>
          </a:xfrm>
          <a:custGeom>
            <a:avLst/>
            <a:gdLst/>
            <a:ahLst/>
            <a:cxnLst/>
            <a:rect l="l" t="t" r="r" b="b"/>
            <a:pathLst>
              <a:path w="662881" h="132576">
                <a:moveTo>
                  <a:pt x="0" y="132576"/>
                </a:moveTo>
                <a:lnTo>
                  <a:pt x="107718" y="116004"/>
                </a:lnTo>
                <a:lnTo>
                  <a:pt x="215436" y="99432"/>
                </a:lnTo>
                <a:lnTo>
                  <a:pt x="323154" y="66288"/>
                </a:lnTo>
                <a:lnTo>
                  <a:pt x="430872" y="49716"/>
                </a:lnTo>
                <a:lnTo>
                  <a:pt x="538591" y="33144"/>
                </a:lnTo>
                <a:lnTo>
                  <a:pt x="662881" y="0"/>
                </a:lnTo>
              </a:path>
            </a:pathLst>
          </a:custGeom>
          <a:noFill/>
          <a:ln w="14288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0825907" y="3697188"/>
            <a:ext cx="832693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D4A017"/>
                </a:solidFill>
                <a:latin typeface="Inter"/>
              </a:rPr>
              <a:t>On intensity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" y="4215408"/>
            <a:ext cx="1406128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Russia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−30% by 2030 vs. 1990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89152" y="4116288"/>
            <a:ext cx="1543645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2,140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4247" y="4116288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2,090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9491" y="4116288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1,680</a:t>
            </a:r>
          </a:p>
        </p:txBody>
      </p:sp>
      <p:sp>
        <p:nvSpPr>
          <p:cNvPr id="35" name="Freeform 34"/>
          <p:cNvSpPr/>
          <p:nvPr/>
        </p:nvSpPr>
        <p:spPr>
          <a:xfrm>
            <a:off x="10086826" y="4355200"/>
            <a:ext cx="699046" cy="8738"/>
          </a:xfrm>
          <a:custGeom>
            <a:avLst/>
            <a:gdLst/>
            <a:ahLst/>
            <a:cxnLst/>
            <a:rect l="l" t="t" r="r" b="b"/>
            <a:pathLst>
              <a:path w="699046" h="8738">
                <a:moveTo>
                  <a:pt x="0" y="8738"/>
                </a:moveTo>
                <a:lnTo>
                  <a:pt x="113595" y="8738"/>
                </a:lnTo>
                <a:lnTo>
                  <a:pt x="227190" y="0"/>
                </a:lnTo>
                <a:lnTo>
                  <a:pt x="340785" y="0"/>
                </a:lnTo>
                <a:lnTo>
                  <a:pt x="454380" y="8738"/>
                </a:lnTo>
                <a:lnTo>
                  <a:pt x="567975" y="8738"/>
                </a:lnTo>
                <a:lnTo>
                  <a:pt x="699046" y="8738"/>
                </a:lnTo>
              </a:path>
            </a:pathLst>
          </a:custGeom>
          <a:noFill/>
          <a:ln w="14288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10862072" y="4202013"/>
            <a:ext cx="796528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C41E3A"/>
                </a:solidFill>
                <a:latin typeface="Inter"/>
              </a:rPr>
              <a:t>Off pledge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" y="4716363"/>
            <a:ext cx="1406128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Japan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−46% by 2030 vs. 2013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89152" y="4621113"/>
            <a:ext cx="1543645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1,310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4247" y="4621113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1,040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9491" y="4621113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707</a:t>
            </a:r>
          </a:p>
        </p:txBody>
      </p:sp>
      <p:sp>
        <p:nvSpPr>
          <p:cNvPr id="41" name="Freeform 40"/>
          <p:cNvSpPr/>
          <p:nvPr/>
        </p:nvSpPr>
        <p:spPr>
          <a:xfrm>
            <a:off x="10086826" y="4788694"/>
            <a:ext cx="762000" cy="114300"/>
          </a:xfrm>
          <a:custGeom>
            <a:avLst/>
            <a:gdLst/>
            <a:ahLst/>
            <a:cxnLst/>
            <a:rect l="l" t="t" r="r" b="b"/>
            <a:pathLst>
              <a:path w="762000" h="114300">
                <a:moveTo>
                  <a:pt x="0" y="0"/>
                </a:moveTo>
                <a:lnTo>
                  <a:pt x="123825" y="19050"/>
                </a:lnTo>
                <a:lnTo>
                  <a:pt x="247650" y="38100"/>
                </a:lnTo>
                <a:lnTo>
                  <a:pt x="371475" y="57150"/>
                </a:lnTo>
                <a:lnTo>
                  <a:pt x="495300" y="76200"/>
                </a:lnTo>
                <a:lnTo>
                  <a:pt x="619125" y="95250"/>
                </a:lnTo>
                <a:lnTo>
                  <a:pt x="762000" y="114300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10925026" y="4764881"/>
            <a:ext cx="567184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D4A017"/>
                </a:solidFill>
                <a:latin typeface="Inter"/>
              </a:rPr>
              <a:t>Behind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50" y="5217319"/>
            <a:ext cx="1406128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Germany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−65% by 2030 vs. 1990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89152" y="5118199"/>
            <a:ext cx="1543645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906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4247" y="5118199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658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9491" y="5118199"/>
            <a:ext cx="1543794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438</a:t>
            </a:r>
          </a:p>
        </p:txBody>
      </p:sp>
      <p:sp>
        <p:nvSpPr>
          <p:cNvPr id="47" name="Freeform 46"/>
          <p:cNvSpPr/>
          <p:nvPr/>
        </p:nvSpPr>
        <p:spPr>
          <a:xfrm>
            <a:off x="10086826" y="5274859"/>
            <a:ext cx="727919" cy="145584"/>
          </a:xfrm>
          <a:custGeom>
            <a:avLst/>
            <a:gdLst/>
            <a:ahLst/>
            <a:cxnLst/>
            <a:rect l="l" t="t" r="r" b="b"/>
            <a:pathLst>
              <a:path w="727919" h="145584">
                <a:moveTo>
                  <a:pt x="0" y="0"/>
                </a:moveTo>
                <a:lnTo>
                  <a:pt x="118287" y="27297"/>
                </a:lnTo>
                <a:lnTo>
                  <a:pt x="236574" y="54594"/>
                </a:lnTo>
                <a:lnTo>
                  <a:pt x="354860" y="72792"/>
                </a:lnTo>
                <a:lnTo>
                  <a:pt x="473147" y="90990"/>
                </a:lnTo>
                <a:lnTo>
                  <a:pt x="591434" y="118287"/>
                </a:lnTo>
                <a:lnTo>
                  <a:pt x="727919" y="145584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10890945" y="5203924"/>
            <a:ext cx="767655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E5F8C"/>
                </a:solidFill>
                <a:latin typeface="Inter"/>
              </a:rPr>
              <a:t>On pledge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7750" y="5718274"/>
            <a:ext cx="1406128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United Kingdom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−68% by 2030 vs. 1990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89152" y="5623024"/>
            <a:ext cx="1543645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490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04247" y="5623024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331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19491" y="5623024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228</a:t>
            </a:r>
          </a:p>
        </p:txBody>
      </p:sp>
      <p:sp>
        <p:nvSpPr>
          <p:cNvPr id="53" name="Freeform 52"/>
          <p:cNvSpPr/>
          <p:nvPr/>
        </p:nvSpPr>
        <p:spPr>
          <a:xfrm>
            <a:off x="10086826" y="5771555"/>
            <a:ext cx="762000" cy="161925"/>
          </a:xfrm>
          <a:custGeom>
            <a:avLst/>
            <a:gdLst/>
            <a:ahLst/>
            <a:cxnLst/>
            <a:rect l="l" t="t" r="r" b="b"/>
            <a:pathLst>
              <a:path w="762000" h="161925">
                <a:moveTo>
                  <a:pt x="0" y="0"/>
                </a:moveTo>
                <a:lnTo>
                  <a:pt x="123825" y="19050"/>
                </a:lnTo>
                <a:lnTo>
                  <a:pt x="247650" y="47625"/>
                </a:lnTo>
                <a:lnTo>
                  <a:pt x="371475" y="76200"/>
                </a:lnTo>
                <a:lnTo>
                  <a:pt x="495300" y="104775"/>
                </a:lnTo>
                <a:lnTo>
                  <a:pt x="619125" y="133350"/>
                </a:lnTo>
                <a:lnTo>
                  <a:pt x="762000" y="161925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10925026" y="5766792"/>
            <a:ext cx="52923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E5F8C"/>
                </a:solidFill>
                <a:latin typeface="Inter"/>
              </a:rPr>
              <a:t>Ahead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7750" y="6215360"/>
            <a:ext cx="1406128" cy="2970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Brazil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−53% by 2030 vs. 2005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89152" y="6120110"/>
            <a:ext cx="1543645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1,400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04247" y="6120110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1,180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9491" y="6120110"/>
            <a:ext cx="1543794" cy="497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740</a:t>
            </a:r>
          </a:p>
        </p:txBody>
      </p:sp>
      <p:sp>
        <p:nvSpPr>
          <p:cNvPr id="59" name="Freeform 58"/>
          <p:cNvSpPr/>
          <p:nvPr/>
        </p:nvSpPr>
        <p:spPr>
          <a:xfrm>
            <a:off x="10086826" y="6306741"/>
            <a:ext cx="762000" cy="85725"/>
          </a:xfrm>
          <a:custGeom>
            <a:avLst/>
            <a:gdLst/>
            <a:ahLst/>
            <a:cxnLst/>
            <a:rect l="l" t="t" r="r" b="b"/>
            <a:pathLst>
              <a:path w="762000" h="85725">
                <a:moveTo>
                  <a:pt x="0" y="0"/>
                </a:moveTo>
                <a:lnTo>
                  <a:pt x="123825" y="9525"/>
                </a:lnTo>
                <a:lnTo>
                  <a:pt x="247650" y="28575"/>
                </a:lnTo>
                <a:lnTo>
                  <a:pt x="371475" y="38100"/>
                </a:lnTo>
                <a:lnTo>
                  <a:pt x="495300" y="57150"/>
                </a:lnTo>
                <a:lnTo>
                  <a:pt x="619125" y="66675"/>
                </a:lnTo>
                <a:lnTo>
                  <a:pt x="762000" y="85725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10925026" y="6263878"/>
            <a:ext cx="567184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D4A017"/>
                </a:solidFill>
                <a:latin typeface="Inter"/>
              </a:rPr>
              <a:t>Behind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7750" y="6712446"/>
            <a:ext cx="1406128" cy="1455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1A1A1A"/>
                </a:solidFill>
                <a:latin typeface="Source Serif Pro"/>
              </a:rPr>
              <a:t>Australia</a:t>
            </a:r>
            <a:r>
              <a:rPr sz="800" b="0" i="0" u="none">
                <a:solidFill>
                  <a:srgbClr val="000000"/>
                </a:solidFill>
                <a:latin typeface="Inter"/>
              </a:rPr>
              <a:t>NDC: −43% by 2030 vs. 2005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9152" y="6617196"/>
            <a:ext cx="1543645" cy="2408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523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04247" y="6617196"/>
            <a:ext cx="1543794" cy="2408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461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19491" y="6617196"/>
            <a:ext cx="1543794" cy="2408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Consolas"/>
              </a:rPr>
              <a:t>331</a:t>
            </a:r>
          </a:p>
        </p:txBody>
      </p:sp>
      <p:sp>
        <p:nvSpPr>
          <p:cNvPr id="65" name="Freeform 64"/>
          <p:cNvSpPr/>
          <p:nvPr/>
        </p:nvSpPr>
        <p:spPr>
          <a:xfrm>
            <a:off x="10086826" y="6803827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0" y="0"/>
                </a:moveTo>
                <a:lnTo>
                  <a:pt x="123825" y="9525"/>
                </a:lnTo>
                <a:lnTo>
                  <a:pt x="247650" y="19050"/>
                </a:lnTo>
                <a:lnTo>
                  <a:pt x="371475" y="38100"/>
                </a:lnTo>
                <a:lnTo>
                  <a:pt x="495300" y="47625"/>
                </a:lnTo>
                <a:lnTo>
                  <a:pt x="619125" y="57150"/>
                </a:lnTo>
                <a:lnTo>
                  <a:pt x="762000" y="76200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10925026" y="6760964"/>
            <a:ext cx="567184" cy="97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D4A017"/>
                </a:solidFill>
                <a:latin typeface="Inter"/>
              </a:rPr>
              <a:t>Behind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3400" y="6524625"/>
            <a:ext cx="495166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UNFCCC GHG inventories (latest), Climate Action Tracker · Pledges per submitted NDCs as of Q1 2025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78889" y="66198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06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1E5F8C"/>
      </a:accent2>
      <a:accent3>
        <a:srgbClr val="D4A017"/>
      </a:accent3>
      <a:accent4>
        <a:srgbClr val="C41E3A"/>
      </a:accent4>
      <a:accent5>
        <a:srgbClr val="FAFAF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