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JetBrains Mono" panose="020B0609040504020204" charset="0"/>
      <p:regular r:id="rIdSlidifyFont1"/>
      <p:bold r:id="rIdSlidify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81025" y="2124075"/>
            <a:ext cx="2144911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// MATRIX A  —  </a:t>
            </a:r>
            <a:r>
              <a:rPr sz="825" b="1" i="0" u="none">
                <a:solidFill>
                  <a:srgbClr val="0066FF"/>
                </a:solidFill>
                <a:latin typeface="Consolas"/>
              </a:rPr>
              <a:t>norm-svc / cpu sat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3038475"/>
            <a:ext cx="2856161" cy="60007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23900" y="3533775"/>
            <a:ext cx="34349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695" y="3533775"/>
            <a:ext cx="34349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9491" y="3533775"/>
            <a:ext cx="40094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076575"/>
            <a:ext cx="4467225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FAFAF9"/>
                </a:solidFill>
                <a:latin typeface="Consolas"/>
              </a:rPr>
              <a:t xml:space="preserve">SAT </a:t>
            </a:r>
            <a:r>
              <a:rPr sz="3150" b="1" i="0" u="none">
                <a:solidFill>
                  <a:srgbClr val="0066FF"/>
                </a:solidFill>
                <a:latin typeface="Consolas"/>
              </a:rPr>
              <a:t>77.8</a:t>
            </a:r>
            <a:r>
              <a:rPr sz="3150" b="1" i="0" u="none">
                <a:solidFill>
                  <a:srgbClr val="FAFAF9"/>
                </a:solidFill>
                <a:latin typeface="Consolas"/>
              </a:rPr>
              <a:t xml:space="preserve">% </a:t>
            </a:r>
            <a:r>
              <a:rPr sz="975" b="1" i="0" u="none">
                <a:solidFill>
                  <a:srgbClr val="FAFAF9"/>
                </a:solidFill>
                <a:latin typeface="Consolas"/>
              </a:rPr>
              <a:t xml:space="preserve"> 14/18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981450"/>
            <a:ext cx="2523381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// MATRIX B  —  </a:t>
            </a:r>
            <a:r>
              <a:rPr sz="825" b="1" i="0" u="none">
                <a:solidFill>
                  <a:srgbClr val="0066FF"/>
                </a:solidFill>
                <a:latin typeface="Consolas"/>
              </a:rPr>
              <a:t>kfk-buf / partition fill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4238625"/>
            <a:ext cx="4752975" cy="68580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87519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992267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197015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401762" y="4495800"/>
            <a:ext cx="133350" cy="133350"/>
          </a:xfrm>
          <a:prstGeom prst="ellipse">
            <a:avLst/>
          </a:prstGeom>
          <a:solidFill>
            <a:srgbClr val="0066FF"/>
          </a:solidFill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606510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811258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016006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220754" y="4495800"/>
            <a:ext cx="133350" cy="133350"/>
          </a:xfrm>
          <a:prstGeom prst="ellipse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425502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630249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834997" y="4495800"/>
            <a:ext cx="133350" cy="133350"/>
          </a:xfrm>
          <a:prstGeom prst="ellipse">
            <a:avLst/>
          </a:prstGeom>
          <a:solidFill>
            <a:srgbClr val="0066FF"/>
          </a:solidFill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039745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244493" y="4495800"/>
            <a:ext cx="133350" cy="133350"/>
          </a:xfrm>
          <a:prstGeom prst="ellipse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449241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653988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858736" y="4495800"/>
            <a:ext cx="133350" cy="133350"/>
          </a:xfrm>
          <a:prstGeom prst="ellipse">
            <a:avLst/>
          </a:prstGeom>
          <a:solidFill>
            <a:srgbClr val="0066FF"/>
          </a:solidFill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063484" y="4495800"/>
            <a:ext cx="133350" cy="133350"/>
          </a:xfrm>
          <a:prstGeom prst="ellipse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4268232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472980" y="4495800"/>
            <a:ext cx="133350" cy="1333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4677728" y="4495800"/>
            <a:ext cx="133350" cy="133350"/>
          </a:xfrm>
          <a:prstGeom prst="ellipse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5534025" y="1952625"/>
            <a:ext cx="57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IDX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5525" y="1952625"/>
            <a:ext cx="3695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METRIC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1225" y="1952625"/>
            <a:ext cx="1238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39475" y="1952625"/>
            <a:ext cx="76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4025" y="2190750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5525" y="2190750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cpu_user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1225" y="2190750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62.0%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39475" y="219075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066FF"/>
                </a:solidFill>
                <a:latin typeface="Consolas"/>
              </a:rPr>
              <a:t>+02.1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4025" y="2505075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05525" y="2505075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cpu_sys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01225" y="2505075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11.4%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39475" y="2505075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066FF"/>
                </a:solidFill>
                <a:latin typeface="Consolas"/>
              </a:rPr>
              <a:t>+00.4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4025" y="2819400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5525" y="2819400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mem_rss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01225" y="2819400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3.20 GB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39475" y="281940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-00.1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34025" y="3133725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05525" y="3133725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heap_alloc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01225" y="3133725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812 MB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39475" y="3133725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066FF"/>
                </a:solidFill>
                <a:latin typeface="Consolas"/>
              </a:rPr>
              <a:t>+12.0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4025" y="3448050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05525" y="3448050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net_rx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01225" y="3448050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410 Mbps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39475" y="344805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066FF"/>
                </a:solidFill>
                <a:latin typeface="Consolas"/>
              </a:rPr>
              <a:t>+18.2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4025" y="3762375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05525" y="3762375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net_tx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01225" y="3762375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388 Mbps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39475" y="3762375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066FF"/>
                </a:solidFill>
                <a:latin typeface="Consolas"/>
              </a:rPr>
              <a:t>+14.0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34025" y="4076700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05525" y="4076700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disk_iops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01225" y="4076700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8.4K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39475" y="407670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-00.6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34025" y="4391025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5525" y="4391025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gc_pause_p99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01225" y="4391025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2.1 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39475" y="4391025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-00.2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34025" y="4705350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05525" y="4705350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queue_lag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01225" y="4705350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1.18 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39475" y="470535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066FF"/>
                </a:solidFill>
                <a:latin typeface="Consolas"/>
              </a:rPr>
              <a:t>+04.0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34025" y="5019675"/>
            <a:ext cx="571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05525" y="5019675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err_per_5m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01225" y="5019675"/>
            <a:ext cx="123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AFAF9"/>
                </a:solidFill>
                <a:latin typeface="Consolas"/>
              </a:rPr>
              <a:t>0.013%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39475" y="5019675"/>
            <a:ext cx="762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066FF"/>
                </a:solidFill>
                <a:latin typeface="Consolas"/>
              </a:rPr>
              <a:t>+00.1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1000" y="762000"/>
            <a:ext cx="481712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// 27 — DOT MATRIX + LADDER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1000" y="962025"/>
            <a:ext cx="4817120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000" b="1" i="0" u="none">
                <a:solidFill>
                  <a:srgbClr val="FAFAF9"/>
                </a:solidFill>
                <a:latin typeface="Consolas"/>
              </a:rPr>
              <a:t>SATURATION // 14 / 18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12338" y="847130"/>
            <a:ext cx="1198662" cy="4798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  DOTS  18</a:t>
            </a:r>
          </a:p>
          <a:p>
            <a:pPr algn="r"/>
            <a:r>
              <a:rPr sz="825" b="1" i="0" u="none">
                <a:solidFill>
                  <a:srgbClr val="0066FF"/>
                </a:solidFill>
                <a:latin typeface="Consolas"/>
              </a:rPr>
              <a:t>FILLED 14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// OPEN 4</a:t>
            </a:r>
          </a:p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  WINDOW 60s
    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965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102298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103632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0496550" y="6191250"/>
            <a:ext cx="95250" cy="9525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106299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107632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108966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11029950" y="6191250"/>
            <a:ext cx="95250" cy="9525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111633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112966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114300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11563350" y="6191250"/>
            <a:ext cx="95250" cy="9525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116967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/>
          <p:cNvSpPr txBox="1"/>
          <p:nvPr/>
        </p:nvSpPr>
        <p:spPr>
          <a:xfrm>
            <a:off x="381000" y="6448425"/>
            <a:ext cx="745034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SAMPLE 60s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83184" y="6448425"/>
            <a:ext cx="458242" cy="180975"/>
          </a:xfrm>
          <a:prstGeom prst="rect">
            <a:avLst/>
          </a:prstGeom>
          <a:solidFill>
            <a:srgbClr val="0066FF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14/18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98575" y="6448425"/>
            <a:ext cx="802332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WINDOW LIVE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558058" y="6448425"/>
            <a:ext cx="802332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9"/>
                </a:solidFill>
                <a:latin typeface="Consolas"/>
              </a:rPr>
              <a:t>END OF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FAF9"/>
      </a:accent1>
      <a:accent2>
        <a:srgbClr val="0066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