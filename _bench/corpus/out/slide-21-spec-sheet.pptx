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JetBrains Mono" panose="020B0609040504020204" charset="0"/>
      <p:regular r:id="rIdSlidifyFont1"/>
      <p:bold r:id="rIdSlidifyFont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800" cy="6400800"/>
          </a:xfrm>
          <a:prstGeom prst="rect">
            <a:avLst/>
          </a:prstGeom>
          <a:noFill/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81000" y="800100"/>
            <a:ext cx="11430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CDFF00"/>
                </a:solidFill>
                <a:latin typeface="Consolas"/>
              </a:rPr>
              <a:t>// 21 — SPEC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1038225"/>
            <a:ext cx="11430000" cy="47997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600" b="1" i="0" u="none">
                <a:solidFill>
                  <a:srgbClr val="FAFAF9"/>
                </a:solidFill>
                <a:latin typeface="Consolas"/>
              </a:rPr>
              <a:t>RUNTIME-04 // COLD-PATH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12338" y="819150"/>
            <a:ext cx="1198662" cy="6265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
    BUILD  a8f12c9</a:t>
            </a:r>
          </a:p>
          <a:p>
            <a:pPr algn="r"/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
    HOST  us-east-1c</a:t>
            </a:r>
          </a:p>
          <a:p>
            <a:pPr algn="r"/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
    OWNER platform-core</a:t>
            </a:r>
          </a:p>
          <a:p>
            <a:pPr algn="r"/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
    SLO   p99 &lt; 80ms
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2266950"/>
            <a:ext cx="9144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AFAF9"/>
                </a:solidFill>
                <a:latin typeface="Consolas"/>
              </a:rPr>
              <a:t>IDX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400" y="2266950"/>
            <a:ext cx="59436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AFAF9"/>
                </a:solidFill>
                <a:latin typeface="Consolas"/>
              </a:rPr>
              <a:t>LABEL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0" y="2266950"/>
            <a:ext cx="2095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AFAF9"/>
                </a:solidFill>
                <a:latin typeface="Consolas"/>
              </a:rPr>
              <a:t>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0" y="2266950"/>
            <a:ext cx="1143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AFAF9"/>
                </a:solidFill>
                <a:latin typeface="Consolas"/>
              </a:rPr>
              <a:t>UNIT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2266950"/>
            <a:ext cx="1333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AFAF9"/>
                </a:solidFill>
                <a:latin typeface="Consolas"/>
              </a:rPr>
              <a:t>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" y="2543175"/>
            <a:ext cx="9144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CDFF00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5400" y="2543175"/>
            <a:ext cx="59436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FAFAF9"/>
                </a:solidFill>
                <a:latin typeface="Consolas"/>
              </a:rPr>
              <a:t>P50_LATENCY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0" y="2543175"/>
            <a:ext cx="2095500" cy="5143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FAFAF9"/>
                </a:solidFill>
                <a:latin typeface="Consolas"/>
              </a:rPr>
              <a:t>12.4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500" y="2543175"/>
            <a:ext cx="11430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FAFAF9"/>
                </a:solidFill>
                <a:latin typeface="Consolas"/>
              </a:rPr>
              <a:t>ms / req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10850" y="2700338"/>
            <a:ext cx="550069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CDFF00"/>
                </a:solidFill>
                <a:latin typeface="Consolas"/>
              </a:rPr>
              <a:t>[ OK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000" y="3067050"/>
            <a:ext cx="9144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CDFF00"/>
                </a:solidFill>
                <a:latin typeface="Consola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5400" y="3067050"/>
            <a:ext cx="59436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FAFAF9"/>
                </a:solidFill>
                <a:latin typeface="Consolas"/>
              </a:rPr>
              <a:t>P99_LATENCY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0" y="3067050"/>
            <a:ext cx="2095500" cy="5143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FAFAF9"/>
                </a:solidFill>
                <a:latin typeface="Consolas"/>
              </a:rPr>
              <a:t>76.1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4500" y="3067050"/>
            <a:ext cx="11430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FAFAF9"/>
                </a:solidFill>
                <a:latin typeface="Consolas"/>
              </a:rPr>
              <a:t>ms / req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10850" y="3224212"/>
            <a:ext cx="550069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CDFF00"/>
                </a:solidFill>
                <a:latin typeface="Consolas"/>
              </a:rPr>
              <a:t>[ OK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000" y="3590925"/>
            <a:ext cx="9144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CDFF00"/>
                </a:solidFill>
                <a:latin typeface="Consola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5400" y="3590925"/>
            <a:ext cx="59436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FAFAF9"/>
                </a:solidFill>
                <a:latin typeface="Consolas"/>
              </a:rPr>
              <a:t>THROUGHPUT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9000" y="3590925"/>
            <a:ext cx="2095500" cy="5143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FAFAF9"/>
                </a:solidFill>
                <a:latin typeface="Consolas"/>
              </a:rPr>
              <a:t>38.6K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4500" y="3590925"/>
            <a:ext cx="11430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FAFAF9"/>
                </a:solidFill>
                <a:latin typeface="Consolas"/>
              </a:rPr>
              <a:t>req / sec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10850" y="3748088"/>
            <a:ext cx="613023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CDFF00"/>
                </a:solidFill>
                <a:latin typeface="Consolas"/>
              </a:rPr>
              <a:t>[ HOT 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000" y="4114800"/>
            <a:ext cx="9144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CDFF00"/>
                </a:solidFill>
                <a:latin typeface="Consola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5400" y="4114800"/>
            <a:ext cx="59436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FAFAF9"/>
                </a:solidFill>
                <a:latin typeface="Consolas"/>
              </a:rPr>
              <a:t>ERROR_RATE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9000" y="4114800"/>
            <a:ext cx="2095500" cy="5143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FAFAF9"/>
                </a:solidFill>
                <a:latin typeface="Consolas"/>
              </a:rPr>
              <a:t>0.013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34500" y="4114800"/>
            <a:ext cx="11430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FAFAF9"/>
                </a:solidFill>
                <a:latin typeface="Consolas"/>
              </a:rPr>
              <a:t>% / 5min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10850" y="4271962"/>
            <a:ext cx="729146" cy="200025"/>
          </a:xfrm>
          <a:prstGeom prst="rect">
            <a:avLst/>
          </a:prstGeom>
          <a:solidFill>
            <a:srgbClr val="0A0A0A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AFAF9"/>
                </a:solidFill>
                <a:latin typeface="Consolas"/>
              </a:rPr>
              <a:t>[ WATCH 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1000" y="4638675"/>
            <a:ext cx="9144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CDFF00"/>
                </a:solidFill>
                <a:latin typeface="Consola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5400" y="4638675"/>
            <a:ext cx="59436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FAFAF9"/>
                </a:solidFill>
                <a:latin typeface="Consolas"/>
              </a:rPr>
              <a:t>CACHE_HIT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39000" y="4638675"/>
            <a:ext cx="2095500" cy="5143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FAFAF9"/>
                </a:solidFill>
                <a:latin typeface="Consolas"/>
              </a:rPr>
              <a:t>94.2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34500" y="4638675"/>
            <a:ext cx="11430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FAFAF9"/>
                </a:solidFill>
                <a:latin typeface="Consolas"/>
              </a:rPr>
              <a:t>% / window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10850" y="4795838"/>
            <a:ext cx="550069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CDFF00"/>
                </a:solidFill>
                <a:latin typeface="Consolas"/>
              </a:rPr>
              <a:t>[ OK 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1000" y="5162550"/>
            <a:ext cx="9144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CDFF00"/>
                </a:solidFill>
                <a:latin typeface="Consolas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5400" y="5162550"/>
            <a:ext cx="59436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FAFAF9"/>
                </a:solidFill>
                <a:latin typeface="Consolas"/>
              </a:rPr>
              <a:t>QUEUE_DEPTH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39000" y="5162550"/>
            <a:ext cx="2095500" cy="5143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FAFAF9"/>
                </a:solidFill>
                <a:latin typeface="Consolas"/>
              </a:rPr>
              <a:t>1.18K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34500" y="5162550"/>
            <a:ext cx="11430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FAFAF9"/>
                </a:solidFill>
                <a:latin typeface="Consolas"/>
              </a:rPr>
              <a:t>jobs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10850" y="5319712"/>
            <a:ext cx="636138" cy="200025"/>
          </a:xfrm>
          <a:prstGeom prst="rect">
            <a:avLst/>
          </a:prstGeom>
          <a:solidFill>
            <a:srgbClr val="0A0A0A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AFAF9"/>
                </a:solidFill>
                <a:latin typeface="Consolas"/>
              </a:rPr>
              <a:t>[ HOLD 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1000" y="6219825"/>
            <a:ext cx="3280321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
    SAMPLED  14:01:58 UTC  //  TZ=Z  //  </a:t>
            </a:r>
            <a:r>
              <a:rPr sz="825" b="1" i="0" u="none">
                <a:solidFill>
                  <a:srgbClr val="CDFF00"/>
                </a:solidFill>
                <a:latin typeface="Consolas"/>
              </a:rPr>
              <a:t>NEXT ROLL 00:30</a:t>
            </a:r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
  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53000" y="6096000"/>
            <a:ext cx="19050" cy="3048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4991100" y="6096000"/>
            <a:ext cx="19050" cy="2286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5029200" y="6096000"/>
            <a:ext cx="19050" cy="3048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5067300" y="6096000"/>
            <a:ext cx="19050" cy="1714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5105400" y="6096000"/>
            <a:ext cx="19050" cy="3048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5143500" y="6096000"/>
            <a:ext cx="19050" cy="3048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5181600" y="6096000"/>
            <a:ext cx="19050" cy="2286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5219700" y="6096000"/>
            <a:ext cx="38100" cy="1143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5276850" y="6096000"/>
            <a:ext cx="19050" cy="3048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5314950" y="6096000"/>
            <a:ext cx="19050" cy="1714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5353050" y="6096000"/>
            <a:ext cx="19050" cy="3048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5391150" y="6096000"/>
            <a:ext cx="19050" cy="3048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5429250" y="6096000"/>
            <a:ext cx="19050" cy="2286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5467350" y="6096000"/>
            <a:ext cx="19050" cy="1714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5505450" y="6096000"/>
            <a:ext cx="19050" cy="3048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5543550" y="6096000"/>
            <a:ext cx="19050" cy="3048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5581650" y="6096000"/>
            <a:ext cx="19050" cy="2286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10439400" y="5486400"/>
            <a:ext cx="1371600" cy="91440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10496550" y="55435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10629900" y="554355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10763250" y="55435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10896600" y="554355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11029950" y="55435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11163300" y="554355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11296650" y="5543550"/>
            <a:ext cx="95250" cy="95250"/>
          </a:xfrm>
          <a:prstGeom prst="rect">
            <a:avLst/>
          </a:prstGeom>
          <a:solidFill>
            <a:srgbClr val="CD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11430000" y="554355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11563350" y="55435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10496550" y="567690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10629900" y="567690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10763250" y="567690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10896600" y="567690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11029950" y="567690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11163300" y="567690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11296650" y="567690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11430000" y="5676900"/>
            <a:ext cx="95250" cy="95250"/>
          </a:xfrm>
          <a:prstGeom prst="rect">
            <a:avLst/>
          </a:prstGeom>
          <a:solidFill>
            <a:srgbClr val="CD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11563350" y="567690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AFAF9"/>
      </a:accent1>
      <a:accent2>
        <a:srgbClr val="CDFF00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