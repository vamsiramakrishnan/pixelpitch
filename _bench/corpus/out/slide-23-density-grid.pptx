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JetBrains Mono" panose="020B06090405040202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w="19050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762000"/>
            <a:ext cx="573464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// 23 — DENSITY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962025"/>
            <a:ext cx="573464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000" b="1" i="0" u="none">
                <a:solidFill>
                  <a:srgbClr val="FAFAF9"/>
                </a:solidFill>
                <a:latin typeface="Consolas"/>
              </a:rPr>
              <a:t>12 SUBSYSTEMS // ONE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70914" y="847130"/>
            <a:ext cx="1640086" cy="479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4 COLS × 3 ROWS = 12 CELLS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OWNER platform-core</a:t>
            </a:r>
          </a:p>
          <a:p>
            <a:pPr algn="r"/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
      AS-OF 2026.04.30
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2162175"/>
            <a:ext cx="56777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01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edge-rx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tcp/443 ingress, 8 nodes, mTLS terminator.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1819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398044" y="2162175"/>
            <a:ext cx="69398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02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8044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kfk-buf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8044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24 partitions, replication 3, 1.18K lag.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6938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253162" y="2162175"/>
            <a:ext cx="2540794" cy="1047750"/>
          </a:xfrm>
          <a:prstGeom prst="rect">
            <a:avLst/>
          </a:prstGeom>
          <a:solidFill>
            <a:srgbClr val="0066FF"/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253162" y="3105150"/>
            <a:ext cx="40153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cpu 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1911" y="3105150"/>
            <a:ext cx="17204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A0A0A"/>
                </a:solidFill>
                <a:latin typeface="Consolas"/>
              </a:rPr>
              <a:t>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3162" y="2162175"/>
            <a:ext cx="2540794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0A0A"/>
                </a:solidFill>
                <a:latin typeface="Consolas"/>
              </a:rPr>
              <a:t>03</a:t>
            </a:r>
            <a:r>
              <a:rPr sz="825" b="1" i="0" u="none">
                <a:solidFill>
                  <a:srgbClr val="0A0A0A"/>
                </a:solidFill>
                <a:latin typeface="Consolas"/>
              </a:rPr>
              <a:t xml:space="preserve"> / 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3162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A0A0A"/>
                </a:solidFill>
                <a:latin typeface="Consolas"/>
              </a:rPr>
              <a:t>norm-svc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3162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0A0A0A"/>
                </a:solidFill>
                <a:latin typeface="Consolas"/>
              </a:rPr>
              <a:t>Parse + dedupe path, 62% cpu, primary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8281" y="216217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04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8281" y="236220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cold-tbl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8281" y="259734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Parquet on s3, 2.4TB / day, 30d retention.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687175" y="208597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42925" y="3486150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05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OBS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obs-sink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Logs + metrics tap, 15s scrape, single tenant.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1819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398044" y="3486150"/>
            <a:ext cx="56777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06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8044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tok-sign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8044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Signing service, ed25519, 4ms median.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76938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253162" y="3486150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07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3162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warm-set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3162" y="3921323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LRU 64GiB, 94.2% hit, 3 shards, no spill.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32056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108281" y="3486150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08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8281" y="3686175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edge-route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8281" y="3921323"/>
            <a:ext cx="2540794" cy="159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Anycast plan, 12 PoPs, weighted RR.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687175" y="3409950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42925" y="481012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09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925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nightly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925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Cron 03:00Z, 8 stages, idempotent retries.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1819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398044" y="4810125"/>
            <a:ext cx="63088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10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FLAGS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8044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flag-svc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98044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Bool + multivar, 1.4K rules, 12ms eval.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76938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253162" y="4810125"/>
            <a:ext cx="75708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11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BILLING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3162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meter-rx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3162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Per-tenant counters, 5min rollup, idem keys.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32056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9108281" y="481012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66FF"/>
                </a:solidFill>
                <a:latin typeface="Consolas"/>
              </a:rPr>
              <a:t>12</a:t>
            </a:r>
            <a:r>
              <a:rPr sz="825" b="1" i="0" u="none">
                <a:solidFill>
                  <a:srgbClr val="FAFAF9"/>
                </a:solidFill>
                <a:latin typeface="Consolas"/>
              </a:rPr>
              <a:t xml:space="preserve"> / DLQ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08281" y="5010150"/>
            <a:ext cx="2540794" cy="197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AFAF9"/>
                </a:solidFill>
                <a:latin typeface="Consolas"/>
              </a:rPr>
              <a:t>dead-q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08281" y="5245298"/>
            <a:ext cx="2540794" cy="319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FAFAF9"/>
                </a:solidFill>
                <a:latin typeface="Consolas"/>
              </a:rPr>
              <a:t>Quarantine bucket, 412 items, 7d TTL.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687175" y="4733925"/>
            <a:ext cx="57150" cy="571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02870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04203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5537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106870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820400" y="6191250"/>
            <a:ext cx="95250" cy="9525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09537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10871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112204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113538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11487150" y="6191250"/>
            <a:ext cx="95250" cy="95250"/>
          </a:xfrm>
          <a:prstGeom prst="rect">
            <a:avLst/>
          </a:prstGeom>
          <a:noFill/>
          <a:ln w="9525">
            <a:solidFill>
              <a:srgbClr val="FA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11620500" y="6191250"/>
            <a:ext cx="95250" cy="9525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FAF9"/>
      </a:accent1>
      <a:accent2>
        <a:srgbClr val="0066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