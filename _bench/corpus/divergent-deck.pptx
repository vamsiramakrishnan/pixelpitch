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  <p:boldItalic r:id="rIdSlidifyFont4"/>
    </p:embeddedFont>
    <p:embeddedFont>
      <p:font typeface="IBM Plex Mono" panose="020B0609040504020204" charset="0"/>
      <p:regular r:id="rIdSlidifyFont5"/>
      <p:bold r:id="rIdSlidifyFont6"/>
    </p:embeddedFont>
    <p:embeddedFont>
      <p:font typeface="SF Pro Display" panose="020B0604020202020204" charset="0"/>
      <p:regular r:id="rIdSlidifyFont7"/>
      <p:bold r:id="rIdSlidifyFont8"/>
    </p:embeddedFont>
    <p:embeddedFont>
      <p:font typeface="SF Mono" panose="020B0609040504020204" charset="0"/>
      <p:regular r:id="rIdSlidifyFont9"/>
      <p:bold r:id="rIdSlidifyFont10"/>
    </p:embeddedFont>
    <p:embeddedFont>
      <p:font typeface="New York" panose="020B0604020202020204" charset="0"/>
      <p:regular r:id="rIdSlidifyFont11"/>
      <p:bold r:id="rIdSlidifyFont12"/>
      <p:boldItalic r:id="rIdSlidifyFont13"/>
    </p:embeddedFont>
    <p:embeddedFont>
      <p:font typeface="JetBrains Mono" panose="020B0609040504020204" charset="0"/>
      <p:regular r:id="rIdSlidifyFont14"/>
      <p:bold r:id="rIdSlidifyFont15"/>
    </p:embeddedFont>
    <p:embeddedFont>
      <p:font typeface="Tiempos Headline" panose="02040603050405020304" charset="0"/>
      <p:regular r:id="rIdSlidifyFont16"/>
      <p:bold r:id="rIdSlidifyFont17"/>
      <p:italic r:id="rIdSlidifyFont18"/>
      <p:boldItalic r:id="rIdSlidifyFont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Relationship Id="rIdSlidifyFont5" Type="http://schemas.openxmlformats.org/officeDocument/2006/relationships/font" Target="fonts/font5.fntdata"/><Relationship Id="rIdSlidifyFont6" Type="http://schemas.openxmlformats.org/officeDocument/2006/relationships/font" Target="fonts/font6.fntdata"/><Relationship Id="rIdSlidifyFont7" Type="http://schemas.openxmlformats.org/officeDocument/2006/relationships/font" Target="fonts/font7.fntdata"/><Relationship Id="rIdSlidifyFont8" Type="http://schemas.openxmlformats.org/officeDocument/2006/relationships/font" Target="fonts/font8.fntdata"/><Relationship Id="rIdSlidifyFont9" Type="http://schemas.openxmlformats.org/officeDocument/2006/relationships/font" Target="fonts/font9.fntdata"/><Relationship Id="rIdSlidifyFont10" Type="http://schemas.openxmlformats.org/officeDocument/2006/relationships/font" Target="fonts/font10.fntdata"/><Relationship Id="rIdSlidifyFont11" Type="http://schemas.openxmlformats.org/officeDocument/2006/relationships/font" Target="fonts/font11.fntdata"/><Relationship Id="rIdSlidifyFont12" Type="http://schemas.openxmlformats.org/officeDocument/2006/relationships/font" Target="fonts/font12.fntdata"/><Relationship Id="rIdSlidifyFont13" Type="http://schemas.openxmlformats.org/officeDocument/2006/relationships/font" Target="fonts/font13.fntdata"/><Relationship Id="rIdSlidifyFont14" Type="http://schemas.openxmlformats.org/officeDocument/2006/relationships/font" Target="fonts/font14.fntdata"/><Relationship Id="rIdSlidifyFont15" Type="http://schemas.openxmlformats.org/officeDocument/2006/relationships/font" Target="fonts/font15.fntdata"/><Relationship Id="rIdSlidifyFont16" Type="http://schemas.openxmlformats.org/officeDocument/2006/relationships/font" Target="fonts/font16.fntdata"/><Relationship Id="rIdSlidifyFont17" Type="http://schemas.openxmlformats.org/officeDocument/2006/relationships/font" Target="fonts/font17.fntdata"/><Relationship Id="rIdSlidifyFont18" Type="http://schemas.openxmlformats.org/officeDocument/2006/relationships/font" Target="fonts/font18.fntdata"/><Relationship Id="rIdSlidifyFont19" Type="http://schemas.openxmlformats.org/officeDocument/2006/relationships/font" Target="fonts/font1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5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457200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Inter"/>
              </a:rPr>
              <a:t>The State of the Union · Economy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685800"/>
            <a:ext cx="6096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857250"/>
            <a:ext cx="8382000" cy="1200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0" b="1" i="0" u="none">
                <a:solidFill>
                  <a:srgbClr val="1A1A1A"/>
                </a:solidFill>
                <a:latin typeface="Source Serif Pro"/>
              </a:rPr>
              <a:t>Wages climbed, then prices climbed 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209800"/>
            <a:ext cx="7429500" cy="531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Source Serif Pro"/>
              </a:rPr>
              <a:t>Real median household income outran inflation for most of two decades. After 2021 the lines crossed, and households felt it before the data confirmed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931616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Inter"/>
              </a:rPr>
              <a:t>By the Editorial Graphics Desk · Updated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552" y="3286125"/>
            <a:ext cx="7363941" cy="2581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93552" y="3305175"/>
            <a:ext cx="1630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552" y="3876675"/>
            <a:ext cx="1630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552" y="4448175"/>
            <a:ext cx="1630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552" y="5019675"/>
            <a:ext cx="1630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552" y="5591175"/>
            <a:ext cx="1630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5762625"/>
            <a:ext cx="12830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7900" y="5762625"/>
            <a:ext cx="12830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5762625"/>
            <a:ext cx="12830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0100" y="5762625"/>
            <a:ext cx="12830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0" y="5762625"/>
            <a:ext cx="12830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5762625"/>
            <a:ext cx="12830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5350" y="3409950"/>
            <a:ext cx="104933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2021 · The crossover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5350" y="3552825"/>
            <a:ext cx="214416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CPI overtakes wage index for first time since 2008.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2406" y="3286125"/>
            <a:ext cx="33508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+92 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2406" y="3533775"/>
            <a:ext cx="33508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+98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1100" y="1752600"/>
            <a:ext cx="2857500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Inflection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1100" y="2047875"/>
            <a:ext cx="2857500" cy="3598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>
                <a:solidFill>
                  <a:srgbClr val="1A1A1A"/>
                </a:solidFill>
                <a:latin typeface="Source Serif Pro"/>
              </a:rPr>
              <a:t>• 2001 · Dot-com bust. Wages stall for 18 months while CPI keeps a 2.4% trend.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1100" y="2541091"/>
            <a:ext cx="2857500" cy="3598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>
                <a:solidFill>
                  <a:srgbClr val="1A1A1A"/>
                </a:solidFill>
                <a:latin typeface="Source Serif Pro"/>
              </a:rPr>
              <a:t>• 2008 · Financial crisis. First period since 1994 where real wages decline two years running.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1100" y="3034308"/>
            <a:ext cx="2857500" cy="3598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>
                <a:solidFill>
                  <a:srgbClr val="1A1A1A"/>
                </a:solidFill>
                <a:latin typeface="Source Serif Pro"/>
              </a:rPr>
              <a:t>• 2015 · Recovery gap. CPI lulls below 1.5%; wage index reopens its lead.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1100" y="3527524"/>
            <a:ext cx="2857500" cy="3598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>
                <a:solidFill>
                  <a:srgbClr val="1A1A1A"/>
                </a:solidFill>
                <a:latin typeface="Source Serif Pro"/>
              </a:rPr>
              <a:t>• 2021 · The crossover. Pandemic shock, supply chains, energy spike — CPI overtakes wages.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1100" y="4020741"/>
            <a:ext cx="2857500" cy="3598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>
                <a:solidFill>
                  <a:srgbClr val="1A1A1A"/>
                </a:solidFill>
                <a:latin typeface="Source Serif Pro"/>
              </a:rPr>
              <a:t>• 2024 · Now. Wage index 192; CPI 198. The 6-point gap is what households call "still behind."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6486525"/>
            <a:ext cx="3547467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BLS CPI-U series and Census ASEC, 1994–2024 · The Times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78889" y="65817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81000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E5F8C"/>
                </a:solidFill>
                <a:latin typeface="Inter"/>
              </a:rPr>
              <a:t>Public Finance · Two-up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0550"/>
            <a:ext cx="10477500" cy="56004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200" b="1" i="0" u="none">
                <a:solidFill>
                  <a:srgbClr val="1A1A1A"/>
                </a:solidFill>
                <a:latin typeface="Source Serif Pro"/>
              </a:rPr>
              <a:t>The federal deficit, two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93465"/>
            <a:ext cx="9805541" cy="431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 u="none">
                <a:solidFill>
                  <a:srgbClr val="1A1A1A"/>
                </a:solidFill>
                <a:latin typeface="Source Serif Pro"/>
              </a:rPr>
              <a:t xml:space="preserve">In raw dollars the deficit looks unprecedented. As a share of GDP it has been here before — </a:t>
            </a:r>
            <a:r>
              <a:rPr sz="1275" b="0" i="1" u="none">
                <a:solidFill>
                  <a:srgbClr val="1A1A1A"/>
                </a:solidFill>
                <a:latin typeface="Source Serif Pro"/>
              </a:rPr>
              <a:t>twice in the last forty years</a:t>
            </a:r>
            <a:r>
              <a:rPr sz="1275" b="0" i="0" u="none">
                <a:solidFill>
                  <a:srgbClr val="1A1A1A"/>
                </a:solidFill>
                <a:latin typeface="Source Serif Pro"/>
              </a:rPr>
              <a:t xml:space="preserve">. </a:t>
            </a:r>
            <a:r>
              <a:rPr sz="1275" b="1" i="0" u="none">
                <a:solidFill>
                  <a:srgbClr val="1A1A1A"/>
                </a:solidFill>
                <a:latin typeface="Source Serif Pro"/>
              </a:rPr>
              <a:t>Same metric, two scales, two different stories.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081064"/>
            <a:ext cx="5524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A · Nominal dollars (USD trillions)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281089"/>
            <a:ext cx="5012085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Source Serif Pro"/>
              </a:rPr>
              <a:t xml:space="preserve">The headline number. Each bar is one fiscal year's deficit, not adjusted for inflation or population. The 2020 spike is COVID relief; the 2024 figure of 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$1.83T</a:t>
            </a:r>
            <a:r>
              <a:rPr sz="1050" b="0" i="0" u="none">
                <a:solidFill>
                  <a:srgbClr val="1A1A1A"/>
                </a:solidFill>
                <a:latin typeface="Source Serif Pro"/>
              </a:rPr>
              <a:t xml:space="preserve"> is the second-largest on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651" y="3319314"/>
            <a:ext cx="4808041" cy="1962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651" y="3319314"/>
            <a:ext cx="1763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3.0T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651" y="3890814"/>
            <a:ext cx="1763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2.0T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651" y="4462314"/>
            <a:ext cx="1763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1.0T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476" y="5033814"/>
            <a:ext cx="4777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9594" y="480521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8694" y="474806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7794" y="465281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6894" y="446231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5994" y="423371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5094" y="453851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4194" y="442421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407" y="3376464"/>
            <a:ext cx="16698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3.13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8507" y="3947964"/>
            <a:ext cx="16698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2.78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7607" y="4328964"/>
            <a:ext cx="16698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1.38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6707" y="3795564"/>
            <a:ext cx="16698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1.83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3315" y="5186214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0615" y="5186214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7915" y="5186214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5215" y="5186214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5757714"/>
            <a:ext cx="322480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1" u="none">
                <a:solidFill>
                  <a:srgbClr val="000000"/>
                </a:solidFill>
                <a:latin typeface="Source Serif Pro"/>
              </a:rPr>
              <a:t xml:space="preserve">All bars in current dollars. </a:t>
            </a:r>
            <a:r>
              <a:rPr sz="825" b="0" i="1" u="none">
                <a:solidFill>
                  <a:srgbClr val="000000"/>
                </a:solidFill>
                <a:latin typeface="Source Serif Pro"/>
              </a:rPr>
              <a:t>The 2020 figure is the COVID-19 fiscal response.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100" y="2081064"/>
            <a:ext cx="5524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B · Share of GDP (%)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5100" y="2281089"/>
            <a:ext cx="4881116" cy="561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Source Serif Pro"/>
              </a:rPr>
              <a:t xml:space="preserve">The economist's number. Same eleven years, same deficits — but now sized against the economy that produced them. The picture flattens. 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2024 = 6.3%</a:t>
            </a:r>
            <a:r>
              <a:rPr sz="1050" b="0" i="0" u="none">
                <a:solidFill>
                  <a:srgbClr val="1A1A1A"/>
                </a:solidFill>
                <a:latin typeface="Source Serif Pro"/>
              </a:rPr>
              <a:t xml:space="preserve"> of GDP, well below the 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14.7%</a:t>
            </a:r>
            <a:r>
              <a:rPr sz="1050" b="0" i="0" u="none">
                <a:solidFill>
                  <a:srgbClr val="1A1A1A"/>
                </a:solidFill>
                <a:latin typeface="Source Serif Pro"/>
              </a:rPr>
              <a:t xml:space="preserve"> peak of 2020 and roughly equal to 1983.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351" y="3052614"/>
            <a:ext cx="5162699" cy="2238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6667351" y="3328839"/>
            <a:ext cx="17159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351" y="3900339"/>
            <a:ext cx="17159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4976" y="4471839"/>
            <a:ext cx="12397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1176" y="5043339"/>
            <a:ext cx="4777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0780" y="4262289"/>
            <a:ext cx="8292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1983 baseline · 6.0%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8262" y="3052614"/>
            <a:ext cx="56764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2020 · 14.7%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45015" y="5195739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2315" y="5195739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9615" y="5195739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16915" y="5195739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5100" y="5767239"/>
            <a:ext cx="21127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1" u="none">
                <a:solidFill>
                  <a:srgbClr val="000000"/>
                </a:solidFill>
                <a:latin typeface="Source Serif Pro"/>
              </a:rPr>
              <a:t xml:space="preserve">Same eleven years. </a:t>
            </a:r>
            <a:r>
              <a:rPr sz="825" b="0" i="1" u="none">
                <a:solidFill>
                  <a:srgbClr val="000000"/>
                </a:solidFill>
                <a:latin typeface="Source Serif Pro"/>
              </a:rPr>
              <a:t>The crisis collapses to a pulse.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400" y="6524625"/>
            <a:ext cx="345236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CBO Historical Budget Data, FY 2014–2024 · BEA national accounts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78889" y="66198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81000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Inter"/>
              </a:rPr>
              <a:t>Housing · Small multiples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0550"/>
            <a:ext cx="10477500" cy="53994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1" i="0" u="none">
                <a:solidFill>
                  <a:srgbClr val="1A1A1A"/>
                </a:solidFill>
                <a:latin typeface="Source Serif Pro"/>
              </a:rPr>
              <a:t>Six cities, one shared y-axis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54323"/>
            <a:ext cx="9221986" cy="3981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1A1A1A"/>
                </a:solidFill>
                <a:latin typeface="Source Serif Pro"/>
              </a:rPr>
              <a:t xml:space="preserve">Median monthly rent for a one-bedroom, indexed to </a:t>
            </a:r>
            <a:r>
              <a:rPr sz="1200" b="1" i="0" u="none">
                <a:solidFill>
                  <a:srgbClr val="1A1A1A"/>
                </a:solidFill>
                <a:latin typeface="Source Serif Pro"/>
              </a:rPr>
              <a:t>January 2019 = 100</a:t>
            </a:r>
            <a:r>
              <a:rPr sz="1200" b="0" i="0" u="none">
                <a:solidFill>
                  <a:srgbClr val="1A1A1A"/>
                </a:solidFill>
                <a:latin typeface="Source Serif Pro"/>
              </a:rPr>
              <a:t>. Same scale, same window, six different answers. Boise looks like a different country than Pittsburgh.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164854"/>
            <a:ext cx="36195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A1A1A"/>
                </a:solidFill>
                <a:latin typeface="Inter"/>
              </a:rPr>
              <a:t>Boise,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317254"/>
            <a:ext cx="169753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2019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100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 · 2025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178</a:t>
            </a:r>
            <a:r>
              <a:rPr sz="825" b="1" i="0" u="none">
                <a:solidFill>
                  <a:srgbClr val="C41E3A"/>
                </a:solidFill>
                <a:latin typeface="Consolas"/>
              </a:rPr>
              <a:t xml:space="preserve"> +78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3900" y="2631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23900" y="3012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3900" y="3393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3900" y="3774579"/>
            <a:ext cx="333375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723900" y="2822079"/>
            <a:ext cx="3333750" cy="952500"/>
          </a:xfrm>
          <a:custGeom>
            <a:avLst/>
            <a:gdLst/>
            <a:ahLst/>
            <a:cxnLst/>
            <a:rect l="l" t="t" r="r" b="b"/>
            <a:pathLst>
              <a:path w="3333750" h="952500">
                <a:moveTo>
                  <a:pt x="0" y="952500"/>
                </a:moveTo>
                <a:lnTo>
                  <a:pt x="552450" y="895350"/>
                </a:lnTo>
                <a:lnTo>
                  <a:pt x="1104900" y="742950"/>
                </a:lnTo>
                <a:lnTo>
                  <a:pt x="1657350" y="400050"/>
                </a:lnTo>
                <a:lnTo>
                  <a:pt x="2209800" y="114300"/>
                </a:lnTo>
                <a:lnTo>
                  <a:pt x="2762250" y="0"/>
                </a:lnTo>
                <a:lnTo>
                  <a:pt x="3333750" y="5715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029075" y="2850654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 13"/>
          <p:cNvCxnSpPr/>
          <p:nvPr/>
        </p:nvCxnSpPr>
        <p:spPr>
          <a:xfrm>
            <a:off x="2933700" y="2936379"/>
            <a:ext cx="0" cy="838200"/>
          </a:xfrm>
          <a:prstGeom prst="line">
            <a:avLst/>
          </a:prstGeom>
          <a:ln w="9525">
            <a:solidFill>
              <a:srgbClr val="000000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1020" y="2608719"/>
            <a:ext cx="125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930" y="3751719"/>
            <a:ext cx="838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848749"/>
            <a:ext cx="377190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0" i="0">
                <a:solidFill>
                  <a:srgbClr val="1A1A1A"/>
                </a:solidFill>
                <a:latin typeface="Inter"/>
              </a:rPr>
              <a:t>peak '22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1500" y="2164854"/>
            <a:ext cx="36195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A1A1A"/>
                </a:solidFill>
                <a:latin typeface="Inter"/>
              </a:rPr>
              <a:t>Phoenix, AZ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1500" y="2317254"/>
            <a:ext cx="169753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2019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100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 · 2025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156</a:t>
            </a:r>
            <a:r>
              <a:rPr sz="825" b="1" i="0" u="none">
                <a:solidFill>
                  <a:srgbClr val="C41E3A"/>
                </a:solidFill>
                <a:latin typeface="Consolas"/>
              </a:rPr>
              <a:t xml:space="preserve"> +56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0" y="2631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3012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3393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3774579"/>
            <a:ext cx="333375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4572000" y="3069729"/>
            <a:ext cx="3333750" cy="704850"/>
          </a:xfrm>
          <a:custGeom>
            <a:avLst/>
            <a:gdLst/>
            <a:ahLst/>
            <a:cxnLst/>
            <a:rect l="l" t="t" r="r" b="b"/>
            <a:pathLst>
              <a:path w="3333750" h="704850">
                <a:moveTo>
                  <a:pt x="0" y="704850"/>
                </a:moveTo>
                <a:lnTo>
                  <a:pt x="552450" y="628650"/>
                </a:lnTo>
                <a:lnTo>
                  <a:pt x="1104900" y="438150"/>
                </a:lnTo>
                <a:lnTo>
                  <a:pt x="1657350" y="190500"/>
                </a:lnTo>
                <a:lnTo>
                  <a:pt x="2209800" y="57150"/>
                </a:lnTo>
                <a:lnTo>
                  <a:pt x="2762250" y="19050"/>
                </a:lnTo>
                <a:lnTo>
                  <a:pt x="3333750" y="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7877175" y="3041154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389120" y="2608719"/>
            <a:ext cx="125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1030" y="3751719"/>
            <a:ext cx="838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164854"/>
            <a:ext cx="36195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A1A1A"/>
                </a:solidFill>
                <a:latin typeface="Inter"/>
              </a:rPr>
              <a:t>Austin, TX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17254"/>
            <a:ext cx="169753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2019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100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 · 2025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142</a:t>
            </a:r>
            <a:r>
              <a:rPr sz="825" b="1" i="0" u="none">
                <a:solidFill>
                  <a:srgbClr val="C41E3A"/>
                </a:solidFill>
                <a:latin typeface="Consolas"/>
              </a:rPr>
              <a:t xml:space="preserve"> +42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20100" y="2631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20100" y="3012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20100" y="3393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420100" y="3774579"/>
            <a:ext cx="333375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8420100" y="3012579"/>
            <a:ext cx="3333750" cy="762000"/>
          </a:xfrm>
          <a:custGeom>
            <a:avLst/>
            <a:gdLst/>
            <a:ahLst/>
            <a:cxnLst/>
            <a:rect l="l" t="t" r="r" b="b"/>
            <a:pathLst>
              <a:path w="3333750" h="762000">
                <a:moveTo>
                  <a:pt x="0" y="762000"/>
                </a:moveTo>
                <a:lnTo>
                  <a:pt x="552450" y="647700"/>
                </a:lnTo>
                <a:lnTo>
                  <a:pt x="1104900" y="361950"/>
                </a:lnTo>
                <a:lnTo>
                  <a:pt x="1657350" y="0"/>
                </a:lnTo>
                <a:lnTo>
                  <a:pt x="2209800" y="114300"/>
                </a:lnTo>
                <a:lnTo>
                  <a:pt x="2762250" y="209550"/>
                </a:lnTo>
                <a:lnTo>
                  <a:pt x="3333750" y="26670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1725275" y="3250704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237220" y="2608719"/>
            <a:ext cx="125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9130" y="3751719"/>
            <a:ext cx="838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34600" y="2905899"/>
            <a:ext cx="471488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1" i="0">
                <a:solidFill>
                  <a:srgbClr val="1A1A1A"/>
                </a:solidFill>
                <a:latin typeface="Inter"/>
              </a:rPr>
              <a:t>cooled '23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400" y="4412754"/>
            <a:ext cx="36195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A1A1A"/>
                </a:solidFill>
                <a:latin typeface="Inter"/>
              </a:rPr>
              <a:t>Chicago, 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" y="4565154"/>
            <a:ext cx="169753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2019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100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 · 2025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118</a:t>
            </a:r>
            <a:r>
              <a:rPr sz="825" b="1" i="0" u="none">
                <a:solidFill>
                  <a:srgbClr val="C41E3A"/>
                </a:solidFill>
                <a:latin typeface="Consolas"/>
              </a:rPr>
              <a:t xml:space="preserve"> +18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23900" y="4879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3900" y="5260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23900" y="5641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3900" y="6022479"/>
            <a:ext cx="333375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723900" y="5717679"/>
            <a:ext cx="3333750" cy="304800"/>
          </a:xfrm>
          <a:custGeom>
            <a:avLst/>
            <a:gdLst/>
            <a:ahLst/>
            <a:cxnLst/>
            <a:rect l="l" t="t" r="r" b="b"/>
            <a:pathLst>
              <a:path w="3333750" h="304800">
                <a:moveTo>
                  <a:pt x="0" y="304800"/>
                </a:moveTo>
                <a:lnTo>
                  <a:pt x="552450" y="285750"/>
                </a:lnTo>
                <a:lnTo>
                  <a:pt x="1104900" y="190500"/>
                </a:lnTo>
                <a:lnTo>
                  <a:pt x="1657350" y="95250"/>
                </a:lnTo>
                <a:lnTo>
                  <a:pt x="2209800" y="38100"/>
                </a:lnTo>
                <a:lnTo>
                  <a:pt x="2762250" y="0"/>
                </a:lnTo>
                <a:lnTo>
                  <a:pt x="3333750" y="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029075" y="5689104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41020" y="4856619"/>
            <a:ext cx="125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200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2930" y="5999619"/>
            <a:ext cx="838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1500" y="4412754"/>
            <a:ext cx="36195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A1A1A"/>
                </a:solidFill>
                <a:latin typeface="Inter"/>
              </a:rPr>
              <a:t>San Francisco, 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1500" y="4565154"/>
            <a:ext cx="1571327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2019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100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 · 2025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96</a:t>
            </a:r>
            <a:r>
              <a:rPr sz="825" b="1" i="0" u="none">
                <a:solidFill>
                  <a:srgbClr val="1E5F8C"/>
                </a:solidFill>
                <a:latin typeface="Consolas"/>
              </a:rPr>
              <a:t xml:space="preserve"> −4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0" y="4879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0" y="5260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0" y="5641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0" y="6022479"/>
            <a:ext cx="333375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4572000" y="5946279"/>
            <a:ext cx="3333750" cy="152400"/>
          </a:xfrm>
          <a:custGeom>
            <a:avLst/>
            <a:gdLst/>
            <a:ahLst/>
            <a:cxnLst/>
            <a:rect l="l" t="t" r="r" b="b"/>
            <a:pathLst>
              <a:path w="3333750" h="152400">
                <a:moveTo>
                  <a:pt x="0" y="76200"/>
                </a:moveTo>
                <a:lnTo>
                  <a:pt x="552450" y="114300"/>
                </a:lnTo>
                <a:lnTo>
                  <a:pt x="1104900" y="152400"/>
                </a:lnTo>
                <a:lnTo>
                  <a:pt x="1657350" y="95250"/>
                </a:lnTo>
                <a:lnTo>
                  <a:pt x="2209800" y="57150"/>
                </a:lnTo>
                <a:lnTo>
                  <a:pt x="2762250" y="19050"/>
                </a:lnTo>
                <a:lnTo>
                  <a:pt x="3333750" y="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7877175" y="5917704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4389120" y="4856619"/>
            <a:ext cx="125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200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1030" y="5999619"/>
            <a:ext cx="838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86500" y="6106299"/>
            <a:ext cx="518636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1" i="0">
                <a:solidFill>
                  <a:srgbClr val="1E5F8C"/>
                </a:solidFill>
                <a:latin typeface="Inter"/>
              </a:rPr>
              <a:t>net decline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4412754"/>
            <a:ext cx="36195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A1A1A"/>
                </a:solidFill>
                <a:latin typeface="Inter"/>
              </a:rPr>
              <a:t>Pittsburgh, PA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4565154"/>
            <a:ext cx="163443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2019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100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 · 2025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108</a:t>
            </a:r>
            <a:r>
              <a:rPr sz="825" b="1" i="0" u="none">
                <a:solidFill>
                  <a:srgbClr val="C41E3A"/>
                </a:solidFill>
                <a:latin typeface="Consolas"/>
              </a:rPr>
              <a:t xml:space="preserve"> +8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420100" y="4879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420100" y="5260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420100" y="5641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420100" y="6022479"/>
            <a:ext cx="333375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8420100" y="5793879"/>
            <a:ext cx="3333750" cy="228600"/>
          </a:xfrm>
          <a:custGeom>
            <a:avLst/>
            <a:gdLst/>
            <a:ahLst/>
            <a:cxnLst/>
            <a:rect l="l" t="t" r="r" b="b"/>
            <a:pathLst>
              <a:path w="3333750" h="228600">
                <a:moveTo>
                  <a:pt x="0" y="228600"/>
                </a:moveTo>
                <a:lnTo>
                  <a:pt x="552450" y="209550"/>
                </a:lnTo>
                <a:lnTo>
                  <a:pt x="1104900" y="171450"/>
                </a:lnTo>
                <a:lnTo>
                  <a:pt x="1657350" y="114300"/>
                </a:lnTo>
                <a:lnTo>
                  <a:pt x="2209800" y="57150"/>
                </a:lnTo>
                <a:lnTo>
                  <a:pt x="2762250" y="19050"/>
                </a:lnTo>
                <a:lnTo>
                  <a:pt x="3333750" y="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11725275" y="5765304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8237220" y="4856619"/>
            <a:ext cx="125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200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9130" y="5999619"/>
            <a:ext cx="838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3400" y="6524625"/>
            <a:ext cx="362694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Apartment List Rent Estimates, Jan 2019–Jan 2025 · The Times analysis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78889" y="66198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53104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7000" y="457200"/>
            <a:ext cx="6858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Inter"/>
              </a:rPr>
              <a:t>Investigation ·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7000" y="647700"/>
            <a:ext cx="6858000" cy="11885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0" b="1" i="0" u="none">
                <a:solidFill>
                  <a:srgbClr val="1A1A1A"/>
                </a:solidFill>
                <a:latin typeface="Source Serif Pro"/>
              </a:rPr>
              <a:t>The quiet collapse of local newsrooms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7000" y="1979116"/>
            <a:ext cx="6471493" cy="721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Source Serif Pro"/>
              </a:rPr>
              <a:t xml:space="preserve">Between 2005 and 2024, the United States lost </a:t>
            </a:r>
            <a:r>
              <a:rPr sz="1350" b="0" i="1" u="none">
                <a:solidFill>
                  <a:srgbClr val="1A1A1A"/>
                </a:solidFill>
                <a:latin typeface="Source Serif Pro"/>
              </a:rPr>
              <a:t>2,886 newspapers</a:t>
            </a:r>
            <a:r>
              <a:rPr sz="1350" b="0" i="0" u="none">
                <a:solidFill>
                  <a:srgbClr val="1A1A1A"/>
                </a:solidFill>
                <a:latin typeface="Source Serif Pro"/>
              </a:rPr>
              <a:t xml:space="preserve"> — most of them weeklies in counties of fewer than 50,000 people. The closures don't just shrink coverage. They reshape </a:t>
            </a:r>
            <a:r>
              <a:rPr sz="1350" b="1" i="0" u="none">
                <a:solidFill>
                  <a:srgbClr val="1A1A1A"/>
                </a:solidFill>
                <a:latin typeface="Source Serif Pro"/>
              </a:rPr>
              <a:t>turnout, bond ratings, and trust</a:t>
            </a:r>
            <a:r>
              <a:rPr sz="1350" b="0" i="0" u="none">
                <a:solidFill>
                  <a:srgbClr val="1A1A1A"/>
                </a:solidFill>
                <a:latin typeface="Source Serif Pr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2938016"/>
            <a:ext cx="6738045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A1A1A"/>
                </a:solidFill>
                <a:latin typeface="Source Serif Pro"/>
              </a:rPr>
              <a:t xml:space="preserve">The pattern is geographic and it is structural. Of the 3,143 counties in the country, </a:t>
            </a:r>
            <a:r>
              <a:rPr sz="1125" b="1" i="0" u="none">
                <a:solidFill>
                  <a:srgbClr val="1A1A1A"/>
                </a:solidFill>
                <a:latin typeface="Source Serif Pro"/>
              </a:rPr>
              <a:t>206 now have no local newspaper at all</a:t>
            </a:r>
            <a:r>
              <a:rPr sz="1125" b="0" i="0" u="none">
                <a:solidFill>
                  <a:srgbClr val="1A1A1A"/>
                </a:solidFill>
                <a:latin typeface="Source Serif Pro"/>
              </a:rPr>
              <a:t xml:space="preserve"> and another 1,562 have only one — typically a weekly with fewer than three full-time reporters. The losses concentrate in places already losing population, jobs, and broadband. </a:t>
            </a:r>
            <a:r>
              <a:rPr sz="1125" b="0" i="1" u="none">
                <a:solidFill>
                  <a:srgbClr val="1A1A1A"/>
                </a:solidFill>
                <a:latin typeface="Source Serif Pro"/>
              </a:rPr>
              <a:t>News deserts compound on the deserts that produced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3985766"/>
            <a:ext cx="5915025" cy="9001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Source Serif Pro"/>
              </a:rPr>
              <a:t>"The first thing that goes is the school-board meeting. The last thing that goes is the obituary page. Everything in between is what we used to call accountability."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7000" y="5057329"/>
            <a:ext cx="6858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Inter"/>
              </a:rPr>
              <a:t>— Penelope Muse Abernathy, UNC Hussman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7000" y="5285929"/>
            <a:ext cx="6858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U.S. newspapers in operation, 2005–2024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000" y="5400229"/>
            <a:ext cx="68580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Source Serif Pro"/>
              </a:rPr>
              <a:t>A net loss of one paper every 2.6 days for nineteen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150" y="5619304"/>
            <a:ext cx="6150620" cy="1238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724150" y="5714554"/>
            <a:ext cx="24253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9,000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150" y="6095554"/>
            <a:ext cx="24253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150" y="6476554"/>
            <a:ext cx="24253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7,000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150" y="6848475"/>
            <a:ext cx="242534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6,000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619304"/>
            <a:ext cx="8778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2005 · 8,891 papers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4480" y="6848475"/>
            <a:ext cx="877891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2024 · 6,005 papers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0" y="6848475"/>
            <a:ext cx="111770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3000" y="6848475"/>
            <a:ext cx="111770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848475"/>
            <a:ext cx="111770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0" y="6848475"/>
            <a:ext cx="111770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7000" y="6486525"/>
            <a:ext cx="3623072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UNC Hussman School / Northwestern Medill Local News Initiative ·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5289" y="65817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81000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E5F8C"/>
                </a:solidFill>
                <a:latin typeface="Inter"/>
              </a:rPr>
              <a:t>Connectivity · Block grid + ranked sidebar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7429500" cy="107989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050" b="1" i="0" u="none">
                <a:solidFill>
                  <a:srgbClr val="1A1A1A"/>
                </a:solidFill>
                <a:latin typeface="Source Serif Pro"/>
              </a:rPr>
              <a:t>Where broadband still doesn't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775222"/>
            <a:ext cx="7010251" cy="3981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1A1A1A"/>
                </a:solidFill>
                <a:latin typeface="Source Serif Pro"/>
              </a:rPr>
              <a:t xml:space="preserve">Share of households without a 25/3 Mbps wired connection, by state. The map below uses a tile per state — area is uniform, color encodes the gap. </a:t>
            </a:r>
            <a:r>
              <a:rPr sz="1200" b="1" i="0" u="none">
                <a:solidFill>
                  <a:srgbClr val="1A1A1A"/>
                </a:solidFill>
                <a:latin typeface="Source Serif Pro"/>
              </a:rPr>
              <a:t>Ten states have a connectivity deficit above 18%.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352377"/>
            <a:ext cx="7239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U.S. tile map · % households unserved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542877"/>
            <a:ext cx="72390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Source Serif Pro"/>
              </a:rPr>
              <a:t>Each square is one state at equal weight. Darker = a larger share of households offline.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640" y="3000077"/>
            <a:ext cx="6872055" cy="3162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24421" y="30000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2319" y="3000077"/>
            <a:ext cx="15716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640" y="3609677"/>
            <a:ext cx="16931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7312" y="3609677"/>
            <a:ext cx="10531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3621" y="3609677"/>
            <a:ext cx="15395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3221" y="36096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7017" y="3609677"/>
            <a:ext cx="16347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4029" y="3609677"/>
            <a:ext cx="12814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WI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9034" y="3609677"/>
            <a:ext cx="11653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327" y="3609677"/>
            <a:ext cx="13655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5221" y="36096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519" y="4219277"/>
            <a:ext cx="15769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6923" y="42192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4840" y="4219277"/>
            <a:ext cx="17509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WY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6123" y="4219277"/>
            <a:ext cx="14608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6112" y="4219277"/>
            <a:ext cx="10531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1517" y="4219277"/>
            <a:ext cx="9578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5312" y="4219277"/>
            <a:ext cx="10531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8719" y="4219277"/>
            <a:ext cx="15769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OH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7993" y="4219277"/>
            <a:ext cx="13830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9527" y="4219277"/>
            <a:ext cx="13394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6225" y="4219277"/>
            <a:ext cx="14234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3312" y="4219277"/>
            <a:ext cx="1047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421" y="48288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9825" y="4828877"/>
            <a:ext cx="14234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0719" y="4828877"/>
            <a:ext cx="16139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56123" y="4828877"/>
            <a:ext cx="1455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040" y="4828877"/>
            <a:ext cx="17300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75323" y="48288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KY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3240" y="4828877"/>
            <a:ext cx="17509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WV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8393" y="4828877"/>
            <a:ext cx="13830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5417" y="4828877"/>
            <a:ext cx="16347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3723" y="4828877"/>
            <a:ext cx="1455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23323" y="48288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217" y="4828877"/>
            <a:ext cx="16347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9825" y="5438477"/>
            <a:ext cx="14234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AZ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37817" y="5438477"/>
            <a:ext cx="1629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56123" y="5438477"/>
            <a:ext cx="1455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62821" y="54384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78225" y="5438477"/>
            <a:ext cx="14020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TN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2021" y="54384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94523" y="5438477"/>
            <a:ext cx="14608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SC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01221" y="54384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DC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712" y="6048077"/>
            <a:ext cx="1047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HI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50319" y="6048077"/>
            <a:ext cx="15769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68625" y="6048077"/>
            <a:ext cx="14020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LA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69519" y="6048077"/>
            <a:ext cx="15716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7825" y="6048077"/>
            <a:ext cx="14234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8719" y="6048077"/>
            <a:ext cx="15769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GA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12829" y="6048077"/>
            <a:ext cx="13067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FL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52327" y="6048077"/>
            <a:ext cx="14020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TX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75780" y="6581477"/>
            <a:ext cx="209550" cy="13335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685330" y="6581477"/>
            <a:ext cx="209550" cy="13335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1894880" y="6581477"/>
            <a:ext cx="209550" cy="13335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2104430" y="6581477"/>
            <a:ext cx="209550" cy="13335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2313980" y="6581477"/>
            <a:ext cx="209550" cy="13335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8229600" y="2352377"/>
            <a:ext cx="3429000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Top 10 · Largest connectivity gap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2628602"/>
            <a:ext cx="3429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Source Serif Pro"/>
              </a:rPr>
              <a:t>Share of state households without a 25/3 wired connection.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2966740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77250" y="2952452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Mississippi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10700" y="2990552"/>
            <a:ext cx="1638300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11125200" y="2966740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26.8%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3223915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77250" y="3209627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Arkansas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10700" y="3247727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9410700" y="3247727"/>
            <a:ext cx="1474440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11125200" y="322391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24.1%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3481090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77250" y="3466802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West Virginia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10700" y="3504902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9410700" y="3504902"/>
            <a:ext cx="1441698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11125200" y="3481090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23.6%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3738265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77250" y="3723977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New Mexico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410700" y="3762077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9410700" y="3762077"/>
            <a:ext cx="1376065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11125200" y="373826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22.5%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0" y="3995440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77250" y="3981152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Alabama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10700" y="4019252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9410700" y="4019252"/>
            <a:ext cx="1277838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11125200" y="3995440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20.9%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0" y="4252615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77250" y="4238327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Kentucky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410700" y="4276427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9410700" y="4276427"/>
            <a:ext cx="1245096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11125200" y="425261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20.3%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9600" y="4509790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77250" y="4495502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Montana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410700" y="4533602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9410700" y="4533602"/>
            <a:ext cx="1212205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/>
          <p:cNvSpPr txBox="1"/>
          <p:nvPr/>
        </p:nvSpPr>
        <p:spPr>
          <a:xfrm>
            <a:off x="11125200" y="4509790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19.8%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0" y="4766965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77250" y="4752677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Oklahoma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410700" y="4790777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9410700" y="4790777"/>
            <a:ext cx="1179463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11125200" y="476696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19.2%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29600" y="5024140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77250" y="5009852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North Carolina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410700" y="5047952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9410700" y="5047952"/>
            <a:ext cx="1146721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/>
          <p:cNvSpPr txBox="1"/>
          <p:nvPr/>
        </p:nvSpPr>
        <p:spPr>
          <a:xfrm>
            <a:off x="11125200" y="5024140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18.7%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229600" y="5357515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10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77250" y="5267027"/>
            <a:ext cx="857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Mississippi Delta avg.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410700" y="5381327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9410700" y="5381327"/>
            <a:ext cx="1113979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/>
          <p:cNvSpPr txBox="1"/>
          <p:nvPr/>
        </p:nvSpPr>
        <p:spPr>
          <a:xfrm>
            <a:off x="11125200" y="535751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18.1%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3400" y="6524625"/>
            <a:ext cx="436944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FCC Form 477 (Dec 2023) · Microsoft Airband measured-connection data · Times analysis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878889" y="66198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114282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81000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A017"/>
                </a:solidFill>
                <a:latin typeface="Inter"/>
              </a:rPr>
              <a:t>Climate · 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477500" cy="107989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050" b="1" i="0" u="none">
                <a:solidFill>
                  <a:srgbClr val="1A1A1A"/>
                </a:solidFill>
                <a:latin typeface="Source Serif Pro"/>
              </a:rPr>
              <a:t>Pledged vs. delivered: G20 emissions, 2015 →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756172"/>
            <a:ext cx="10068967" cy="3981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1A1A1A"/>
                </a:solidFill>
                <a:latin typeface="Source Serif Pro"/>
              </a:rPr>
              <a:t xml:space="preserve">Each country's 2030 NDC target, its 2024 trajectory, and the gap between them. </a:t>
            </a:r>
            <a:r>
              <a:rPr sz="1200" b="1" i="0" u="none">
                <a:solidFill>
                  <a:srgbClr val="1A1A1A"/>
                </a:solidFill>
                <a:latin typeface="Source Serif Pro"/>
              </a:rPr>
              <a:t>Eight G20 economies are off-pledge</a:t>
            </a:r>
            <a:r>
              <a:rPr sz="1200" b="0" i="0" u="none">
                <a:solidFill>
                  <a:srgbClr val="1A1A1A"/>
                </a:solidFill>
                <a:latin typeface="Source Serif Pro"/>
              </a:rPr>
              <a:t>; three are ahead of schedule. The arrows show year-on-year delta — not progress against the pledge.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352377"/>
            <a:ext cx="3429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2352377"/>
            <a:ext cx="2469952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Country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9152" y="2352377"/>
            <a:ext cx="1543645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2015 baseline (MtCO₂e)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4247" y="2352377"/>
            <a:ext cx="1543794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2024 actual (MtCO₂e)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9491" y="2352377"/>
            <a:ext cx="1543794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2030 pledge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4735" y="2352377"/>
            <a:ext cx="1080641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YoY 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6826" y="2352377"/>
            <a:ext cx="1571774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Trajectory · verdict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2704802"/>
            <a:ext cx="1120825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China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peak before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152" y="2609552"/>
            <a:ext cx="1543645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11,860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247" y="2609552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13,450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9491" y="2609552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peak ≤14,000</a:t>
            </a:r>
          </a:p>
        </p:txBody>
      </p:sp>
      <p:sp>
        <p:nvSpPr>
          <p:cNvPr id="17" name="Freeform 16"/>
          <p:cNvSpPr/>
          <p:nvPr/>
        </p:nvSpPr>
        <p:spPr>
          <a:xfrm>
            <a:off x="10086826" y="2777133"/>
            <a:ext cx="762000" cy="133350"/>
          </a:xfrm>
          <a:custGeom>
            <a:avLst/>
            <a:gdLst/>
            <a:ahLst/>
            <a:cxnLst/>
            <a:rect l="l" t="t" r="r" b="b"/>
            <a:pathLst>
              <a:path w="762000" h="133350">
                <a:moveTo>
                  <a:pt x="0" y="133350"/>
                </a:moveTo>
                <a:lnTo>
                  <a:pt x="123825" y="114300"/>
                </a:lnTo>
                <a:lnTo>
                  <a:pt x="247650" y="95250"/>
                </a:lnTo>
                <a:lnTo>
                  <a:pt x="371475" y="57150"/>
                </a:lnTo>
                <a:lnTo>
                  <a:pt x="495300" y="38100"/>
                </a:lnTo>
                <a:lnTo>
                  <a:pt x="619125" y="19050"/>
                </a:lnTo>
                <a:lnTo>
                  <a:pt x="762000" y="0"/>
                </a:lnTo>
              </a:path>
            </a:pathLst>
          </a:custGeom>
          <a:noFill/>
          <a:ln w="14288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0925026" y="2753320"/>
            <a:ext cx="54947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D4A017"/>
                </a:solidFill>
                <a:latin typeface="Inter"/>
              </a:rPr>
              <a:t>At 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3205758"/>
            <a:ext cx="1406128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United States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−50% by 2030 vs. 2005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9152" y="3106638"/>
            <a:ext cx="1543645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5,830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247" y="3106638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5,030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9491" y="3106638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3,250</a:t>
            </a:r>
          </a:p>
        </p:txBody>
      </p:sp>
      <p:sp>
        <p:nvSpPr>
          <p:cNvPr id="23" name="Freeform 22"/>
          <p:cNvSpPr/>
          <p:nvPr/>
        </p:nvSpPr>
        <p:spPr>
          <a:xfrm>
            <a:off x="10086826" y="3301860"/>
            <a:ext cx="699046" cy="87381"/>
          </a:xfrm>
          <a:custGeom>
            <a:avLst/>
            <a:gdLst/>
            <a:ahLst/>
            <a:cxnLst/>
            <a:rect l="l" t="t" r="r" b="b"/>
            <a:pathLst>
              <a:path w="699046" h="87381">
                <a:moveTo>
                  <a:pt x="0" y="0"/>
                </a:moveTo>
                <a:lnTo>
                  <a:pt x="113595" y="17476"/>
                </a:lnTo>
                <a:lnTo>
                  <a:pt x="227190" y="34952"/>
                </a:lnTo>
                <a:lnTo>
                  <a:pt x="340785" y="52428"/>
                </a:lnTo>
                <a:lnTo>
                  <a:pt x="454380" y="52428"/>
                </a:lnTo>
                <a:lnTo>
                  <a:pt x="567975" y="69904"/>
                </a:lnTo>
                <a:lnTo>
                  <a:pt x="699046" y="87381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862072" y="3192363"/>
            <a:ext cx="796528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C41E3A"/>
                </a:solidFill>
                <a:latin typeface="Inter"/>
              </a:rPr>
              <a:t>Off pledge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3710583"/>
            <a:ext cx="1401217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India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−45% intensity by 2030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9152" y="3611463"/>
            <a:ext cx="1543645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2,510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4247" y="3611463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3,180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9491" y="3611463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intensity −45%</a:t>
            </a:r>
          </a:p>
        </p:txBody>
      </p:sp>
      <p:sp>
        <p:nvSpPr>
          <p:cNvPr id="29" name="Freeform 28"/>
          <p:cNvSpPr/>
          <p:nvPr/>
        </p:nvSpPr>
        <p:spPr>
          <a:xfrm>
            <a:off x="10086826" y="3792825"/>
            <a:ext cx="662881" cy="132576"/>
          </a:xfrm>
          <a:custGeom>
            <a:avLst/>
            <a:gdLst/>
            <a:ahLst/>
            <a:cxnLst/>
            <a:rect l="l" t="t" r="r" b="b"/>
            <a:pathLst>
              <a:path w="662881" h="132576">
                <a:moveTo>
                  <a:pt x="0" y="132576"/>
                </a:moveTo>
                <a:lnTo>
                  <a:pt x="107718" y="116004"/>
                </a:lnTo>
                <a:lnTo>
                  <a:pt x="215436" y="99432"/>
                </a:lnTo>
                <a:lnTo>
                  <a:pt x="323154" y="66288"/>
                </a:lnTo>
                <a:lnTo>
                  <a:pt x="430872" y="49716"/>
                </a:lnTo>
                <a:lnTo>
                  <a:pt x="538591" y="33144"/>
                </a:lnTo>
                <a:lnTo>
                  <a:pt x="662881" y="0"/>
                </a:lnTo>
              </a:path>
            </a:pathLst>
          </a:custGeom>
          <a:noFill/>
          <a:ln w="14288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0825907" y="3697188"/>
            <a:ext cx="832693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D4A017"/>
                </a:solidFill>
                <a:latin typeface="Inter"/>
              </a:rPr>
              <a:t>On intensity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" y="4215408"/>
            <a:ext cx="1406128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Russia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−30% by 2030 vs. 1990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89152" y="4116288"/>
            <a:ext cx="1543645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2,140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4247" y="4116288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2,090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9491" y="4116288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1,680</a:t>
            </a:r>
          </a:p>
        </p:txBody>
      </p:sp>
      <p:sp>
        <p:nvSpPr>
          <p:cNvPr id="35" name="Freeform 34"/>
          <p:cNvSpPr/>
          <p:nvPr/>
        </p:nvSpPr>
        <p:spPr>
          <a:xfrm>
            <a:off x="10086826" y="4355200"/>
            <a:ext cx="699046" cy="8738"/>
          </a:xfrm>
          <a:custGeom>
            <a:avLst/>
            <a:gdLst/>
            <a:ahLst/>
            <a:cxnLst/>
            <a:rect l="l" t="t" r="r" b="b"/>
            <a:pathLst>
              <a:path w="699046" h="8738">
                <a:moveTo>
                  <a:pt x="0" y="8738"/>
                </a:moveTo>
                <a:lnTo>
                  <a:pt x="113595" y="8738"/>
                </a:lnTo>
                <a:lnTo>
                  <a:pt x="227190" y="0"/>
                </a:lnTo>
                <a:lnTo>
                  <a:pt x="340785" y="0"/>
                </a:lnTo>
                <a:lnTo>
                  <a:pt x="454380" y="8738"/>
                </a:lnTo>
                <a:lnTo>
                  <a:pt x="567975" y="8738"/>
                </a:lnTo>
                <a:lnTo>
                  <a:pt x="699046" y="8738"/>
                </a:lnTo>
              </a:path>
            </a:pathLst>
          </a:custGeom>
          <a:noFill/>
          <a:ln w="14288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10862072" y="4202013"/>
            <a:ext cx="796528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C41E3A"/>
                </a:solidFill>
                <a:latin typeface="Inter"/>
              </a:rPr>
              <a:t>Off pledge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" y="4716363"/>
            <a:ext cx="1406128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Japan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−46% by 2030 vs. 2013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89152" y="4621113"/>
            <a:ext cx="1543645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1,310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4247" y="4621113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1,040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9491" y="4621113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707</a:t>
            </a:r>
          </a:p>
        </p:txBody>
      </p:sp>
      <p:sp>
        <p:nvSpPr>
          <p:cNvPr id="41" name="Freeform 40"/>
          <p:cNvSpPr/>
          <p:nvPr/>
        </p:nvSpPr>
        <p:spPr>
          <a:xfrm>
            <a:off x="10086826" y="4788694"/>
            <a:ext cx="762000" cy="114300"/>
          </a:xfrm>
          <a:custGeom>
            <a:avLst/>
            <a:gdLst/>
            <a:ahLst/>
            <a:cxnLst/>
            <a:rect l="l" t="t" r="r" b="b"/>
            <a:pathLst>
              <a:path w="762000" h="114300">
                <a:moveTo>
                  <a:pt x="0" y="0"/>
                </a:moveTo>
                <a:lnTo>
                  <a:pt x="123825" y="19050"/>
                </a:lnTo>
                <a:lnTo>
                  <a:pt x="247650" y="38100"/>
                </a:lnTo>
                <a:lnTo>
                  <a:pt x="371475" y="57150"/>
                </a:lnTo>
                <a:lnTo>
                  <a:pt x="495300" y="76200"/>
                </a:lnTo>
                <a:lnTo>
                  <a:pt x="619125" y="95250"/>
                </a:lnTo>
                <a:lnTo>
                  <a:pt x="762000" y="114300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10925026" y="4764881"/>
            <a:ext cx="567184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D4A017"/>
                </a:solidFill>
                <a:latin typeface="Inter"/>
              </a:rPr>
              <a:t>Behind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" y="5217319"/>
            <a:ext cx="1406128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Germany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−65% by 2030 vs. 1990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89152" y="5118199"/>
            <a:ext cx="1543645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906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4247" y="5118199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658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9491" y="5118199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438</a:t>
            </a:r>
          </a:p>
        </p:txBody>
      </p:sp>
      <p:sp>
        <p:nvSpPr>
          <p:cNvPr id="47" name="Freeform 46"/>
          <p:cNvSpPr/>
          <p:nvPr/>
        </p:nvSpPr>
        <p:spPr>
          <a:xfrm>
            <a:off x="10086826" y="5274859"/>
            <a:ext cx="727919" cy="145584"/>
          </a:xfrm>
          <a:custGeom>
            <a:avLst/>
            <a:gdLst/>
            <a:ahLst/>
            <a:cxnLst/>
            <a:rect l="l" t="t" r="r" b="b"/>
            <a:pathLst>
              <a:path w="727919" h="145584">
                <a:moveTo>
                  <a:pt x="0" y="0"/>
                </a:moveTo>
                <a:lnTo>
                  <a:pt x="118287" y="27297"/>
                </a:lnTo>
                <a:lnTo>
                  <a:pt x="236574" y="54594"/>
                </a:lnTo>
                <a:lnTo>
                  <a:pt x="354860" y="72792"/>
                </a:lnTo>
                <a:lnTo>
                  <a:pt x="473147" y="90990"/>
                </a:lnTo>
                <a:lnTo>
                  <a:pt x="591434" y="118287"/>
                </a:lnTo>
                <a:lnTo>
                  <a:pt x="727919" y="145584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10890945" y="5203924"/>
            <a:ext cx="767655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E5F8C"/>
                </a:solidFill>
                <a:latin typeface="Inter"/>
              </a:rPr>
              <a:t>On pledge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7750" y="5718274"/>
            <a:ext cx="1406128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United Kingdom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−68% by 2030 vs. 1990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89152" y="5623024"/>
            <a:ext cx="1543645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490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04247" y="5623024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331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19491" y="5623024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228</a:t>
            </a:r>
          </a:p>
        </p:txBody>
      </p:sp>
      <p:sp>
        <p:nvSpPr>
          <p:cNvPr id="53" name="Freeform 52"/>
          <p:cNvSpPr/>
          <p:nvPr/>
        </p:nvSpPr>
        <p:spPr>
          <a:xfrm>
            <a:off x="10086826" y="5771555"/>
            <a:ext cx="762000" cy="161925"/>
          </a:xfrm>
          <a:custGeom>
            <a:avLst/>
            <a:gdLst/>
            <a:ahLst/>
            <a:cxnLst/>
            <a:rect l="l" t="t" r="r" b="b"/>
            <a:pathLst>
              <a:path w="762000" h="161925">
                <a:moveTo>
                  <a:pt x="0" y="0"/>
                </a:moveTo>
                <a:lnTo>
                  <a:pt x="123825" y="19050"/>
                </a:lnTo>
                <a:lnTo>
                  <a:pt x="247650" y="47625"/>
                </a:lnTo>
                <a:lnTo>
                  <a:pt x="371475" y="76200"/>
                </a:lnTo>
                <a:lnTo>
                  <a:pt x="495300" y="104775"/>
                </a:lnTo>
                <a:lnTo>
                  <a:pt x="619125" y="133350"/>
                </a:lnTo>
                <a:lnTo>
                  <a:pt x="762000" y="161925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10925026" y="5766792"/>
            <a:ext cx="52923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E5F8C"/>
                </a:solidFill>
                <a:latin typeface="Inter"/>
              </a:rPr>
              <a:t>Ahead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7750" y="6215360"/>
            <a:ext cx="1406128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Brazil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−53% by 2030 vs. 2005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89152" y="6120110"/>
            <a:ext cx="1543645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1,400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04247" y="6120110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1,180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9491" y="6120110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740</a:t>
            </a:r>
          </a:p>
        </p:txBody>
      </p:sp>
      <p:sp>
        <p:nvSpPr>
          <p:cNvPr id="59" name="Freeform 58"/>
          <p:cNvSpPr/>
          <p:nvPr/>
        </p:nvSpPr>
        <p:spPr>
          <a:xfrm>
            <a:off x="10086826" y="6306741"/>
            <a:ext cx="762000" cy="85725"/>
          </a:xfrm>
          <a:custGeom>
            <a:avLst/>
            <a:gdLst/>
            <a:ahLst/>
            <a:cxnLst/>
            <a:rect l="l" t="t" r="r" b="b"/>
            <a:pathLst>
              <a:path w="762000" h="85725">
                <a:moveTo>
                  <a:pt x="0" y="0"/>
                </a:moveTo>
                <a:lnTo>
                  <a:pt x="123825" y="9525"/>
                </a:lnTo>
                <a:lnTo>
                  <a:pt x="247650" y="28575"/>
                </a:lnTo>
                <a:lnTo>
                  <a:pt x="371475" y="38100"/>
                </a:lnTo>
                <a:lnTo>
                  <a:pt x="495300" y="57150"/>
                </a:lnTo>
                <a:lnTo>
                  <a:pt x="619125" y="66675"/>
                </a:lnTo>
                <a:lnTo>
                  <a:pt x="762000" y="85725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10925026" y="6263878"/>
            <a:ext cx="567184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D4A017"/>
                </a:solidFill>
                <a:latin typeface="Inter"/>
              </a:rPr>
              <a:t>Behind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7750" y="6712446"/>
            <a:ext cx="1406128" cy="1455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Australia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−43% by 2030 vs. 2005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9152" y="6617196"/>
            <a:ext cx="1543645" cy="2408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523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04247" y="6617196"/>
            <a:ext cx="1543794" cy="2408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461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19491" y="6617196"/>
            <a:ext cx="1543794" cy="2408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331</a:t>
            </a:r>
          </a:p>
        </p:txBody>
      </p:sp>
      <p:sp>
        <p:nvSpPr>
          <p:cNvPr id="65" name="Freeform 64"/>
          <p:cNvSpPr/>
          <p:nvPr/>
        </p:nvSpPr>
        <p:spPr>
          <a:xfrm>
            <a:off x="10086826" y="6803827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0" y="0"/>
                </a:moveTo>
                <a:lnTo>
                  <a:pt x="123825" y="9525"/>
                </a:lnTo>
                <a:lnTo>
                  <a:pt x="247650" y="19050"/>
                </a:lnTo>
                <a:lnTo>
                  <a:pt x="371475" y="38100"/>
                </a:lnTo>
                <a:lnTo>
                  <a:pt x="495300" y="47625"/>
                </a:lnTo>
                <a:lnTo>
                  <a:pt x="619125" y="57150"/>
                </a:lnTo>
                <a:lnTo>
                  <a:pt x="762000" y="76200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10925026" y="6760964"/>
            <a:ext cx="567184" cy="97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D4A017"/>
                </a:solidFill>
                <a:latin typeface="Inter"/>
              </a:rPr>
              <a:t>Behind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3400" y="6524625"/>
            <a:ext cx="495166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UNFCCC GHG inventories (latest), Climate Action Tracker · Pledges per submitted NDCs as of Q1 2025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78889" y="66198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33400" y="342900"/>
            <a:ext cx="111252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33400" y="514350"/>
            <a:ext cx="317524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The Times Editorial Graphics · 2026 Annual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9547" y="514350"/>
            <a:ext cx="1949053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VOL. XII · APRIL 30 · NEW YORK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076325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Inter"/>
              </a:rPr>
              <a:t>Cover · The year, in seven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47775"/>
            <a:ext cx="111252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A reporting project · 1,412 datapoints · 7 stories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447800"/>
            <a:ext cx="9144595" cy="228480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50" b="1" i="0" u="none">
                <a:solidFill>
                  <a:srgbClr val="1A1A1A"/>
                </a:solidFill>
                <a:latin typeface="Source Serif Pro"/>
              </a:rPr>
              <a:t xml:space="preserve">The numbers that </a:t>
            </a:r>
            <a:r>
              <a:rPr sz="5850" b="1" i="1" u="none">
                <a:solidFill>
                  <a:srgbClr val="C41E3A"/>
                </a:solidFill>
                <a:latin typeface="Source Serif Pro"/>
              </a:rPr>
              <a:t>describe</a:t>
            </a:r>
            <a:r>
              <a:rPr sz="5850" b="1" i="0" u="none">
                <a:solidFill>
                  <a:srgbClr val="1A1A1A"/>
                </a:solidFill>
                <a:latin typeface="Source Serif Pro"/>
              </a:rPr>
              <a:t xml:space="preserve"> the year, before the year describes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889177"/>
            <a:ext cx="7237661" cy="76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0" i="0" u="none">
                <a:solidFill>
                  <a:srgbClr val="1A1A1A"/>
                </a:solidFill>
                <a:latin typeface="Source Serif Pro"/>
              </a:rPr>
              <a:t xml:space="preserve">Wages and prices crossed. Newsrooms thinned. Broadband still missed twenty-three percent of the rural map. The federal deficit was either historic or routine — depending which axis you trusted. </a:t>
            </a:r>
            <a:r>
              <a:rPr sz="1500" b="1" i="0" u="none">
                <a:solidFill>
                  <a:srgbClr val="1A1A1A"/>
                </a:solidFill>
                <a:latin typeface="Source Serif Pro"/>
              </a:rPr>
              <a:t>Below: the dataset behind everything that follows.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333500"/>
            <a:ext cx="22860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00000"/>
                </a:solidFill>
                <a:latin typeface="Inter"/>
              </a:rPr>
              <a:t>Editor's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514475"/>
            <a:ext cx="2286000" cy="7179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A1A1A"/>
                </a:solidFill>
                <a:latin typeface="Source Serif Pro"/>
              </a:rPr>
              <a:t>"Numbers in this deck are rounded for the page; the long forms live in the appendix. Where two sources disagreed by less than 2%, we preferred the federal series."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4987379"/>
            <a:ext cx="16192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Tiny dataset preview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5149304"/>
            <a:ext cx="1619250" cy="479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Source Serif Pro"/>
              </a:rPr>
              <a:t>Five headline figures from the seven slides that follow. Each is the lede of its own chart.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2225" y="4987379"/>
            <a:ext cx="196691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00000"/>
                </a:solidFill>
                <a:latin typeface="Inter"/>
              </a:rPr>
              <a:t>Wage / CPI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2225" y="5120729"/>
            <a:ext cx="434578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1A1A1A"/>
                </a:solidFill>
                <a:latin typeface="Source Serif Pro"/>
              </a:rPr>
              <a:t>6</a:t>
            </a:r>
            <a:r>
              <a:rPr sz="1050" b="1" i="0" u="none">
                <a:solidFill>
                  <a:srgbClr val="1A1A1A"/>
                </a:solidFill>
                <a:latin typeface="Consolas"/>
              </a:rPr>
              <a:t xml:space="preserve"> 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2225" y="5501729"/>
            <a:ext cx="19669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Consolas"/>
              </a:rPr>
              <a:t>CPI ahead, 2024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62225" y="5968454"/>
            <a:ext cx="152400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2562225" y="5720804"/>
            <a:ext cx="1524000" cy="209550"/>
          </a:xfrm>
          <a:custGeom>
            <a:avLst/>
            <a:gdLst/>
            <a:ahLst/>
            <a:cxnLst/>
            <a:rect l="l" t="t" r="r" b="b"/>
            <a:pathLst>
              <a:path w="1524000" h="209550">
                <a:moveTo>
                  <a:pt x="0" y="209550"/>
                </a:moveTo>
                <a:lnTo>
                  <a:pt x="209550" y="190500"/>
                </a:lnTo>
                <a:lnTo>
                  <a:pt x="419100" y="152400"/>
                </a:lnTo>
                <a:lnTo>
                  <a:pt x="628650" y="133350"/>
                </a:lnTo>
                <a:lnTo>
                  <a:pt x="838200" y="95250"/>
                </a:lnTo>
                <a:lnTo>
                  <a:pt x="1047750" y="57150"/>
                </a:lnTo>
                <a:lnTo>
                  <a:pt x="1257300" y="19050"/>
                </a:lnTo>
                <a:lnTo>
                  <a:pt x="1524000" y="0"/>
                </a:lnTo>
              </a:path>
            </a:pathLst>
          </a:custGeom>
          <a:noFill/>
          <a:ln w="14288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2562225" y="5701754"/>
            <a:ext cx="1524000" cy="228600"/>
          </a:xfrm>
          <a:custGeom>
            <a:avLst/>
            <a:gdLst/>
            <a:ahLst/>
            <a:cxnLst/>
            <a:rect l="l" t="t" r="r" b="b"/>
            <a:pathLst>
              <a:path w="1524000" h="228600">
                <a:moveTo>
                  <a:pt x="0" y="228600"/>
                </a:moveTo>
                <a:lnTo>
                  <a:pt x="209550" y="209550"/>
                </a:lnTo>
                <a:lnTo>
                  <a:pt x="419100" y="190500"/>
                </a:lnTo>
                <a:lnTo>
                  <a:pt x="628650" y="161925"/>
                </a:lnTo>
                <a:lnTo>
                  <a:pt x="838200" y="123825"/>
                </a:lnTo>
                <a:lnTo>
                  <a:pt x="1047750" y="76200"/>
                </a:lnTo>
                <a:lnTo>
                  <a:pt x="1257300" y="28575"/>
                </a:lnTo>
                <a:lnTo>
                  <a:pt x="1524000" y="0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562225" y="6101804"/>
            <a:ext cx="1966912" cy="14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Source Serif Pro"/>
              </a:rPr>
              <a:t>Slide 01 · State of the union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8712" y="4987379"/>
            <a:ext cx="196691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00000"/>
                </a:solidFill>
                <a:latin typeface="Inter"/>
              </a:rPr>
              <a:t>2024 deficit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8712" y="5120729"/>
            <a:ext cx="814834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1A1A1A"/>
                </a:solidFill>
                <a:latin typeface="Source Serif Pro"/>
              </a:rPr>
              <a:t>$1.83</a:t>
            </a:r>
            <a:r>
              <a:rPr sz="1050" b="1" i="0" u="none">
                <a:solidFill>
                  <a:srgbClr val="1A1A1A"/>
                </a:solidFill>
                <a:latin typeface="Consolas"/>
              </a:rPr>
              <a:t xml:space="preserve"> 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8712" y="5501729"/>
            <a:ext cx="19669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Consolas"/>
              </a:rPr>
              <a:t>+33% YoY (nominal)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38712" y="5968454"/>
            <a:ext cx="152400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938712" y="5911304"/>
            <a:ext cx="133350" cy="571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148262" y="5892254"/>
            <a:ext cx="133350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357812" y="5854154"/>
            <a:ext cx="133350" cy="1143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567362" y="5720804"/>
            <a:ext cx="133350" cy="2476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776912" y="5816054"/>
            <a:ext cx="133350" cy="1524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986462" y="5873204"/>
            <a:ext cx="133350" cy="952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196012" y="5758904"/>
            <a:ext cx="133350" cy="2095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4938712" y="6101804"/>
            <a:ext cx="1966912" cy="14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Source Serif Pro"/>
              </a:rPr>
              <a:t>Slide 02 · Two-up scaling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987379"/>
            <a:ext cx="196691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00000"/>
                </a:solidFill>
                <a:latin typeface="Inter"/>
              </a:rPr>
              <a:t>Rents, Boise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120729"/>
            <a:ext cx="607516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1A1A1A"/>
                </a:solidFill>
                <a:latin typeface="Source Serif Pro"/>
              </a:rPr>
              <a:t>+78</a:t>
            </a:r>
            <a:r>
              <a:rPr sz="1050" b="1" i="0" u="none">
                <a:solidFill>
                  <a:srgbClr val="1A1A1A"/>
                </a:solidFill>
                <a:latin typeface="Consolas"/>
              </a:rPr>
              <a:t xml:space="preserve">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501729"/>
            <a:ext cx="19669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Consolas"/>
              </a:rPr>
              <a:t>since Jan 2019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15200" y="5968454"/>
            <a:ext cx="152400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7315200" y="5720804"/>
            <a:ext cx="1524000" cy="247650"/>
          </a:xfrm>
          <a:custGeom>
            <a:avLst/>
            <a:gdLst/>
            <a:ahLst/>
            <a:cxnLst/>
            <a:rect l="l" t="t" r="r" b="b"/>
            <a:pathLst>
              <a:path w="1524000" h="247650">
                <a:moveTo>
                  <a:pt x="0" y="247650"/>
                </a:moveTo>
                <a:lnTo>
                  <a:pt x="257175" y="228600"/>
                </a:lnTo>
                <a:lnTo>
                  <a:pt x="514350" y="190500"/>
                </a:lnTo>
                <a:lnTo>
                  <a:pt x="762000" y="95250"/>
                </a:lnTo>
                <a:lnTo>
                  <a:pt x="1019175" y="19050"/>
                </a:lnTo>
                <a:lnTo>
                  <a:pt x="1276350" y="0"/>
                </a:lnTo>
                <a:lnTo>
                  <a:pt x="1524000" y="19050"/>
                </a:lnTo>
              </a:path>
            </a:pathLst>
          </a:custGeom>
          <a:noFill/>
          <a:ln w="14288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8815388" y="5716042"/>
            <a:ext cx="47625" cy="47625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7315200" y="6101804"/>
            <a:ext cx="1966912" cy="14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Source Serif Pro"/>
              </a:rPr>
              <a:t>Slide 03 · Six cities, one axis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1688" y="4987379"/>
            <a:ext cx="196691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00000"/>
                </a:solidFill>
                <a:latin typeface="Inter"/>
              </a:rPr>
              <a:t>Newspapers lost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1688" y="5139779"/>
            <a:ext cx="1966912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1A1A1A"/>
                </a:solidFill>
                <a:latin typeface="Source Serif Pro"/>
              </a:rPr>
              <a:t>2,886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1688" y="5501729"/>
            <a:ext cx="19669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E5F8C"/>
                </a:solidFill>
                <a:latin typeface="Consolas"/>
              </a:rPr>
              <a:t>2005 → 2024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691688" y="5968454"/>
            <a:ext cx="152400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9691688" y="5720804"/>
            <a:ext cx="1524000" cy="228600"/>
          </a:xfrm>
          <a:custGeom>
            <a:avLst/>
            <a:gdLst/>
            <a:ahLst/>
            <a:cxnLst/>
            <a:rect l="l" t="t" r="r" b="b"/>
            <a:pathLst>
              <a:path w="1524000" h="228600">
                <a:moveTo>
                  <a:pt x="0" y="0"/>
                </a:moveTo>
                <a:lnTo>
                  <a:pt x="257174" y="38100"/>
                </a:lnTo>
                <a:lnTo>
                  <a:pt x="514350" y="95250"/>
                </a:lnTo>
                <a:lnTo>
                  <a:pt x="762000" y="133350"/>
                </a:lnTo>
                <a:lnTo>
                  <a:pt x="1019174" y="171450"/>
                </a:lnTo>
                <a:lnTo>
                  <a:pt x="1276350" y="209550"/>
                </a:lnTo>
                <a:lnTo>
                  <a:pt x="1524000" y="228600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9667875" y="5696992"/>
            <a:ext cx="47625" cy="47625"/>
          </a:xfrm>
          <a:prstGeom prst="ellipse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1191875" y="5925592"/>
            <a:ext cx="47625" cy="47625"/>
          </a:xfrm>
          <a:prstGeom prst="ellipse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9691688" y="6101804"/>
            <a:ext cx="1966912" cy="14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Source Serif Pro"/>
              </a:rPr>
              <a:t>Slide 04 · The quiet collapse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400" y="6486525"/>
            <a:ext cx="357931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This deck. Files: slides 01–07 · Reporting window: Q4 2024 — Q1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78889" y="65817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07 /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26384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84FF"/>
                </a:solidFill>
                <a:latin typeface="Sf Pro Display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619250"/>
            <a:ext cx="6424464" cy="2667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FFFFFF"/>
                </a:solidFill>
                <a:latin typeface="Consolas"/>
              </a:rPr>
              <a:t>38.6</a:t>
            </a:r>
            <a:r>
              <a:rPr sz="18000" b="1" i="0" u="none">
                <a:solidFill>
                  <a:srgbClr val="0A84FF"/>
                </a:solidFill>
                <a:latin typeface="Consolas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886325"/>
            <a:ext cx="7061597" cy="60766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950" b="0" i="0" u="none">
                <a:solidFill>
                  <a:srgbClr val="FFFFFF"/>
                </a:solidFill>
                <a:latin typeface="Sf Pro Display"/>
              </a:rPr>
              <a:t xml:space="preserve">Active devices shipped </a:t>
            </a:r>
            <a:r>
              <a:rPr sz="1950" b="1" i="0" u="none">
                <a:solidFill>
                  <a:srgbClr val="FFFFFF"/>
                </a:solidFill>
                <a:latin typeface="Sf Pro Display"/>
              </a:rPr>
              <a:t>last quarter</a:t>
            </a:r>
            <a:r>
              <a:rPr sz="1950" b="0" i="0" u="none">
                <a:solidFill>
                  <a:srgbClr val="FFFFFF"/>
                </a:solidFill>
                <a:latin typeface="Sf Pro Display"/>
              </a:rPr>
              <a:t xml:space="preserve"> — the largest single-quarter run in the company's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286500"/>
            <a:ext cx="123467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Sf Pro Display"/>
              </a:rPr>
              <a:t>Q1 / Fiscal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899" y="6286500"/>
            <a:ext cx="47610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Sf Pro Display"/>
              </a:rPr>
              <a:t>11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14400" y="762000"/>
            <a:ext cx="49321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9F0A"/>
                </a:solidFill>
                <a:latin typeface="Sf Pro Display"/>
              </a:rPr>
              <a:t>Act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16361"/>
            <a:ext cx="6626423" cy="310693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0" b="1" i="0" u="none">
                <a:solidFill>
                  <a:srgbClr val="000000"/>
                </a:solidFill>
                <a:latin typeface="Sf Pro Display"/>
              </a:rPr>
              <a:t xml:space="preserve">One </a:t>
            </a:r>
            <a:r>
              <a:rPr sz="12000" b="1" i="0" u="none">
                <a:solidFill>
                  <a:srgbClr val="FF9F0A"/>
                </a:solidFill>
                <a:latin typeface="Sf Pro Display"/>
              </a:rPr>
              <a:t>more</a:t>
            </a:r>
          </a:p>
          <a:p>
            <a:pPr algn="l"/>
            <a:r>
              <a:rPr sz="12000" b="1" i="0" u="none">
                <a:solidFill>
                  <a:srgbClr val="000000"/>
                </a:solidFill>
                <a:latin typeface="Sf Pro Display"/>
              </a:rPr>
              <a:t>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86500"/>
            <a:ext cx="181748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0000"/>
                </a:solidFill>
                <a:latin typeface="Sf Pro Display"/>
              </a:rPr>
              <a:t>Keynote —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95695" y="6286500"/>
            <a:ext cx="4819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0000"/>
                </a:solidFill>
                <a:latin typeface="Sf Pro Display"/>
              </a:rPr>
              <a:t>12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8014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BF5AF2"/>
                </a:solidFill>
                <a:latin typeface="Sf Pro Display"/>
              </a:rPr>
              <a:t>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450032"/>
            <a:ext cx="10522446" cy="630882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5400" b="1" i="0" u="none">
                <a:solidFill>
                  <a:srgbClr val="FFFFFF"/>
                </a:solidFill>
                <a:latin typeface="Sf Pro Display"/>
              </a:rPr>
              <a:t>Pro, in the smallest possible frame.</a:t>
            </a:r>
          </a:p>
        </p:txBody>
      </p:sp>
      <p:sp>
        <p:nvSpPr>
          <p:cNvPr id="5" name="Freeform 4"/>
          <p:cNvSpPr/>
          <p:nvPr/>
        </p:nvSpPr>
        <p:spPr>
          <a:xfrm>
            <a:off x="1333500" y="2476500"/>
            <a:ext cx="3429000" cy="304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2500"/>
                </a:moveTo>
                <a:cubicBezTo>
                  <a:pt x="0" y="6250"/>
                  <a:pt x="5556" y="0"/>
                  <a:pt x="16667" y="0"/>
                </a:cubicBezTo>
                <a:lnTo>
                  <a:pt x="83333" y="0"/>
                </a:lnTo>
                <a:cubicBezTo>
                  <a:pt x="94444" y="0"/>
                  <a:pt x="100000" y="6250"/>
                  <a:pt x="100000" y="12500"/>
                </a:cubicBezTo>
                <a:lnTo>
                  <a:pt x="100000" y="87500"/>
                </a:lnTo>
                <a:cubicBezTo>
                  <a:pt x="100000" y="93750"/>
                  <a:pt x="94444" y="100000"/>
                  <a:pt x="83333" y="100000"/>
                </a:cubicBezTo>
                <a:lnTo>
                  <a:pt x="16667" y="100000"/>
                </a:lnTo>
                <a:cubicBezTo>
                  <a:pt x="5556" y="100000"/>
                  <a:pt x="0" y="93750"/>
                  <a:pt x="0" y="87500"/>
                </a:cubicBezTo>
                <a:close/>
              </a:path>
            </a:pathLst>
          </a:custGeom>
          <a:noFill/>
          <a:ln w="23812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1809750" y="2952750"/>
            <a:ext cx="2476500" cy="2095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9091"/>
                </a:moveTo>
                <a:cubicBezTo>
                  <a:pt x="0" y="4545"/>
                  <a:pt x="3846" y="0"/>
                  <a:pt x="11538" y="0"/>
                </a:cubicBezTo>
                <a:lnTo>
                  <a:pt x="88462" y="0"/>
                </a:lnTo>
                <a:cubicBezTo>
                  <a:pt x="96154" y="0"/>
                  <a:pt x="100000" y="4545"/>
                  <a:pt x="100000" y="9091"/>
                </a:cubicBezTo>
                <a:lnTo>
                  <a:pt x="100000" y="90909"/>
                </a:lnTo>
                <a:cubicBezTo>
                  <a:pt x="100000" y="95455"/>
                  <a:pt x="96154" y="100000"/>
                  <a:pt x="88462" y="100000"/>
                </a:cubicBezTo>
                <a:lnTo>
                  <a:pt x="11538" y="100000"/>
                </a:lnTo>
                <a:cubicBezTo>
                  <a:pt x="3846" y="100000"/>
                  <a:pt x="0" y="95455"/>
                  <a:pt x="0" y="90909"/>
                </a:cubicBezTo>
                <a:close/>
              </a:path>
            </a:pathLst>
          </a:custGeom>
          <a:noFill/>
          <a:ln w="14288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000375" y="3952875"/>
            <a:ext cx="95250" cy="95250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or 7"/>
          <p:cNvCxnSpPr/>
          <p:nvPr/>
        </p:nvCxnSpPr>
        <p:spPr>
          <a:xfrm>
            <a:off x="3095625" y="4000500"/>
            <a:ext cx="1762125" cy="0"/>
          </a:xfrm>
          <a:prstGeom prst="line">
            <a:avLst/>
          </a:prstGeom>
          <a:ln w="9525">
            <a:solidFill>
              <a:srgbClr val="BF5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857750" y="3762375"/>
            <a:ext cx="238125" cy="238125"/>
          </a:xfrm>
          <a:prstGeom prst="line">
            <a:avLst/>
          </a:prstGeom>
          <a:ln w="9525">
            <a:solidFill>
              <a:srgbClr val="BF5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48095" y="6286500"/>
            <a:ext cx="4819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Sf Pro Display"/>
              </a:rPr>
              <a:t>13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52906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30D158"/>
                </a:solidFill>
                <a:latin typeface="Sf Pro Display"/>
              </a:rPr>
              <a:t>Generational leap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3386"/>
            <a:ext cx="8572500" cy="109716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0" b="1" i="0" u="none">
                <a:solidFill>
                  <a:srgbClr val="000000"/>
                </a:solidFill>
                <a:latin typeface="Sf Pro Display"/>
              </a:rPr>
              <a:t>Render times, halved. And then halved again.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33700"/>
            <a:ext cx="457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0000"/>
                </a:solidFill>
                <a:latin typeface="Sf Pro Display"/>
              </a:rPr>
              <a:t>Was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09900"/>
            <a:ext cx="4178052" cy="19907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3500" b="1" i="0" u="none">
                <a:solidFill>
                  <a:srgbClr val="000000"/>
                </a:solidFill>
                <a:latin typeface="Consolas"/>
              </a:rPr>
              <a:t>12.4</a:t>
            </a:r>
            <a:r>
              <a:rPr sz="3600" b="1" i="0" u="none">
                <a:solidFill>
                  <a:srgbClr val="000000"/>
                </a:solidFill>
                <a:latin typeface="Consolas"/>
              </a:rPr>
              <a:t xml:space="preserve">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11030"/>
            <a:ext cx="4000500" cy="2227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000000"/>
                </a:solidFill>
                <a:latin typeface="Sf Pro Display"/>
              </a:rPr>
              <a:t>Previous generation, average frame.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0" y="4076700"/>
            <a:ext cx="685800" cy="0"/>
          </a:xfrm>
          <a:prstGeom prst="line">
            <a:avLst/>
          </a:prstGeom>
          <a:ln w="19050">
            <a:solidFill>
              <a:srgbClr val="30D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6286500" y="3962400"/>
            <a:ext cx="190500" cy="228600"/>
          </a:xfrm>
          <a:custGeom>
            <a:avLst/>
            <a:gdLst/>
            <a:ahLst/>
            <a:cxnLst/>
            <a:rect l="l" t="t" r="r" b="b"/>
            <a:pathLst>
              <a:path w="190500" h="228600">
                <a:moveTo>
                  <a:pt x="0" y="0"/>
                </a:moveTo>
                <a:lnTo>
                  <a:pt x="190500" y="114300"/>
                </a:lnTo>
                <a:lnTo>
                  <a:pt x="0" y="228600"/>
                </a:lnTo>
              </a:path>
            </a:pathLst>
          </a:custGeom>
          <a:noFill/>
          <a:ln w="1905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705600" y="2933700"/>
            <a:ext cx="457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30D158"/>
                </a:solidFill>
                <a:latin typeface="Sf Pro Display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09900"/>
            <a:ext cx="3214390" cy="19907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3500" b="1" i="0" u="none">
                <a:solidFill>
                  <a:srgbClr val="000000"/>
                </a:solidFill>
                <a:latin typeface="Consolas"/>
              </a:rPr>
              <a:t>2.9</a:t>
            </a:r>
            <a:r>
              <a:rPr sz="3600" b="1" i="0" u="none">
                <a:solidFill>
                  <a:srgbClr val="30D158"/>
                </a:solidFill>
                <a:latin typeface="Consolas"/>
              </a:rPr>
              <a:t xml:space="preserve">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4911030"/>
            <a:ext cx="4000500" cy="2227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000000"/>
                </a:solidFill>
                <a:latin typeface="Sf Pro Display"/>
              </a:rPr>
              <a:t>Same frame, on the new silicon.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5695" y="6286500"/>
            <a:ext cx="4819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0000"/>
                </a:solidFill>
                <a:latin typeface="Sf Pro Display"/>
              </a:rPr>
              <a:t>14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90532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453A"/>
                </a:solidFill>
                <a:latin typeface="Sf Pro Display"/>
              </a:rPr>
              <a:t>What's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47936"/>
            <a:ext cx="7357467" cy="511969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200" b="1" i="0" u="none">
                <a:solidFill>
                  <a:srgbClr val="FFFFFF"/>
                </a:solidFill>
                <a:latin typeface="Sf Pro Display"/>
              </a:rPr>
              <a:t>Four things, and they all matter.</a:t>
            </a:r>
          </a:p>
        </p:txBody>
      </p:sp>
      <p:sp>
        <p:nvSpPr>
          <p:cNvPr id="5" name="Oval 4"/>
          <p:cNvSpPr/>
          <p:nvPr/>
        </p:nvSpPr>
        <p:spPr>
          <a:xfrm>
            <a:off x="857250" y="2457450"/>
            <a:ext cx="419100" cy="419100"/>
          </a:xfrm>
          <a:prstGeom prst="ellipse">
            <a:avLst/>
          </a:prstGeom>
          <a:noFill/>
          <a:ln w="1905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09650" y="2609850"/>
            <a:ext cx="114300" cy="114300"/>
          </a:xfrm>
          <a:prstGeom prst="ellipse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62000" y="3200400"/>
            <a:ext cx="4953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f Pro Display"/>
              </a:rPr>
              <a:t>Always-on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24250"/>
            <a:ext cx="41910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Sf Pro Display"/>
              </a:rPr>
              <a:t>A single dial that tracks attention without ever leaving the frame.</a:t>
            </a:r>
          </a:p>
        </p:txBody>
      </p:sp>
      <p:sp>
        <p:nvSpPr>
          <p:cNvPr id="9" name="Freeform 8"/>
          <p:cNvSpPr/>
          <p:nvPr/>
        </p:nvSpPr>
        <p:spPr>
          <a:xfrm>
            <a:off x="6553200" y="2438400"/>
            <a:ext cx="457200" cy="419100"/>
          </a:xfrm>
          <a:custGeom>
            <a:avLst/>
            <a:gdLst/>
            <a:ahLst/>
            <a:cxnLst/>
            <a:rect l="l" t="t" r="r" b="b"/>
            <a:pathLst>
              <a:path w="457200" h="419100">
                <a:moveTo>
                  <a:pt x="228600" y="0"/>
                </a:moveTo>
                <a:lnTo>
                  <a:pt x="457200" y="419100"/>
                </a:lnTo>
                <a:lnTo>
                  <a:pt x="0" y="419100"/>
                </a:lnTo>
                <a:close/>
              </a:path>
            </a:pathLst>
          </a:custGeom>
          <a:noFill/>
          <a:ln w="1905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 9"/>
          <p:cNvCxnSpPr/>
          <p:nvPr/>
        </p:nvCxnSpPr>
        <p:spPr>
          <a:xfrm>
            <a:off x="6781800" y="2571750"/>
            <a:ext cx="0" cy="209550"/>
          </a:xfrm>
          <a:prstGeom prst="line">
            <a:avLst/>
          </a:prstGeom>
          <a:ln w="19050">
            <a:solidFill>
              <a:srgbClr val="FF4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77000" y="3200400"/>
            <a:ext cx="4953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f Pro Display"/>
              </a:rPr>
              <a:t>Adaptive throughput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524250"/>
            <a:ext cx="41910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Sf Pro Display"/>
              </a:rPr>
              <a:t>Throttles up under pressure, sleeps the rest of the time.</a:t>
            </a:r>
          </a:p>
        </p:txBody>
      </p:sp>
      <p:sp>
        <p:nvSpPr>
          <p:cNvPr id="13" name="Freeform 12"/>
          <p:cNvSpPr/>
          <p:nvPr/>
        </p:nvSpPr>
        <p:spPr>
          <a:xfrm>
            <a:off x="857250" y="4476750"/>
            <a:ext cx="419100" cy="495300"/>
          </a:xfrm>
          <a:custGeom>
            <a:avLst/>
            <a:gdLst/>
            <a:ahLst/>
            <a:cxnLst/>
            <a:rect l="l" t="t" r="r" b="b"/>
            <a:pathLst>
              <a:path w="419100" h="495300">
                <a:moveTo>
                  <a:pt x="209550" y="0"/>
                </a:moveTo>
                <a:lnTo>
                  <a:pt x="419100" y="123825"/>
                </a:lnTo>
                <a:lnTo>
                  <a:pt x="419100" y="371475"/>
                </a:lnTo>
                <a:lnTo>
                  <a:pt x="209550" y="495300"/>
                </a:lnTo>
                <a:lnTo>
                  <a:pt x="0" y="371475"/>
                </a:lnTo>
                <a:lnTo>
                  <a:pt x="0" y="123825"/>
                </a:lnTo>
                <a:close/>
              </a:path>
            </a:pathLst>
          </a:custGeom>
          <a:noFill/>
          <a:ln w="1905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028700" y="4686300"/>
            <a:ext cx="76200" cy="76200"/>
          </a:xfrm>
          <a:prstGeom prst="ellipse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62000" y="5257800"/>
            <a:ext cx="4953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f Pro Display"/>
              </a:rPr>
              <a:t>Hex-core compute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581650"/>
            <a:ext cx="41910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Sf Pro Display"/>
              </a:rPr>
              <a:t>Six identical cores, scheduled by an entirely new kernel.</a:t>
            </a:r>
          </a:p>
        </p:txBody>
      </p:sp>
      <p:sp>
        <p:nvSpPr>
          <p:cNvPr id="17" name="Oval 16"/>
          <p:cNvSpPr/>
          <p:nvPr/>
        </p:nvSpPr>
        <p:spPr>
          <a:xfrm>
            <a:off x="6591300" y="4533900"/>
            <a:ext cx="152400" cy="152400"/>
          </a:xfrm>
          <a:prstGeom prst="ellipse">
            <a:avLst/>
          </a:prstGeom>
          <a:noFill/>
          <a:ln w="1905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819900" y="4533900"/>
            <a:ext cx="152400" cy="152400"/>
          </a:xfrm>
          <a:prstGeom prst="ellipse">
            <a:avLst/>
          </a:prstGeom>
          <a:noFill/>
          <a:ln w="1905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705600" y="4762500"/>
            <a:ext cx="152400" cy="152400"/>
          </a:xfrm>
          <a:prstGeom prst="ellipse">
            <a:avLst/>
          </a:prstGeom>
          <a:noFill/>
          <a:ln w="1905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 19"/>
          <p:cNvCxnSpPr/>
          <p:nvPr/>
        </p:nvCxnSpPr>
        <p:spPr>
          <a:xfrm>
            <a:off x="6667500" y="4686300"/>
            <a:ext cx="114300" cy="76200"/>
          </a:xfrm>
          <a:prstGeom prst="line">
            <a:avLst/>
          </a:prstGeom>
          <a:ln w="14288">
            <a:solidFill>
              <a:srgbClr val="FF4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781800" y="4686300"/>
            <a:ext cx="114300" cy="76200"/>
          </a:xfrm>
          <a:prstGeom prst="line">
            <a:avLst/>
          </a:prstGeom>
          <a:ln w="14288">
            <a:solidFill>
              <a:srgbClr val="FF4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77000" y="5257800"/>
            <a:ext cx="4953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f Pro Display"/>
              </a:rPr>
              <a:t>Constellation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0" y="5581650"/>
            <a:ext cx="41910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Sf Pro Display"/>
              </a:rPr>
              <a:t>All your devices, in agreement, without a server in the middle.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48095" y="6286500"/>
            <a:ext cx="4819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Sf Pro Display"/>
              </a:rPr>
              <a:t>15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43000" y="609600"/>
            <a:ext cx="12016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84FF"/>
                </a:solidFill>
                <a:latin typeface="Sf Pro Display"/>
              </a:rPr>
              <a:t>In their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2047875"/>
            <a:ext cx="9297442" cy="199280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0A84FF"/>
                </a:solidFill>
                <a:latin typeface="New York"/>
              </a:rPr>
              <a:t>“</a:t>
            </a:r>
            <a:r>
              <a:rPr sz="4800" b="1" i="0" u="none">
                <a:solidFill>
                  <a:srgbClr val="000000"/>
                </a:solidFill>
                <a:latin typeface="New York"/>
              </a:rPr>
              <a:t xml:space="preserve">It is the </a:t>
            </a:r>
            <a:r>
              <a:rPr sz="4800" b="1" i="1" u="none">
                <a:solidFill>
                  <a:srgbClr val="0A84FF"/>
                </a:solidFill>
                <a:latin typeface="New York"/>
              </a:rPr>
              <a:t>quietest</a:t>
            </a:r>
            <a:r>
              <a:rPr sz="4800" b="1" i="0" u="none">
                <a:solidFill>
                  <a:srgbClr val="000000"/>
                </a:solidFill>
                <a:latin typeface="New York"/>
              </a:rPr>
              <a:t xml:space="preserve"> piece of hardware we have ever built — and somehow the most powerful.</a:t>
            </a:r>
            <a:r>
              <a:rPr sz="4800" b="1" i="0" u="none">
                <a:solidFill>
                  <a:srgbClr val="0A84FF"/>
                </a:solidFill>
                <a:latin typeface="New York"/>
              </a:rPr>
              <a:t>”</a:t>
            </a:r>
            <a:r>
              <a:rPr sz="4800" b="1" i="0" u="none">
                <a:solidFill>
                  <a:srgbClr val="000000"/>
                </a:solidFill>
                <a:latin typeface="New York"/>
              </a:rPr>
              <a:t xml:space="preserve">
  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5405438"/>
            <a:ext cx="95250" cy="9525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67095" y="6286500"/>
            <a:ext cx="4819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0000"/>
                </a:solidFill>
                <a:latin typeface="Sf Pro Display"/>
              </a:rPr>
              <a:t>16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23797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30D158"/>
                </a:solidFill>
                <a:latin typeface="Sf Pro Display"/>
              </a:rPr>
              <a:t>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815655"/>
            <a:ext cx="8363992" cy="157728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3500" b="1" i="0" u="none">
                <a:solidFill>
                  <a:srgbClr val="FFFFFF"/>
                </a:solidFill>
                <a:latin typeface="Sf Pro Display"/>
              </a:rPr>
              <a:t>Thank you.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53700" y="3733800"/>
            <a:ext cx="228600" cy="228600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4895850"/>
            <a:ext cx="3376166" cy="2571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0" i="0" u="none">
                <a:solidFill>
                  <a:srgbClr val="FFFFFF"/>
                </a:solidFill>
                <a:latin typeface="Sf Pro Display"/>
              </a:rPr>
              <a:t xml:space="preserve">Available everywhere on </a:t>
            </a:r>
            <a:r>
              <a:rPr sz="1800" b="1" i="0" u="none">
                <a:solidFill>
                  <a:srgbClr val="FFFFFF"/>
                </a:solidFill>
                <a:latin typeface="Sf Pro Display"/>
              </a:rPr>
              <a:t>May 14</a:t>
            </a:r>
            <a:r>
              <a:rPr sz="1800" b="0" i="0" u="none">
                <a:solidFill>
                  <a:srgbClr val="FFFFFF"/>
                </a:solidFill>
                <a:latin typeface="Sf Pro Display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286500"/>
            <a:ext cx="181748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Sf Pro Display"/>
              </a:rPr>
              <a:t>Keynote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095" y="6286500"/>
            <a:ext cx="4819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Sf Pro Display"/>
              </a:rPr>
              <a:t>17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800100"/>
            <a:ext cx="11430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// 21 — SPEC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038225"/>
            <a:ext cx="11430000" cy="4799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AFAF9"/>
                </a:solidFill>
                <a:latin typeface="Consolas"/>
              </a:rPr>
              <a:t>RUNTIME-04 // COLD-PATH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12338" y="819150"/>
            <a:ext cx="1198662" cy="6265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BUILD  a8f12c9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HOST  us-east-1c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OWNER platform-core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SLO   p99 &lt; 80ms
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2266950"/>
            <a:ext cx="914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IDX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226695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0" y="2266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0" y="2266950"/>
            <a:ext cx="114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2266950"/>
            <a:ext cx="1333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543175"/>
            <a:ext cx="9144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CDFF00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2543175"/>
            <a:ext cx="59436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AFAF9"/>
                </a:solidFill>
                <a:latin typeface="Consolas"/>
              </a:rPr>
              <a:t>P50_LATENCY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0" y="2543175"/>
            <a:ext cx="2095500" cy="5143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Consolas"/>
              </a:rPr>
              <a:t>12.4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0" y="2543175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>ms / req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10850" y="2700338"/>
            <a:ext cx="55006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[ OK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3067050"/>
            <a:ext cx="9144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CDFF00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3067050"/>
            <a:ext cx="59436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AFAF9"/>
                </a:solidFill>
                <a:latin typeface="Consolas"/>
              </a:rPr>
              <a:t>P99_LATENCY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3067050"/>
            <a:ext cx="2095500" cy="5143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Consolas"/>
              </a:rPr>
              <a:t>76.1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0" y="3067050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>ms / req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0850" y="3224212"/>
            <a:ext cx="55006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[ OK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00" y="3590925"/>
            <a:ext cx="9144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CDFF00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400" y="3590925"/>
            <a:ext cx="59436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AFAF9"/>
                </a:solidFill>
                <a:latin typeface="Consolas"/>
              </a:rPr>
              <a:t>THROUGHPUT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0" y="3590925"/>
            <a:ext cx="2095500" cy="5143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Consolas"/>
              </a:rPr>
              <a:t>38.6K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0" y="3590925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>req / sec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10850" y="3748088"/>
            <a:ext cx="6130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[ HOT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4114800"/>
            <a:ext cx="9144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CDFF00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5400" y="4114800"/>
            <a:ext cx="59436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AFAF9"/>
                </a:solidFill>
                <a:latin typeface="Consolas"/>
              </a:rPr>
              <a:t>ERROR_RATE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0" y="4114800"/>
            <a:ext cx="2095500" cy="5143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Consolas"/>
              </a:rPr>
              <a:t>0.013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0" y="4114800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>% / 5min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10850" y="4271962"/>
            <a:ext cx="729146" cy="200025"/>
          </a:xfrm>
          <a:prstGeom prst="rect">
            <a:avLst/>
          </a:prstGeom>
          <a:solidFill>
            <a:srgbClr val="0A0A0A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WATCH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4638675"/>
            <a:ext cx="9144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CDFF00"/>
                </a:solidFill>
                <a:latin typeface="Consola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5400" y="4638675"/>
            <a:ext cx="59436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AFAF9"/>
                </a:solidFill>
                <a:latin typeface="Consolas"/>
              </a:rPr>
              <a:t>CACHE_HIT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9000" y="4638675"/>
            <a:ext cx="2095500" cy="5143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Consolas"/>
              </a:rPr>
              <a:t>94.2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4500" y="4638675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>% / window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10850" y="4795838"/>
            <a:ext cx="55006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[ OK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5162550"/>
            <a:ext cx="9144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CDFF00"/>
                </a:solidFill>
                <a:latin typeface="Consola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5400" y="5162550"/>
            <a:ext cx="59436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AFAF9"/>
                </a:solidFill>
                <a:latin typeface="Consolas"/>
              </a:rPr>
              <a:t>QUEUE_DEPTH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9000" y="5162550"/>
            <a:ext cx="2095500" cy="5143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Consolas"/>
              </a:rPr>
              <a:t>1.18K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4500" y="5162550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>jobs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10850" y="5319712"/>
            <a:ext cx="636138" cy="200025"/>
          </a:xfrm>
          <a:prstGeom prst="rect">
            <a:avLst/>
          </a:prstGeom>
          <a:solidFill>
            <a:srgbClr val="0A0A0A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HOLD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" y="6219825"/>
            <a:ext cx="3280321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SAMPLED  14:01:58 UTC  //  TZ=Z  //  </a:t>
            </a:r>
            <a:r>
              <a:rPr sz="825" b="1" i="0" u="none">
                <a:solidFill>
                  <a:srgbClr val="CDFF00"/>
                </a:solidFill>
                <a:latin typeface="Consolas"/>
              </a:rPr>
              <a:t>NEXT ROLL 00:30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300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991100" y="6096000"/>
            <a:ext cx="19050" cy="2286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02920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067300" y="6096000"/>
            <a:ext cx="19050" cy="1714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10540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14350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181600" y="6096000"/>
            <a:ext cx="19050" cy="2286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5219700" y="6096000"/>
            <a:ext cx="38100" cy="1143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27685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5314950" y="6096000"/>
            <a:ext cx="19050" cy="1714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535305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539115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429250" y="6096000"/>
            <a:ext cx="19050" cy="2286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5467350" y="6096000"/>
            <a:ext cx="19050" cy="1714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550545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554355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5581650" y="6096000"/>
            <a:ext cx="19050" cy="2286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0439400" y="5486400"/>
            <a:ext cx="1371600" cy="91440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0496550" y="55435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10629900" y="55435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10763250" y="55435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0896600" y="55435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11029950" y="55435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11163300" y="55435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11296650" y="55435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11430000" y="55435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1563350" y="55435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10496550" y="567690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10629900" y="567690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10763250" y="567690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10896600" y="567690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11029950" y="567690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11163300" y="567690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11296650" y="567690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11430000" y="567690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11563350" y="567690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762000"/>
            <a:ext cx="11430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5722"/>
                </a:solidFill>
                <a:latin typeface="Consolas"/>
              </a:rPr>
              <a:t>// 22 — SCHEMATIC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81075"/>
            <a:ext cx="11430000" cy="41999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150" b="1" i="0" u="none">
                <a:solidFill>
                  <a:srgbClr val="0A0A0A"/>
                </a:solidFill>
                <a:latin typeface="Consolas"/>
              </a:rPr>
              <a:t>INGEST → NORMALIZE →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96971" y="781050"/>
            <a:ext cx="1514029" cy="657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A0A0A"/>
                </a:solidFill>
                <a:latin typeface="Consolas"/>
              </a:rPr>
              <a:t>BLOCK  SERVICE UNIT</a:t>
            </a:r>
          </a:p>
          <a:p>
            <a:pPr algn="r"/>
            <a:r>
              <a:rPr sz="825" b="1" i="0" u="none">
                <a:solidFill>
                  <a:srgbClr val="0A0A0A"/>
                </a:solidFill>
                <a:latin typeface="Consolas"/>
              </a:rPr>
              <a:t>HOT    ACTIVE PATH</a:t>
            </a:r>
          </a:p>
          <a:p>
            <a:pPr algn="r"/>
            <a:r>
              <a:rPr sz="825" b="1" i="0" u="none">
                <a:solidFill>
                  <a:srgbClr val="0A0A0A"/>
                </a:solidFill>
                <a:latin typeface="Consolas"/>
              </a:rPr>
              <a:t xml:space="preserve">
    PROTOCOL  HTTP/2 // gRPC</a:t>
            </a:r>
          </a:p>
          <a:p>
            <a:pPr algn="r"/>
            <a:r>
              <a:rPr sz="825" b="1" i="0" u="none">
                <a:solidFill>
                  <a:srgbClr val="0A0A0A"/>
                </a:solidFill>
                <a:latin typeface="Consolas"/>
              </a:rPr>
              <a:t xml:space="preserve">
    LATENCY   p50 14ms
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524125"/>
            <a:ext cx="8629352" cy="27622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66750" y="2524125"/>
            <a:ext cx="75708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A"/>
                </a:solidFill>
                <a:latin typeface="Consolas"/>
              </a:rPr>
              <a:t>[01]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2781300"/>
            <a:ext cx="88314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0A0A0A"/>
                </a:solidFill>
                <a:latin typeface="Consolas"/>
              </a:rPr>
              <a:t>edge-rx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3105150"/>
            <a:ext cx="113555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tcp/443 // 8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3276600"/>
            <a:ext cx="57131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qps 38.6K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3448050"/>
            <a:ext cx="37861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3250" y="2524125"/>
            <a:ext cx="68818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A"/>
                </a:solidFill>
                <a:latin typeface="Consolas"/>
              </a:rPr>
              <a:t>[02]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3250" y="2781300"/>
            <a:ext cx="88314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0A0A0A"/>
                </a:solidFill>
                <a:latin typeface="Consolas"/>
              </a:rPr>
              <a:t>kfk-buf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250" y="3105150"/>
            <a:ext cx="883146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part 24 // r=3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3250" y="3276600"/>
            <a:ext cx="57131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lag 1.18K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3250" y="3448050"/>
            <a:ext cx="504676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HOLD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9750" y="2524125"/>
            <a:ext cx="963513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A"/>
                </a:solidFill>
                <a:latin typeface="Consolas"/>
              </a:rPr>
              <a:t>[03] NORMALIZE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9750" y="2781300"/>
            <a:ext cx="1009352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0A0A0A"/>
                </a:solidFill>
                <a:latin typeface="Consolas"/>
              </a:rPr>
              <a:t>norm-svc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9750" y="3105150"/>
            <a:ext cx="883146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parse + dedupe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9750" y="3276600"/>
            <a:ext cx="44515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cpu 62%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9750" y="3448050"/>
            <a:ext cx="44157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HOT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0" y="2524125"/>
            <a:ext cx="68818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A"/>
                </a:solidFill>
                <a:latin typeface="Consolas"/>
              </a:rPr>
              <a:t>[04]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0" y="2781300"/>
            <a:ext cx="1009352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0A0A0A"/>
                </a:solidFill>
                <a:latin typeface="Consolas"/>
              </a:rPr>
              <a:t>cold-tbl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0" y="3105150"/>
            <a:ext cx="82004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parquet // s3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0" y="3276600"/>
            <a:ext cx="76055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2.4 TB / 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0" y="3448050"/>
            <a:ext cx="37861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9750" y="4429125"/>
            <a:ext cx="626715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A"/>
                </a:solidFill>
                <a:latin typeface="Consolas"/>
              </a:rPr>
              <a:t>[05] SINK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9750" y="4676775"/>
            <a:ext cx="91752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obs-sink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19750" y="4991100"/>
            <a:ext cx="82004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log +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9750" y="5162550"/>
            <a:ext cx="44157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TAP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0800" y="2886075"/>
            <a:ext cx="3440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net/01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67300" y="2886075"/>
            <a:ext cx="3440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net/02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4300" y="2886075"/>
            <a:ext cx="3440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net/03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7500" y="3990975"/>
            <a:ext cx="3440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tap/01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19250" y="4695825"/>
            <a:ext cx="3440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hot/01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1000" y="5886450"/>
            <a:ext cx="1143000" cy="457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19100" y="59245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33400" y="59245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47700" y="59245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762000" y="59245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876300" y="5924550"/>
            <a:ext cx="76200" cy="762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990600" y="59245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104900" y="59245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219200" y="59245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333500" y="59245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19100" y="60388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33400" y="60388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647700" y="60388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762000" y="60388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876300" y="60388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990600" y="60388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1104900" y="60388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1219200" y="6038850"/>
            <a:ext cx="76200" cy="762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333500" y="60388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19100" y="61531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533400" y="61531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47700" y="61531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762000" y="61531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876300" y="61531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990600" y="61531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1104900" y="61531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1219200" y="61531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333500" y="61531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81000" y="6410325"/>
            <a:ext cx="48696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NET 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5116" y="6410325"/>
            <a:ext cx="48696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NET 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69231" y="6410325"/>
            <a:ext cx="360759" cy="21907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HOT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87141" y="6410325"/>
            <a:ext cx="423862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SINK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762000"/>
            <a:ext cx="573464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// 23 — DENSITY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62025"/>
            <a:ext cx="5734645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000" b="1" i="0" u="none">
                <a:solidFill>
                  <a:srgbClr val="FAFAF9"/>
                </a:solidFill>
                <a:latin typeface="Consolas"/>
              </a:rPr>
              <a:t>12 SUBSYSTEMS // ONE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70914" y="847130"/>
            <a:ext cx="1640086" cy="4798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4 COLS × 3 ROWS = 12 CELLS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OWNER platform-core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AS-OF 2026.04.30
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925" y="2162175"/>
            <a:ext cx="56777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01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925" y="236220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edge-rx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25" y="259734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tcp/443 ingress, 8 nodes, mTLS terminator.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1819" y="208597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398044" y="2162175"/>
            <a:ext cx="693986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02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BUFFER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8044" y="236220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kfk-buf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8044" y="259734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24 partitions, replication 3, 1.18K lag.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6938" y="208597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253162" y="2162175"/>
            <a:ext cx="2540794" cy="1047750"/>
          </a:xfrm>
          <a:prstGeom prst="rect">
            <a:avLst/>
          </a:prstGeom>
          <a:solidFill>
            <a:srgbClr val="0066FF"/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253162" y="3105150"/>
            <a:ext cx="40153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cpu 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1911" y="3105150"/>
            <a:ext cx="17204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3162" y="2162175"/>
            <a:ext cx="254079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03</a:t>
            </a:r>
            <a:r>
              <a:rPr sz="825" b="1" i="0" u="none">
                <a:solidFill>
                  <a:srgbClr val="0A0A0A"/>
                </a:solidFill>
                <a:latin typeface="Consolas"/>
              </a:rPr>
              <a:t xml:space="preserve"> / 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3162" y="236220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A"/>
                </a:solidFill>
                <a:latin typeface="Consolas"/>
              </a:rPr>
              <a:t>norm-svc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3162" y="259734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0A0A0A"/>
                </a:solidFill>
                <a:latin typeface="Consolas"/>
              </a:rPr>
              <a:t>Parse + dedupe path, 62% cpu, primary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8281" y="2162175"/>
            <a:ext cx="63088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04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8281" y="236220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cold-tbl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8281" y="259734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Parquet on s3, 2.4TB / day, 30d retention.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687175" y="208597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42925" y="3486150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05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OBS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3686175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obs-sink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925" y="3921323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Logs + metrics tap, 15s scrape, single tenant.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21819" y="3409950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398044" y="3486150"/>
            <a:ext cx="56777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06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8044" y="3686175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tok-sign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8044" y="3921323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Signing service, ed25519, 4ms median.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76938" y="3409950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253162" y="3486150"/>
            <a:ext cx="63088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07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CACHE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3162" y="3686175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warm-set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3162" y="3921323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LRU 64GiB, 94.2% hit, 3 shards, no spill.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32056" y="3409950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9108281" y="3486150"/>
            <a:ext cx="63088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08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ROUTE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8281" y="3686175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edge-route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8281" y="3921323"/>
            <a:ext cx="2540794" cy="159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Anycast plan, 12 PoPs, weighted RR.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687175" y="3409950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542925" y="4810125"/>
            <a:ext cx="63088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09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BATCH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2925" y="501015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nightly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2925" y="524529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Cron 03:00Z, 8 stages, idempotent retries.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1819" y="473392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398044" y="4810125"/>
            <a:ext cx="63088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10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FLAGS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8044" y="501015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flag-svc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98044" y="524529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Bool + multivar, 1.4K rules, 12ms eval.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76938" y="473392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253162" y="4810125"/>
            <a:ext cx="75708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11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BILLING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3162" y="501015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meter-rx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3162" y="524529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Per-tenant counters, 5min rollup, idem keys.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32056" y="473392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9108281" y="4810125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12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DLQ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8281" y="501015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dead-q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08281" y="524529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Quarantine bucket, 412 items, 7d TTL.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687175" y="473392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102870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04203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105537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06870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0820400" y="6191250"/>
            <a:ext cx="95250" cy="9525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109537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110871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12204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113538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114871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116205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762000"/>
            <a:ext cx="11430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// 24 — CODE BLOCK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62025"/>
            <a:ext cx="11430000" cy="36001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0A0A0A"/>
                </a:solidFill>
                <a:latin typeface="Consolas"/>
              </a:rPr>
              <a:t>fn handle_batch&lt;T&gt;( ) -&gt; Result&lt;Out, Err&gt;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812131"/>
            <a:ext cx="6629400" cy="4780062"/>
          </a:xfrm>
          <a:prstGeom prst="rect">
            <a:avLst/>
          </a:prstGeom>
          <a:solidFill>
            <a:srgbClr val="0A0A0A"/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95300" y="1812131"/>
            <a:ext cx="2293888" cy="1476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~/svc/norm/src/handler.rs  //  rust 1.78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7175" y="1812131"/>
            <a:ext cx="917525" cy="1476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L1:38  UTF-8  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209800"/>
            <a:ext cx="6477000" cy="44123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1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// hot path: parse, dedupe, emit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2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pub fn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handle_batch&lt;T: Record&gt;(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3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batch: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&amp;[Raw&lt;T&gt;]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,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4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ctx:  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&amp;Ctx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,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5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) -&gt;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Result&lt;Out, Err&gt;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{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6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// 01 - bound concurrency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7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let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sem = ctx.sem.clone();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8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let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_p  = sem.acquire()?;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9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10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// 02 - parse with budget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11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let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parsed = batch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12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    .iter()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13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    .map(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|r|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parse(r, ctx))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14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    .collect::&lt;Result&lt;Vec&lt;_&gt;, _&gt;&gt;()?;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15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16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// 03 - dedupe (xxhash64)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17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CDFF00"/>
                </a:solidFill>
                <a:latin typeface="Consolas"/>
              </a:rPr>
              <a:t>let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uniq = dedupe(&amp;parsed, &amp;ctx.seen);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18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19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// 04 - emit to sink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20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sink::emit(&amp;ctx.out, uniq).await?;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21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22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 xml:space="preserve">    Ok(Out { n: parsed.len() as u32 })
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23</a:t>
            </a:r>
            <a:r>
              <a:rPr sz="975" b="0" i="0" u="none">
                <a:solidFill>
                  <a:srgbClr val="FAFAF9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0" y="1895475"/>
            <a:ext cx="22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5700" y="1895475"/>
            <a:ext cx="4305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A0A0A"/>
                </a:solidFill>
                <a:latin typeface="Consolas"/>
              </a:rPr>
              <a:t>BOUND CONCURRENCY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5700" y="2076450"/>
            <a:ext cx="430530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Semaphore caps in-flight batches at 64. Backpressure is a permit, not a queue.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0" y="2656284"/>
            <a:ext cx="22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5700" y="2656284"/>
            <a:ext cx="4305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A0A0A"/>
                </a:solidFill>
                <a:latin typeface="Consolas"/>
              </a:rPr>
              <a:t>PARSE /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5700" y="2837259"/>
            <a:ext cx="430530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Per-record budget = 200us. Over-budget rows route to DLQ, never block the loop.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0" y="3417094"/>
            <a:ext cx="228600" cy="228600"/>
          </a:xfrm>
          <a:prstGeom prst="rect">
            <a:avLst/>
          </a:prstGeom>
          <a:solidFill>
            <a:srgbClr val="CDFF00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700" y="3417094"/>
            <a:ext cx="4305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A0A0A"/>
                </a:solidFill>
                <a:latin typeface="Consolas"/>
              </a:rPr>
              <a:t>DEDUPE / xxh64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5700" y="3598069"/>
            <a:ext cx="430530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Bloom + recent set. Hot path: O(1) avg, no allocations, single hash family.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177903"/>
            <a:ext cx="22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5700" y="4177903"/>
            <a:ext cx="4305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A0A0A"/>
                </a:solidFill>
                <a:latin typeface="Consolas"/>
              </a:rPr>
              <a:t>EMIT / SINK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700" y="4358878"/>
            <a:ext cx="430530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Async batch flush, fixed 4KiB frames, idempotent on retry. No partial commits.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0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143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477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81050" y="61912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144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0477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1811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314450" y="61912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4478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5811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7145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8478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9812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114550" y="61912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2479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81000" y="6448425"/>
            <a:ext cx="687586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RUST 1.78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5736" y="6448425"/>
            <a:ext cx="859631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edition 2021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42517" y="6448425"/>
            <a:ext cx="630287" cy="180975"/>
          </a:xfrm>
          <a:prstGeom prst="rect">
            <a:avLst/>
          </a:prstGeom>
          <a:solidFill>
            <a:srgbClr val="CDFF00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HOT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9954" y="6448425"/>
            <a:ext cx="687586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no_unsafe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90525" y="1914525"/>
            <a:ext cx="57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IDX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1914525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LABEL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8825" y="191452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3225" y="1914525"/>
            <a:ext cx="1238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525" y="215265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2238375"/>
            <a:ext cx="39528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edge-rx / us-east-1c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8825" y="215265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12.4ms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77525" y="2209800"/>
            <a:ext cx="496421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525" y="247650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2562225"/>
            <a:ext cx="39528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edge-rx / eu-west-2a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8825" y="247650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14.1ms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77525" y="2533650"/>
            <a:ext cx="496421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525" y="280035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" y="2886075"/>
            <a:ext cx="372918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kfk-buf / part-12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8825" y="280035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1.18K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77525" y="2857500"/>
            <a:ext cx="6761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HOLD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525" y="312420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375" y="3209925"/>
            <a:ext cx="387831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norm-svc / hot-loop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8825" y="312420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62%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77525" y="3181350"/>
            <a:ext cx="566203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HOT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525" y="344805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75" y="3533775"/>
            <a:ext cx="372918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cold-tbl / writer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8825" y="344805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2.4TB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77525" y="3505200"/>
            <a:ext cx="496421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525" y="377190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375" y="3857625"/>
            <a:ext cx="365462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obs-sink / tap-1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8825" y="377190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15s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77525" y="3829050"/>
            <a:ext cx="496421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525" y="409575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375" y="4181475"/>
            <a:ext cx="38037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tok-sign / ed25519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8825" y="409575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4.0ms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77525" y="4152900"/>
            <a:ext cx="496421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525" y="441960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375" y="4505325"/>
            <a:ext cx="38037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warm-set / shard-2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8825" y="441960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94.2%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77525" y="4476750"/>
            <a:ext cx="496421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0525" y="474345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5375" y="4829175"/>
            <a:ext cx="38037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flag-svc / eval-rt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8825" y="474345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12.0ms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77525" y="4800600"/>
            <a:ext cx="73922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WATCH 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0525" y="506730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5375" y="5153025"/>
            <a:ext cx="39528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meter-rx / rollup-5m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8825" y="506730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0.013%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77525" y="5124450"/>
            <a:ext cx="73922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WATCH 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0525" y="539115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5375" y="5476875"/>
            <a:ext cx="387831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dead-q / quarantine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8825" y="539115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412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77525" y="5448300"/>
            <a:ext cx="6761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FAIL 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0525" y="571500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5375" y="5800725"/>
            <a:ext cx="38037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nightly / cron-03Z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8825" y="571500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--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77525" y="5772150"/>
            <a:ext cx="6761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IDLE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1000" y="762000"/>
            <a:ext cx="573464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5722"/>
                </a:solidFill>
                <a:latin typeface="Consolas"/>
              </a:rPr>
              <a:t>// 25 — STATUS BOARD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1000" y="962025"/>
            <a:ext cx="5734645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000" b="1" i="0" u="none">
                <a:solidFill>
                  <a:srgbClr val="FAFAF9"/>
                </a:solidFill>
                <a:latin typeface="Consolas"/>
              </a:rPr>
              <a:t>FLEET-Z // RUNTIME STATUS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44708" y="847130"/>
            <a:ext cx="1766292" cy="4798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ROWS  12</a:t>
            </a:r>
          </a:p>
          <a:p>
            <a:pPr algn="r"/>
            <a:r>
              <a:rPr sz="825" b="1" i="0" u="none">
                <a:solidFill>
                  <a:srgbClr val="FF5722"/>
                </a:solidFill>
                <a:latin typeface="Consolas"/>
              </a:rPr>
              <a:t>OK    7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// WATCH 3 // FAIL 2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WINDOW 5 MIN
    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965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02298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03632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10496550" y="6191250"/>
            <a:ext cx="95250" cy="9525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1062990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076325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108966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110299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111633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11296650" y="6191250"/>
            <a:ext cx="95250" cy="9525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143000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1156335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116967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762000"/>
            <a:ext cx="11430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// 26 — MANIFESTO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62025"/>
            <a:ext cx="11430000" cy="457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0A0A0A"/>
                </a:solidFill>
                <a:latin typeface="Consolas"/>
              </a:rPr>
              <a:t>NINE LAWS //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495425"/>
            <a:ext cx="4289227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A0A0A"/>
                </a:solidFill>
                <a:latin typeface="Consolas"/>
              </a:rPr>
              <a:t xml:space="preserve">A working list. </a:t>
            </a:r>
            <a:r>
              <a:rPr sz="975" b="1" i="0" u="none">
                <a:solidFill>
                  <a:srgbClr val="0A0A0A"/>
                </a:solidFill>
                <a:latin typeface="Consolas"/>
              </a:rPr>
              <a:t>UPDATED 2026.04.30</a:t>
            </a:r>
            <a:r>
              <a:rPr sz="975" b="1" i="0" u="none">
                <a:solidFill>
                  <a:srgbClr val="0A0A0A"/>
                </a:solidFill>
                <a:latin typeface="Consolas"/>
              </a:rPr>
              <a:t>. Replaces all priors.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8000" y="838200"/>
            <a:ext cx="1143000" cy="5715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725150" y="8953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858500" y="8953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991850" y="8953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125200" y="8953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258550" y="8953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1391900" y="8953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1525250" y="8953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658600" y="8953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725150" y="102870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858500" y="102870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991850" y="102870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1125200" y="102870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1258550" y="102870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391900" y="102870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1525250" y="102870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1658600" y="102870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725150" y="11620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0858500" y="11620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0991850" y="11620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1125200" y="11620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1258550" y="11620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1391900" y="11620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1525250" y="11620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1658600" y="11620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81000" y="2181225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2181225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PREFER EXPLICIT OVER CLEVER. NAMES DESCRIBE WHAT, NOT HOW.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0" y="2181225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" y="2628900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262890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BUDGETS ARE LAWS. P99 IS A CONTRACT, NOT A WISH.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5500" y="2628900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" y="3076575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3076575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RETRIES ARE IDEMPOTENT OR THEY ARE BUGS.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5500" y="3076575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1000" y="3524250"/>
            <a:ext cx="440494" cy="438150"/>
          </a:xfrm>
          <a:prstGeom prst="rect">
            <a:avLst/>
          </a:prstGeom>
          <a:solidFill>
            <a:srgbClr val="CDFF00"/>
          </a:solidFill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352425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THE HOT PATH ALLOCATES NOTHING IT CAN LEND.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5500" y="3524250"/>
            <a:ext cx="566203" cy="438150"/>
          </a:xfrm>
          <a:prstGeom prst="rect">
            <a:avLst/>
          </a:prstGeom>
          <a:solidFill>
            <a:srgbClr val="0A0A0A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[ HOT 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000" y="3971925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3971925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EVERY QUEUE HAS A DEPTH. UNBOUNDED IS UNSHIPPED.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5500" y="3971925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1000" y="4419600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441960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TIMEOUTS BEFORE RETRIES BEFORE CIRCUITS. IN THAT ORDER.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15500" y="4419600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1000" y="4867275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4867275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LOG THE DECISION, NOT THE DATA. PII NEVER CROSSES THE LINE.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15500" y="4867275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1000" y="5314950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531495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FEATURE FLAGS EXPIRE. STALE FLAGS ARE TECHNICAL DEBT.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15500" y="5314950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1000" y="5762625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" y="5762625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A DASHBOARD THAT NEVER ALERTS IS DECORATION.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15500" y="5762625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5143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477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81050" y="61912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9144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0477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11811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1314450" y="61912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14478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15811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7145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18478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19812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2114550" y="61912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22479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81000" y="6448425"/>
            <a:ext cx="400943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v1.0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9093" y="6448425"/>
            <a:ext cx="572988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09 LAWS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69231" y="6448425"/>
            <a:ext cx="572988" cy="180975"/>
          </a:xfrm>
          <a:prstGeom prst="rect">
            <a:avLst/>
          </a:prstGeom>
          <a:solidFill>
            <a:srgbClr val="CDFF00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UPDATED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99370" y="6448425"/>
            <a:ext cx="515541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SIG OK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81025" y="2124075"/>
            <a:ext cx="2144911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// MATRIX A  —  </a:t>
            </a:r>
            <a:r>
              <a:rPr sz="825" b="1" i="0" u="none">
                <a:solidFill>
                  <a:srgbClr val="0066FF"/>
                </a:solidFill>
                <a:latin typeface="Consolas"/>
              </a:rPr>
              <a:t>norm-svc / cpu sat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3038475"/>
            <a:ext cx="2856161" cy="60007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23900" y="3533775"/>
            <a:ext cx="34349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695" y="3533775"/>
            <a:ext cx="34349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9491" y="3533775"/>
            <a:ext cx="40094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076575"/>
            <a:ext cx="44672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FAFAF9"/>
                </a:solidFill>
                <a:latin typeface="Consolas"/>
              </a:rPr>
              <a:t xml:space="preserve">SAT </a:t>
            </a:r>
            <a:r>
              <a:rPr sz="3150" b="1" i="0" u="none">
                <a:solidFill>
                  <a:srgbClr val="0066FF"/>
                </a:solidFill>
                <a:latin typeface="Consolas"/>
              </a:rPr>
              <a:t>77.8</a:t>
            </a:r>
            <a:r>
              <a:rPr sz="3150" b="1" i="0" u="none">
                <a:solidFill>
                  <a:srgbClr val="FAFAF9"/>
                </a:solidFill>
                <a:latin typeface="Consolas"/>
              </a:rPr>
              <a:t xml:space="preserve">% 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 14/18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981450"/>
            <a:ext cx="2523381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// MATRIX B  —  </a:t>
            </a:r>
            <a:r>
              <a:rPr sz="825" b="1" i="0" u="none">
                <a:solidFill>
                  <a:srgbClr val="0066FF"/>
                </a:solidFill>
                <a:latin typeface="Consolas"/>
              </a:rPr>
              <a:t>kfk-buf / partition fill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4238625"/>
            <a:ext cx="4752975" cy="68580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87519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992267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197015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401762" y="4495800"/>
            <a:ext cx="133350" cy="133350"/>
          </a:xfrm>
          <a:prstGeom prst="ellipse">
            <a:avLst/>
          </a:prstGeom>
          <a:solidFill>
            <a:srgbClr val="0066FF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606510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811258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016006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220754" y="4495800"/>
            <a:ext cx="133350" cy="133350"/>
          </a:xfrm>
          <a:prstGeom prst="ellipse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425502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630249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834997" y="4495800"/>
            <a:ext cx="133350" cy="133350"/>
          </a:xfrm>
          <a:prstGeom prst="ellipse">
            <a:avLst/>
          </a:prstGeom>
          <a:solidFill>
            <a:srgbClr val="0066FF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039745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244493" y="4495800"/>
            <a:ext cx="133350" cy="133350"/>
          </a:xfrm>
          <a:prstGeom prst="ellipse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449241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653988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858736" y="4495800"/>
            <a:ext cx="133350" cy="133350"/>
          </a:xfrm>
          <a:prstGeom prst="ellipse">
            <a:avLst/>
          </a:prstGeom>
          <a:solidFill>
            <a:srgbClr val="0066FF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063484" y="4495800"/>
            <a:ext cx="133350" cy="133350"/>
          </a:xfrm>
          <a:prstGeom prst="ellipse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4268232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472980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677728" y="4495800"/>
            <a:ext cx="133350" cy="133350"/>
          </a:xfrm>
          <a:prstGeom prst="ellipse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5534025" y="1952625"/>
            <a:ext cx="57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IDX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5525" y="1952625"/>
            <a:ext cx="3695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METRIC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1225" y="1952625"/>
            <a:ext cx="1238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39475" y="1952625"/>
            <a:ext cx="76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4025" y="2190750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5525" y="2190750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cpu_user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1225" y="2190750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62.0%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39475" y="219075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+02.1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4025" y="2505075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05525" y="2505075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cpu_sys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01225" y="2505075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11.4%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39475" y="2505075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+00.4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4025" y="2819400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5525" y="2819400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mem_rss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1225" y="2819400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3.20 GB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39475" y="28194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-00.1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34025" y="3133725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05525" y="3133725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heap_alloc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1225" y="3133725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812 MB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39475" y="3133725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+12.0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4025" y="3448050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05525" y="3448050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net_rx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01225" y="3448050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410 Mbps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39475" y="344805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+18.2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4025" y="3762375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05525" y="3762375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net_tx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01225" y="3762375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388 Mbps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39475" y="3762375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+14.0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34025" y="4076700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05525" y="4076700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disk_iops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01225" y="4076700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8.4K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39475" y="40767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-00.6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4025" y="4391025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5525" y="4391025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gc_pause_p99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01225" y="4391025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2.1 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39475" y="4391025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-00.2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34025" y="4705350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05525" y="4705350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queue_lag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01225" y="4705350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1.18 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39475" y="470535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+04.0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34025" y="5019675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05525" y="5019675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err_per_5m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01225" y="5019675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0.013%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39475" y="5019675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+00.1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1000" y="762000"/>
            <a:ext cx="481712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// 27 — DOT MATRIX + LADDER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1000" y="962025"/>
            <a:ext cx="4817120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000" b="1" i="0" u="none">
                <a:solidFill>
                  <a:srgbClr val="FAFAF9"/>
                </a:solidFill>
                <a:latin typeface="Consolas"/>
              </a:rPr>
              <a:t>SATURATION // 14 / 18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12338" y="847130"/>
            <a:ext cx="1198662" cy="4798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DOTS  18</a:t>
            </a:r>
          </a:p>
          <a:p>
            <a:pPr algn="r"/>
            <a:r>
              <a:rPr sz="825" b="1" i="0" u="none">
                <a:solidFill>
                  <a:srgbClr val="0066FF"/>
                </a:solidFill>
                <a:latin typeface="Consolas"/>
              </a:rPr>
              <a:t>FILLED 14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// OPEN 4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WINDOW 60s
    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965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102298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103632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0496550" y="6191250"/>
            <a:ext cx="95250" cy="9525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106299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107632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108966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11029950" y="6191250"/>
            <a:ext cx="95250" cy="9525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111633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112966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114300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11563350" y="6191250"/>
            <a:ext cx="95250" cy="9525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116967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/>
          <p:cNvSpPr txBox="1"/>
          <p:nvPr/>
        </p:nvSpPr>
        <p:spPr>
          <a:xfrm>
            <a:off x="381000" y="6448425"/>
            <a:ext cx="745034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SAMPLE 60s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83184" y="6448425"/>
            <a:ext cx="458242" cy="180975"/>
          </a:xfrm>
          <a:prstGeom prst="rect">
            <a:avLst/>
          </a:prstGeom>
          <a:solidFill>
            <a:srgbClr val="0066F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14/18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98575" y="6448425"/>
            <a:ext cx="802332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WINDOW LIVE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558058" y="6448425"/>
            <a:ext cx="802332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END OF DECK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1A1A1A">
                  <a:alpha val="45000"/>
                </a:srgbClr>
              </a:gs>
              <a:gs pos="16667">
                <a:srgbClr val="1A1A1A">
                  <a:alpha val="37500"/>
                </a:srgbClr>
              </a:gs>
              <a:gs pos="33333">
                <a:srgbClr val="1A1A1A">
                  <a:alpha val="30000"/>
                </a:srgbClr>
              </a:gs>
              <a:gs pos="50000">
                <a:srgbClr val="1A1A1A">
                  <a:alpha val="22500"/>
                </a:srgbClr>
              </a:gs>
              <a:gs pos="66667">
                <a:srgbClr val="1A1A1A">
                  <a:alpha val="15000"/>
                </a:srgbClr>
              </a:gs>
              <a:gs pos="83333">
                <a:srgbClr val="1A1A1A">
                  <a:alpha val="7500"/>
                </a:srgbClr>
              </a:gs>
              <a:gs pos="10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7315200" y="-7477527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gradFill flip="none" rotWithShape="1">
            <a:gsLst>
              <a:gs pos="0">
                <a:srgbClr val="FAFAF9">
                  <a:alpha val="45000"/>
                </a:srgbClr>
              </a:gs>
              <a:gs pos="16667">
                <a:srgbClr val="FAFAF9">
                  <a:alpha val="37500"/>
                </a:srgbClr>
              </a:gs>
              <a:gs pos="33333">
                <a:srgbClr val="FAFAF9">
                  <a:alpha val="30000"/>
                </a:srgbClr>
              </a:gs>
              <a:gs pos="50000">
                <a:srgbClr val="FAFAF9">
                  <a:alpha val="22500"/>
                </a:srgbClr>
              </a:gs>
              <a:gs pos="66667">
                <a:srgbClr val="FAFAF9">
                  <a:alpha val="15000"/>
                </a:srgbClr>
              </a:gs>
              <a:gs pos="83333">
                <a:srgbClr val="FAFAF9">
                  <a:alpha val="7500"/>
                </a:srgbClr>
              </a:gs>
              <a:gs pos="100000">
                <a:srgbClr val="FAFA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2438400" y="-7477527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gradFill flip="none" rotWithShape="1">
            <a:gsLst>
              <a:gs pos="0">
                <a:srgbClr val="0066FF">
                  <a:alpha val="45000"/>
                </a:srgbClr>
              </a:gs>
              <a:gs pos="16667">
                <a:srgbClr val="0066FF">
                  <a:alpha val="37500"/>
                </a:srgbClr>
              </a:gs>
              <a:gs pos="33333">
                <a:srgbClr val="0066FF">
                  <a:alpha val="30000"/>
                </a:srgbClr>
              </a:gs>
              <a:gs pos="50000">
                <a:srgbClr val="0066FF">
                  <a:alpha val="22500"/>
                </a:srgbClr>
              </a:gs>
              <a:gs pos="66667">
                <a:srgbClr val="0066FF">
                  <a:alpha val="15000"/>
                </a:srgbClr>
              </a:gs>
              <a:gs pos="83333">
                <a:srgbClr val="0066FF">
                  <a:alpha val="7500"/>
                </a:srgbClr>
              </a:gs>
              <a:gs pos="100000">
                <a:srgbClr val="006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7315200" y="-2545452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gradFill flip="none" rotWithShape="1">
            <a:gsLst>
              <a:gs pos="0">
                <a:srgbClr val="C41E3A">
                  <a:alpha val="45000"/>
                </a:srgbClr>
              </a:gs>
              <a:gs pos="16667">
                <a:srgbClr val="C41E3A">
                  <a:alpha val="37500"/>
                </a:srgbClr>
              </a:gs>
              <a:gs pos="33333">
                <a:srgbClr val="C41E3A">
                  <a:alpha val="30000"/>
                </a:srgbClr>
              </a:gs>
              <a:gs pos="50000">
                <a:srgbClr val="C41E3A">
                  <a:alpha val="22500"/>
                </a:srgbClr>
              </a:gs>
              <a:gs pos="66667">
                <a:srgbClr val="C41E3A">
                  <a:alpha val="15000"/>
                </a:srgbClr>
              </a:gs>
              <a:gs pos="83333">
                <a:srgbClr val="C41E3A">
                  <a:alpha val="7500"/>
                </a:srgbClr>
              </a:gs>
              <a:gs pos="100000">
                <a:srgbClr val="C41E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2438400" y="-2545452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gradFill flip="none" rotWithShape="1">
            <a:gsLst>
              <a:gs pos="0">
                <a:srgbClr val="1E1B4B"/>
              </a:gs>
              <a:gs pos="30000">
                <a:srgbClr val="1A103E"/>
              </a:gs>
              <a:gs pos="55000">
                <a:srgbClr val="0A0820"/>
              </a:gs>
              <a:gs pos="78000">
                <a:srgbClr val="050510"/>
              </a:gs>
              <a:gs pos="100000">
                <a:srgbClr val="050510"/>
              </a:gs>
            </a:gsLst>
            <a:path path="circle">
              <a:fillToRect l="25000" t="18000" r="75000" b="82000"/>
            </a:path>
          </a:gradFill>
          <a:xfrm>
            <a:off x="0" y="0"/>
            <a:ext cx="12192000" cy="70458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7045821"/>
          </a:xfrm>
          <a:prstGeom prst="rect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gradFill flip="none" rotWithShape="1">
            <a:gsLst>
              <a:gs pos="0">
                <a:srgbClr val="818CF8">
                  <a:alpha val="42000"/>
                </a:srgbClr>
              </a:gs>
              <a:gs pos="35000">
                <a:srgbClr val="C084FC">
                  <a:alpha val="18000"/>
                </a:srgbClr>
              </a:gs>
              <a:gs pos="60000">
                <a:srgbClr val="EC4899">
                  <a:alpha val="6000"/>
                </a:srgbClr>
              </a:gs>
              <a:gs pos="75000">
                <a:srgbClr val="EC4899">
                  <a:alpha val="0"/>
                </a:srgbClr>
              </a:gs>
              <a:gs pos="100000">
                <a:srgbClr val="EC4899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1143000" y="-1524000"/>
            <a:ext cx="5905500" cy="59055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gradFill flip="none" rotWithShape="1">
            <a:gsLst>
              <a:gs pos="0">
                <a:srgbClr val="06B6D4">
                  <a:alpha val="30000"/>
                </a:srgbClr>
              </a:gs>
              <a:gs pos="38000">
                <a:srgbClr val="6366F1">
                  <a:alpha val="18000"/>
                </a:srgbClr>
              </a:gs>
              <a:gs pos="72000">
                <a:srgbClr val="6366F1">
                  <a:alpha val="0"/>
                </a:srgbClr>
              </a:gs>
              <a:gs pos="100000">
                <a:srgbClr val="6366F1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7239000" y="2476500"/>
            <a:ext cx="6477000" cy="6477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A7AF1"/>
              </a:gs>
              <a:gs pos="66667">
                <a:srgbClr val="D370E3"/>
              </a:gs>
              <a:gs pos="75000">
                <a:srgbClr val="DB66D3"/>
              </a:gs>
              <a:gs pos="83333">
                <a:srgbClr val="E25CC2"/>
              </a:gs>
              <a:gs pos="91667">
                <a:srgbClr val="E752AE"/>
              </a:gs>
              <a:gs pos="100000">
                <a:srgbClr val="EC4899"/>
              </a:gs>
            </a:gsLst>
            <a:lin ang="2700000" scaled="0"/>
          </a:gradFill>
          <a:xfrm>
            <a:off x="609600" y="400050"/>
            <a:ext cx="209550" cy="209550"/>
          </a:xfrm>
          <a:prstGeom prst="roundRect">
            <a:avLst/>
          </a:prstGeom>
          <a:ln>
            <a:noFill/>
          </a:ln>
          <a:effectLst>
            <a:outerShdw blurRad="133350" dist="38100" dir="5400000" algn="ctr" rotWithShape="0">
              <a:srgbClr val="C084FC">
                <a:alpha val="45000"/>
              </a:srgbClr>
            </a:outerShdw>
            <a:innerShdw blurRad="0" dist="9525" dir="5400000">
              <a:srgbClr val="FFFFFF">
                <a:alpha val="40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528102" y="342900"/>
            <a:ext cx="777041" cy="32385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5F5F7"/>
                </a:solidFill>
                <a:latin typeface="Inter"/>
              </a:rPr>
              <a:t>Start free</a:t>
            </a:r>
          </a:p>
        </p:txBody>
      </p:sp>
      <p:sp>
        <p:nvSpPr>
          <p:cNvPr id="14" name="Freeform 13"/>
          <p:cNvSpPr/>
          <p:nvPr/>
        </p:nvSpPr>
        <p:spPr>
          <a:xfrm>
            <a:off x="8191500" y="1333500"/>
            <a:ext cx="3429000" cy="3810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44444" y="75000"/>
                  <a:pt x="72222" y="40000"/>
                  <a:pt x="100000" y="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8572500" y="1524000"/>
            <a:ext cx="3429000" cy="3810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44444" y="75000"/>
                  <a:pt x="72222" y="40000"/>
                  <a:pt x="100000" y="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1591925" y="1304925"/>
            <a:ext cx="57150" cy="5715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8162925" y="5114925"/>
            <a:ext cx="57150" cy="5715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762000" y="1619250"/>
            <a:ext cx="2813149" cy="295275"/>
          </a:xfrm>
          <a:prstGeom prst="roundRect">
            <a:avLst/>
          </a:prstGeom>
          <a:solidFill>
            <a:srgbClr val="818CF8">
              <a:alpha val="10000"/>
            </a:srgbClr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866775" y="1733550"/>
            <a:ext cx="66675" cy="66675"/>
          </a:xfrm>
          <a:prstGeom prst="roundRect">
            <a:avLst/>
          </a:prstGeom>
          <a:solidFill>
            <a:srgbClr val="A3E635"/>
          </a:solidFill>
          <a:ln>
            <a:noFill/>
          </a:ln>
          <a:effectLst>
            <a:outerShdw blurRad="95250" dist="0" dir="0" algn="ctr" rotWithShape="0">
              <a:srgbClr val="A3E635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62000" y="2085975"/>
            <a:ext cx="9278838" cy="25902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The infrastructure</a:t>
            </a:r>
          </a:p>
          <a:p>
            <a:pPr algn="l"/>
            <a:r>
              <a:rPr sz="6600" b="1" i="0" u="none">
                <a:gradFill rotWithShape="1">
                  <a:gsLst>
                    <a:gs pos="0">
                      <a:srgbClr val="818CF8"/>
                    </a:gs>
                    <a:gs pos="28000">
                      <a:srgbClr val="A78BFA"/>
                    </a:gs>
                    <a:gs pos="55000">
                      <a:srgbClr val="C084FC"/>
                    </a:gs>
                    <a:gs pos="78000">
                      <a:srgbClr val="F472B6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Inter"/>
              </a:rPr>
              <a:t>for AI-native</a:t>
            </a:r>
            <a:r>
              <a:rPr sz="6600" b="1" i="0" u="none">
                <a:solidFill>
                  <a:srgbClr val="F5F5F7"/>
                </a:solidFill>
                <a:latin typeface="Inter"/>
              </a:rPr>
              <a:t xml:space="preserve"> </a:t>
            </a:r>
            <a:r>
              <a:rPr sz="6600" b="1" i="0" u="none">
                <a:gradFill rotWithShape="1">
                  <a:gsLst>
                    <a:gs pos="0">
                      <a:srgbClr val="06B6D4"/>
                    </a:gs>
                    <a:gs pos="70000">
                      <a:srgbClr val="6366F1"/>
                    </a:gs>
                    <a:gs pos="100000">
                      <a:srgbClr val="6366F1"/>
                    </a:gs>
                  </a:gsLst>
                  <a:lin ang="1200000" scaled="0"/>
                </a:gradFill>
                <a:latin typeface="Inter"/>
              </a:rPr>
              <a:t>product teams.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890195"/>
            <a:ext cx="5666036" cy="7703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 i="0" u="none">
                <a:solidFill>
                  <a:srgbClr val="E4E4E7"/>
                </a:solidFill>
                <a:latin typeface="Inter"/>
              </a:rPr>
              <a:t>Lattice</a:t>
            </a:r>
            <a:r>
              <a:rPr sz="1425" b="0" i="0" u="none">
                <a:solidFill>
                  <a:srgbClr val="A1A1AA"/>
                </a:solidFill>
                <a:latin typeface="Inter"/>
              </a:rPr>
              <a:t xml:space="preserve"> is the deployment layer used by 14,000 teams to ship agents,
      pipelines and inference at the edge — without a platform team. One SDK,
      every region, sub-50ms cold starts.
    </a:t>
            </a:r>
          </a:p>
        </p:txBody>
      </p:sp>
      <p:sp>
        <p:nvSpPr>
          <p:cNvPr id="22" name="TextBox 21"/>
          <p:cNvSpPr txBox="1"/>
          <p:nvPr/>
        </p:nvSpPr>
        <p:spPr>
          <a:gradFill flip="none" rotWithShape="1">
            <a:gsLst>
              <a:gs pos="0">
                <a:srgbClr val="FFFFFF"/>
              </a:gs>
              <a:gs pos="16667">
                <a:srgbClr val="FBFAFB"/>
              </a:gs>
              <a:gs pos="33333">
                <a:srgbClr val="F7F6F6"/>
              </a:gs>
              <a:gs pos="50000">
                <a:srgbClr val="F2F1F2"/>
              </a:gs>
              <a:gs pos="66667">
                <a:srgbClr val="EEEDEF"/>
              </a:gs>
              <a:gs pos="83333">
                <a:srgbClr val="E9E8EB"/>
              </a:gs>
              <a:gs pos="100000">
                <a:srgbClr val="E4E4E7"/>
              </a:gs>
            </a:gsLst>
            <a:lin ang="5400000" scaled="0"/>
          </a:gradFill>
          <a:xfrm>
            <a:off x="971550" y="6188571"/>
            <a:ext cx="1301800" cy="171450"/>
          </a:xfrm>
          <a:prstGeom prst="rect">
            <a:avLst/>
          </a:prstGeom>
          <a:effectLst>
            <a:outerShdw blurRad="342900" dist="114300" dir="5400000" algn="ctr" rotWithShape="0">
              <a:srgbClr val="FFFFFF">
                <a:alpha val="18000"/>
              </a:srgbClr>
            </a:outerShdw>
            <a:outerShdw blurRad="57150" dist="19050" dir="5400000" algn="ctr" rotWithShape="0">
              <a:srgbClr val="000000">
                <a:alpha val="30000"/>
              </a:srgbClr>
            </a:outerShdw>
            <a:innerShdw blurRad="0" dist="9525" dir="16200000">
              <a:srgbClr val="000000">
                <a:alpha val="10000"/>
              </a:srgbClr>
            </a:innerShdw>
          </a:effectLst>
        </p:spPr>
        <p:txBody>
          <a:bodyPr wrap="non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09090B"/>
                </a:solidFill>
                <a:latin typeface="Inter"/>
              </a:rPr>
              <a:t>Start building</a:t>
            </a:r>
            <a:r>
              <a:rPr sz="975" b="1" i="0" u="none">
                <a:solidFill>
                  <a:srgbClr val="09090B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6250" y="6045696"/>
            <a:ext cx="1070502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F5F5F7"/>
                </a:solidFill>
                <a:latin typeface="Inter"/>
              </a:rPr>
              <a:t>Book a demo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26018" y="6443662"/>
            <a:ext cx="228600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gradFill flip="none" rotWithShape="1">
            <a:gsLst>
              <a:gs pos="0">
                <a:srgbClr val="1E1B4B"/>
              </a:gs>
              <a:gs pos="28000">
                <a:srgbClr val="14102E"/>
              </a:gs>
              <a:gs pos="55000">
                <a:srgbClr val="0A0820"/>
              </a:gs>
              <a:gs pos="80000">
                <a:srgbClr val="050510"/>
              </a:gs>
              <a:gs pos="100000">
                <a:srgbClr val="050510"/>
              </a:gs>
            </a:gsLst>
            <a:path path="circle">
              <a:fillToRect l="78000" t="12000" r="22000" b="88000"/>
            </a:path>
          </a:gradFill>
          <a:xfrm>
            <a:off x="0" y="0"/>
            <a:ext cx="12192000" cy="649605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678418" y="6362700"/>
            <a:ext cx="751582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02 /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2584549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67E8F9"/>
                </a:solidFill>
                <a:latin typeface="Inter"/>
              </a:rPr>
              <a:t>BY THE NUMBERS · FY26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90625"/>
            <a:ext cx="6479084" cy="920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 xml:space="preserve">Trusted at </a:t>
            </a:r>
            <a:r>
              <a:rPr sz="3450" b="1" i="0" u="none">
                <a:gradFill rotWithShape="1">
                  <a:gsLst>
                    <a:gs pos="0">
                      <a:srgbClr val="06B6D4"/>
                    </a:gs>
                    <a:gs pos="50000">
                      <a:srgbClr val="818CF8"/>
                    </a:gs>
                    <a:gs pos="100000">
                      <a:srgbClr val="C084FC"/>
                    </a:gs>
                  </a:gsLst>
                  <a:lin ang="900000" scaled="0"/>
                </a:gradFill>
                <a:latin typeface="Inter"/>
              </a:rPr>
              <a:t>production scale</a:t>
            </a:r>
          </a:p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>across every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0" y="1667768"/>
            <a:ext cx="3619500" cy="44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25" b="0" i="0" u="none">
                <a:solidFill>
                  <a:srgbClr val="A1A1AA"/>
                </a:solidFill>
                <a:latin typeface="Inter"/>
              </a:rPr>
              <a:t>Live telemetry from the Lattice control plane — last 30 days, all customer environments included.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176588"/>
            <a:ext cx="123631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Requests 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6926" y="3133725"/>
            <a:ext cx="62239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3E635"/>
                </a:solidFill>
                <a:latin typeface="Inter"/>
              </a:rPr>
              <a:t>▲ 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533775"/>
            <a:ext cx="2851100" cy="931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Inter"/>
              </a:rPr>
              <a:t>38.6</a:t>
            </a:r>
            <a:r>
              <a:rPr sz="315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Inter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598194"/>
            <a:ext cx="28511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 xml:space="preserve">Across </a:t>
            </a:r>
            <a:r>
              <a:rPr sz="1050" b="1" i="0" u="none">
                <a:solidFill>
                  <a:srgbClr val="E4E4E7"/>
                </a:solidFill>
                <a:latin typeface="Inter"/>
              </a:rPr>
              <a:t>14,200 deployments</a:t>
            </a:r>
            <a:r>
              <a:rPr sz="1050" b="0" i="0" u="none">
                <a:solidFill>
                  <a:srgbClr val="A1A1AA"/>
                </a:solidFill>
                <a:latin typeface="Inter"/>
              </a:rPr>
              <a:t xml:space="preserve"> in 31 regions. p95 latency steady at 47ms.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0375" y="3176588"/>
            <a:ext cx="128528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Active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2139" y="3133725"/>
            <a:ext cx="6493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3E635"/>
                </a:solidFill>
                <a:latin typeface="Inter"/>
              </a:rPr>
              <a:t>▲ 4.2×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0375" y="3533775"/>
            <a:ext cx="2851100" cy="931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0" b="1" i="0" u="none">
                <a:gradFill rotWithShape="1">
                  <a:gsLst>
                    <a:gs pos="0">
                      <a:srgbClr val="06B6D4"/>
                    </a:gs>
                    <a:gs pos="60000">
                      <a:srgbClr val="6366F1"/>
                    </a:gs>
                    <a:gs pos="100000">
                      <a:srgbClr val="818CF8"/>
                    </a:gs>
                  </a:gsLst>
                  <a:lin ang="1200000" scaled="0"/>
                </a:gradFill>
                <a:latin typeface="Inter"/>
              </a:rPr>
              <a:t>14.2</a:t>
            </a:r>
            <a:r>
              <a:rPr sz="3150" b="1" i="0" u="none">
                <a:gradFill rotWithShape="1">
                  <a:gsLst>
                    <a:gs pos="0">
                      <a:srgbClr val="06B6D4"/>
                    </a:gs>
                    <a:gs pos="60000">
                      <a:srgbClr val="6366F1"/>
                    </a:gs>
                    <a:gs pos="100000">
                      <a:srgbClr val="818CF8"/>
                    </a:gs>
                  </a:gsLst>
                  <a:lin ang="1200000" scaled="0"/>
                </a:gradFill>
                <a:latin typeface="Inter"/>
              </a:rPr>
              <a:t>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375" y="4598194"/>
            <a:ext cx="28511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 xml:space="preserve">Including </a:t>
            </a:r>
            <a:r>
              <a:rPr sz="1050" b="1" i="0" u="none">
                <a:solidFill>
                  <a:srgbClr val="E4E4E7"/>
                </a:solidFill>
                <a:latin typeface="Inter"/>
              </a:rPr>
              <a:t>312 of the Forbes 2000</a:t>
            </a:r>
            <a:r>
              <a:rPr sz="1050" b="0" i="0" u="none">
                <a:solidFill>
                  <a:srgbClr val="A1A1AA"/>
                </a:solidFill>
                <a:latin typeface="Inter"/>
              </a:rPr>
              <a:t>. Net dollar retention of 137% YoY.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526" y="3176588"/>
            <a:ext cx="136668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Uptime, last 12mo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1113" y="3133725"/>
            <a:ext cx="58266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3E635"/>
                </a:solidFill>
                <a:latin typeface="Inter"/>
              </a:rPr>
              <a:t>99.99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526" y="3533775"/>
            <a:ext cx="2851249" cy="931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0" b="1" i="0" u="none">
                <a:gradFill rotWithShape="1">
                  <a:gsLst>
                    <a:gs pos="0">
                      <a:srgbClr val="A3E635"/>
                    </a:gs>
                    <a:gs pos="50000">
                      <a:srgbClr val="34D399"/>
                    </a:gs>
                    <a:gs pos="100000">
                      <a:srgbClr val="10B981"/>
                    </a:gs>
                  </a:gsLst>
                  <a:lin ang="1200000" scaled="0"/>
                </a:gradFill>
                <a:latin typeface="Inter"/>
              </a:rPr>
              <a:t>4</a:t>
            </a:r>
            <a:r>
              <a:rPr sz="3150" b="1" i="0" u="none">
                <a:gradFill rotWithShape="1">
                  <a:gsLst>
                    <a:gs pos="0">
                      <a:srgbClr val="A3E635"/>
                    </a:gs>
                    <a:gs pos="50000">
                      <a:srgbClr val="34D399"/>
                    </a:gs>
                    <a:gs pos="100000">
                      <a:srgbClr val="10B981"/>
                    </a:gs>
                  </a:gsLst>
                  <a:lin ang="1200000" scaled="0"/>
                </a:gradFill>
                <a:latin typeface="Inter"/>
              </a:rPr>
              <a:t>×9s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526" y="4598194"/>
            <a:ext cx="2851249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 xml:space="preserve">Zero customer-impacting incidents on the data plane. </a:t>
            </a:r>
            <a:r>
              <a:rPr sz="1050" b="1" i="0" u="none">
                <a:solidFill>
                  <a:srgbClr val="E4E4E7"/>
                </a:solidFill>
                <a:latin typeface="Inter"/>
              </a:rPr>
              <a:t>RTO &lt; 60s</a:t>
            </a:r>
            <a:r>
              <a:rPr sz="1050" b="0" i="0" u="none">
                <a:solidFill>
                  <a:srgbClr val="A1A1AA"/>
                </a:solidFill>
                <a:latin typeface="Inter"/>
              </a:rPr>
              <a:t xml:space="preserve"> globally.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6362700"/>
            <a:ext cx="338598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 xml:space="preserve">Source · </a:t>
            </a:r>
            <a:r>
              <a:rPr sz="900" b="1" i="0" u="none">
                <a:solidFill>
                  <a:srgbClr val="A1A1AA"/>
                </a:solidFill>
                <a:latin typeface="Inter"/>
              </a:rPr>
              <a:t>status.lattice.dev</a:t>
            </a:r>
            <a:r>
              <a:rPr sz="900" b="0" i="0" u="none">
                <a:solidFill>
                  <a:srgbClr val="52525B"/>
                </a:solidFill>
                <a:latin typeface="Inter"/>
              </a:rPr>
              <a:t xml:space="preserve"> · Apr 30,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0"/>
            <a:ext cx="2069157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F5F5F7"/>
                </a:solidFill>
                <a:latin typeface="Inter"/>
              </a:rPr>
              <a:t>Trusted at production scale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gradFill flip="none" rotWithShape="1">
            <a:gsLst>
              <a:gs pos="0">
                <a:srgbClr val="1E1B4B"/>
              </a:gs>
              <a:gs pos="25000">
                <a:srgbClr val="14102E"/>
              </a:gs>
              <a:gs pos="55000">
                <a:srgbClr val="0A0820"/>
              </a:gs>
              <a:gs pos="82000">
                <a:srgbClr val="050510"/>
              </a:gs>
              <a:gs pos="100000">
                <a:srgbClr val="050510"/>
              </a:gs>
            </a:gsLst>
            <a:path path="circle">
              <a:fillToRect l="50000" t="8000" r="50000" b="92000"/>
            </a:path>
          </a:gradFill>
          <a:xfrm>
            <a:off x="0" y="0"/>
            <a:ext cx="12192000" cy="66294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853738" y="6496050"/>
            <a:ext cx="728662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03 /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83051" y="609600"/>
            <a:ext cx="2425898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C4B5FD"/>
                </a:solidFill>
                <a:latin typeface="Inter"/>
              </a:rPr>
              <a:t>SIMPLE, USAGE-BASED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38225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600" b="1" i="0" u="none">
                <a:solidFill>
                  <a:srgbClr val="F5F5F7"/>
                </a:solidFill>
                <a:latin typeface="Inter"/>
              </a:rPr>
              <a:t xml:space="preserve">Pricing that scales </a:t>
            </a:r>
            <a:r>
              <a:rPr sz="36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EC4899"/>
                    </a:gs>
                  </a:gsLst>
                  <a:lin ang="900000" scaled="0"/>
                </a:gradFill>
                <a:latin typeface="Inter"/>
              </a:rPr>
              <a:t>with your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71625"/>
            <a:ext cx="5334000" cy="44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0" i="0" u="none">
                <a:solidFill>
                  <a:srgbClr val="A1A1AA"/>
                </a:solidFill>
                <a:latin typeface="Inter"/>
              </a:rPr>
              <a:t>Start free. Pay only for what you ship. No platform fees, no per-seat lock-in.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8327" y="2214562"/>
            <a:ext cx="833735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A1A1AA"/>
                </a:solidFill>
                <a:latin typeface="Inter"/>
              </a:rPr>
              <a:t>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2062" y="2214562"/>
            <a:ext cx="1941612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0A0820"/>
                </a:solidFill>
                <a:latin typeface="Inter"/>
              </a:rPr>
              <a:t>Annual</a:t>
            </a:r>
            <a:r>
              <a:rPr sz="975" b="1" i="0" u="none">
                <a:solidFill>
                  <a:srgbClr val="A3E635"/>
                </a:solidFill>
                <a:latin typeface="Inter"/>
              </a:rPr>
              <a:t xml:space="preserve">  · Save 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057525"/>
            <a:ext cx="704999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200" b="1" i="0" u="none">
                <a:solidFill>
                  <a:srgbClr val="F5F5F7"/>
                </a:solidFill>
                <a:latin typeface="Inter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874" y="3390900"/>
            <a:ext cx="52015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475" y="4516934"/>
            <a:ext cx="1731615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1" i="0" u="none">
                <a:solidFill>
                  <a:srgbClr val="F5F5F7"/>
                </a:solidFill>
                <a:latin typeface="Inter"/>
              </a:rPr>
              <a:t>1M</a:t>
            </a:r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 requests / mo included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475" y="4783634"/>
            <a:ext cx="1718072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3 deployments, </a:t>
            </a:r>
            <a:r>
              <a:rPr sz="1012" b="1" i="0" u="none">
                <a:solidFill>
                  <a:srgbClr val="F5F5F7"/>
                </a:solidFill>
                <a:latin typeface="Inter"/>
              </a:rPr>
              <a:t>2 regions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475" y="5050334"/>
            <a:ext cx="1278880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Community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75" y="5317034"/>
            <a:ext cx="1654373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Edge runtime + KV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475" y="5583734"/>
            <a:ext cx="1060400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GitHub previews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809875"/>
            <a:ext cx="2962573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Starter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648075"/>
            <a:ext cx="296257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For solo builders shipping side projects.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943350"/>
            <a:ext cx="2962573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F5F5F7"/>
                </a:solidFill>
                <a:latin typeface="Inter"/>
              </a:rPr>
              <a:t>Start 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5148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7815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50482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5314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55816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6010275"/>
            <a:ext cx="2962573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1717A"/>
                </a:solidFill>
                <a:latin typeface="Inter"/>
              </a:rPr>
              <a:t>No credit card required.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1621" y="3276600"/>
            <a:ext cx="714077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/ seat / 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798" y="4383584"/>
            <a:ext cx="1990130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1" i="0" u="none">
                <a:solidFill>
                  <a:srgbClr val="F5F5F7"/>
                </a:solidFill>
                <a:latin typeface="Inter"/>
              </a:rPr>
              <a:t>50M</a:t>
            </a:r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 requests, then </a:t>
            </a:r>
            <a:r>
              <a:rPr sz="1012" b="1" i="0" u="none">
                <a:solidFill>
                  <a:srgbClr val="F5F5F7"/>
                </a:solidFill>
                <a:latin typeface="Inter"/>
              </a:rPr>
              <a:t>$0.40 /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2798" y="4650284"/>
            <a:ext cx="2344936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Unlimited deployments, </a:t>
            </a:r>
            <a:r>
              <a:rPr sz="1012" b="1" i="0" u="none">
                <a:solidFill>
                  <a:srgbClr val="F5F5F7"/>
                </a:solidFill>
                <a:latin typeface="Inter"/>
              </a:rPr>
              <a:t>31 regions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798" y="4916984"/>
            <a:ext cx="1962894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SLO dashboards + </a:t>
            </a:r>
            <a:r>
              <a:rPr sz="1012" b="1" i="0" u="none">
                <a:solidFill>
                  <a:srgbClr val="F5F5F7"/>
                </a:solidFill>
                <a:latin typeface="Inter"/>
              </a:rPr>
              <a:t>p95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2798" y="5183684"/>
            <a:ext cx="2145209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SSO, audit log, role-based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2798" y="5450384"/>
            <a:ext cx="1374428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Priority Slack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2798" y="5717084"/>
            <a:ext cx="2226171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Custom domains + edge functions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27018" y="2333625"/>
            <a:ext cx="1337667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820"/>
                </a:solidFill>
                <a:latin typeface="Inter"/>
              </a:rPr>
              <a:t>Most popular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7048" y="2695575"/>
            <a:ext cx="323775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E9D5FF"/>
                </a:solidFill>
                <a:latin typeface="Inter"/>
              </a:rPr>
              <a:t>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7048" y="2943225"/>
            <a:ext cx="1057424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200" b="1" i="0" u="none">
                <a:gradFill rotWithShape="1">
                  <a:gsLst>
                    <a:gs pos="0">
                      <a:srgbClr val="F5F5F7"/>
                    </a:gs>
                    <a:gs pos="50000">
                      <a:srgbClr val="E9D5FF"/>
                    </a:gs>
                    <a:gs pos="100000">
                      <a:srgbClr val="FBCFE8"/>
                    </a:gs>
                  </a:gsLst>
                  <a:lin ang="1200000" scaled="0"/>
                </a:gradFill>
                <a:latin typeface="Inter"/>
              </a:rPr>
              <a:t>$49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7048" y="3533775"/>
            <a:ext cx="323775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For teams shipping production AI features.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7048" y="3829050"/>
            <a:ext cx="3237756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820"/>
                </a:solidFill>
                <a:latin typeface="Inter"/>
              </a:rPr>
              <a:t>Start 14-day trial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7048" y="43815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BCFE8"/>
                </a:solidFill>
                <a:latin typeface="Inter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7048" y="46482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BCFE8"/>
                </a:solidFill>
                <a:latin typeface="Inter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7048" y="49149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BCFE8"/>
                </a:solidFill>
                <a:latin typeface="Inter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7048" y="51816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BCFE8"/>
                </a:solidFill>
                <a:latin typeface="Inter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77048" y="54483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BCFE8"/>
                </a:solidFill>
                <a:latin typeface="Inter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7048" y="57150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BCFE8"/>
                </a:solidFill>
                <a:latin typeface="Inter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77048" y="6143625"/>
            <a:ext cx="3237756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1717A"/>
                </a:solidFill>
                <a:latin typeface="Inter"/>
              </a:rPr>
              <a:t>Includes everything in Starter.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1554" y="3057525"/>
            <a:ext cx="2153989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200" b="1" i="0" u="none">
                <a:solidFill>
                  <a:srgbClr val="F5F5F7"/>
                </a:solidFill>
                <a:latin typeface="Inter"/>
              </a:rPr>
              <a:t>Custom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7304" y="4516934"/>
            <a:ext cx="2219920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Volume pricing &amp; </a:t>
            </a:r>
            <a:r>
              <a:rPr sz="1012" b="1" i="0" u="none">
                <a:solidFill>
                  <a:srgbClr val="F5F5F7"/>
                </a:solidFill>
                <a:latin typeface="Inter"/>
              </a:rPr>
              <a:t>committed use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7304" y="4783634"/>
            <a:ext cx="2354461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VPC peering, BYOK, </a:t>
            </a:r>
            <a:r>
              <a:rPr sz="1012" b="1" i="0" u="none">
                <a:solidFill>
                  <a:srgbClr val="F5F5F7"/>
                </a:solidFill>
                <a:latin typeface="Inter"/>
              </a:rPr>
              <a:t>SOC 2 + HIPAA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67304" y="5050334"/>
            <a:ext cx="1881485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Dedicated solutions architect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67304" y="5317034"/>
            <a:ext cx="1722090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99.99% SLA + 24/7 on-call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67304" y="5583734"/>
            <a:ext cx="1810792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SSO/SCIM, custom retention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1554" y="2809875"/>
            <a:ext cx="296272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Enterprise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1554" y="3648075"/>
            <a:ext cx="296272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For platforms with regulated workloads.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1554" y="3943350"/>
            <a:ext cx="296272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F5F5F7"/>
                </a:solidFill>
                <a:latin typeface="Inter"/>
              </a:rPr>
              <a:t>Talk to sales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1554" y="45148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1554" y="47815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1554" y="50482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81554" y="5314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1554" y="55816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1554" y="6010275"/>
            <a:ext cx="296272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1717A"/>
                </a:solidFill>
                <a:latin typeface="Inter"/>
              </a:rPr>
              <a:t>Includes everything in Pro.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" y="6496050"/>
            <a:ext cx="3538835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All prices in USD · Billed monthly or annually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0" y="0"/>
            <a:ext cx="2650480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F5F5F7"/>
                </a:solidFill>
                <a:latin typeface="Inter"/>
              </a:rPr>
              <a:t>Pricing that scales with your traffic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gradFill flip="none" rotWithShape="1">
            <a:gsLst>
              <a:gs pos="0">
                <a:srgbClr val="1E1B4B"/>
              </a:gs>
              <a:gs pos="28000">
                <a:srgbClr val="14102E"/>
              </a:gs>
              <a:gs pos="55000">
                <a:srgbClr val="0A0820"/>
              </a:gs>
              <a:gs pos="80000">
                <a:srgbClr val="050510"/>
              </a:gs>
              <a:gs pos="100000">
                <a:srgbClr val="050510"/>
              </a:gs>
            </a:gsLst>
            <a:path path="circle">
              <a:fillToRect l="20000" t="80000" r="80000" b="20000"/>
            </a:path>
          </a:gradFill>
          <a:xfrm>
            <a:off x="0" y="0"/>
            <a:ext cx="12192000" cy="68580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853738" y="6496050"/>
            <a:ext cx="728662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04 /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2317403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BEF264"/>
                </a:solidFill>
                <a:latin typeface="Inter"/>
              </a:rPr>
              <a:t>PLATFORM · ONE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66775"/>
            <a:ext cx="5206752" cy="8399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F5F5F7"/>
                </a:solidFill>
                <a:latin typeface="Inter"/>
              </a:rPr>
              <a:t>Everything you need</a:t>
            </a:r>
          </a:p>
          <a:p>
            <a:pPr algn="l"/>
            <a:r>
              <a:rPr sz="3150" b="1" i="0" u="none">
                <a:solidFill>
                  <a:srgbClr val="F5F5F7"/>
                </a:solidFill>
                <a:latin typeface="Inter"/>
              </a:rPr>
              <a:t xml:space="preserve">to ship </a:t>
            </a:r>
            <a:r>
              <a:rPr sz="3150" b="1" i="0" u="none">
                <a:gradFill rotWithShape="1">
                  <a:gsLst>
                    <a:gs pos="0">
                      <a:srgbClr val="A3E635"/>
                    </a:gs>
                    <a:gs pos="50000">
                      <a:srgbClr val="34D399"/>
                    </a:gs>
                    <a:gs pos="100000">
                      <a:srgbClr val="06B6D4"/>
                    </a:gs>
                  </a:gsLst>
                  <a:lin ang="900000" scaled="0"/>
                </a:gradFill>
                <a:latin typeface="Inter"/>
              </a:rPr>
              <a:t>AI in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3900" y="1087041"/>
            <a:ext cx="3238500" cy="619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 u="none">
                <a:solidFill>
                  <a:srgbClr val="A1A1AA"/>
                </a:solidFill>
                <a:latin typeface="Inter"/>
              </a:rPr>
              <a:t>Six primitives, designed to compose. Pick the ones you need — replace any of them with your own when you outgrow 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466975"/>
            <a:ext cx="3876973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9D5FF"/>
                </a:solidFill>
                <a:latin typeface="Inter"/>
              </a:rPr>
              <a:t xml:space="preserve">
        Inference Edge
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2905125"/>
            <a:ext cx="3429000" cy="1899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50" b="1" i="0" u="none">
                <a:gradFill rotWithShape="1">
                  <a:gsLst>
                    <a:gs pos="0">
                      <a:srgbClr val="F5F5F7"/>
                    </a:gs>
                    <a:gs pos="50000">
                      <a:srgbClr val="E9D5FF"/>
                    </a:gs>
                    <a:gs pos="100000">
                      <a:srgbClr val="FBCFE8"/>
                    </a:gs>
                  </a:gsLst>
                  <a:lin ang="1200000" scaled="0"/>
                </a:gradFill>
                <a:latin typeface="Inter"/>
              </a:rPr>
              <a:t>Sub-50ms</a:t>
            </a:r>
            <a:r>
              <a:rPr sz="2850" b="1" i="0" u="none">
                <a:solidFill>
                  <a:srgbClr val="F5F5F7"/>
                </a:solidFill>
                <a:latin typeface="Inter"/>
              </a:rPr>
              <a:t xml:space="preserve"> inference, in every region your users live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938266"/>
            <a:ext cx="3619500" cy="8286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7" b="0" i="0" u="none">
                <a:solidFill>
                  <a:srgbClr val="D4D4D8"/>
                </a:solidFill>
                <a:latin typeface="Inter"/>
              </a:rPr>
              <a:t xml:space="preserve">
        Cold-start </a:t>
            </a:r>
            <a:r>
              <a:rPr sz="1087" b="1" i="0" u="none">
                <a:solidFill>
                  <a:srgbClr val="FBCFE8"/>
                </a:solidFill>
                <a:latin typeface="Inter"/>
              </a:rPr>
              <a:t>under 90ms</a:t>
            </a:r>
            <a:r>
              <a:rPr sz="1087" b="0" i="0" u="none">
                <a:solidFill>
                  <a:srgbClr val="D4D4D8"/>
                </a:solidFill>
                <a:latin typeface="Inter"/>
              </a:rPr>
              <a:t xml:space="preserve"> on Anthropic, OpenAI, Mistral and any model you bring.
        Automatic fallback, streaming-first, request-level cost telemetry.
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5938391"/>
            <a:ext cx="3876973" cy="8340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1717A"/>
                </a:solidFill>
                <a:latin typeface="Consolas"/>
              </a:rPr>
              <a:t>// One call. Any model. Any region.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
</a:t>
            </a:r>
            <a:r>
              <a:rPr sz="900" b="0" i="0" u="none">
                <a:solidFill>
                  <a:srgbClr val="C4B5FD"/>
                </a:solidFill>
                <a:latin typeface="Consolas"/>
              </a:rPr>
              <a:t>const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 r = </a:t>
            </a:r>
            <a:r>
              <a:rPr sz="900" b="0" i="0" u="none">
                <a:solidFill>
                  <a:srgbClr val="C4B5FD"/>
                </a:solidFill>
                <a:latin typeface="Consolas"/>
              </a:rPr>
              <a:t>await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 lattice.</a:t>
            </a:r>
            <a:r>
              <a:rPr sz="900" b="0" i="0" u="none">
                <a:solidFill>
                  <a:srgbClr val="67E8F9"/>
                </a:solidFill>
                <a:latin typeface="Consolas"/>
              </a:rPr>
              <a:t>infer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({
  model: </a:t>
            </a:r>
            <a:r>
              <a:rPr sz="900" b="0" i="0" u="none">
                <a:solidFill>
                  <a:srgbClr val="BEF264"/>
                </a:solidFill>
                <a:latin typeface="Consolas"/>
              </a:rPr>
              <a:t>"claude-opus-4.7"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,
  region: </a:t>
            </a:r>
            <a:r>
              <a:rPr sz="900" b="0" i="0" u="none">
                <a:solidFill>
                  <a:srgbClr val="BEF264"/>
                </a:solidFill>
                <a:latin typeface="Consolas"/>
              </a:rPr>
              <a:t>"auto"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,
  stream: </a:t>
            </a:r>
            <a:r>
              <a:rPr sz="900" b="0" i="0" u="none">
                <a:solidFill>
                  <a:srgbClr val="C4B5FD"/>
                </a:solidFill>
                <a:latin typeface="Consolas"/>
              </a:rPr>
              <a:t>true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,
});
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6848475"/>
            <a:ext cx="879872" cy="9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Streaming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1897" y="6848475"/>
            <a:ext cx="730895" cy="9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Failover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9942" y="6848475"/>
            <a:ext cx="897285" cy="9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31 regions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377" y="6848475"/>
            <a:ext cx="938212" cy="9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Cost-aware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7648" y="2390775"/>
            <a:ext cx="264303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
        Observability
 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648" y="2790825"/>
            <a:ext cx="2643039" cy="4819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Trace every token, prompt, retry.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7648" y="3348930"/>
            <a:ext cx="264303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OTel-native. Pipe to Datadog, Honeycomb, or query in-product.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3236" y="3968055"/>
            <a:ext cx="859185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+3.4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3236" y="4206180"/>
            <a:ext cx="859185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vs. last 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286" y="2390775"/>
            <a:ext cx="264303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
        Evals
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0286" y="2790825"/>
            <a:ext cx="2643039" cy="4819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CI for prompts &amp; agents.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0286" y="3348930"/>
            <a:ext cx="264303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Block deploys when quality regresses. Score: </a:t>
            </a:r>
            <a:r>
              <a:rPr sz="975" b="1" i="0" u="none">
                <a:solidFill>
                  <a:srgbClr val="E4E4E7"/>
                </a:solidFill>
                <a:latin typeface="Inter"/>
              </a:rPr>
              <a:t>F1, BLEU, custom rubric</a:t>
            </a:r>
            <a:r>
              <a:rPr sz="975" b="0" i="0" u="none">
                <a:solidFill>
                  <a:srgbClr val="A1A1AA"/>
                </a:solidFill>
                <a:latin typeface="Inter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6854" y="4087118"/>
            <a:ext cx="29646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3E635"/>
                </a:solidFill>
                <a:latin typeface="Inter"/>
              </a:rPr>
              <a:t>92%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7648" y="4514850"/>
            <a:ext cx="264303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
        Caching
 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7648" y="4914900"/>
            <a:ext cx="2643039" cy="4819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Semantic + KV cache, free.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7648" y="5473005"/>
            <a:ext cx="2643039" cy="5572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Up to </a:t>
            </a:r>
            <a:r>
              <a:rPr sz="975" b="1" i="0" u="none">
                <a:solidFill>
                  <a:srgbClr val="E4E4E7"/>
                </a:solidFill>
                <a:latin typeface="Inter"/>
              </a:rPr>
              <a:t>78% cost reduction</a:t>
            </a:r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 on repeat prompts. Auto-invalidates on schema drift.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0286" y="4514850"/>
            <a:ext cx="264303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
        Guardrails
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0286" y="4914900"/>
            <a:ext cx="2643039" cy="4819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Policy &amp; PII, before the model sees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0286" y="5473005"/>
            <a:ext cx="264303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Drop-in moderation. </a:t>
            </a:r>
            <a:r>
              <a:rPr sz="975" b="1" i="0" u="none">
                <a:solidFill>
                  <a:srgbClr val="E4E4E7"/>
                </a:solidFill>
                <a:latin typeface="Inter"/>
              </a:rPr>
              <a:t>SOC 2 + HIPAA</a:t>
            </a:r>
            <a:r>
              <a:rPr sz="975" b="0" i="0" u="none">
                <a:solidFill>
                  <a:srgbClr val="A1A1AA"/>
                </a:solidFill>
                <a:latin typeface="Inter"/>
              </a:rPr>
              <a:t>-ready, per-tenant rules.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0286" y="5844480"/>
            <a:ext cx="383232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PII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0669" y="5844480"/>
            <a:ext cx="709315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Toxicity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7134" y="5844480"/>
            <a:ext cx="785812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Jailbreak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0286" y="6120705"/>
            <a:ext cx="833884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+24 more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496050"/>
            <a:ext cx="320918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Six primitives · One SDK · Six lines of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0"/>
            <a:ext cx="3399681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F5F5F7"/>
                </a:solidFill>
                <a:latin typeface="Inter"/>
              </a:rPr>
              <a:t>Everything you need to ship AI in production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gradFill flip="none" rotWithShape="1">
            <a:gsLst>
              <a:gs pos="0">
                <a:srgbClr val="1E1B4B"/>
              </a:gs>
              <a:gs pos="28000">
                <a:srgbClr val="14102E"/>
              </a:gs>
              <a:gs pos="55000">
                <a:srgbClr val="0A0820"/>
              </a:gs>
              <a:gs pos="80000">
                <a:srgbClr val="050510"/>
              </a:gs>
              <a:gs pos="100000">
                <a:srgbClr val="050510"/>
              </a:gs>
            </a:gsLst>
            <a:path path="circle">
              <a:fillToRect l="80000" t="90000" r="20000" b="10000"/>
            </a:path>
          </a:gradFill>
          <a:xfrm>
            <a:off x="0" y="0"/>
            <a:ext cx="12192000" cy="66294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853738" y="6496050"/>
            <a:ext cx="728662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05 /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316423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9A8D4"/>
                </a:solidFill>
                <a:latin typeface="Inter"/>
              </a:rPr>
              <a:t>CUSTOMERS · IN THEIR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9175"/>
            <a:ext cx="6830020" cy="4600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 xml:space="preserve">Teams ship faster </a:t>
            </a:r>
            <a:r>
              <a:rPr sz="3450" b="1" i="0" u="none">
                <a:gradFill rotWithShape="1">
                  <a:gsLst>
                    <a:gs pos="0">
                      <a:srgbClr val="FBBF24"/>
                    </a:gs>
                    <a:gs pos="50000">
                      <a:srgbClr val="F472B6"/>
                    </a:gs>
                    <a:gs pos="100000">
                      <a:srgbClr val="EC4899"/>
                    </a:gs>
                  </a:gsLst>
                  <a:lin ang="900000" scaled="0"/>
                </a:gradFill>
                <a:latin typeface="Inter"/>
              </a:rPr>
              <a:t>on Lattice.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54604" y="1126778"/>
            <a:ext cx="212779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b="0" i="0" u="none">
                <a:solidFill>
                  <a:srgbClr val="FBBF24"/>
                </a:solidFill>
                <a:latin typeface="Inter"/>
              </a:rPr>
              <a:t>★ ★ ★ ★ 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54604" y="1336328"/>
            <a:ext cx="212779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F5F5F7"/>
                </a:solidFill>
                <a:latin typeface="Inter"/>
              </a:rPr>
              <a:t>4.9</a:t>
            </a:r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 on G2 · </a:t>
            </a:r>
            <a:r>
              <a:rPr sz="975" b="1" i="0" u="none">
                <a:solidFill>
                  <a:srgbClr val="F5F5F7"/>
                </a:solidFill>
                <a:latin typeface="Inter"/>
              </a:rPr>
              <a:t>240+</a:t>
            </a:r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 verified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8275" y="5453062"/>
            <a:ext cx="150748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5F5F7"/>
                </a:solidFill>
                <a:latin typeface="Inter"/>
              </a:rPr>
              <a:t>Maya Reyes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8275" y="5624512"/>
            <a:ext cx="150748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A1A1AA"/>
                </a:solidFill>
                <a:latin typeface="Inter"/>
              </a:rPr>
              <a:t>Head of Platform · Notion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733675"/>
            <a:ext cx="30416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Source Serif Pro"/>
              </a:rPr>
              <a:t>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400425"/>
            <a:ext cx="3041600" cy="11809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E4E4E7"/>
                </a:solidFill>
                <a:latin typeface="Inter"/>
              </a:rPr>
              <a:t xml:space="preserve">We replaced four vendors with Lattice and our AI cost dropped </a:t>
            </a:r>
            <a:r>
              <a:rPr sz="12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Inter"/>
              </a:rPr>
              <a:t>72% in a quarter.</a:t>
            </a:r>
            <a:r>
              <a:rPr sz="1200" b="0" i="0" u="none">
                <a:solidFill>
                  <a:srgbClr val="E4E4E7"/>
                </a:solidFill>
                <a:latin typeface="Inter"/>
              </a:rPr>
              <a:t xml:space="preserve"> The eval pipeline alone saved us from shipping a regression on launch 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714726"/>
            <a:ext cx="88329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▲ 72%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8170" y="4714726"/>
            <a:ext cx="70499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Series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538162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820"/>
                </a:solidFill>
                <a:latin typeface="Inter"/>
              </a:rPr>
              <a:t>MR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467" y="5491162"/>
            <a:ext cx="487859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NTN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5675" y="5453062"/>
            <a:ext cx="132903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5F5F7"/>
                </a:solidFill>
                <a:latin typeface="Inter"/>
              </a:rPr>
              <a:t>Jordan Kim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5675" y="5624512"/>
            <a:ext cx="132903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A1A1AA"/>
                </a:solidFill>
                <a:latin typeface="Inter"/>
              </a:rPr>
              <a:t>Staff Engineer · Linear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125" y="2733675"/>
            <a:ext cx="30416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gradFill rotWithShape="1">
                  <a:gsLst>
                    <a:gs pos="0">
                      <a:srgbClr val="06B6D4"/>
                    </a:gs>
                    <a:gs pos="100000">
                      <a:srgbClr val="6366F1"/>
                    </a:gs>
                  </a:gsLst>
                  <a:lin ang="1200000" scaled="0"/>
                </a:gradFill>
                <a:latin typeface="Source Serif Pro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5125" y="3400425"/>
            <a:ext cx="3041600" cy="9447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E4E4E7"/>
                </a:solidFill>
                <a:latin typeface="Inter"/>
              </a:rPr>
              <a:t xml:space="preserve">From </a:t>
            </a:r>
            <a:r>
              <a:rPr sz="1200" b="1" i="0" u="none">
                <a:gradFill rotWithShape="1">
                  <a:gsLst>
                    <a:gs pos="0">
                      <a:srgbClr val="06B6D4"/>
                    </a:gs>
                    <a:gs pos="100000">
                      <a:srgbClr val="818CF8"/>
                    </a:gs>
                  </a:gsLst>
                  <a:lin ang="1200000" scaled="0"/>
                </a:gradFill>
                <a:latin typeface="Inter"/>
              </a:rPr>
              <a:t>prototype to 8M users</a:t>
            </a:r>
            <a:r>
              <a:rPr sz="1200" b="0" i="0" u="none">
                <a:solidFill>
                  <a:srgbClr val="E4E4E7"/>
                </a:solidFill>
                <a:latin typeface="Inter"/>
              </a:rPr>
              <a:t xml:space="preserve"> without a platform team. The observability story is what closed it for us — every prompt, every retry, traced.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5125" y="4478536"/>
            <a:ext cx="821978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▲ 8M MAU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4253" y="4478536"/>
            <a:ext cx="80322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Public 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5125" y="538162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820"/>
                </a:solidFill>
                <a:latin typeface="Inter"/>
              </a:rPr>
              <a:t>JK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0476" y="5491162"/>
            <a:ext cx="476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LNR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76" y="5453062"/>
            <a:ext cx="829717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5F5F7"/>
                </a:solidFill>
                <a:latin typeface="Inter"/>
              </a:rPr>
              <a:t>Ade Okafor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3076" y="5624512"/>
            <a:ext cx="829717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A1A1AA"/>
                </a:solidFill>
                <a:latin typeface="Inter"/>
              </a:rPr>
              <a:t>CISO · Ramp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26" y="2733675"/>
            <a:ext cx="3041749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gradFill rotWithShape="1">
                  <a:gsLst>
                    <a:gs pos="0">
                      <a:srgbClr val="A3E635"/>
                    </a:gs>
                    <a:gs pos="100000">
                      <a:srgbClr val="10B981"/>
                    </a:gs>
                  </a:gsLst>
                  <a:lin ang="1200000" scaled="0"/>
                </a:gradFill>
                <a:latin typeface="Source Serif Pro"/>
              </a:rPr>
              <a:t>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526" y="3400425"/>
            <a:ext cx="3041749" cy="9447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E4E4E7"/>
                </a:solidFill>
                <a:latin typeface="Inter"/>
              </a:rPr>
              <a:t xml:space="preserve">Our security review took </a:t>
            </a:r>
            <a:r>
              <a:rPr sz="1200" b="1" i="0" u="none">
                <a:gradFill rotWithShape="1">
                  <a:gsLst>
                    <a:gs pos="0">
                      <a:srgbClr val="A3E635"/>
                    </a:gs>
                    <a:gs pos="100000">
                      <a:srgbClr val="10B981"/>
                    </a:gs>
                  </a:gsLst>
                  <a:lin ang="1200000" scaled="0"/>
                </a:gradFill>
                <a:latin typeface="Inter"/>
              </a:rPr>
              <a:t>three days, not three months.</a:t>
            </a:r>
            <a:r>
              <a:rPr sz="1200" b="0" i="0" u="none">
                <a:solidFill>
                  <a:srgbClr val="E4E4E7"/>
                </a:solidFill>
                <a:latin typeface="Inter"/>
              </a:rPr>
              <a:t xml:space="preserve"> SOC 2, BYOK, audit logs — everything was already in the box. It just worked.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26" y="4478536"/>
            <a:ext cx="979438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▲ 30× faster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9114" y="4478536"/>
            <a:ext cx="83239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Regulated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526" y="538162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820"/>
                </a:solidFill>
                <a:latin typeface="Inter"/>
              </a:rPr>
              <a:t>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41534" y="5491162"/>
            <a:ext cx="502741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RMP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96050"/>
            <a:ext cx="256014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240+ teams · 31 regions · One SDK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0"/>
            <a:ext cx="2141190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F5F5F7"/>
                </a:solidFill>
                <a:latin typeface="Inter"/>
              </a:rPr>
              <a:t>Teams ship faster on Lattice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1A1A1A">
                  <a:alpha val="45000"/>
                </a:srgbClr>
              </a:gs>
              <a:gs pos="16667">
                <a:srgbClr val="1A1A1A">
                  <a:alpha val="37500"/>
                </a:srgbClr>
              </a:gs>
              <a:gs pos="33333">
                <a:srgbClr val="1A1A1A">
                  <a:alpha val="30000"/>
                </a:srgbClr>
              </a:gs>
              <a:gs pos="50000">
                <a:srgbClr val="1A1A1A">
                  <a:alpha val="22500"/>
                </a:srgbClr>
              </a:gs>
              <a:gs pos="66667">
                <a:srgbClr val="1A1A1A">
                  <a:alpha val="15000"/>
                </a:srgbClr>
              </a:gs>
              <a:gs pos="83333">
                <a:srgbClr val="1A1A1A">
                  <a:alpha val="7500"/>
                </a:srgbClr>
              </a:gs>
              <a:gs pos="10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7315200" y="-7505700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gradFill flip="none" rotWithShape="1">
            <a:gsLst>
              <a:gs pos="0">
                <a:srgbClr val="FAFAF9">
                  <a:alpha val="45000"/>
                </a:srgbClr>
              </a:gs>
              <a:gs pos="16667">
                <a:srgbClr val="FAFAF9">
                  <a:alpha val="37500"/>
                </a:srgbClr>
              </a:gs>
              <a:gs pos="33333">
                <a:srgbClr val="FAFAF9">
                  <a:alpha val="30000"/>
                </a:srgbClr>
              </a:gs>
              <a:gs pos="50000">
                <a:srgbClr val="FAFAF9">
                  <a:alpha val="22500"/>
                </a:srgbClr>
              </a:gs>
              <a:gs pos="66667">
                <a:srgbClr val="FAFAF9">
                  <a:alpha val="15000"/>
                </a:srgbClr>
              </a:gs>
              <a:gs pos="83333">
                <a:srgbClr val="FAFAF9">
                  <a:alpha val="7500"/>
                </a:srgbClr>
              </a:gs>
              <a:gs pos="100000">
                <a:srgbClr val="FAFA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2438400" y="-7505700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gradFill flip="none" rotWithShape="1">
            <a:gsLst>
              <a:gs pos="0">
                <a:srgbClr val="F5F5F7">
                  <a:alpha val="45000"/>
                </a:srgbClr>
              </a:gs>
              <a:gs pos="16667">
                <a:srgbClr val="F5F5F7">
                  <a:alpha val="37500"/>
                </a:srgbClr>
              </a:gs>
              <a:gs pos="33333">
                <a:srgbClr val="F5F5F7">
                  <a:alpha val="30000"/>
                </a:srgbClr>
              </a:gs>
              <a:gs pos="50000">
                <a:srgbClr val="F5F5F7">
                  <a:alpha val="22500"/>
                </a:srgbClr>
              </a:gs>
              <a:gs pos="66667">
                <a:srgbClr val="F5F5F7">
                  <a:alpha val="15000"/>
                </a:srgbClr>
              </a:gs>
              <a:gs pos="83333">
                <a:srgbClr val="F5F5F7">
                  <a:alpha val="7500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7315200" y="-2705100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gradFill flip="none" rotWithShape="1">
            <a:gsLst>
              <a:gs pos="0">
                <a:srgbClr val="D4D4D8">
                  <a:alpha val="45000"/>
                </a:srgbClr>
              </a:gs>
              <a:gs pos="16667">
                <a:srgbClr val="D4D4D8">
                  <a:alpha val="37500"/>
                </a:srgbClr>
              </a:gs>
              <a:gs pos="33333">
                <a:srgbClr val="D4D4D8">
                  <a:alpha val="30000"/>
                </a:srgbClr>
              </a:gs>
              <a:gs pos="50000">
                <a:srgbClr val="D4D4D8">
                  <a:alpha val="22500"/>
                </a:srgbClr>
              </a:gs>
              <a:gs pos="66667">
                <a:srgbClr val="D4D4D8">
                  <a:alpha val="15000"/>
                </a:srgbClr>
              </a:gs>
              <a:gs pos="83333">
                <a:srgbClr val="D4D4D8">
                  <a:alpha val="7500"/>
                </a:srgbClr>
              </a:gs>
              <a:gs pos="100000">
                <a:srgbClr val="D4D4D8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2438400" y="-2705100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gradFill flip="none" rotWithShape="1">
            <a:gsLst>
              <a:gs pos="0">
                <a:srgbClr val="2A1A5E"/>
              </a:gs>
              <a:gs pos="22000">
                <a:srgbClr val="1E1B4B"/>
              </a:gs>
              <a:gs pos="45000">
                <a:srgbClr val="14102E"/>
              </a:gs>
              <a:gs pos="70000">
                <a:srgbClr val="0A0820"/>
              </a:gs>
              <a:gs pos="90000">
                <a:srgbClr val="050510"/>
              </a:gs>
              <a:gs pos="100000">
                <a:srgbClr val="050510"/>
              </a:gs>
            </a:gsLst>
            <a:path path="circle">
              <a:fillToRect l="50000" t="50000" r="50000" b="5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gradFill flip="none" rotWithShape="1">
            <a:gsLst>
              <a:gs pos="0">
                <a:srgbClr val="C084FC">
                  <a:alpha val="40000"/>
                </a:srgbClr>
              </a:gs>
              <a:gs pos="38000">
                <a:srgbClr val="6366F1">
                  <a:alpha val="22000"/>
                </a:srgbClr>
              </a:gs>
              <a:gs pos="60000">
                <a:srgbClr val="06B6D4">
                  <a:alpha val="10000"/>
                </a:srgbClr>
              </a:gs>
              <a:gs pos="78000">
                <a:srgbClr val="06B6D4">
                  <a:alpha val="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809750" y="-2095500"/>
            <a:ext cx="8572500" cy="4953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gradFill flip="none" rotWithShape="1">
            <a:gsLst>
              <a:gs pos="0">
                <a:srgbClr val="EC4899">
                  <a:alpha val="28000"/>
                </a:srgbClr>
              </a:gs>
              <a:gs pos="40000">
                <a:srgbClr val="C084FC">
                  <a:alpha val="16000"/>
                </a:srgbClr>
              </a:gs>
              <a:gs pos="72000">
                <a:srgbClr val="C084FC">
                  <a:alpha val="0"/>
                </a:srgbClr>
              </a:gs>
              <a:gs pos="100000">
                <a:srgbClr val="C084FC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714500" y="4762500"/>
            <a:ext cx="8763000" cy="40005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762000" y="5143500"/>
            <a:ext cx="10668000" cy="57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26786" y="0"/>
                  <a:pt x="71429" y="0"/>
                  <a:pt x="100000" y="10000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571500" y="5524500"/>
            <a:ext cx="11049000" cy="57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27586" y="0"/>
                  <a:pt x="72414" y="0"/>
                  <a:pt x="100000" y="10000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952500" y="4762500"/>
            <a:ext cx="10287000" cy="57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25926" y="0"/>
                  <a:pt x="72222" y="0"/>
                  <a:pt x="100000" y="10000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892725" y="990600"/>
            <a:ext cx="2530376" cy="142875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D4D4D8"/>
                </a:solidFill>
                <a:latin typeface="Inter"/>
              </a:rPr>
              <a:t>READY WHEN YOU ARE</a:t>
            </a:r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  ·  v4.7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626" y="1524000"/>
            <a:ext cx="11512748" cy="210309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800" b="1" i="0" u="none">
                <a:solidFill>
                  <a:srgbClr val="F5F5F7"/>
                </a:solidFill>
                <a:latin typeface="Inter"/>
              </a:rPr>
              <a:t>Ship the future,</a:t>
            </a:r>
          </a:p>
          <a:p>
            <a:pPr algn="ctr"/>
            <a:r>
              <a:rPr sz="7800" b="1" i="0" u="none">
                <a:gradFill rotWithShape="1">
                  <a:gsLst>
                    <a:gs pos="0">
                      <a:srgbClr val="818CF8"/>
                    </a:gs>
                    <a:gs pos="22000">
                      <a:srgbClr val="A78BFA"/>
                    </a:gs>
                    <a:gs pos="48000">
                      <a:srgbClr val="C084FC"/>
                    </a:gs>
                    <a:gs pos="72000">
                      <a:srgbClr val="F472B6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Inter"/>
              </a:rPr>
              <a:t>faster than yesterday.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0102" y="3667125"/>
            <a:ext cx="4851648" cy="4899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25" b="0" i="0" u="none">
                <a:solidFill>
                  <a:srgbClr val="A1A1AA"/>
                </a:solidFill>
                <a:latin typeface="Inter"/>
              </a:rPr>
              <a:t xml:space="preserve">Spin up your first deployment in </a:t>
            </a:r>
            <a:r>
              <a:rPr sz="1425" b="1" i="0" u="none">
                <a:solidFill>
                  <a:srgbClr val="E4E4E7"/>
                </a:solidFill>
                <a:latin typeface="Inter"/>
              </a:rPr>
              <a:t>under 90 seconds.</a:t>
            </a:r>
          </a:p>
          <a:p>
            <a:pPr algn="ctr"/>
            <a:r>
              <a:rPr sz="1425" b="0" i="0" u="none">
                <a:solidFill>
                  <a:srgbClr val="A1A1AA"/>
                </a:solidFill>
                <a:latin typeface="Inter"/>
              </a:rPr>
              <a:t>30-day free trial · no credit card · cancel anytime.</a:t>
            </a:r>
          </a:p>
        </p:txBody>
      </p:sp>
      <p:sp>
        <p:nvSpPr>
          <p:cNvPr id="18" name="TextBox 17"/>
          <p:cNvSpPr txBox="1"/>
          <p:nvPr/>
        </p:nvSpPr>
        <p:spPr>
          <a:gradFill flip="none" rotWithShape="1">
            <a:gsLst>
              <a:gs pos="0">
                <a:srgbClr val="FFFFFF"/>
              </a:gs>
              <a:gs pos="16667">
                <a:srgbClr val="FBFAFB"/>
              </a:gs>
              <a:gs pos="33333">
                <a:srgbClr val="F7F6F6"/>
              </a:gs>
              <a:gs pos="50000">
                <a:srgbClr val="F2F1F2"/>
              </a:gs>
              <a:gs pos="66667">
                <a:srgbClr val="EEEDEF"/>
              </a:gs>
              <a:gs pos="83333">
                <a:srgbClr val="E9E8EB"/>
              </a:gs>
              <a:gs pos="100000">
                <a:srgbClr val="E4E4E7"/>
              </a:gs>
            </a:gsLst>
            <a:lin ang="5400000" scaled="0"/>
          </a:gradFill>
          <a:xfrm>
            <a:off x="4342805" y="4591050"/>
            <a:ext cx="1033462" cy="180975"/>
          </a:xfrm>
          <a:prstGeom prst="rect">
            <a:avLst/>
          </a:prstGeom>
          <a:effectLst>
            <a:outerShdw blurRad="419100" dist="152400" dir="5400000" algn="ctr" rotWithShape="0">
              <a:srgbClr val="FFFFFF">
                <a:alpha val="22000"/>
              </a:srgbClr>
            </a:outerShdw>
            <a:outerShdw blurRad="76200" dist="38100" dir="5400000" algn="ctr" rotWithShape="0">
              <a:srgbClr val="000000">
                <a:alpha val="30000"/>
              </a:srgbClr>
            </a:outerShdw>
            <a:innerShdw blurRad="0" dist="9525" dir="16200000">
              <a:srgbClr val="000000">
                <a:alpha val="10000"/>
              </a:srgbClr>
            </a:innerShdw>
            <a:innerShdw blurRad="0" dist="9525" dir="5400000">
              <a:srgbClr val="FFFFFF">
                <a:alpha val="80000"/>
              </a:srgbClr>
            </a:innerShdw>
          </a:effectLst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9090B"/>
                </a:solidFill>
                <a:latin typeface="Inter"/>
              </a:rPr>
              <a:t>Start free</a:t>
            </a:r>
            <a:r>
              <a:rPr sz="1050" b="1" i="0" u="none">
                <a:solidFill>
                  <a:srgbClr val="09090B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A7AF1"/>
              </a:gs>
              <a:gs pos="66667">
                <a:srgbClr val="D370E3"/>
              </a:gs>
              <a:gs pos="75000">
                <a:srgbClr val="DB66D3"/>
              </a:gs>
              <a:gs pos="83333">
                <a:srgbClr val="E25CC2"/>
              </a:gs>
              <a:gs pos="91667">
                <a:srgbClr val="E752AE"/>
              </a:gs>
              <a:gs pos="100000">
                <a:srgbClr val="EC4899"/>
              </a:gs>
            </a:gsLst>
            <a:lin ang="1200000" scaled="0"/>
          </a:gradFill>
          <a:xfrm>
            <a:off x="6004917" y="4591050"/>
            <a:ext cx="1844278" cy="180975"/>
          </a:xfrm>
          <a:prstGeom prst="rect">
            <a:avLst/>
          </a:prstGeom>
          <a:effectLst>
            <a:outerShdw blurRad="381000" dist="152400" dir="5400000" algn="ctr" rotWithShape="0">
              <a:srgbClr val="C084FC">
                <a:alpha val="40000"/>
              </a:srgbClr>
            </a:outerShdw>
            <a:outerShdw blurRad="95250" dist="38100" dir="5400000" algn="ctr" rotWithShape="0">
              <a:srgbClr val="EC4899">
                <a:alpha val="30000"/>
              </a:srgbClr>
            </a:outerShdw>
            <a:innerShdw blurRad="0" dist="9525" dir="16200000">
              <a:srgbClr val="000000">
                <a:alpha val="20000"/>
              </a:srgbClr>
            </a:innerShdw>
            <a:innerShdw blurRad="0" dist="9525" dir="5400000">
              <a:srgbClr val="FFFFFF">
                <a:alpha val="40000"/>
              </a:srgbClr>
            </a:innerShdw>
          </a:effectLst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820"/>
                </a:solidFill>
                <a:latin typeface="Inter"/>
              </a:rPr>
              <a:t>Talk to an engineer</a:t>
            </a:r>
            <a:r>
              <a:rPr sz="1050" b="1" i="0" u="none">
                <a:solidFill>
                  <a:srgbClr val="0A0820"/>
                </a:solidFill>
                <a:latin typeface="Inte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9155" y="5286375"/>
            <a:ext cx="28575" cy="28575"/>
          </a:xfrm>
          <a:prstGeom prst="round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262688" y="5286375"/>
            <a:ext cx="28575" cy="28575"/>
          </a:xfrm>
          <a:prstGeom prst="round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7322641" y="5286375"/>
            <a:ext cx="28575" cy="28575"/>
          </a:xfrm>
          <a:prstGeom prst="round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680073" y="5981700"/>
            <a:ext cx="673075" cy="26670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NOTION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9539" y="5981700"/>
            <a:ext cx="641486" cy="26670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LINEAR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8525" y="5981700"/>
            <a:ext cx="558831" cy="26670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RAMP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8447" y="5981700"/>
            <a:ext cx="685967" cy="26670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VERCEL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1096" y="5981700"/>
            <a:ext cx="723919" cy="26670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CURSOR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6632" y="6048375"/>
            <a:ext cx="921209" cy="133350"/>
          </a:xfrm>
          <a:prstGeom prst="rect">
            <a:avLst/>
          </a:prstGeom>
          <a:solidFill>
            <a:srgbClr val="A3E635">
              <a:alpha val="10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3E635"/>
                </a:solidFill>
                <a:latin typeface="Inter"/>
              </a:rPr>
              <a:t>14,200 teams</a:t>
            </a:r>
          </a:p>
        </p:txBody>
      </p:sp>
      <p:sp>
        <p:nvSpPr>
          <p:cNvPr id="29" name="Rounded Rectangle 28"/>
          <p:cNvSpPr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A7AF1"/>
              </a:gs>
              <a:gs pos="66667">
                <a:srgbClr val="D370E3"/>
              </a:gs>
              <a:gs pos="75000">
                <a:srgbClr val="DB66D3"/>
              </a:gs>
              <a:gs pos="83333">
                <a:srgbClr val="E25CC2"/>
              </a:gs>
              <a:gs pos="91667">
                <a:srgbClr val="E752AE"/>
              </a:gs>
              <a:gs pos="100000">
                <a:srgbClr val="EC4899"/>
              </a:gs>
            </a:gsLst>
            <a:lin ang="2700000" scaled="0"/>
          </a:gradFill>
          <a:xfrm>
            <a:off x="609600" y="6457950"/>
            <a:ext cx="171450" cy="171450"/>
          </a:xfrm>
          <a:prstGeom prst="roundRect">
            <a:avLst/>
          </a:prstGeom>
          <a:ln>
            <a:noFill/>
          </a:ln>
          <a:effectLst>
            <a:outerShdw blurRad="114300" dist="38100" dir="5400000" algn="ctr" rotWithShape="0">
              <a:srgbClr val="C084FC">
                <a:alpha val="45000"/>
              </a:srgbClr>
            </a:outerShdw>
            <a:innerShdw blurRad="0" dist="9525" dir="5400000">
              <a:srgbClr val="FFFFFF">
                <a:alpha val="40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0506968" y="6557962"/>
            <a:ext cx="228600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gradFill flip="none" rotWithShape="1">
            <a:gsLst>
              <a:gs pos="0">
                <a:srgbClr val="1E1B4B"/>
              </a:gs>
              <a:gs pos="25000">
                <a:srgbClr val="14102E"/>
              </a:gs>
              <a:gs pos="55000">
                <a:srgbClr val="0A0820"/>
              </a:gs>
              <a:gs pos="82000">
                <a:srgbClr val="050510"/>
              </a:gs>
              <a:gs pos="100000">
                <a:srgbClr val="050510"/>
              </a:gs>
            </a:gsLst>
            <a:path path="circle">
              <a:fillToRect l="10000" t="10000" r="90000" b="90000"/>
            </a:path>
          </a:gradFill>
          <a:xfrm>
            <a:off x="0" y="0"/>
            <a:ext cx="12192000" cy="64008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467279" y="1305818"/>
            <a:ext cx="91157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A1A1AA"/>
                </a:solidFill>
                <a:latin typeface="Inter"/>
              </a:rPr>
              <a:t>Forbes 2000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1276" y="1305818"/>
            <a:ext cx="771227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A1A1AA"/>
                </a:solidFill>
                <a:latin typeface="Inter"/>
              </a:rPr>
              <a:t>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54928" y="1305818"/>
            <a:ext cx="72747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A1A1AA"/>
                </a:solidFill>
                <a:latin typeface="Inter"/>
              </a:rPr>
              <a:t>G2 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56181" y="6262688"/>
            <a:ext cx="22621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FIN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2893516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5B4FC"/>
                </a:solidFill>
                <a:latin typeface="Inter"/>
              </a:rPr>
              <a:t>CUSTOMERS · A SHORT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19175"/>
            <a:ext cx="6584752" cy="41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F5F5F7"/>
                </a:solidFill>
                <a:latin typeface="Inter"/>
              </a:rPr>
              <a:t xml:space="preserve">14,200 teams build on </a:t>
            </a:r>
            <a:r>
              <a:rPr sz="3150" b="1" i="0" u="none">
                <a:gradFill rotWithShape="1">
                  <a:gsLst>
                    <a:gs pos="0">
                      <a:srgbClr val="06B6D4"/>
                    </a:gs>
                    <a:gs pos="50000">
                      <a:srgbClr val="818CF8"/>
                    </a:gs>
                    <a:gs pos="100000">
                      <a:srgbClr val="C084FC"/>
                    </a:gs>
                  </a:gsLst>
                  <a:lin ang="900000" scaled="0"/>
                </a:gradFill>
                <a:latin typeface="Inter"/>
              </a:rPr>
              <a:t>Lattice.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279" y="943868"/>
            <a:ext cx="911572" cy="314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100" b="1" i="0" u="none">
                <a:gradFill rotWithShape="1">
                  <a:gsLst>
                    <a:gs pos="0">
                      <a:srgbClr val="F5F5F7"/>
                    </a:gs>
                    <a:gs pos="50000">
                      <a:srgbClr val="E9D5FF"/>
                    </a:gs>
                    <a:gs pos="100000">
                      <a:srgbClr val="FBCFE8"/>
                    </a:gs>
                  </a:gsLst>
                  <a:lin ang="1200000" scaled="0"/>
                </a:gradFill>
                <a:latin typeface="Inter"/>
              </a:rPr>
              <a:t>312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1276" y="943868"/>
            <a:ext cx="771227" cy="314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100" b="1" i="0" u="none">
                <a:gradFill rotWithShape="1">
                  <a:gsLst>
                    <a:gs pos="0">
                      <a:srgbClr val="F5F5F7"/>
                    </a:gs>
                    <a:gs pos="50000">
                      <a:srgbClr val="E9D5FF"/>
                    </a:gs>
                    <a:gs pos="100000">
                      <a:srgbClr val="FBCFE8"/>
                    </a:gs>
                  </a:gsLst>
                  <a:lin ang="1200000" scaled="0"/>
                </a:gradFill>
                <a:latin typeface="Inter"/>
              </a:rPr>
              <a:t>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4928" y="943868"/>
            <a:ext cx="727472" cy="314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100" b="1" i="0" u="none">
                <a:gradFill rotWithShape="1">
                  <a:gsLst>
                    <a:gs pos="0">
                      <a:srgbClr val="F5F5F7"/>
                    </a:gs>
                    <a:gs pos="50000">
                      <a:srgbClr val="E9D5FF"/>
                    </a:gs>
                    <a:gs pos="100000">
                      <a:srgbClr val="FBCFE8"/>
                    </a:gs>
                  </a:gsLst>
                  <a:lin ang="1200000" scaled="0"/>
                </a:gradFill>
                <a:latin typeface="Inter"/>
              </a:rPr>
              <a:t>4.9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843" y="2276475"/>
            <a:ext cx="67538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SINCE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8629" y="2943225"/>
            <a:ext cx="1023342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E9D5FF"/>
                </a:solidFill>
                <a:latin typeface="Inter"/>
              </a:rPr>
              <a:t>NOTION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5300" y="21907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LINEAR</a:t>
            </a:r>
            <a:r>
              <a:rPr sz="800" b="1" i="0" u="none">
                <a:solidFill>
                  <a:srgbClr val="52525B"/>
                </a:solidFill>
                <a:latin typeface="Inter"/>
              </a:rPr>
              <a:t>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150" y="21907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67E8F9"/>
                </a:solidFill>
                <a:latin typeface="Inter"/>
              </a:rPr>
              <a:t>VERCEL</a:t>
            </a:r>
            <a:r>
              <a:rPr sz="800" b="1" i="0" u="none">
                <a:solidFill>
                  <a:srgbClr val="FFFFFF"/>
                </a:solidFill>
                <a:latin typeface="Inter"/>
              </a:rPr>
              <a:t>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1907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RAMP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850" y="21907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CURSOR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5300" y="31051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RESEND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150" y="31051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BEF264"/>
                </a:solidFill>
                <a:latin typeface="Inter"/>
              </a:rPr>
              <a:t>STRIPE</a:t>
            </a:r>
            <a:r>
              <a:rPr sz="800" b="1" i="0" u="none">
                <a:solidFill>
                  <a:srgbClr val="FFFFFF"/>
                </a:solidFill>
                <a:latin typeface="Inter"/>
              </a:rPr>
              <a:t>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1051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FRAMER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8850" y="31051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CD34D"/>
                </a:solidFill>
                <a:latin typeface="Inter"/>
              </a:rPr>
              <a:t>FIGMA</a:t>
            </a:r>
            <a:r>
              <a:rPr sz="800" b="1" i="0" u="none">
                <a:solidFill>
                  <a:srgbClr val="FFFFFF"/>
                </a:solidFill>
                <a:latin typeface="Inter"/>
              </a:rPr>
              <a:t>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0195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CLAY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7450" y="40195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SUPABASE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5300" y="4019550"/>
            <a:ext cx="35814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67E8F9"/>
                </a:solidFill>
                <a:latin typeface="Inter"/>
              </a:rPr>
              <a:t>ANTHROPIC</a:t>
            </a:r>
            <a:r>
              <a:rPr sz="800" b="1" i="0" u="none">
                <a:solidFill>
                  <a:srgbClr val="FFFFFF"/>
                </a:solidFill>
                <a:latin typeface="Inter"/>
              </a:rPr>
              <a:t>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0195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RIVET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850" y="40195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RECRAFT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9339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RETOOL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7450" y="49339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WARP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5300" y="49339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PRISMA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150" y="49339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PLAID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9339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BRAINTRUST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850" y="4933950"/>
            <a:ext cx="17335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ARC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6327" y="5419725"/>
            <a:ext cx="60127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1717A"/>
                </a:solidFill>
                <a:latin typeface="Inter"/>
              </a:rPr>
              <a:t>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1704" y="5419725"/>
            <a:ext cx="107007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D4D4D8"/>
                </a:solidFill>
                <a:latin typeface="Inter"/>
              </a:rPr>
              <a:t>END OF 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0073" y="5424488"/>
            <a:ext cx="17100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gradFill rotWithShape="1">
                  <a:gsLst>
                    <a:gs pos="0">
                      <a:srgbClr val="818CF8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Inter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257925"/>
            <a:ext cx="245313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Built by </a:t>
            </a:r>
            <a:r>
              <a:rPr sz="975" b="1" i="0" u="none">
                <a:gradFill rotWithShape="1">
                  <a:gsLst>
                    <a:gs pos="0">
                      <a:srgbClr val="06B6D4"/>
                    </a:gs>
                    <a:gs pos="50000">
                      <a:srgbClr val="818CF8"/>
                    </a:gs>
                    <a:gs pos="100000">
                      <a:srgbClr val="C084FC"/>
                    </a:gs>
                  </a:gsLst>
                  <a:lin ang="1200000" scaled="0"/>
                </a:gradFill>
                <a:latin typeface="Inter"/>
              </a:rPr>
              <a:t>Lattice</a:t>
            </a:r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 · lattice.dev/customers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0"/>
            <a:ext cx="2284065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F5F5F7"/>
                </a:solidFill>
                <a:latin typeface="Inter"/>
              </a:rPr>
              <a:t>14,200 teams build on Lattice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58175" y="4438650"/>
            <a:ext cx="1168747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258175" y="4438650"/>
            <a:ext cx="8191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1F1F"/>
                </a:solidFill>
                <a:latin typeface="Source Serif Pro"/>
              </a:rPr>
              <a:t>Morning, no.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67700" y="5048250"/>
            <a:ext cx="115922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2D1F1F"/>
                </a:solidFill>
                <a:latin typeface="Inter"/>
              </a:rPr>
              <a:t>Photographed at low tide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685800"/>
            <a:ext cx="2024807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76F51"/>
                </a:solidFill>
                <a:latin typeface="Inter"/>
              </a:rPr>
              <a:t>A field guide for the unhurried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05484"/>
            <a:ext cx="4417070" cy="21228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100" b="1" i="0" u="none">
                <a:solidFill>
                  <a:srgbClr val="2D1F1F"/>
                </a:solidFill>
                <a:latin typeface="Source Serif Pro"/>
              </a:rPr>
              <a:t xml:space="preserve">A softer cadence for the </a:t>
            </a:r>
            <a:r>
              <a:rPr sz="5100" b="0" i="1" u="none">
                <a:solidFill>
                  <a:srgbClr val="264653"/>
                </a:solidFill>
                <a:latin typeface="Source Serif Pro"/>
              </a:rPr>
              <a:t>way you work</a:t>
            </a:r>
            <a:r>
              <a:rPr sz="5100" b="1" i="0" u="none">
                <a:solidFill>
                  <a:srgbClr val="2D1F1F"/>
                </a:solidFill>
                <a:latin typeface="Source Serif Pr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67225"/>
            <a:ext cx="4191000" cy="80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 u="none">
                <a:solidFill>
                  <a:srgbClr val="4A3A3A"/>
                </a:solidFill>
                <a:latin typeface="Inter"/>
              </a:rPr>
              <a:t>The companion deck for teams that prefer the long breath. Six chapters, one ritual, no urgency. Begin wherever the morning finds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91250"/>
            <a:ext cx="295528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A6A6A"/>
                </a:solidFill>
                <a:latin typeface="Inter"/>
              </a:rPr>
              <a:t xml:space="preserve">Spring edition </a:t>
            </a:r>
            <a:r>
              <a:rPr sz="900" b="0" i="0" u="none">
                <a:solidFill>
                  <a:srgbClr val="D8C8B8"/>
                </a:solidFill>
                <a:latin typeface="Inter"/>
              </a:rPr>
              <a:t xml:space="preserve"> / </a:t>
            </a:r>
            <a:r>
              <a:rPr sz="900" b="0" i="0" u="none">
                <a:solidFill>
                  <a:srgbClr val="7A6A6A"/>
                </a:solidFill>
                <a:latin typeface="Inter"/>
              </a:rPr>
              <a:t xml:space="preserve"> Volume 04 </a:t>
            </a:r>
            <a:r>
              <a:rPr sz="900" b="0" i="0" u="none">
                <a:solidFill>
                  <a:srgbClr val="D8C8B8"/>
                </a:solidFill>
                <a:latin typeface="Inter"/>
              </a:rPr>
              <a:t xml:space="preserve"> / </a:t>
            </a:r>
            <a:r>
              <a:rPr sz="900" b="0" i="0" u="none">
                <a:solidFill>
                  <a:srgbClr val="7A6A6A"/>
                </a:solidFill>
                <a:latin typeface="Inter"/>
              </a:rPr>
              <a:t xml:space="preserve"> Made slowly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553200" y="952500"/>
            <a:ext cx="704850" cy="15621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1100" b="1" i="0" u="none">
                <a:solidFill>
                  <a:srgbClr val="2D1F1F"/>
                </a:solidFill>
                <a:latin typeface="Source Serif Pro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762000"/>
            <a:ext cx="160540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C89B8"/>
                </a:solidFill>
                <a:latin typeface="Inter"/>
              </a:rPr>
              <a:t>Chapter Two · Field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544687"/>
            <a:ext cx="3564582" cy="111665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050" b="1" i="0" u="none">
                <a:solidFill>
                  <a:srgbClr val="2D1F1F"/>
                </a:solidFill>
                <a:latin typeface="Source Serif Pro"/>
              </a:rPr>
              <a:t xml:space="preserve">The morning we </a:t>
            </a:r>
            <a:r>
              <a:rPr sz="4050" b="0" i="1" u="none">
                <a:solidFill>
                  <a:srgbClr val="E76F51"/>
                </a:solidFill>
                <a:latin typeface="Source Serif Pro"/>
              </a:rPr>
              <a:t>stopped rushing</a:t>
            </a:r>
            <a:r>
              <a:rPr sz="4050" b="1" i="0" u="none">
                <a:solidFill>
                  <a:srgbClr val="2D1F1F"/>
                </a:solidFill>
                <a:latin typeface="Source Serif Pr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3362325"/>
            <a:ext cx="4565154" cy="1016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 u="none">
                <a:solidFill>
                  <a:srgbClr val="3A2A2A"/>
                </a:solidFill>
                <a:latin typeface="Inter"/>
              </a:rPr>
              <a:t xml:space="preserve">It started, as most quiet revolutions do, with a small refusal. We let the kettle whistle a moment longer. We sat where the light was thin, and we noticed it. The day, unhurried, agreed to begin </a:t>
            </a:r>
            <a:r>
              <a:rPr sz="1275" b="0" i="0" u="none">
                <a:solidFill>
                  <a:srgbClr val="264653"/>
                </a:solidFill>
                <a:latin typeface="Inter"/>
              </a:rPr>
              <a:t>with us, not despite us</a:t>
            </a:r>
            <a:r>
              <a:rPr sz="1275" b="0" i="0" u="none">
                <a:solidFill>
                  <a:srgbClr val="3A2A2A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2800" y="2066925"/>
            <a:ext cx="3996482" cy="135522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950" b="0" i="1" u="none">
                <a:solidFill>
                  <a:srgbClr val="264653"/>
                </a:solidFill>
                <a:latin typeface="Source Serif Pro"/>
              </a:rPr>
              <a:t xml:space="preserve">
      The pace of the work changed the moment we stopped negotiating with the clock.
      </a:t>
            </a:r>
            <a:r>
              <a:rPr sz="975" b="0" i="0" u="none">
                <a:solidFill>
                  <a:srgbClr val="7A6A6A"/>
                </a:solidFill>
                <a:latin typeface="Inter"/>
              </a:rPr>
              <a:t>— from the foreword, page 4</a:t>
            </a:r>
            <a:r>
              <a:rPr sz="1950" b="0" i="1" u="none">
                <a:solidFill>
                  <a:srgbClr val="264653"/>
                </a:solidFill>
                <a:latin typeface="Source Serif Pro"/>
              </a:rPr>
              <a:t xml:space="preserve">
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6191250"/>
            <a:ext cx="167282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A6A6A"/>
                </a:solidFill>
                <a:latin typeface="Inter"/>
              </a:rPr>
              <a:t>Read in 6 minutes · with tea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285750" y="266700"/>
            <a:ext cx="5619750" cy="23050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85" y="13223"/>
                </a:moveTo>
                <a:cubicBezTo>
                  <a:pt x="32203" y="0"/>
                  <a:pt x="72881" y="9091"/>
                  <a:pt x="86441" y="46281"/>
                </a:cubicBezTo>
                <a:cubicBezTo>
                  <a:pt x="100000" y="83471"/>
                  <a:pt x="86441" y="100000"/>
                  <a:pt x="55932" y="94215"/>
                </a:cubicBezTo>
                <a:cubicBezTo>
                  <a:pt x="25424" y="88430"/>
                  <a:pt x="0" y="79339"/>
                  <a:pt x="5085" y="13223"/>
                </a:cubicBezTo>
                <a:close/>
              </a:path>
            </a:pathLst>
          </a:custGeom>
          <a:solidFill>
            <a:srgbClr val="A78BFA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9239250" y="5334000"/>
            <a:ext cx="3048000" cy="2000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4375" y="9524"/>
                </a:moveTo>
                <a:cubicBezTo>
                  <a:pt x="65625" y="0"/>
                  <a:pt x="93750" y="19048"/>
                  <a:pt x="96875" y="57143"/>
                </a:cubicBezTo>
                <a:cubicBezTo>
                  <a:pt x="100000" y="95238"/>
                  <a:pt x="65625" y="100000"/>
                  <a:pt x="34375" y="90476"/>
                </a:cubicBezTo>
                <a:cubicBezTo>
                  <a:pt x="3125" y="80952"/>
                  <a:pt x="0" y="47619"/>
                  <a:pt x="6875" y="24762"/>
                </a:cubicBezTo>
                <a:cubicBezTo>
                  <a:pt x="10625" y="13333"/>
                  <a:pt x="21875" y="13333"/>
                  <a:pt x="34375" y="9524"/>
                </a:cubicBezTo>
                <a:close/>
              </a:path>
            </a:pathLst>
          </a:custGeom>
          <a:solidFill>
            <a:srgbClr val="E9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933450" y="2609850"/>
            <a:ext cx="1104900" cy="1104900"/>
          </a:xfrm>
          <a:prstGeom prst="ellipse">
            <a:avLst/>
          </a:prstGeom>
          <a:solidFill>
            <a:srgbClr val="F7B2A2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981450" y="3486150"/>
            <a:ext cx="1104900" cy="1104900"/>
          </a:xfrm>
          <a:prstGeom prst="ellipse">
            <a:avLst/>
          </a:prstGeom>
          <a:solidFill>
            <a:srgbClr val="2A9D8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029450" y="2609850"/>
            <a:ext cx="1104900" cy="1104900"/>
          </a:xfrm>
          <a:prstGeom prst="ellipse">
            <a:avLst/>
          </a:prstGeom>
          <a:solidFill>
            <a:srgbClr val="A78BF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734550" y="3486150"/>
            <a:ext cx="1104900" cy="1104900"/>
          </a:xfrm>
          <a:prstGeom prst="ellipse">
            <a:avLst/>
          </a:prstGeom>
          <a:solidFill>
            <a:srgbClr val="F4A261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3048000" y="2762250"/>
            <a:ext cx="1066800" cy="1238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23077"/>
                </a:moveTo>
                <a:cubicBezTo>
                  <a:pt x="35714" y="0"/>
                  <a:pt x="53571" y="100000"/>
                  <a:pt x="100000" y="90769"/>
                </a:cubicBezTo>
              </a:path>
            </a:pathLst>
          </a:custGeom>
          <a:noFill/>
          <a:ln w="1524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4095750" y="3829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57150"/>
                </a:lnTo>
                <a:lnTo>
                  <a:pt x="0" y="152400"/>
                </a:lnTo>
                <a:close/>
              </a:path>
            </a:pathLst>
          </a:cu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6115050" y="2819400"/>
            <a:ext cx="1066800" cy="12954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82353"/>
                </a:moveTo>
                <a:cubicBezTo>
                  <a:pt x="42857" y="100000"/>
                  <a:pt x="60714" y="0"/>
                  <a:pt x="100000" y="16176"/>
                </a:cubicBezTo>
              </a:path>
            </a:pathLst>
          </a:custGeom>
          <a:noFill/>
          <a:ln w="1524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7162800" y="29718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0" y="0"/>
                </a:moveTo>
                <a:lnTo>
                  <a:pt x="152400" y="57150"/>
                </a:lnTo>
                <a:lnTo>
                  <a:pt x="19050" y="171450"/>
                </a:lnTo>
                <a:close/>
              </a:path>
            </a:pathLst>
          </a:cu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9163050" y="2895600"/>
            <a:ext cx="876300" cy="10096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6981"/>
                </a:moveTo>
                <a:cubicBezTo>
                  <a:pt x="52174" y="0"/>
                  <a:pt x="63043" y="100000"/>
                  <a:pt x="100000" y="100000"/>
                </a:cubicBezTo>
              </a:path>
            </a:pathLst>
          </a:custGeom>
          <a:noFill/>
          <a:ln w="1524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10020300" y="3848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57150"/>
                </a:lnTo>
                <a:lnTo>
                  <a:pt x="0" y="152400"/>
                </a:lnTo>
                <a:close/>
              </a:path>
            </a:pathLst>
          </a:cu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914400" y="1790700"/>
            <a:ext cx="3638550" cy="1143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66667"/>
                </a:moveTo>
                <a:cubicBezTo>
                  <a:pt x="32461" y="0"/>
                  <a:pt x="69110" y="100000"/>
                  <a:pt x="100000" y="33333"/>
                </a:cubicBezTo>
              </a:path>
            </a:pathLst>
          </a:custGeom>
          <a:noFill/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1106150" y="1009650"/>
            <a:ext cx="266700" cy="266700"/>
          </a:xfrm>
          <a:prstGeom prst="ellipse">
            <a:avLst/>
          </a:prstGeom>
          <a:noFill/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 16"/>
          <p:cNvCxnSpPr/>
          <p:nvPr/>
        </p:nvCxnSpPr>
        <p:spPr>
          <a:xfrm flipV="1">
            <a:off x="11239500" y="800100"/>
            <a:ext cx="0" cy="76200"/>
          </a:xfrm>
          <a:prstGeom prst="line">
            <a:avLst/>
          </a:prstGeom>
          <a:ln w="1524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239500" y="1409700"/>
            <a:ext cx="0" cy="76200"/>
          </a:xfrm>
          <a:prstGeom prst="line">
            <a:avLst/>
          </a:prstGeom>
          <a:ln w="1524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506200" y="1143000"/>
            <a:ext cx="76200" cy="0"/>
          </a:xfrm>
          <a:prstGeom prst="line">
            <a:avLst/>
          </a:prstGeom>
          <a:ln w="1524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96600" y="1143000"/>
            <a:ext cx="76200" cy="0"/>
          </a:xfrm>
          <a:prstGeom prst="line">
            <a:avLst/>
          </a:prstGeom>
          <a:ln w="1524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85800"/>
            <a:ext cx="12509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A9D8F"/>
                </a:solidFill>
                <a:latin typeface="Inter"/>
              </a:rPr>
              <a:t>A small daily ritual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325463"/>
            <a:ext cx="4626769" cy="99848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2D1F1F"/>
                </a:solidFill>
                <a:latin typeface="Source Serif Pro"/>
              </a:rPr>
              <a:t xml:space="preserve">Four steps, </a:t>
            </a:r>
            <a:r>
              <a:rPr sz="3600" b="0" i="1" u="none">
                <a:solidFill>
                  <a:srgbClr val="E76F51"/>
                </a:solidFill>
                <a:latin typeface="Source Serif Pro"/>
              </a:rPr>
              <a:t>none of them rushed</a:t>
            </a:r>
            <a:r>
              <a:rPr sz="3600" b="1" i="0" u="none">
                <a:solidFill>
                  <a:srgbClr val="2D1F1F"/>
                </a:solidFill>
                <a:latin typeface="Source Serif Pro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43200"/>
            <a:ext cx="2286000" cy="5143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0" i="0" u="none">
                <a:solidFill>
                  <a:srgbClr val="264653"/>
                </a:solidFill>
                <a:latin typeface="Source Serif Pro"/>
              </a:rPr>
              <a:t>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314700"/>
            <a:ext cx="2286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A6A6A"/>
                </a:solidFill>
                <a:latin typeface="Inter"/>
              </a:rPr>
              <a:t>Arrive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571875"/>
            <a:ext cx="2286000" cy="2513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2D1F1F"/>
                </a:solidFill>
                <a:latin typeface="Source Serif Pro"/>
              </a:rPr>
              <a:t>Sit before you stand.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899446"/>
            <a:ext cx="2286000" cy="639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3A2A2A"/>
                </a:solidFill>
                <a:latin typeface="Inter"/>
              </a:rPr>
              <a:t>Two minutes by the window. No phone, no agenda. Notice the temperature of the room.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2400" y="3619500"/>
            <a:ext cx="2286000" cy="5143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0" i="0" u="none">
                <a:solidFill>
                  <a:srgbClr val="264653"/>
                </a:solidFill>
                <a:latin typeface="Source Serif Pro"/>
              </a:rPr>
              <a:t>ii.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4191000"/>
            <a:ext cx="2286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A6A6A"/>
                </a:solidFill>
                <a:latin typeface="Inter"/>
              </a:rPr>
              <a:t>Warm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4448175"/>
            <a:ext cx="2286000" cy="2513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2D1F1F"/>
                </a:solidFill>
                <a:latin typeface="Source Serif Pro"/>
              </a:rPr>
              <a:t>Make something hot.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2400" y="4775746"/>
            <a:ext cx="2286000" cy="639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3A2A2A"/>
                </a:solidFill>
                <a:latin typeface="Inter"/>
              </a:rPr>
              <a:t>Tea, coffee, broth — the choice matters less than the slowness of preparing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0" y="2743200"/>
            <a:ext cx="2286000" cy="5143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0" i="0" u="none">
                <a:solidFill>
                  <a:srgbClr val="264653"/>
                </a:solidFill>
                <a:latin typeface="Source Serif Pro"/>
              </a:rPr>
              <a:t>iii.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0400" y="3314700"/>
            <a:ext cx="2286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A6A6A"/>
                </a:solidFill>
                <a:latin typeface="Inter"/>
              </a:rPr>
              <a:t>Note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0400" y="3571875"/>
            <a:ext cx="2286000" cy="2513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2D1F1F"/>
                </a:solidFill>
                <a:latin typeface="Source Serif Pro"/>
              </a:rPr>
              <a:t>One line, by hand.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0400" y="3899446"/>
            <a:ext cx="2286000" cy="639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3A2A2A"/>
                </a:solidFill>
                <a:latin typeface="Inter"/>
              </a:rPr>
              <a:t>Whatever is loudest in your chest. Five words is enough; no one is grading.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3600" y="3619500"/>
            <a:ext cx="1905000" cy="5143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0" i="0" u="none">
                <a:solidFill>
                  <a:srgbClr val="264653"/>
                </a:solidFill>
                <a:latin typeface="Source Serif Pro"/>
              </a:rPr>
              <a:t>iv.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3600" y="4191000"/>
            <a:ext cx="1905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A6A6A"/>
                </a:solidFill>
                <a:latin typeface="Inter"/>
              </a:rPr>
              <a:t>Begin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3600" y="4448175"/>
            <a:ext cx="1905000" cy="2513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2D1F1F"/>
                </a:solidFill>
                <a:latin typeface="Source Serif Pro"/>
              </a:rPr>
              <a:t>Choose one thing.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3600" y="4775746"/>
            <a:ext cx="1905000" cy="4265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3A2A2A"/>
                </a:solidFill>
                <a:latin typeface="Inter"/>
              </a:rPr>
              <a:t>Not the urgent thing. The kind one.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267450"/>
            <a:ext cx="154200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A6A6A"/>
                </a:solidFill>
                <a:latin typeface="Inter"/>
              </a:rPr>
              <a:t>Practice, not performance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-857250" y="-381000"/>
            <a:ext cx="3333750" cy="304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4286" y="6250"/>
                </a:moveTo>
                <a:cubicBezTo>
                  <a:pt x="48571" y="0"/>
                  <a:pt x="88571" y="21875"/>
                  <a:pt x="94286" y="53125"/>
                </a:cubicBezTo>
                <a:cubicBezTo>
                  <a:pt x="100000" y="84375"/>
                  <a:pt x="71429" y="100000"/>
                  <a:pt x="42857" y="91875"/>
                </a:cubicBezTo>
                <a:cubicBezTo>
                  <a:pt x="14286" y="83750"/>
                  <a:pt x="0" y="62500"/>
                  <a:pt x="571" y="37500"/>
                </a:cubicBezTo>
                <a:cubicBezTo>
                  <a:pt x="1143" y="21875"/>
                  <a:pt x="0" y="9375"/>
                  <a:pt x="14286" y="6250"/>
                </a:cubicBezTo>
                <a:close/>
              </a:path>
            </a:pathLst>
          </a:custGeom>
          <a:solidFill>
            <a:srgbClr val="F7B2A2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9620250" y="4953000"/>
            <a:ext cx="3048000" cy="2286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8125" y="8333"/>
                </a:moveTo>
                <a:cubicBezTo>
                  <a:pt x="56250" y="0"/>
                  <a:pt x="87500" y="16667"/>
                  <a:pt x="93750" y="50000"/>
                </a:cubicBezTo>
                <a:cubicBezTo>
                  <a:pt x="100000" y="83333"/>
                  <a:pt x="78125" y="100000"/>
                  <a:pt x="53125" y="100000"/>
                </a:cubicBezTo>
                <a:cubicBezTo>
                  <a:pt x="28125" y="100000"/>
                  <a:pt x="6250" y="83333"/>
                  <a:pt x="3125" y="58333"/>
                </a:cubicBezTo>
                <a:cubicBezTo>
                  <a:pt x="0" y="33333"/>
                  <a:pt x="9375" y="25000"/>
                  <a:pt x="18750" y="18333"/>
                </a:cubicBezTo>
                <a:cubicBezTo>
                  <a:pt x="23750" y="15000"/>
                  <a:pt x="25000" y="11667"/>
                  <a:pt x="28125" y="8333"/>
                </a:cubicBezTo>
                <a:close/>
              </a:path>
            </a:pathLst>
          </a:custGeom>
          <a:solidFill>
            <a:srgbClr val="A78BFA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5219700" y="5429250"/>
            <a:ext cx="1447800" cy="1238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4211" y="7692"/>
                </a:moveTo>
                <a:cubicBezTo>
                  <a:pt x="73684" y="0"/>
                  <a:pt x="100000" y="23077"/>
                  <a:pt x="97368" y="53846"/>
                </a:cubicBezTo>
                <a:cubicBezTo>
                  <a:pt x="94737" y="84615"/>
                  <a:pt x="60526" y="100000"/>
                  <a:pt x="31579" y="89231"/>
                </a:cubicBezTo>
                <a:cubicBezTo>
                  <a:pt x="2632" y="78462"/>
                  <a:pt x="0" y="41538"/>
                  <a:pt x="13158" y="20000"/>
                </a:cubicBezTo>
                <a:cubicBezTo>
                  <a:pt x="19737" y="10769"/>
                  <a:pt x="26316" y="9231"/>
                  <a:pt x="34211" y="7692"/>
                </a:cubicBezTo>
                <a:close/>
              </a:path>
            </a:pathLst>
          </a:custGeom>
          <a:solidFill>
            <a:srgbClr val="E9C46A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409700" y="4933950"/>
            <a:ext cx="419100" cy="419100"/>
          </a:xfrm>
          <a:prstGeom prst="ellipse">
            <a:avLst/>
          </a:prstGeom>
          <a:solidFill>
            <a:srgbClr val="2A9D8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591800" y="1924050"/>
            <a:ext cx="342900" cy="342900"/>
          </a:xfrm>
          <a:prstGeom prst="ellipse">
            <a:avLst/>
          </a:prstGeom>
          <a:solidFill>
            <a:srgbClr val="F4A26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5524500" y="1104900"/>
            <a:ext cx="1143000" cy="1333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42857"/>
                </a:moveTo>
                <a:cubicBezTo>
                  <a:pt x="33333" y="0"/>
                  <a:pt x="66667" y="100000"/>
                  <a:pt x="100000" y="28571"/>
                </a:cubicBezTo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2457450" y="4686300"/>
            <a:ext cx="304800" cy="2667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8750" y="64286"/>
                </a:moveTo>
                <a:cubicBezTo>
                  <a:pt x="0" y="35714"/>
                  <a:pt x="31250" y="0"/>
                  <a:pt x="50000" y="28571"/>
                </a:cubicBezTo>
                <a:cubicBezTo>
                  <a:pt x="68750" y="0"/>
                  <a:pt x="100000" y="35714"/>
                  <a:pt x="81250" y="64286"/>
                </a:cubicBezTo>
                <a:cubicBezTo>
                  <a:pt x="68750" y="85714"/>
                  <a:pt x="50000" y="100000"/>
                  <a:pt x="50000" y="100000"/>
                </a:cubicBezTo>
                <a:cubicBezTo>
                  <a:pt x="50000" y="100000"/>
                  <a:pt x="31250" y="85714"/>
                  <a:pt x="18750" y="64286"/>
                </a:cubicBezTo>
                <a:close/>
              </a:path>
            </a:pathLst>
          </a:custGeom>
          <a:noFill/>
          <a:ln w="14288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7296150" y="4648200"/>
            <a:ext cx="400050" cy="381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45000"/>
                </a:moveTo>
                <a:cubicBezTo>
                  <a:pt x="28571" y="0"/>
                  <a:pt x="80952" y="0"/>
                  <a:pt x="100000" y="40000"/>
                </a:cubicBezTo>
                <a:cubicBezTo>
                  <a:pt x="76190" y="85000"/>
                  <a:pt x="28571" y="100000"/>
                  <a:pt x="0" y="45000"/>
                </a:cubicBezTo>
                <a:close/>
              </a:path>
            </a:pathLst>
          </a:custGeom>
          <a:noFill/>
          <a:ln w="14288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7334250" y="4743450"/>
            <a:ext cx="361950" cy="762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36842" y="50000"/>
                  <a:pt x="73684" y="0"/>
                  <a:pt x="100000" y="75000"/>
                </a:cubicBezTo>
              </a:path>
            </a:pathLst>
          </a:custGeom>
          <a:noFill/>
          <a:ln w="1143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4572000" y="4038600"/>
            <a:ext cx="3048000" cy="190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40000"/>
                </a:moveTo>
                <a:cubicBezTo>
                  <a:pt x="18750" y="0"/>
                  <a:pt x="37500" y="100000"/>
                  <a:pt x="56250" y="50000"/>
                </a:cubicBezTo>
                <a:cubicBezTo>
                  <a:pt x="75000" y="0"/>
                  <a:pt x="87500" y="100000"/>
                  <a:pt x="100000" y="50000"/>
                </a:cubicBezTo>
              </a:path>
            </a:pathLst>
          </a:custGeom>
          <a:noFill/>
          <a:ln w="11430">
            <a:solidFill>
              <a:srgbClr val="264653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0" y="914400"/>
            <a:ext cx="121920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 i="0" u="none">
                <a:solidFill>
                  <a:srgbClr val="E76F51"/>
                </a:solidFill>
                <a:latin typeface="Inter"/>
              </a:rPr>
              <a:t>Designed with breathing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2713" y="1821061"/>
            <a:ext cx="7826573" cy="1245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4500" b="1" i="0" u="none">
                <a:solidFill>
                  <a:srgbClr val="2D1F1F"/>
                </a:solidFill>
                <a:latin typeface="Source Serif Pro"/>
              </a:rPr>
              <a:t xml:space="preserve">Made for the </a:t>
            </a:r>
            <a:r>
              <a:rPr sz="4500" b="0" i="1" u="none">
                <a:solidFill>
                  <a:srgbClr val="264653"/>
                </a:solidFill>
                <a:latin typeface="Source Serif Pro"/>
              </a:rPr>
              <a:t>long breath</a:t>
            </a:r>
            <a:r>
              <a:rPr sz="4500" b="1" i="0" u="none">
                <a:solidFill>
                  <a:srgbClr val="2D1F1F"/>
                </a:solidFill>
                <a:latin typeface="Source Serif Pro"/>
              </a:rPr>
              <a:t>, not the short sprint.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1325"/>
            <a:ext cx="12192000" cy="534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75" b="0" i="0" u="none">
                <a:solidFill>
                  <a:srgbClr val="4A3A3A"/>
                </a:solidFill>
                <a:latin typeface="Inter"/>
              </a:rPr>
              <a:t>A way of working that treats focus the way good cooks treat heat — patiently, with attention, and with a willingness to wait for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533900"/>
            <a:ext cx="3390900" cy="1552426"/>
          </a:xfrm>
          <a:prstGeom prst="roundRect">
            <a:avLst/>
          </a:prstGeom>
          <a:solidFill>
            <a:srgbClr val="FEF6E8"/>
          </a:solidFill>
          <a:ln>
            <a:noFill/>
          </a:ln>
          <a:effectLst>
            <a:outerShdw blurRad="228600" dist="76200" dir="5400000" algn="ctr" rotWithShape="0">
              <a:srgbClr val="2D1F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552700" y="4838700"/>
            <a:ext cx="2857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9C89B8"/>
                </a:solidFill>
                <a:latin typeface="Inter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2700" y="5057775"/>
            <a:ext cx="1478459" cy="2381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2D1F1F"/>
                </a:solidFill>
                <a:latin typeface="Source Serif Pro"/>
              </a:rPr>
              <a:t xml:space="preserve">Begin </a:t>
            </a:r>
            <a:r>
              <a:rPr sz="1650" b="0" i="1" u="none">
                <a:solidFill>
                  <a:srgbClr val="E76F51"/>
                </a:solidFill>
                <a:latin typeface="Source Serif Pro"/>
              </a:rPr>
              <a:t>once</a:t>
            </a:r>
            <a:r>
              <a:rPr sz="1650" b="1" i="0" u="none">
                <a:solidFill>
                  <a:srgbClr val="2D1F1F"/>
                </a:solidFill>
                <a:latin typeface="Source Serif Pro"/>
              </a:rPr>
              <a:t>, well.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2700" y="5385346"/>
            <a:ext cx="2857500" cy="3961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One thing at a time, until it has the shape it deserves. Then the next.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8500" y="4533900"/>
            <a:ext cx="3390900" cy="1552426"/>
          </a:xfrm>
          <a:prstGeom prst="roundRect">
            <a:avLst/>
          </a:prstGeom>
          <a:solidFill>
            <a:srgbClr val="FEF6E8"/>
          </a:solidFill>
          <a:ln>
            <a:noFill/>
          </a:ln>
          <a:effectLst>
            <a:outerShdw blurRad="228600" dist="76200" dir="5400000" algn="ctr" rotWithShape="0">
              <a:srgbClr val="2D1F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7315200" y="4838700"/>
            <a:ext cx="2857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9C89B8"/>
                </a:solidFill>
                <a:latin typeface="Inter"/>
              </a:rPr>
              <a:t>Posture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057775"/>
            <a:ext cx="2857500" cy="2513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2D1F1F"/>
                </a:solidFill>
                <a:latin typeface="Source Serif Pro"/>
              </a:rPr>
              <a:t>Soft attention.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385346"/>
            <a:ext cx="2857500" cy="3961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Hold your task the way you'd hold a sleeping cat. Firmly, but never tightly.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43000" y="1123950"/>
            <a:ext cx="9982200" cy="3867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0" y="1123950"/>
            <a:ext cx="1333500" cy="2962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0" b="1" i="0" u="none">
                <a:solidFill>
                  <a:srgbClr val="2D1F1F"/>
                </a:solidFill>
                <a:latin typeface="Source Serif Pro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53700" y="3724275"/>
            <a:ext cx="571500" cy="1266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0" b="1" i="0" u="none">
                <a:solidFill>
                  <a:srgbClr val="2D1F1F"/>
                </a:solidFill>
                <a:latin typeface="Source Serif Pro"/>
              </a:rPr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62000"/>
            <a:ext cx="122247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C89B8"/>
                </a:solidFill>
                <a:latin typeface="Inter"/>
              </a:rPr>
              <a:t>In their own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2676525"/>
            <a:ext cx="8059489" cy="95011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150" b="0" i="1" u="none">
                <a:solidFill>
                  <a:srgbClr val="2D1F1F"/>
                </a:solidFill>
                <a:latin typeface="Source Serif Pro"/>
              </a:rPr>
              <a:t xml:space="preserve">
      It's the first tool that </a:t>
            </a:r>
            <a:r>
              <a:rPr sz="3150" b="1" i="1" u="none">
                <a:solidFill>
                  <a:srgbClr val="E76F51"/>
                </a:solidFill>
                <a:latin typeface="Source Serif Pro"/>
              </a:rPr>
              <a:t>didn't ask me to hurry</a:t>
            </a:r>
            <a:r>
              <a:rPr sz="3150" b="0" i="1" u="none">
                <a:solidFill>
                  <a:srgbClr val="2D1F1F"/>
                </a:solidFill>
                <a:latin typeface="Source Serif Pro"/>
              </a:rPr>
              <a:t xml:space="preserve"> — and somehow, that's exactly when the work got better.
    </a:t>
            </a:r>
          </a:p>
        </p:txBody>
      </p:sp>
      <p:sp>
        <p:nvSpPr>
          <p:cNvPr id="8" name="Oval 7"/>
          <p:cNvSpPr/>
          <p:nvPr/>
        </p:nvSpPr>
        <p:spPr>
          <a:xfrm>
            <a:off x="3452961" y="5024438"/>
            <a:ext cx="57150" cy="5715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43000" y="6267450"/>
            <a:ext cx="1237357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A6A6A"/>
                </a:solidFill>
                <a:latin typeface="Inter"/>
              </a:rPr>
              <a:t>Conversation no. 09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7239000" y="1524000"/>
            <a:ext cx="4191000" cy="4191000"/>
          </a:xfrm>
          <a:prstGeom prst="ellipse">
            <a:avLst/>
          </a:prstGeom>
          <a:solidFill>
            <a:srgbClr val="F7B2A2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7620000" y="1905000"/>
            <a:ext cx="3714750" cy="34099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46154" y="0"/>
                </a:moveTo>
                <a:cubicBezTo>
                  <a:pt x="79487" y="0"/>
                  <a:pt x="100000" y="26816"/>
                  <a:pt x="97436" y="51397"/>
                </a:cubicBezTo>
                <a:cubicBezTo>
                  <a:pt x="94872" y="75978"/>
                  <a:pt x="71795" y="100000"/>
                  <a:pt x="46154" y="98324"/>
                </a:cubicBezTo>
                <a:cubicBezTo>
                  <a:pt x="20513" y="96648"/>
                  <a:pt x="0" y="75419"/>
                  <a:pt x="513" y="50279"/>
                </a:cubicBezTo>
                <a:cubicBezTo>
                  <a:pt x="1026" y="25140"/>
                  <a:pt x="17436" y="0"/>
                  <a:pt x="46154" y="0"/>
                </a:cubicBezTo>
                <a:close/>
              </a:path>
            </a:pathLst>
          </a:custGeom>
          <a:noFill/>
          <a:ln w="13335">
            <a:solidFill>
              <a:srgbClr val="E76F51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0" y="571500"/>
            <a:ext cx="2095500" cy="18669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7273" y="10204"/>
                </a:moveTo>
                <a:cubicBezTo>
                  <a:pt x="59091" y="0"/>
                  <a:pt x="90909" y="20408"/>
                  <a:pt x="95455" y="51020"/>
                </a:cubicBezTo>
                <a:cubicBezTo>
                  <a:pt x="100000" y="81633"/>
                  <a:pt x="72727" y="100000"/>
                  <a:pt x="45455" y="94898"/>
                </a:cubicBezTo>
                <a:cubicBezTo>
                  <a:pt x="18182" y="89796"/>
                  <a:pt x="0" y="69388"/>
                  <a:pt x="3636" y="42857"/>
                </a:cubicBezTo>
                <a:cubicBezTo>
                  <a:pt x="6364" y="25510"/>
                  <a:pt x="13636" y="14286"/>
                  <a:pt x="27273" y="10204"/>
                </a:cubicBezTo>
                <a:close/>
              </a:path>
            </a:pathLst>
          </a:custGeom>
          <a:solidFill>
            <a:srgbClr val="A78BFA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000250" y="4857750"/>
            <a:ext cx="190500" cy="190500"/>
          </a:xfrm>
          <a:prstGeom prst="ellipse">
            <a:avLst/>
          </a:prstGeom>
          <a:solidFill>
            <a:srgbClr val="2A9D8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105650" y="5810250"/>
            <a:ext cx="266700" cy="266700"/>
          </a:xfrm>
          <a:prstGeom prst="ellipse">
            <a:avLst/>
          </a:prstGeom>
          <a:solidFill>
            <a:srgbClr val="E9C46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049000" y="5905500"/>
            <a:ext cx="381000" cy="381000"/>
          </a:xfrm>
          <a:prstGeom prst="ellipse">
            <a:avLst/>
          </a:prstGeom>
          <a:solidFill>
            <a:srgbClr val="9C89B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1371600" y="3943350"/>
            <a:ext cx="3009900" cy="1524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cubicBezTo>
                  <a:pt x="30380" y="0"/>
                  <a:pt x="68354" y="100000"/>
                  <a:pt x="100000" y="25000"/>
                </a:cubicBezTo>
              </a:path>
            </a:pathLst>
          </a:custGeom>
          <a:noFill/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333500" y="5600700"/>
            <a:ext cx="3810000" cy="2286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cubicBezTo>
                  <a:pt x="15000" y="16667"/>
                  <a:pt x="30000" y="100000"/>
                  <a:pt x="50000" y="50000"/>
                </a:cubicBezTo>
                <a:cubicBezTo>
                  <a:pt x="70000" y="0"/>
                  <a:pt x="85000" y="100000"/>
                  <a:pt x="100000" y="50000"/>
                </a:cubicBezTo>
              </a:path>
            </a:pathLst>
          </a:custGeom>
          <a:noFill/>
          <a:ln w="11430">
            <a:solidFill>
              <a:srgbClr val="264653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2895600" y="4362450"/>
            <a:ext cx="95250" cy="762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100000" y="50000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2D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9144000" y="3238500"/>
            <a:ext cx="800100" cy="762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9524" y="0"/>
                </a:moveTo>
                <a:cubicBezTo>
                  <a:pt x="23810" y="0"/>
                  <a:pt x="0" y="40000"/>
                  <a:pt x="23810" y="70000"/>
                </a:cubicBezTo>
                <a:cubicBezTo>
                  <a:pt x="47619" y="100000"/>
                  <a:pt x="95238" y="90000"/>
                  <a:pt x="100000" y="50000"/>
                </a:cubicBezTo>
                <a:cubicBezTo>
                  <a:pt x="69048" y="55000"/>
                  <a:pt x="52381" y="32500"/>
                  <a:pt x="59524" y="0"/>
                </a:cubicBezTo>
                <a:close/>
              </a:path>
            </a:pathLst>
          </a:custGeom>
          <a:solidFill>
            <a:srgbClr val="FEF6E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333500" y="1028700"/>
            <a:ext cx="2422773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2A9D8F"/>
                </a:solidFill>
                <a:latin typeface="Inter"/>
              </a:rPr>
              <a:t>When you're ready — and not 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3256359"/>
            <a:ext cx="6426994" cy="133454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2D1F1F"/>
                </a:solidFill>
                <a:latin typeface="Source Serif Pro"/>
              </a:rPr>
              <a:t xml:space="preserve">Take the </a:t>
            </a:r>
            <a:r>
              <a:rPr sz="4800" b="0" i="1" u="none">
                <a:solidFill>
                  <a:srgbClr val="E76F51"/>
                </a:solidFill>
                <a:latin typeface="Source Serif Pro"/>
              </a:rPr>
              <a:t>first slow breath</a:t>
            </a:r>
            <a:r>
              <a:rPr sz="4800" b="1" i="0" u="none">
                <a:solidFill>
                  <a:srgbClr val="2D1F1F"/>
                </a:solidFill>
                <a:latin typeface="Source Serif Pro"/>
              </a:rPr>
              <a:t>, then begin.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500" y="4305300"/>
            <a:ext cx="139496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2D1F1F"/>
                </a:solidFill>
                <a:latin typeface="Inter"/>
              </a:rPr>
              <a:t>Start the season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-1143000" y="3238500"/>
            <a:ext cx="2800350" cy="28194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0408" y="13514"/>
                </a:moveTo>
                <a:cubicBezTo>
                  <a:pt x="51020" y="0"/>
                  <a:pt x="85034" y="13514"/>
                  <a:pt x="92517" y="40541"/>
                </a:cubicBezTo>
                <a:cubicBezTo>
                  <a:pt x="100000" y="67568"/>
                  <a:pt x="78231" y="91892"/>
                  <a:pt x="51020" y="95946"/>
                </a:cubicBezTo>
                <a:cubicBezTo>
                  <a:pt x="23810" y="100000"/>
                  <a:pt x="0" y="81081"/>
                  <a:pt x="680" y="55405"/>
                </a:cubicBezTo>
                <a:cubicBezTo>
                  <a:pt x="1361" y="40541"/>
                  <a:pt x="6803" y="23649"/>
                  <a:pt x="20408" y="13514"/>
                </a:cubicBezTo>
                <a:close/>
              </a:path>
            </a:pathLst>
          </a:custGeom>
          <a:solidFill>
            <a:srgbClr val="A78BFA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9334500" y="-400050"/>
            <a:ext cx="3048000" cy="32194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1250" y="592"/>
                </a:moveTo>
                <a:cubicBezTo>
                  <a:pt x="62500" y="6509"/>
                  <a:pt x="93750" y="30178"/>
                  <a:pt x="96875" y="56805"/>
                </a:cubicBezTo>
                <a:cubicBezTo>
                  <a:pt x="100000" y="83432"/>
                  <a:pt x="75000" y="100000"/>
                  <a:pt x="50000" y="95266"/>
                </a:cubicBezTo>
                <a:cubicBezTo>
                  <a:pt x="25000" y="90533"/>
                  <a:pt x="6250" y="77515"/>
                  <a:pt x="3125" y="58580"/>
                </a:cubicBezTo>
                <a:cubicBezTo>
                  <a:pt x="0" y="39645"/>
                  <a:pt x="9375" y="21893"/>
                  <a:pt x="18750" y="14793"/>
                </a:cubicBezTo>
                <a:cubicBezTo>
                  <a:pt x="23750" y="11243"/>
                  <a:pt x="26875" y="0"/>
                  <a:pt x="31250" y="592"/>
                </a:cubicBezTo>
                <a:close/>
              </a:path>
            </a:pathLst>
          </a:custGeom>
          <a:solidFill>
            <a:srgbClr val="E9C46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9715500" y="5524500"/>
            <a:ext cx="2286000" cy="1524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3333" y="12500"/>
                </a:moveTo>
                <a:cubicBezTo>
                  <a:pt x="66667" y="0"/>
                  <a:pt x="100000" y="25000"/>
                  <a:pt x="100000" y="62500"/>
                </a:cubicBezTo>
                <a:cubicBezTo>
                  <a:pt x="100000" y="100000"/>
                  <a:pt x="66667" y="100000"/>
                  <a:pt x="33333" y="87500"/>
                </a:cubicBezTo>
                <a:cubicBezTo>
                  <a:pt x="0" y="75000"/>
                  <a:pt x="0" y="25000"/>
                  <a:pt x="33333" y="12500"/>
                </a:cubicBezTo>
                <a:close/>
              </a:path>
            </a:pathLst>
          </a:custGeom>
          <a:solidFill>
            <a:srgbClr val="F7B2A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162550" y="1295400"/>
            <a:ext cx="190500" cy="190500"/>
          </a:xfrm>
          <a:prstGeom prst="ellipse">
            <a:avLst/>
          </a:prstGeom>
          <a:solidFill>
            <a:srgbClr val="E76F51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162550" y="2228850"/>
            <a:ext cx="190500" cy="190500"/>
          </a:xfrm>
          <a:prstGeom prst="ellipse">
            <a:avLst/>
          </a:prstGeom>
          <a:solidFill>
            <a:srgbClr val="F4A261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62550" y="3162300"/>
            <a:ext cx="190500" cy="190500"/>
          </a:xfrm>
          <a:prstGeom prst="ellipse">
            <a:avLst/>
          </a:prstGeom>
          <a:solidFill>
            <a:srgbClr val="2A9D8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62550" y="4095750"/>
            <a:ext cx="190500" cy="190500"/>
          </a:xfrm>
          <a:prstGeom prst="ellipse">
            <a:avLst/>
          </a:prstGeom>
          <a:solidFill>
            <a:srgbClr val="A78BF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162550" y="5029200"/>
            <a:ext cx="190500" cy="190500"/>
          </a:xfrm>
          <a:prstGeom prst="ellipse">
            <a:avLst/>
          </a:prstGeom>
          <a:solidFill>
            <a:srgbClr val="E9C46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914400" y="1790700"/>
            <a:ext cx="3086100" cy="1333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7143"/>
                </a:moveTo>
                <a:cubicBezTo>
                  <a:pt x="32099" y="0"/>
                  <a:pt x="69136" y="100000"/>
                  <a:pt x="100000" y="28571"/>
                </a:cubicBezTo>
              </a:path>
            </a:pathLst>
          </a:custGeom>
          <a:noFill/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1714500" y="2762250"/>
            <a:ext cx="723900" cy="7810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6316" y="12195"/>
                </a:moveTo>
                <a:cubicBezTo>
                  <a:pt x="65789" y="0"/>
                  <a:pt x="100000" y="24390"/>
                  <a:pt x="92105" y="60976"/>
                </a:cubicBezTo>
                <a:cubicBezTo>
                  <a:pt x="84211" y="97561"/>
                  <a:pt x="26316" y="100000"/>
                  <a:pt x="10526" y="70732"/>
                </a:cubicBezTo>
                <a:cubicBezTo>
                  <a:pt x="0" y="51220"/>
                  <a:pt x="5263" y="21951"/>
                  <a:pt x="26316" y="12195"/>
                </a:cubicBezTo>
                <a:close/>
              </a:path>
            </a:pathLst>
          </a:custGeom>
          <a:noFill/>
          <a:ln w="14288">
            <a:solidFill>
              <a:srgbClr val="264653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914400" y="3829050"/>
            <a:ext cx="2514600" cy="190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cubicBezTo>
                  <a:pt x="16667" y="10000"/>
                  <a:pt x="33333" y="100000"/>
                  <a:pt x="50000" y="50000"/>
                </a:cubicBezTo>
                <a:cubicBezTo>
                  <a:pt x="66667" y="0"/>
                  <a:pt x="81818" y="100000"/>
                  <a:pt x="100000" y="50000"/>
                </a:cubicBezTo>
              </a:path>
            </a:pathLst>
          </a:custGeom>
          <a:noFill/>
          <a:ln w="12382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914400" y="4229100"/>
            <a:ext cx="438150" cy="3238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47059"/>
                </a:moveTo>
                <a:cubicBezTo>
                  <a:pt x="30435" y="0"/>
                  <a:pt x="78261" y="0"/>
                  <a:pt x="100000" y="41176"/>
                </a:cubicBezTo>
                <a:cubicBezTo>
                  <a:pt x="73913" y="82353"/>
                  <a:pt x="30435" y="100000"/>
                  <a:pt x="0" y="47059"/>
                </a:cubicBezTo>
                <a:close/>
              </a:path>
            </a:pathLst>
          </a:custGeom>
          <a:noFill/>
          <a:ln w="1333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952500" y="4305300"/>
            <a:ext cx="400050" cy="762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33333" y="50000"/>
                  <a:pt x="66667" y="0"/>
                  <a:pt x="100000" y="75000"/>
                </a:cubicBezTo>
              </a:path>
            </a:pathLst>
          </a:custGeom>
          <a:noFill/>
          <a:ln w="10478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4991100" y="1143000"/>
            <a:ext cx="114300" cy="438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3333" y="0"/>
                </a:moveTo>
                <a:cubicBezTo>
                  <a:pt x="100000" y="30435"/>
                  <a:pt x="0" y="65217"/>
                  <a:pt x="66667" y="100000"/>
                </a:cubicBezTo>
              </a:path>
            </a:pathLst>
          </a:custGeom>
          <a:noFill/>
          <a:ln w="11430">
            <a:solidFill>
              <a:srgbClr val="2D1F1F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14400" y="685800"/>
            <a:ext cx="108867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E76F51"/>
                </a:solidFill>
                <a:latin typeface="Inter"/>
              </a:rPr>
              <a:t>What we believe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312664"/>
            <a:ext cx="4076551" cy="4857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450" b="1" i="0" u="none">
                <a:solidFill>
                  <a:srgbClr val="2D1F1F"/>
                </a:solidFill>
                <a:latin typeface="Source Serif Pro"/>
              </a:rPr>
              <a:t xml:space="preserve">Five quiet </a:t>
            </a:r>
            <a:r>
              <a:rPr sz="3450" b="0" i="1" u="none">
                <a:solidFill>
                  <a:srgbClr val="264653"/>
                </a:solidFill>
                <a:latin typeface="Source Serif Pro"/>
              </a:rPr>
              <a:t>convictions</a:t>
            </a:r>
            <a:r>
              <a:rPr sz="3450" b="1" i="0" u="none">
                <a:solidFill>
                  <a:srgbClr val="2D1F1F"/>
                </a:solidFill>
                <a:latin typeface="Source Serif Pro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495550"/>
            <a:ext cx="3619500" cy="659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3A2A2A"/>
                </a:solidFill>
                <a:latin typeface="Inter"/>
              </a:rPr>
              <a:t>We wrote them down so we'd remember on the days the noise got loud. They aren't rules. They're the shape of the work, when the work goes well.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0" y="1028700"/>
            <a:ext cx="304800" cy="21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9C89B8"/>
                </a:solidFill>
                <a:latin typeface="Source Serif Pro"/>
              </a:rPr>
              <a:t>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9300" y="1028700"/>
            <a:ext cx="1404045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75" b="1" i="0" u="none">
                <a:solidFill>
                  <a:srgbClr val="2D1F1F"/>
                </a:solidFill>
                <a:latin typeface="Source Serif Pro"/>
              </a:rPr>
              <a:t xml:space="preserve">Slow is a </a:t>
            </a:r>
            <a:r>
              <a:rPr sz="1575" b="0" i="1" u="none">
                <a:solidFill>
                  <a:srgbClr val="E76F51"/>
                </a:solidFill>
                <a:latin typeface="Source Serif Pro"/>
              </a:rPr>
              <a:t>feature</a:t>
            </a:r>
            <a:r>
              <a:rPr sz="1575" b="1" i="0" u="none">
                <a:solidFill>
                  <a:srgbClr val="2D1F1F"/>
                </a:solidFill>
                <a:latin typeface="Source Serif Pro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9300" y="1306711"/>
            <a:ext cx="4104084" cy="191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Speed without consideration is just hurry, and hurry leaves a trail.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0" y="1727150"/>
            <a:ext cx="304800" cy="21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9C89B8"/>
                </a:solidFill>
                <a:latin typeface="Source Serif Pro"/>
              </a:rPr>
              <a:t>ii.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9300" y="1727150"/>
            <a:ext cx="3094732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75" b="1" i="0" u="none">
                <a:solidFill>
                  <a:srgbClr val="2D1F1F"/>
                </a:solidFill>
                <a:latin typeface="Source Serif Pro"/>
              </a:rPr>
              <a:t>Whitespace is a kindness.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9300" y="2005161"/>
            <a:ext cx="3094732" cy="191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What we leave out tells the reader we trust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2425601"/>
            <a:ext cx="304800" cy="21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9C89B8"/>
                </a:solidFill>
                <a:latin typeface="Source Serif Pro"/>
              </a:rPr>
              <a:t>iii.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9300" y="2425601"/>
            <a:ext cx="4001244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75" b="1" i="0" u="none">
                <a:solidFill>
                  <a:srgbClr val="2D1F1F"/>
                </a:solidFill>
                <a:latin typeface="Source Serif Pro"/>
              </a:rPr>
              <a:t>Make it by hand, when you can.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9300" y="2703612"/>
            <a:ext cx="4001244" cy="191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The wobble is the warmth. We do not optimize the wobble away.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0" y="3124051"/>
            <a:ext cx="304800" cy="21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9C89B8"/>
                </a:solidFill>
                <a:latin typeface="Source Serif Pro"/>
              </a:rPr>
              <a:t>iv.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9300" y="3124051"/>
            <a:ext cx="1366986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75" b="1" i="0" u="none">
                <a:solidFill>
                  <a:srgbClr val="2D1F1F"/>
                </a:solidFill>
                <a:latin typeface="Source Serif Pro"/>
              </a:rPr>
              <a:t xml:space="preserve">Soft is not </a:t>
            </a:r>
            <a:r>
              <a:rPr sz="1575" b="0" i="1" u="none">
                <a:solidFill>
                  <a:srgbClr val="E76F51"/>
                </a:solidFill>
                <a:latin typeface="Source Serif Pro"/>
              </a:rPr>
              <a:t>weak</a:t>
            </a:r>
            <a:r>
              <a:rPr sz="1575" b="1" i="0" u="none">
                <a:solidFill>
                  <a:srgbClr val="2D1F1F"/>
                </a:solidFill>
                <a:latin typeface="Source Serif Pro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9300" y="3402062"/>
            <a:ext cx="4598045" cy="191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A round corner has held more weight than a sharp one, in our experience.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3822502"/>
            <a:ext cx="304800" cy="21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9C89B8"/>
                </a:solidFill>
                <a:latin typeface="Source Serif Pro"/>
              </a:rPr>
              <a:t>v.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9300" y="3822502"/>
            <a:ext cx="3890516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75" b="1" i="0" u="none">
                <a:solidFill>
                  <a:srgbClr val="2D1F1F"/>
                </a:solidFill>
                <a:latin typeface="Source Serif Pro"/>
              </a:rPr>
              <a:t>Begin where the light is.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29300" y="4100512"/>
            <a:ext cx="3890516" cy="191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If a thing won't start, move closer to a window. Then try again.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267450"/>
            <a:ext cx="266938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A6A6A"/>
                </a:solidFill>
                <a:latin typeface="Inter"/>
              </a:rPr>
              <a:t>Pinned above the studio sink · revised slowly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0972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Exhibit 14 · Competitive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609600" cy="190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038225"/>
            <a:ext cx="8265021" cy="70246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1A1A1A"/>
                </a:solidFill>
                <a:latin typeface="Source Serif Pro"/>
              </a:rPr>
              <a:t>Three of eleven vendors clear both bars; the long tail still wins on price, not capability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90712"/>
            <a:ext cx="8763000" cy="469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Source Serif Pro"/>
              </a:rPr>
              <a:t>Across n=412 buyer evaluations completed in Q3 2025, only Northstack, Aldermark, and Veridian combined top-quartile depth-of-feature scores with a credible go-to-market footprint outside North America — a pattern unchanged since our 2023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71700"/>
            <a:ext cx="114300" cy="2308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Depth of platform capability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1700"/>
            <a:ext cx="26104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67325"/>
            <a:ext cx="23946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90700" y="2171700"/>
            <a:ext cx="573405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00225" y="3781425"/>
            <a:ext cx="57150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657725" y="2181225"/>
            <a:ext cx="9525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00225" y="2981325"/>
            <a:ext cx="57150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00225" y="4581525"/>
            <a:ext cx="57150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228975" y="2181225"/>
            <a:ext cx="9525" cy="32004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086475" y="2181225"/>
            <a:ext cx="9525" cy="32004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95475" y="2257425"/>
            <a:ext cx="85278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A · Specialist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5400" y="2257425"/>
            <a:ext cx="64457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B · Leader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5475" y="5200650"/>
            <a:ext cx="44142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C · 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3386" y="5200650"/>
            <a:ext cx="56658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D · Scale</a:t>
            </a:r>
          </a:p>
        </p:txBody>
      </p:sp>
      <p:sp>
        <p:nvSpPr>
          <p:cNvPr id="21" name="Oval 20"/>
          <p:cNvSpPr/>
          <p:nvPr/>
        </p:nvSpPr>
        <p:spPr>
          <a:xfrm>
            <a:off x="5962650" y="2690515"/>
            <a:ext cx="133350" cy="133350"/>
          </a:xfrm>
          <a:prstGeom prst="ellipse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124575" y="2547640"/>
            <a:ext cx="52253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Northstack</a:t>
            </a:r>
          </a:p>
        </p:txBody>
      </p:sp>
      <p:sp>
        <p:nvSpPr>
          <p:cNvPr id="23" name="Oval 22"/>
          <p:cNvSpPr/>
          <p:nvPr/>
        </p:nvSpPr>
        <p:spPr>
          <a:xfrm>
            <a:off x="5400675" y="2892028"/>
            <a:ext cx="114300" cy="114300"/>
          </a:xfrm>
          <a:prstGeom prst="ellipse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553075" y="2739628"/>
            <a:ext cx="4948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Aldermark</a:t>
            </a:r>
          </a:p>
        </p:txBody>
      </p:sp>
      <p:sp>
        <p:nvSpPr>
          <p:cNvPr id="25" name="Oval 24"/>
          <p:cNvSpPr/>
          <p:nvPr/>
        </p:nvSpPr>
        <p:spPr>
          <a:xfrm>
            <a:off x="6434138" y="3152924"/>
            <a:ext cx="104775" cy="104775"/>
          </a:xfrm>
          <a:prstGeom prst="ellipse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581775" y="2995761"/>
            <a:ext cx="3891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Veridian</a:t>
            </a:r>
          </a:p>
        </p:txBody>
      </p:sp>
      <p:sp>
        <p:nvSpPr>
          <p:cNvPr id="27" name="Oval 26"/>
          <p:cNvSpPr/>
          <p:nvPr/>
        </p:nvSpPr>
        <p:spPr>
          <a:xfrm>
            <a:off x="3462338" y="2832795"/>
            <a:ext cx="104775" cy="1047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609975" y="2675632"/>
            <a:ext cx="48904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Quartzline</a:t>
            </a:r>
          </a:p>
        </p:txBody>
      </p:sp>
      <p:sp>
        <p:nvSpPr>
          <p:cNvPr id="29" name="Oval 28"/>
          <p:cNvSpPr/>
          <p:nvPr/>
        </p:nvSpPr>
        <p:spPr>
          <a:xfrm>
            <a:off x="2781300" y="3349675"/>
            <a:ext cx="95250" cy="952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2924175" y="3187750"/>
            <a:ext cx="49455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Brightlade</a:t>
            </a:r>
          </a:p>
        </p:txBody>
      </p:sp>
      <p:sp>
        <p:nvSpPr>
          <p:cNvPr id="31" name="Oval 30"/>
          <p:cNvSpPr/>
          <p:nvPr/>
        </p:nvSpPr>
        <p:spPr>
          <a:xfrm>
            <a:off x="4157662" y="3546425"/>
            <a:ext cx="85725" cy="857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4295775" y="3379738"/>
            <a:ext cx="4502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Forrowex</a:t>
            </a:r>
          </a:p>
        </p:txBody>
      </p:sp>
      <p:sp>
        <p:nvSpPr>
          <p:cNvPr id="33" name="Oval 32"/>
          <p:cNvSpPr/>
          <p:nvPr/>
        </p:nvSpPr>
        <p:spPr>
          <a:xfrm>
            <a:off x="5176838" y="4113014"/>
            <a:ext cx="104775" cy="1047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324475" y="4241602"/>
            <a:ext cx="505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Crestmoor</a:t>
            </a:r>
          </a:p>
        </p:txBody>
      </p:sp>
      <p:sp>
        <p:nvSpPr>
          <p:cNvPr id="35" name="Oval 34"/>
          <p:cNvSpPr/>
          <p:nvPr/>
        </p:nvSpPr>
        <p:spPr>
          <a:xfrm>
            <a:off x="6196012" y="4359473"/>
            <a:ext cx="123825" cy="1238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353175" y="4497586"/>
            <a:ext cx="3723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Halberd</a:t>
            </a:r>
          </a:p>
        </p:txBody>
      </p:sp>
      <p:sp>
        <p:nvSpPr>
          <p:cNvPr id="37" name="Oval 36"/>
          <p:cNvSpPr/>
          <p:nvPr/>
        </p:nvSpPr>
        <p:spPr>
          <a:xfrm>
            <a:off x="3014662" y="4634657"/>
            <a:ext cx="85725" cy="857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3152775" y="4753719"/>
            <a:ext cx="444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Otterbein</a:t>
            </a:r>
          </a:p>
        </p:txBody>
      </p:sp>
      <p:sp>
        <p:nvSpPr>
          <p:cNvPr id="39" name="Oval 38"/>
          <p:cNvSpPr/>
          <p:nvPr/>
        </p:nvSpPr>
        <p:spPr>
          <a:xfrm>
            <a:off x="3929062" y="4826645"/>
            <a:ext cx="85725" cy="857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4067175" y="4945707"/>
            <a:ext cx="35004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Mendip</a:t>
            </a:r>
          </a:p>
        </p:txBody>
      </p:sp>
      <p:sp>
        <p:nvSpPr>
          <p:cNvPr id="41" name="Oval 40"/>
          <p:cNvSpPr/>
          <p:nvPr/>
        </p:nvSpPr>
        <p:spPr>
          <a:xfrm>
            <a:off x="6781800" y="4821882"/>
            <a:ext cx="95250" cy="952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6391275" y="4945707"/>
            <a:ext cx="32251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Pellish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45905" y="2028825"/>
            <a:ext cx="102364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Median GTM coverage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90700" y="5657850"/>
            <a:ext cx="5715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Go-to-market reach 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0500" y="2171700"/>
            <a:ext cx="1356271" cy="160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87" b="1" i="0" u="none">
                <a:solidFill>
                  <a:srgbClr val="1A1A1A"/>
                </a:solidFill>
                <a:latin typeface="Source Serif Pro"/>
              </a:rPr>
              <a:t>Vendors plotted (n=11)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0500" y="3322588"/>
            <a:ext cx="37719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04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  Quartzline </a:t>
            </a:r>
            <a:r>
              <a:rPr sz="900" b="0" i="0" u="none">
                <a:solidFill>
                  <a:srgbClr val="475569"/>
                </a:solidFill>
                <a:latin typeface="Inter"/>
              </a:rPr>
              <a:t>7.6%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0500" y="3598813"/>
            <a:ext cx="37719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05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  Brightlade </a:t>
            </a:r>
            <a:r>
              <a:rPr sz="900" b="0" i="0" u="none">
                <a:solidFill>
                  <a:srgbClr val="475569"/>
                </a:solidFill>
                <a:latin typeface="Inter"/>
              </a:rPr>
              <a:t>5.3%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0500" y="3875038"/>
            <a:ext cx="37719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06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  Halberd </a:t>
            </a:r>
            <a:r>
              <a:rPr sz="900" b="0" i="0" u="none">
                <a:solidFill>
                  <a:srgbClr val="475569"/>
                </a:solidFill>
                <a:latin typeface="Inter"/>
              </a:rPr>
              <a:t>4.9%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0500" y="4151263"/>
            <a:ext cx="37719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07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  Other (5) </a:t>
            </a:r>
            <a:r>
              <a:rPr sz="900" b="0" i="0" u="none">
                <a:solidFill>
                  <a:srgbClr val="475569"/>
                </a:solidFill>
                <a:latin typeface="Inter"/>
              </a:rPr>
              <a:t>35.9%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0500" y="5029200"/>
            <a:ext cx="3771900" cy="960686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7953375" y="5153025"/>
            <a:ext cx="34861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So what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3375" y="5324475"/>
            <a:ext cx="3435400" cy="514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A1A1A"/>
                </a:solidFill>
                <a:latin typeface="Source Serif Pro"/>
              </a:rPr>
              <a:t>Quadrant B is contestable for at most one entrant by 2027; specialists in A face a binary — acquire reach within 18 months, or accept share erosion of 180–240 bps annually.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600" y="6353175"/>
            <a:ext cx="8333482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Source: Beacon &amp; Lowe vendor benchmarking, March 2026; based on n=412 enterprise software buyers, Q3 2025; depth-of-capability score is a 24-criterion weighted index.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1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Bars defined at 75th-percentile thresholds.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Eleven vendors with &gt;0.5% share.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3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Modeled under base-case GTM scenario.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51 / 84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0972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Exhibit 22 · Wallet Composition by Segment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609600" cy="190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047750"/>
            <a:ext cx="8144917" cy="6514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1A1A1A"/>
                </a:solidFill>
                <a:latin typeface="Source Serif Pro"/>
              </a:rPr>
              <a:t>Mid-market budgets are tilting toward platform fees; SMB still pays primarily for services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26716"/>
            <a:ext cx="8382000" cy="4417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ource Serif Pro"/>
              </a:rPr>
              <a:t>Across four buyer cohorts, the share of wallet absorbed by recurring license fees ranges from 28% to 61% — the spread, more than the levels, drives go-to-market choices for the next planning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71700"/>
            <a:ext cx="7429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Share of total IT software wallet, %, FY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05050"/>
            <a:ext cx="7429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ource Serif Pro"/>
              </a:rPr>
              <a:t>Five categories; rows sum to 100% of segment spend (n=412)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990850"/>
            <a:ext cx="7429500" cy="3048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19125" y="3000375"/>
            <a:ext cx="431949" cy="285750"/>
          </a:xfrm>
          <a:prstGeom prst="rect">
            <a:avLst/>
          </a:prstGeom>
          <a:solidFill>
            <a:srgbClr val="0B3A5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61%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6087" y="3000375"/>
            <a:ext cx="431949" cy="285750"/>
          </a:xfrm>
          <a:prstGeom prst="rect">
            <a:avLst/>
          </a:prstGeom>
          <a:solidFill>
            <a:srgbClr val="475569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7735" y="3000375"/>
            <a:ext cx="431949" cy="285750"/>
          </a:xfrm>
          <a:prstGeom prst="rect">
            <a:avLst/>
          </a:prstGeom>
          <a:solidFill>
            <a:srgbClr val="64748B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5564" y="3000375"/>
            <a:ext cx="375444" cy="285750"/>
          </a:xfrm>
          <a:prstGeom prst="rect">
            <a:avLst/>
          </a:prstGeom>
          <a:solidFill>
            <a:srgbClr val="94A3B8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1077" y="3000375"/>
            <a:ext cx="368498" cy="285750"/>
          </a:xfrm>
          <a:prstGeom prst="rect">
            <a:avLst/>
          </a:prstGeom>
          <a:solidFill>
            <a:srgbClr val="CBD5E1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3619500"/>
            <a:ext cx="7429500" cy="3048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19125" y="3629025"/>
            <a:ext cx="431949" cy="285750"/>
          </a:xfrm>
          <a:prstGeom prst="rect">
            <a:avLst/>
          </a:prstGeom>
          <a:solidFill>
            <a:srgbClr val="0B3A5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52%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314" y="3629025"/>
            <a:ext cx="431949" cy="285750"/>
          </a:xfrm>
          <a:prstGeom prst="rect">
            <a:avLst/>
          </a:prstGeom>
          <a:solidFill>
            <a:srgbClr val="475569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8790" y="3629025"/>
            <a:ext cx="431949" cy="285750"/>
          </a:xfrm>
          <a:prstGeom prst="rect">
            <a:avLst/>
          </a:prstGeom>
          <a:solidFill>
            <a:srgbClr val="64748B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0438" y="3629025"/>
            <a:ext cx="431949" cy="285750"/>
          </a:xfrm>
          <a:prstGeom prst="rect">
            <a:avLst/>
          </a:prstGeom>
          <a:solidFill>
            <a:srgbClr val="94A3B8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7258" y="3629025"/>
            <a:ext cx="375444" cy="285750"/>
          </a:xfrm>
          <a:prstGeom prst="rect">
            <a:avLst/>
          </a:prstGeom>
          <a:solidFill>
            <a:srgbClr val="CBD5E1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4248150"/>
            <a:ext cx="7429500" cy="3048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19125" y="4257675"/>
            <a:ext cx="431949" cy="285750"/>
          </a:xfrm>
          <a:prstGeom prst="rect">
            <a:avLst/>
          </a:prstGeom>
          <a:solidFill>
            <a:srgbClr val="0B3A5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41%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1349" y="4257675"/>
            <a:ext cx="431949" cy="285750"/>
          </a:xfrm>
          <a:prstGeom prst="rect">
            <a:avLst/>
          </a:prstGeom>
          <a:solidFill>
            <a:srgbClr val="475569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24%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0292" y="4257675"/>
            <a:ext cx="431949" cy="285750"/>
          </a:xfrm>
          <a:prstGeom prst="rect">
            <a:avLst/>
          </a:prstGeom>
          <a:solidFill>
            <a:srgbClr val="64748B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768" y="4257675"/>
            <a:ext cx="431949" cy="285750"/>
          </a:xfrm>
          <a:prstGeom prst="rect">
            <a:avLst/>
          </a:prstGeom>
          <a:solidFill>
            <a:srgbClr val="94A3B8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7258" y="4257675"/>
            <a:ext cx="375444" cy="285750"/>
          </a:xfrm>
          <a:prstGeom prst="rect">
            <a:avLst/>
          </a:prstGeom>
          <a:solidFill>
            <a:srgbClr val="CBD5E1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76800"/>
            <a:ext cx="7429500" cy="3048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19125" y="4886325"/>
            <a:ext cx="431949" cy="285750"/>
          </a:xfrm>
          <a:prstGeom prst="rect">
            <a:avLst/>
          </a:prstGeom>
          <a:solidFill>
            <a:srgbClr val="0B3A5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28%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2896" y="4886325"/>
            <a:ext cx="431949" cy="285750"/>
          </a:xfrm>
          <a:prstGeom prst="rect">
            <a:avLst/>
          </a:prstGeom>
          <a:solidFill>
            <a:srgbClr val="475569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31%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7826" y="4886325"/>
            <a:ext cx="431949" cy="285750"/>
          </a:xfrm>
          <a:prstGeom prst="rect">
            <a:avLst/>
          </a:prstGeom>
          <a:solidFill>
            <a:srgbClr val="64748B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22%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9280" y="4886325"/>
            <a:ext cx="431949" cy="285750"/>
          </a:xfrm>
          <a:prstGeom prst="rect">
            <a:avLst/>
          </a:prstGeom>
          <a:solidFill>
            <a:srgbClr val="94A3B8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3588" y="4886325"/>
            <a:ext cx="375444" cy="285750"/>
          </a:xfrm>
          <a:prstGeom prst="rect">
            <a:avLst/>
          </a:prstGeom>
          <a:solidFill>
            <a:srgbClr val="CBD5E1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5248275"/>
            <a:ext cx="9525" cy="5715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466975" y="5248275"/>
            <a:ext cx="9525" cy="5715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324350" y="5248275"/>
            <a:ext cx="9525" cy="5715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181725" y="5248275"/>
            <a:ext cx="9525" cy="5715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8039100" y="5248275"/>
            <a:ext cx="9525" cy="5715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609600" y="5629275"/>
            <a:ext cx="7429500" cy="70276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752475" y="5734050"/>
            <a:ext cx="71437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Methodology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475" y="5886450"/>
            <a:ext cx="6985546" cy="3180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1A1A1A"/>
                </a:solidFill>
                <a:latin typeface="Source Serif Pro"/>
              </a:rPr>
              <a:t xml:space="preserve">Categories per Beacon &amp; Lowe 2024 taxonomy, v3.2; respondents allocated 100 points across the five buckets. 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900" b="0" i="0" u="none">
                <a:solidFill>
                  <a:srgbClr val="1A1A1A"/>
                </a:solidFill>
                <a:latin typeface="Source Serif Pro"/>
              </a:rPr>
              <a:t>Differences across cohorts significant at p&lt;0.01.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0100" y="2171700"/>
            <a:ext cx="316230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87" b="1" i="0" u="none">
                <a:solidFill>
                  <a:srgbClr val="1A1A1A"/>
                </a:solidFill>
                <a:latin typeface="Source Serif Pro"/>
              </a:rPr>
              <a:t>Three takeaways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43950" y="2552700"/>
            <a:ext cx="2838450" cy="321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7" b="1" i="0" u="none">
                <a:solidFill>
                  <a:srgbClr val="1A1A1A"/>
                </a:solidFill>
                <a:latin typeface="Inter"/>
              </a:rPr>
              <a:t>Platform share rises ~11 ppts per tier of buyer scale.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43950" y="2950369"/>
            <a:ext cx="2834878" cy="44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Mix shifts ~33 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ppts</a:t>
            </a:r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 end-to-end — from 28% in SMB to 61% in enterprise — tracking IT-team self-sufficiency more closely than absolute spend.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3950" y="3700462"/>
            <a:ext cx="2838450" cy="160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1" i="0" u="none">
                <a:solidFill>
                  <a:srgbClr val="1A1A1A"/>
                </a:solidFill>
                <a:latin typeface="Inter"/>
              </a:rPr>
              <a:t>SMB services line is structurally sticky.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3950" y="3937397"/>
            <a:ext cx="2734121" cy="460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Implementation plus managed services hold a combined 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53%</a:t>
            </a:r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 of SMB wallets, and have moved less than 200 bps in three years.</a:t>
            </a:r>
            <a:r>
              <a:rPr sz="800" b="1" i="0" u="none">
                <a:solidFill>
                  <a:srgbClr val="0B3A5C"/>
                </a:solidFill>
                <a:latin typeface="Inter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43950" y="4704904"/>
            <a:ext cx="2838450" cy="160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1" i="0" u="none">
                <a:solidFill>
                  <a:srgbClr val="1A1A1A"/>
                </a:solidFill>
                <a:latin typeface="Inter"/>
              </a:rPr>
              <a:t>Training is the swing line for upsell.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43950" y="4941838"/>
            <a:ext cx="2651968" cy="44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Mid-market buyers willing to fund 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10–11%</a:t>
            </a:r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 of wallet on enablement pay 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1.4×</a:t>
            </a:r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 the platform multiple of peers, on average.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353175"/>
            <a:ext cx="8256836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Source: Beacon &amp; Lowe Buyer Wallet Survey, FY 2025; n=412 enterprise software buyers, fielded Q3 2025.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1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Excludes hardware and infrastructure-as-a-service.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Cohort definitions follow Beacon &amp; Lowe segmentation, vintage 2024.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3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Three-year window: FY 2022–FY 2025 longitudinal panel.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52 / 84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0972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Exhibit 31 · Archetype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609600" cy="190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047750"/>
            <a:ext cx="9308009" cy="6514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1A1A1A"/>
                </a:solidFill>
                <a:latin typeface="Source Serif Pro"/>
              </a:rPr>
              <a:t>Four operating-model archetypes — only the federated build sustains a return spread above 12 ppts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26716"/>
            <a:ext cx="9525000" cy="4417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ource Serif Pro"/>
              </a:rPr>
              <a:t>Across the 218 large-buyer transformations in our 2026 panel, the trade-off between cost-to-serve and revenue uplift narrows materially under federated ownership; full outsourcing remains the lowest-variance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90750"/>
            <a:ext cx="2095500" cy="5185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8450" y="2462212"/>
            <a:ext cx="1943100" cy="151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Source Serif Pro"/>
              </a:rPr>
              <a:t>Single COE, one P&amp;L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7775" y="2462212"/>
            <a:ext cx="1943100" cy="151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Source Serif Pro"/>
              </a:rPr>
              <a:t>Hub plus 3-5 BU 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7100" y="2462212"/>
            <a:ext cx="1943100" cy="151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Source Serif Pro"/>
              </a:rPr>
              <a:t>Tier-1 SI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6425" y="2462212"/>
            <a:ext cx="1952625" cy="151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Source Serif Pro"/>
              </a:rPr>
              <a:t>Centralized + 1 BU pod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031629"/>
            <a:ext cx="930622" cy="138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Months from kick-off</a:t>
            </a:r>
            <a:r>
              <a:rPr sz="800" b="1" i="0" u="none">
                <a:solidFill>
                  <a:srgbClr val="0B3A5C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8450" y="2842617"/>
            <a:ext cx="33501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9.4</a:t>
            </a:r>
            <a:r>
              <a:rPr sz="862" b="0" i="0" u="none">
                <a:solidFill>
                  <a:srgbClr val="1A1A1A"/>
                </a:solidFill>
                <a:latin typeface="Inter"/>
              </a:rPr>
              <a:t xml:space="preserve">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7775" y="2842617"/>
            <a:ext cx="335012" cy="114300"/>
          </a:xfrm>
          <a:prstGeom prst="rect">
            <a:avLst/>
          </a:prstGeom>
          <a:solidFill>
            <a:srgbClr val="0B3A5C">
              <a:alpha val="4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6.8</a:t>
            </a:r>
            <a:r>
              <a:rPr sz="862" b="0" i="0" u="none">
                <a:solidFill>
                  <a:srgbClr val="1A1A1A"/>
                </a:solidFill>
                <a:latin typeface="Inter"/>
              </a:rPr>
              <a:t xml:space="preserve">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7100" y="2842617"/>
            <a:ext cx="38978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11.2</a:t>
            </a:r>
            <a:r>
              <a:rPr sz="862" b="0" i="0" u="none">
                <a:solidFill>
                  <a:srgbClr val="1A1A1A"/>
                </a:solidFill>
                <a:latin typeface="Inter"/>
              </a:rPr>
              <a:t xml:space="preserve">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6425" y="2842617"/>
            <a:ext cx="33501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8.1</a:t>
            </a:r>
            <a:r>
              <a:rPr sz="862" b="0" i="0" u="none">
                <a:solidFill>
                  <a:srgbClr val="1A1A1A"/>
                </a:solidFill>
                <a:latin typeface="Inter"/>
              </a:rPr>
              <a:t xml:space="preserve"> 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305175"/>
            <a:ext cx="10972800" cy="56257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42950" y="3608487"/>
            <a:ext cx="1819275" cy="1449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Indexed, 100 =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7775" y="3429000"/>
            <a:ext cx="338286" cy="114300"/>
          </a:xfrm>
          <a:prstGeom prst="rect">
            <a:avLst/>
          </a:prstGeom>
          <a:solidFill>
            <a:srgbClr val="0B3A5C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057775" y="3429000"/>
            <a:ext cx="12189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0175" y="3429000"/>
            <a:ext cx="1858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0B3A5C"/>
                </a:solidFill>
                <a:latin typeface="Inter"/>
              </a:rPr>
              <a:t>−12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4171057"/>
            <a:ext cx="1819275" cy="1449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vs. trailing 12-month run-rate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8450" y="3991570"/>
            <a:ext cx="31373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+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3.8%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7775" y="3991570"/>
            <a:ext cx="313730" cy="114300"/>
          </a:xfrm>
          <a:prstGeom prst="rect">
            <a:avLst/>
          </a:prstGeom>
          <a:solidFill>
            <a:srgbClr val="0B3A5C">
              <a:alpha val="4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+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9.1%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7100" y="3991570"/>
            <a:ext cx="31373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+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2.6%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6425" y="3991570"/>
            <a:ext cx="31373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+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5.2%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430316"/>
            <a:ext cx="10972800" cy="56257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742950" y="4733627"/>
            <a:ext cx="1819275" cy="1449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% staff at month 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7775" y="4554141"/>
            <a:ext cx="219373" cy="114300"/>
          </a:xfrm>
          <a:prstGeom prst="rect">
            <a:avLst/>
          </a:prstGeom>
          <a:solidFill>
            <a:srgbClr val="0B3A5C">
              <a:alpha val="4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88%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5296198"/>
            <a:ext cx="1819275" cy="1449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Steering hours / quarter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8450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924175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009900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5625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181350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924425" y="4992886"/>
            <a:ext cx="2219325" cy="553045"/>
          </a:xfrm>
          <a:prstGeom prst="rect">
            <a:avLst/>
          </a:prstGeom>
          <a:solidFill>
            <a:srgbClr val="0B3A5C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057775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143500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229225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314950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5400675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277100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362825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7448550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7534275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7620000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9496425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9582150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9667875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9753600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9839325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609600" y="5555456"/>
            <a:ext cx="10972800" cy="56257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742950" y="5858768"/>
            <a:ext cx="1819275" cy="1449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Beacon &amp; Lowe rubric, 1–5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8450" y="5660231"/>
            <a:ext cx="532209" cy="188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2 · Low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24425" y="5555456"/>
            <a:ext cx="2219325" cy="553045"/>
          </a:xfrm>
          <a:prstGeom prst="rect">
            <a:avLst/>
          </a:prstGeom>
          <a:solidFill>
            <a:srgbClr val="0B3A5C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057775" y="5660231"/>
            <a:ext cx="532209" cy="188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2 · 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77100" y="5660231"/>
            <a:ext cx="552896" cy="188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4 · High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96425" y="5660231"/>
            <a:ext cx="522238" cy="188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3 · Med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950" y="6241852"/>
            <a:ext cx="1225748" cy="136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Composite score</a:t>
            </a:r>
            <a:r>
              <a:rPr sz="800" b="1" i="0" u="none">
                <a:solidFill>
                  <a:srgbClr val="0B3A5C"/>
                </a:solidFill>
                <a:latin typeface="Inter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38450" y="6251377"/>
            <a:ext cx="30465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3.2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 xml:space="preserve"> / 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57775" y="6251377"/>
            <a:ext cx="304651" cy="114300"/>
          </a:xfrm>
          <a:prstGeom prst="rect">
            <a:avLst/>
          </a:prstGeom>
          <a:solidFill>
            <a:srgbClr val="0B3A5C">
              <a:alpha val="4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4.1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 xml:space="preserve"> /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77100" y="6251377"/>
            <a:ext cx="30465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2.8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 xml:space="preserve"> / 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6425" y="6251377"/>
            <a:ext cx="30465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3.4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 xml:space="preserve"> / 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9600" y="6084094"/>
            <a:ext cx="10549384" cy="138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  <a:r>
              <a:rPr sz="800" b="0" i="0" u="none">
                <a:solidFill>
                  <a:srgbClr val="475569"/>
                </a:solidFill>
                <a:latin typeface="Source Serif Pro"/>
              </a:rPr>
              <a:t xml:space="preserve"> “Spread” defined as year-3 revenue uplift minus three-year cost increase, normalized.    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800" b="0" i="0" u="none">
                <a:solidFill>
                  <a:srgbClr val="475569"/>
                </a:solidFill>
                <a:latin typeface="Source Serif Pro"/>
              </a:rPr>
              <a:t xml:space="preserve"> Median across n=218 transformations; quartile bounds available in appendix C-4.    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3</a:t>
            </a:r>
            <a:r>
              <a:rPr sz="800" b="0" i="0" u="none">
                <a:solidFill>
                  <a:srgbClr val="475569"/>
                </a:solidFill>
                <a:latin typeface="Source Serif Pro"/>
              </a:rPr>
              <a:t xml:space="preserve"> Composite weights: cost 30%, time 20%, uplift 30%, retention 10%, governance 10%.
 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9600" y="641985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Source Serif Pro"/>
              </a:rPr>
              <a:t>Source: Beacon &amp; Lowe Transformation Outcomes Database, March 2026; based on n=218 large-enterprise transformations completed FY 2021–FY 2024; archetype assignment per primary delivery owner at month 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53 / 84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97416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0972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Exhibit 4 · Five Demand Drivers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609600" cy="190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047750"/>
            <a:ext cx="8974931" cy="6514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1A1A1A"/>
                </a:solidFill>
                <a:latin typeface="Source Serif Pro"/>
              </a:rPr>
              <a:t>Five forces are reshaping enterprise software demand through 2028 — only two are reversible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26716"/>
            <a:ext cx="9334500" cy="4417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ource Serif Pro"/>
              </a:rPr>
              <a:t>Three are structural shifts in buyer behavior; two are policy- or rate-driven and may unwind. Where forces stack, planning windows compress to under nine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76475"/>
            <a:ext cx="409575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0B3A5C"/>
                </a:solidFill>
                <a:latin typeface="Source Serif Pro"/>
              </a:rPr>
              <a:t>01</a:t>
            </a:r>
            <a:r>
              <a:rPr sz="800" b="1" i="0" u="none">
                <a:solidFill>
                  <a:srgbClr val="475569"/>
                </a:solidFill>
                <a:latin typeface="Inter"/>
              </a:rPr>
              <a:t>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95525"/>
            <a:ext cx="7467600" cy="2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1" i="0" u="none">
                <a:solidFill>
                  <a:srgbClr val="1A1A1A"/>
                </a:solidFill>
                <a:latin typeface="Source Serif Pro"/>
              </a:rPr>
              <a:t>Procurement is consolidating — six vendors absorb the budget that twenty-two used to share.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82168"/>
            <a:ext cx="6385471" cy="331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ource Serif Pro"/>
              </a:rPr>
              <a:t>Concentration ratios rose from 41% to 68% of category spend in three years across 412 surveyed buyers; long-tail vendors retain niche use-cases but lose framework agreements first.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013918"/>
            <a:ext cx="74676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Structural · irreversible by 2028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77375" y="2276475"/>
            <a:ext cx="418356" cy="2952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1A1A1A"/>
                </a:solidFill>
                <a:latin typeface="Inter"/>
              </a:rPr>
              <a:t>68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7375" y="2628900"/>
            <a:ext cx="1981051" cy="2541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Top-6 share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of category spend, FY 2025; up from 41% in FY 2022.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7375" y="2937272"/>
            <a:ext cx="21050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↑ 27 ppts vs. FY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433018"/>
            <a:ext cx="409575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0B3A5C"/>
                </a:solidFill>
                <a:latin typeface="Source Serif Pro"/>
              </a:rPr>
              <a:t>02</a:t>
            </a:r>
            <a:r>
              <a:rPr sz="800" b="1" i="0" u="none">
                <a:solidFill>
                  <a:srgbClr val="475569"/>
                </a:solidFill>
                <a:latin typeface="Inter"/>
              </a:rPr>
              <a:t>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452068"/>
            <a:ext cx="7467600" cy="2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1" i="0" u="none">
                <a:solidFill>
                  <a:srgbClr val="1A1A1A"/>
                </a:solidFill>
                <a:latin typeface="Source Serif Pro"/>
              </a:rPr>
              <a:t>Generative-AI features have moved from differentiator to table stakes inside fourteen months.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19661"/>
            <a:ext cx="6477000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ource Serif Pro"/>
              </a:rPr>
              <a:t>By Q1 2026, 79% of RFPs included native AI-feature requirements as gating criteria, up from 12% in Q3 2024; vendors without a credible roadmap drop out at first-pass screening.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167336"/>
            <a:ext cx="74676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Structural · accelerating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7375" y="3433018"/>
            <a:ext cx="418356" cy="2952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1A1A1A"/>
                </a:solidFill>
                <a:latin typeface="Inter"/>
              </a:rPr>
              <a:t>79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7375" y="3785443"/>
            <a:ext cx="199027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RFPs gating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on native AI features, Q1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7375" y="3953917"/>
            <a:ext cx="21050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↑ 67 ppts in 18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586436"/>
            <a:ext cx="409575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0B3A5C"/>
                </a:solidFill>
                <a:latin typeface="Source Serif Pro"/>
              </a:rPr>
              <a:t>03</a:t>
            </a:r>
            <a:r>
              <a:rPr sz="800" b="1" i="0" u="none">
                <a:solidFill>
                  <a:srgbClr val="475569"/>
                </a:solidFill>
                <a:latin typeface="Inter"/>
              </a:rPr>
              <a:t>Force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605486"/>
            <a:ext cx="7467600" cy="2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1" i="0" u="none">
                <a:solidFill>
                  <a:srgbClr val="1A1A1A"/>
                </a:solidFill>
                <a:latin typeface="Source Serif Pro"/>
              </a:rPr>
              <a:t>Capital cost has reset deal economics — payback windows under 18 months are now mandatory.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873079"/>
            <a:ext cx="6477000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ource Serif Pro"/>
              </a:rPr>
              <a:t>The median budget-committee threshold tightened from 24 months in 2022 to 17 months in early 2026, reflecting a 280-bps rise in internal hurdle rates; rate cuts could partially unwind this.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320754"/>
            <a:ext cx="74676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Cyclical · partially reversible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7375" y="4586436"/>
            <a:ext cx="479822" cy="2952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1A1A1A"/>
                </a:solidFill>
                <a:latin typeface="Inter"/>
              </a:rPr>
              <a:t>17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7375" y="4938861"/>
            <a:ext cx="1945928" cy="2541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Median payback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threshold, Q1 2026; down from 24 months three years earlier.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7375" y="5247233"/>
            <a:ext cx="21050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↓ 7 months vs.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5739854"/>
            <a:ext cx="409575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0B3A5C"/>
                </a:solidFill>
                <a:latin typeface="Source Serif Pro"/>
              </a:rPr>
              <a:t>04</a:t>
            </a:r>
            <a:r>
              <a:rPr sz="800" b="1" i="0" u="none">
                <a:solidFill>
                  <a:srgbClr val="475569"/>
                </a:solidFill>
                <a:latin typeface="Inter"/>
              </a:rPr>
              <a:t>Force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758904"/>
            <a:ext cx="7467600" cy="2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1" i="0" u="none">
                <a:solidFill>
                  <a:srgbClr val="1A1A1A"/>
                </a:solidFill>
                <a:latin typeface="Source Serif Pro"/>
              </a:rPr>
              <a:t>Data-residency mandates are fragmenting deployment plans across at least three regions.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6045547"/>
            <a:ext cx="6175474" cy="331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ource Serif Pro"/>
              </a:rPr>
              <a:t>Sixty-one percent of surveyed buyers now require in-region data planes for at least one workload, against a backdrop of nine major regulatory updates since FY 2023.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6477298"/>
            <a:ext cx="74676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Policy · reversibility 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7375" y="5739854"/>
            <a:ext cx="418356" cy="2952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1A1A1A"/>
                </a:solidFill>
                <a:latin typeface="Inter"/>
              </a:rPr>
              <a:t>61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7375" y="6092279"/>
            <a:ext cx="2018109" cy="2541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Buyers requiring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in-region data planes for at least one workload.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7375" y="6400651"/>
            <a:ext cx="21050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↑ 19 ppts vs. FY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353175"/>
            <a:ext cx="8287494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Source: Beacon &amp; Lowe Demand Drivers Index, March 2026; n=412 enterprise software buyers; reversibility classification per the firm's three-criterion rubric (policy, capital, behavior).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1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Forces 03 and 04 classified as partially reversible.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Concentration ratio measures top-6 share of cumulative category spend.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3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Counts EU, UK, IN, BR, KR, JP, AU, CA, ZA major updates since FY 2023.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54 / 84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9754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0972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Exhibit 47 · EBITDA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609600" cy="190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047750"/>
            <a:ext cx="9173021" cy="6514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1A1A1A"/>
                </a:solidFill>
                <a:latin typeface="Source Serif Pro"/>
              </a:rPr>
              <a:t>Three quarters of the FY27 EBITDA uplift comes from price and mix — cost programs hold the rest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26716"/>
            <a:ext cx="9334500" cy="4417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ource Serif Pro"/>
              </a:rPr>
              <a:t>A $612M base expands to $864M by FY27 in the recommended plan; the bridge is dominated by net-price realization and channel mix, with cost-out and one-time investments largely cancelling.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2314575"/>
            <a:ext cx="7086600" cy="2886075"/>
          </a:xfrm>
          <a:prstGeom prst="rect">
            <a:avLst/>
          </a:prstGeom>
          <a:solidFill>
            <a:srgbClr val="F7F5F2"/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827216" y="2486025"/>
            <a:ext cx="57611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7630" y="2486025"/>
            <a:ext cx="54426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Additions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195" y="2486025"/>
            <a:ext cx="70098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Subtractions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359" y="2824162"/>
            <a:ext cx="226516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4814" y="3295650"/>
            <a:ext cx="15106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4814" y="3767138"/>
            <a:ext cx="15106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4814" y="4238625"/>
            <a:ext cx="15106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5422" y="4662488"/>
            <a:ext cx="50453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2314575"/>
            <a:ext cx="303415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FY24 to FY27 EBITDA Bridge, USD millions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" y="2486025"/>
            <a:ext cx="27807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ource Serif Pro"/>
              </a:rPr>
              <a:t>Plan view; figures rounded to nearest $5M, base · deltas · 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95067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$612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EBITDA actual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84797" y="3218706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+94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84797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Net new logos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7994" y="2959745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+138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7994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Net realization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1191" y="2854672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+56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1191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SG&amp;A re-base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4388" y="2854672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−28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4388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Headwind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7584" y="2907209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−42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7584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R&amp;D &amp; GTM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0781" y="2922240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+34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0781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M&amp;A &amp; one-offs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3978" y="2922240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$864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3978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EBITDA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171700"/>
            <a:ext cx="335280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87" b="1" i="0" u="none">
                <a:solidFill>
                  <a:srgbClr val="1A1A1A"/>
                </a:solidFill>
                <a:latin typeface="Source Serif Pro"/>
              </a:rPr>
              <a:t>Calculation detail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2475" y="2552700"/>
            <a:ext cx="3067050" cy="4296817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372475" y="3051721"/>
            <a:ext cx="280808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FY24 EBITDA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56764" y="3051721"/>
            <a:ext cx="18276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612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6775" y="3261271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at 18.4% margin on $3,326M revenue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2475" y="3461296"/>
            <a:ext cx="28049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(+)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53639" y="3461296"/>
            <a:ext cx="1858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0B3A5C"/>
                </a:solidFill>
                <a:latin typeface="Inter"/>
              </a:rPr>
              <a:t>+94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6775" y="3670846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+1,420 net logos × $66k ACV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2475" y="3870871"/>
            <a:ext cx="274409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(+) Price &amp; mix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92768" y="3870871"/>
            <a:ext cx="24675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0B3A5C"/>
                </a:solidFill>
                <a:latin typeface="Inter"/>
              </a:rPr>
              <a:t>+138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6775" y="4080421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+3.6% list · +1.4 ppt mix shift to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2475" y="4280446"/>
            <a:ext cx="28049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(+) Cost-out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53639" y="4280446"/>
            <a:ext cx="1858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0B3A5C"/>
                </a:solidFill>
                <a:latin typeface="Inter"/>
              </a:rPr>
              <a:t>+56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6775" y="4489996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SG&amp;A from 22.1% → 20.7% of revenue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2475" y="4690021"/>
            <a:ext cx="28049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(−) FX &amp; inflation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53639" y="4690021"/>
            <a:ext cx="1858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7A1F3D"/>
                </a:solidFill>
                <a:latin typeface="Inter"/>
              </a:rPr>
              <a:t>−28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6775" y="4899571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USD strength + 4.1% wage drift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72475" y="5099596"/>
            <a:ext cx="28049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(−) Reinvestment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53639" y="5099596"/>
            <a:ext cx="1858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7A1F3D"/>
                </a:solidFill>
                <a:latin typeface="Inter"/>
              </a:rPr>
              <a:t>−42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6775" y="5309146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R&amp;D 14.0% → 14.9% · GTM uplift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72475" y="5509171"/>
            <a:ext cx="28049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(+) Other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53639" y="5509171"/>
            <a:ext cx="1858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0B3A5C"/>
                </a:solidFill>
                <a:latin typeface="Inter"/>
              </a:rPr>
              <a:t>+34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6775" y="5718721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Tuck-ins (2) · one-time benefit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72475" y="6004471"/>
            <a:ext cx="280808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FY27 EBITDA plan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56764" y="6004471"/>
            <a:ext cx="18276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0B3A5C"/>
                </a:solidFill>
                <a:latin typeface="Inter"/>
              </a:rPr>
              <a:t>864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72475" y="2552700"/>
            <a:ext cx="30670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Bridge math · $M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72475" y="2714625"/>
            <a:ext cx="3067050" cy="184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1" i="0" u="none">
                <a:solidFill>
                  <a:srgbClr val="1A1A1A"/>
                </a:solidFill>
                <a:latin typeface="Source Serif Pro"/>
              </a:rPr>
              <a:t>FY24 actual to FY27 plan, in flow order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72475" y="6261646"/>
            <a:ext cx="30670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at </a:t>
            </a:r>
            <a:r>
              <a:rPr sz="800" b="1" i="0" u="none">
                <a:solidFill>
                  <a:srgbClr val="1A1A1A"/>
                </a:solidFill>
                <a:latin typeface="Inter"/>
              </a:rPr>
              <a:t>21.3%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margin on $4,058M revenue (+6.9% CAGR)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72475" y="6471196"/>
            <a:ext cx="3067050" cy="3868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CAGR on EBITDA: </a:t>
            </a:r>
            <a:r>
              <a:rPr sz="800" b="1" i="0" u="none">
                <a:solidFill>
                  <a:srgbClr val="1A1A1A"/>
                </a:solidFill>
                <a:latin typeface="Source Serif Pro"/>
              </a:rPr>
              <a:t>+12.2%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over three years; 76% of the absolute uplift sits in price, mix, and volume.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9600" y="6353175"/>
            <a:ext cx="8401943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Source: Beacon &amp; Lowe value-architecture model, March 2026 vintage; client management plan, FY24 actuals from audited 10-K; macro inputs from IMF World Economic Outlook, Oct 2025.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1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Recommended-plan view; downside case in appendix D-2.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Order is presentational, not arithmetic.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3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Volume + price + mix combined.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55 / 84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9600" y="304800"/>
            <a:ext cx="171450" cy="1714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878961" y="338138"/>
            <a:ext cx="370343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Confidential · Working Draft · Not for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23925"/>
            <a:ext cx="2030611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Confidential · Internal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238250"/>
            <a:ext cx="331782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Report · ESP-2026-Q2-014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390650"/>
            <a:ext cx="2506861" cy="41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A1A1A"/>
                </a:solidFill>
                <a:latin typeface="Source Serif Pro"/>
              </a:rPr>
              <a:t xml:space="preserve">The Enterprise Software </a:t>
            </a:r>
            <a:r>
              <a:rPr sz="1350" b="1" i="1" u="none">
                <a:solidFill>
                  <a:srgbClr val="475569"/>
                </a:solidFill>
                <a:latin typeface="Source Serif Pro"/>
              </a:rPr>
              <a:t>Quarterly</a:t>
            </a:r>
          </a:p>
          <a:p>
            <a:pPr algn="l"/>
            <a:r>
              <a:rPr sz="1350" b="1" i="0" u="none">
                <a:solidFill>
                  <a:srgbClr val="1A1A1A"/>
                </a:solidFill>
                <a:latin typeface="Source Serif Pro"/>
              </a:rPr>
              <a:t>Spring 2026 issue, vol. XII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941016"/>
            <a:ext cx="114300" cy="11430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57250" y="1945779"/>
            <a:ext cx="1589336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Series · Practice POVs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0"/>
            <a:ext cx="331782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Prepared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90975"/>
            <a:ext cx="3100983" cy="51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Source Serif Pro"/>
              </a:rPr>
              <a:t>Helmsworth Industries plc — Office of the Chief Strategy Officer</a:t>
            </a:r>
            <a:r>
              <a:rPr sz="825" b="0" i="0" u="none">
                <a:solidFill>
                  <a:srgbClr val="475569"/>
                </a:solidFill>
                <a:latin typeface="Inter"/>
              </a:rPr>
              <a:t>Steering committee · Project Atlas, workstream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796135"/>
            <a:ext cx="331782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977110"/>
            <a:ext cx="2599432" cy="3171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Source Serif Pro"/>
              </a:rPr>
              <a:t>Beacon &amp; Lowe — Enterprise Software Practice</a:t>
            </a:r>
            <a:r>
              <a:rPr sz="825" b="0" i="0" u="none">
                <a:solidFill>
                  <a:srgbClr val="475569"/>
                </a:solidFill>
                <a:latin typeface="Inter"/>
              </a:rPr>
              <a:t>Lead: M. Okafor · Co-leads: J. Aalto, R. Vance, S. Iyer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588943"/>
            <a:ext cx="331782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Date of issue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769918"/>
            <a:ext cx="2073473" cy="3171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Source Serif Pro"/>
              </a:rPr>
              <a:t>30 April 2026</a:t>
            </a:r>
            <a:r>
              <a:rPr sz="825" b="0" i="0" u="none">
                <a:solidFill>
                  <a:srgbClr val="475569"/>
                </a:solidFill>
                <a:latin typeface="Inter"/>
              </a:rPr>
              <a:t>Supersedes: 28 February 2026 working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550" y="914400"/>
            <a:ext cx="70358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Strategic outlook 2026 – 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6550" y="1238250"/>
            <a:ext cx="4171355" cy="115996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1A1A1A"/>
                </a:solidFill>
                <a:latin typeface="Source Serif Pro"/>
              </a:rPr>
              <a:t>Concentration, capability,</a:t>
            </a:r>
          </a:p>
          <a:p>
            <a:pPr algn="l"/>
            <a:r>
              <a:rPr sz="2850" b="1" i="0" u="none">
                <a:solidFill>
                  <a:srgbClr val="1A1A1A"/>
                </a:solidFill>
                <a:latin typeface="Source Serif Pro"/>
              </a:rPr>
              <a:t xml:space="preserve">and the </a:t>
            </a:r>
            <a:r>
              <a:rPr sz="2850" b="1" i="1" u="none">
                <a:solidFill>
                  <a:srgbClr val="0B3A5C"/>
                </a:solidFill>
                <a:latin typeface="Source Serif Pro"/>
              </a:rPr>
              <a:t>narrowing window</a:t>
            </a:r>
          </a:p>
          <a:p>
            <a:pPr algn="l"/>
            <a:r>
              <a:rPr sz="2850" b="1" i="0" u="none">
                <a:solidFill>
                  <a:srgbClr val="1A1A1A"/>
                </a:solidFill>
                <a:latin typeface="Source Serif Pro"/>
              </a:rPr>
              <a:t>for enterprise software bets.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550" y="2530525"/>
            <a:ext cx="6286500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ource Serif Pro"/>
              </a:rPr>
              <a:t>A field study of 412 buyers, 218 transformations, and 11 vendors — with the operating-model implications for the next 36 months of capital allocation.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550" y="3437186"/>
            <a:ext cx="70358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Contents · six sections, 84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550" y="5685532"/>
            <a:ext cx="219283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Field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6550" y="5847457"/>
            <a:ext cx="2192834" cy="2095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Inter"/>
              </a:rPr>
              <a:t>412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6550" y="6095107"/>
            <a:ext cx="2192834" cy="1532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ource Serif Pro"/>
              </a:rPr>
              <a:t>enterprise software buyers, fielded Q3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984" y="5685532"/>
            <a:ext cx="219283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Transformations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984" y="5847457"/>
            <a:ext cx="2192834" cy="2095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Inter"/>
              </a:rPr>
              <a:t>218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984" y="6095107"/>
            <a:ext cx="2192834" cy="1532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ource Serif Pro"/>
              </a:rPr>
              <a:t>large-enterprise programs, FY 2021–FY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9418" y="5685532"/>
            <a:ext cx="219283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Modeling horizon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9418" y="5828407"/>
            <a:ext cx="411659" cy="2381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Inter"/>
              </a:rPr>
              <a:t>36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9418" y="6095107"/>
            <a:ext cx="2192834" cy="1532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ource Serif Pro"/>
              </a:rPr>
              <a:t>planning window through Q1 FY 2029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24625"/>
            <a:ext cx="3485406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Beacon &amp; Lowe LLP · New York · London · Singapore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2948" y="6524625"/>
            <a:ext cx="336024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The Enterprise Software Quarterly · Spring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56 / 84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4595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0972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Exhibit 62 · Buyer-Reported Capability Gaps, Top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609600" cy="190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047750"/>
            <a:ext cx="9317831" cy="6514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1A1A1A"/>
                </a:solidFill>
                <a:latin typeface="Source Serif Pro"/>
              </a:rPr>
              <a:t>AI-grounded reporting tops the gap list for the second straight year — eight of ten gaps moved against vendors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26716"/>
            <a:ext cx="9334500" cy="4417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ource Serif Pro"/>
              </a:rPr>
              <a:t>Buyers rate the unmet-need score on a 0–100 scale across 24 capability dimensions; positive deltas indicate gaps widening since FY 2024. Year-on-year movement is positive in eight cases, neutral in one, narrowing in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82713"/>
            <a:ext cx="3429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50" y="2182713"/>
            <a:ext cx="20955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82713"/>
            <a:ext cx="51054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Unmet-need score, 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6923" y="2152650"/>
            <a:ext cx="453777" cy="1348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Score</a:t>
            </a:r>
            <a:r>
              <a:rPr sz="800" b="1" i="0" u="none">
                <a:solidFill>
                  <a:srgbClr val="0B3A5C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4050" y="2182713"/>
            <a:ext cx="8572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YoY 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34650" y="2182713"/>
            <a:ext cx="10477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Prior 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58951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2630388"/>
            <a:ext cx="2095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Citation-backed answers across enterprise corpora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4700" y="2573238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324225" y="2573238"/>
            <a:ext cx="4280446" cy="1714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381375" y="2601813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3450" y="2587526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84.2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2745" y="2601813"/>
            <a:ext cx="3485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+6.8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31736" y="2601813"/>
            <a:ext cx="5506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#01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−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flat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082826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850" y="3211413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Audit-grade provenance across SaaS estate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4700" y="3097113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324225" y="3097113"/>
            <a:ext cx="4025652" cy="1714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381375" y="3125688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3450" y="3111401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78.6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7827" y="3125688"/>
            <a:ext cx="40347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+11.4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51232" y="3125688"/>
            <a:ext cx="5311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#05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↑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+3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3549551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850" y="3678138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Sub-1s response on &gt;1B-row analytics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4700" y="3563838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324225" y="3563838"/>
            <a:ext cx="3770858" cy="1714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381375" y="3592413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74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3450" y="3578126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73.9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2745" y="3592413"/>
            <a:ext cx="3485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+4.2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51232" y="3592413"/>
            <a:ext cx="5311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#04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↑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+1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4016276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" y="4144863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EU, UK, IN, BR sovereignty by default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14700" y="4030563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324225" y="4030563"/>
            <a:ext cx="3618012" cy="1714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3381375" y="4059138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3450" y="4044851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70.8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91725" y="4059138"/>
            <a:ext cx="4095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+18.6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56739" y="4059138"/>
            <a:ext cx="52566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#11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↑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+7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4483001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5850" y="4611588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Long-running, recoverable, multi-vendor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14700" y="4497288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324225" y="4497288"/>
            <a:ext cx="3363218" cy="1714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3381375" y="4525863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66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53450" y="4511576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66.1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2745" y="4525863"/>
            <a:ext cx="3485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+3.1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51232" y="4525863"/>
            <a:ext cx="5311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#06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↑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+1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600" y="4949726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5850" y="5078313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Per-feature, per-seat, per-event billing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14700" y="4964013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324225" y="4964013"/>
            <a:ext cx="3159323" cy="1714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381375" y="4992588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62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53450" y="4978301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61.7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2745" y="4992588"/>
            <a:ext cx="3485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+5.4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51232" y="4992588"/>
            <a:ext cx="5311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#07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↑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+1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9600" y="5416451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5850" y="5545038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Sub-50ms inference at branch sites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14700" y="5430738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324225" y="5430738"/>
            <a:ext cx="2955578" cy="1714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381375" y="5459313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58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53450" y="5445026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57.9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2745" y="5459313"/>
            <a:ext cx="3485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7A1F3D"/>
                </a:solidFill>
                <a:latin typeface="Inter"/>
              </a:rPr>
              <a:t xml:space="preserve">▼ </a:t>
            </a:r>
            <a:r>
              <a:rPr sz="862" b="1" i="0" u="none">
                <a:solidFill>
                  <a:srgbClr val="7A1F3D"/>
                </a:solidFill>
                <a:latin typeface="Inter"/>
              </a:rPr>
              <a:t>−2.6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51232" y="5459313"/>
            <a:ext cx="5311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#03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↓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−4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9600" y="5883176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5850" y="6011763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ABAC at warehouse + app boundary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14700" y="5897463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3324225" y="5897463"/>
            <a:ext cx="2751683" cy="1714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3381375" y="5926038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53450" y="5911751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54.2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2745" y="5926038"/>
            <a:ext cx="3485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+1.8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31736" y="5926038"/>
            <a:ext cx="5506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#08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−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flat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9600" y="6349901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5850" y="6478488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OpenTelemetry-native, vendor-agnostic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14700" y="6364188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3324225" y="6364188"/>
            <a:ext cx="2445990" cy="1714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3381375" y="6392763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48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53450" y="6378476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48.3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1703" y="6392763"/>
            <a:ext cx="34959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64748B"/>
                </a:solidFill>
                <a:latin typeface="Inter"/>
              </a:rPr>
              <a:t xml:space="preserve">▬ </a:t>
            </a:r>
            <a:r>
              <a:rPr sz="862" b="1" i="0" u="none">
                <a:solidFill>
                  <a:srgbClr val="64748B"/>
                </a:solidFill>
                <a:latin typeface="Inter"/>
              </a:rPr>
              <a:t>+0.4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031736" y="6392763"/>
            <a:ext cx="5506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#09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−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flat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9600" y="6816626"/>
            <a:ext cx="342900" cy="413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10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14700" y="6830913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3324225" y="6830913"/>
            <a:ext cx="2191196" cy="1714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/>
          <p:cNvSpPr txBox="1"/>
          <p:nvPr/>
        </p:nvSpPr>
        <p:spPr>
          <a:xfrm>
            <a:off x="8553450" y="6845201"/>
            <a:ext cx="857250" cy="127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43.1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9600" y="5657850"/>
            <a:ext cx="3505200" cy="702766"/>
          </a:xfrm>
          <a:prstGeom prst="rect">
            <a:avLst/>
          </a:prstGeom>
          <a:solidFill>
            <a:srgbClr val="F7F5F2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733425" y="5762625"/>
            <a:ext cx="32575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Risers (4)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3425" y="5915025"/>
            <a:ext cx="3210371" cy="298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1A1A1A"/>
                </a:solidFill>
                <a:latin typeface="Source Serif Pro"/>
              </a:rPr>
              <a:t>Sovereignty &amp; lineage capabilities widened gap fastest, +</a:t>
            </a:r>
            <a:r>
              <a:rPr sz="900" b="1" i="0" u="none">
                <a:solidFill>
                  <a:srgbClr val="0B3A5C"/>
                </a:solidFill>
                <a:latin typeface="Source Serif Pro"/>
              </a:rPr>
              <a:t>15.0 ppts</a:t>
            </a:r>
            <a:r>
              <a:rPr sz="900" b="0" i="0" u="none">
                <a:solidFill>
                  <a:srgbClr val="1A1A1A"/>
                </a:solidFill>
                <a:latin typeface="Source Serif Pro"/>
              </a:rPr>
              <a:t xml:space="preserve"> on average since FY 2024.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43400" y="5657850"/>
            <a:ext cx="3505200" cy="702766"/>
          </a:xfrm>
          <a:prstGeom prst="rect">
            <a:avLst/>
          </a:prstGeom>
          <a:solidFill>
            <a:srgbClr val="F7F5F2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4467225" y="5762625"/>
            <a:ext cx="32575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Decliners (1)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67225" y="5915025"/>
            <a:ext cx="2669679" cy="298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1A1A1A"/>
                </a:solidFill>
                <a:latin typeface="Source Serif Pro"/>
              </a:rPr>
              <a:t xml:space="preserve">Edge runtimes narrowed by </a:t>
            </a:r>
            <a:r>
              <a:rPr sz="900" b="1" i="0" u="none">
                <a:solidFill>
                  <a:srgbClr val="0B3A5C"/>
                </a:solidFill>
                <a:latin typeface="Source Serif Pro"/>
              </a:rPr>
              <a:t>2.6 ppts</a:t>
            </a:r>
            <a:r>
              <a:rPr sz="900" b="0" i="0" u="none">
                <a:solidFill>
                  <a:srgbClr val="1A1A1A"/>
                </a:solidFill>
                <a:latin typeface="Source Serif Pro"/>
              </a:rPr>
              <a:t>; first material vendor improvement in three cycles.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077200" y="5657850"/>
            <a:ext cx="3505200" cy="702766"/>
          </a:xfrm>
          <a:prstGeom prst="rect">
            <a:avLst/>
          </a:prstGeom>
          <a:solidFill>
            <a:srgbClr val="F7F5F2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8201025" y="5762625"/>
            <a:ext cx="32575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Implication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01025" y="5915025"/>
            <a:ext cx="3200846" cy="3180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1A1A1A"/>
                </a:solidFill>
                <a:latin typeface="Source Serif Pro"/>
              </a:rPr>
              <a:t xml:space="preserve">Roadmap funding should target the </a:t>
            </a:r>
            <a:r>
              <a:rPr sz="900" b="1" i="0" u="none">
                <a:solidFill>
                  <a:srgbClr val="0B3A5C"/>
                </a:solidFill>
                <a:latin typeface="Source Serif Pro"/>
              </a:rPr>
              <a:t>top 4</a:t>
            </a:r>
            <a:r>
              <a:rPr sz="900" b="0" i="0" u="none">
                <a:solidFill>
                  <a:srgbClr val="1A1A1A"/>
                </a:solidFill>
                <a:latin typeface="Source Serif Pro"/>
              </a:rPr>
              <a:t xml:space="preserve"> — together they account for </a:t>
            </a:r>
            <a:r>
              <a:rPr sz="900" b="1" i="0" u="none">
                <a:solidFill>
                  <a:srgbClr val="0B3A5C"/>
                </a:solidFill>
                <a:latin typeface="Source Serif Pro"/>
              </a:rPr>
              <a:t>~58%</a:t>
            </a:r>
            <a:r>
              <a:rPr sz="900" b="0" i="0" u="none">
                <a:solidFill>
                  <a:srgbClr val="1A1A1A"/>
                </a:solidFill>
                <a:latin typeface="Source Serif Pro"/>
              </a:rPr>
              <a:t xml:space="preserve"> of stated buyer urgency.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9600" y="6353175"/>
            <a:ext cx="853216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Source: Beacon &amp; Lowe Capability Gap Index, FY 2026; n=412 enterprise software buyers, fielded Q3 2025; YoY base is FY 2024 fielding of n=389.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1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Eight gaps widened, one flat, one narrowed.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Score is 100 × (importance − satisfaction).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3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Urgency-weighted by buyer-stated planning window.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57 / 84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gradFill flip="none" rotWithShape="1">
            <a:gsLst>
              <a:gs pos="0">
                <a:srgbClr val="000000">
                  <a:alpha val="55000"/>
                </a:srgbClr>
              </a:gs>
              <a:gs pos="28000">
                <a:srgbClr val="000000">
                  <a:alpha val="10000"/>
                </a:srgbClr>
              </a:gs>
              <a:gs pos="60000">
                <a:srgbClr val="000000">
                  <a:alpha val="10000"/>
                </a:srgbClr>
              </a:gs>
              <a:gs pos="100000">
                <a:srgbClr val="000000">
                  <a:alpha val="85000"/>
                </a:srgbClr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304800"/>
            <a:ext cx="1384995" cy="3619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Tiempos Headline"/>
              </a:rPr>
              <a:t>CABINET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23950"/>
            <a:ext cx="309101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F3B1F"/>
                </a:solidFill>
                <a:latin typeface="Inter Display"/>
              </a:rPr>
              <a:t>The Long View — Issue No. 47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19250"/>
            <a:ext cx="11277600" cy="30843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629150"/>
            <a:ext cx="5334000" cy="8572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Tiempos Headline"/>
              </a:rPr>
              <a:t xml:space="preserve">Six photographers spent the year tracing the
    geographies that hold us — from the saltline
    of the Aral Sea to the ridge above Glen Coe —
    asking what a landscape remembers.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115050"/>
            <a:ext cx="519053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Inter Display"/>
              </a:rPr>
              <a:t>Photographs by Maren Asher  ·  Words by Idris Calloway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63350" y="1619250"/>
            <a:ext cx="19050" cy="4000500"/>
          </a:xfrm>
          <a:prstGeom prst="rect">
            <a:avLst/>
          </a:prstGeom>
          <a:solidFill>
            <a:srgbClr val="FFFF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315700" y="1905000"/>
            <a:ext cx="114300" cy="21100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 Display"/>
              </a:rPr>
              <a:t>USPS · PRINTED IN MAINE</a:t>
            </a:r>
          </a:p>
        </p:txBody>
      </p:sp>
      <p:sp>
        <p:nvSpPr>
          <p:cNvPr id="12" name="Rectangle 11"/>
          <p:cNvSpPr/>
          <p:nvPr/>
        </p:nvSpPr>
        <p:spPr>
          <a:gradFill flip="none" rotWithShape="1">
            <a:gsLst>
              <a:gs pos="0">
                <a:srgbClr val="FFFFFF"/>
              </a:gs>
              <a:gs pos="20000">
                <a:srgbClr val="FFFFFF"/>
              </a:gs>
              <a:gs pos="40000">
                <a:srgbClr val="FFFFFF"/>
              </a:gs>
              <a:gs pos="60000">
                <a:srgbClr val="FFFFFF"/>
              </a:gs>
              <a:gs pos="80000">
                <a:srgbClr val="FFFFFF"/>
              </a:gs>
              <a:gs pos="100000">
                <a:srgbClr val="FFFFFF"/>
              </a:gs>
            </a:gsLst>
            <a:lin ang="0" scaled="0"/>
          </a:gradFill>
          <a:xfrm>
            <a:off x="10439400" y="5810250"/>
            <a:ext cx="1143000" cy="43815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906667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gradFill flip="none" rotWithShape="1">
            <a:gsLst>
              <a:gs pos="0">
                <a:srgbClr val="140F0A">
                  <a:alpha val="10000"/>
                </a:srgbClr>
              </a:gs>
              <a:gs pos="5833">
                <a:srgbClr val="140F0A">
                  <a:alpha val="8333"/>
                </a:srgbClr>
              </a:gs>
              <a:gs pos="11667">
                <a:srgbClr val="140F0A">
                  <a:alpha val="6667"/>
                </a:srgbClr>
              </a:gs>
              <a:gs pos="17500">
                <a:srgbClr val="140F0A">
                  <a:alpha val="5000"/>
                </a:srgbClr>
              </a:gs>
              <a:gs pos="23333">
                <a:srgbClr val="140F0A">
                  <a:alpha val="3333"/>
                </a:srgbClr>
              </a:gs>
              <a:gs pos="29167">
                <a:srgbClr val="140F0A">
                  <a:alpha val="1667"/>
                </a:srgbClr>
              </a:gs>
              <a:gs pos="35000">
                <a:srgbClr val="140F0A">
                  <a:alpha val="0"/>
                </a:srgbClr>
              </a:gs>
              <a:gs pos="45833">
                <a:srgbClr val="140F0A">
                  <a:alpha val="7500"/>
                </a:srgbClr>
              </a:gs>
              <a:gs pos="56667">
                <a:srgbClr val="140F0A">
                  <a:alpha val="15000"/>
                </a:srgbClr>
              </a:gs>
              <a:gs pos="67500">
                <a:srgbClr val="140F0A">
                  <a:alpha val="22500"/>
                </a:srgbClr>
              </a:gs>
              <a:gs pos="78333">
                <a:srgbClr val="140F0A">
                  <a:alpha val="30000"/>
                </a:srgbClr>
              </a:gs>
              <a:gs pos="89167">
                <a:srgbClr val="140F0A">
                  <a:alpha val="37500"/>
                </a:srgbClr>
              </a:gs>
              <a:gs pos="100000">
                <a:srgbClr val="140F0A">
                  <a:alpha val="45000"/>
                </a:srgbClr>
              </a:gs>
            </a:gsLst>
            <a:lin ang="5400000" scaled="0"/>
          </a:gradFill>
          <a:xfrm>
            <a:off x="0" y="0"/>
            <a:ext cx="6477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4800" y="266700"/>
            <a:ext cx="12550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 Display"/>
              </a:rPr>
              <a:t>Aperture · 062</a:t>
            </a:r>
          </a:p>
        </p:txBody>
      </p:sp>
      <p:sp>
        <p:nvSpPr>
          <p:cNvPr id="6" name="Rectangle 5"/>
          <p:cNvSpPr/>
          <p:nvPr/>
        </p:nvSpPr>
        <p:spPr>
          <a:xfrm>
            <a:off x="8330654" y="661988"/>
            <a:ext cx="2645271" cy="9525"/>
          </a:xfrm>
          <a:prstGeom prst="rect">
            <a:avLst/>
          </a:prstGeom>
          <a:solidFill>
            <a:srgbClr val="C8B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162800" y="1123950"/>
            <a:ext cx="43434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3501E"/>
                </a:solidFill>
                <a:latin typeface="Inter Display"/>
              </a:rPr>
              <a:t>An interview — in three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2800" y="1371600"/>
            <a:ext cx="3117205" cy="21202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550" b="1" i="0" u="none">
                <a:solidFill>
                  <a:srgbClr val="1A1612"/>
                </a:solidFill>
                <a:latin typeface="Tiempos Headline"/>
              </a:rPr>
              <a:t xml:space="preserve">
      What the</a:t>
            </a:r>
          </a:p>
          <a:p>
            <a:pPr algn="l"/>
            <a:r>
              <a:rPr sz="5550" b="1" i="0" u="none">
                <a:solidFill>
                  <a:srgbClr val="1A1612"/>
                </a:solidFill>
                <a:latin typeface="Tiempos Headline"/>
              </a:rPr>
              <a:t>quiet hours</a:t>
            </a:r>
          </a:p>
          <a:p>
            <a:pPr algn="l"/>
            <a:r>
              <a:rPr sz="5550" b="1" i="0" u="none">
                <a:solidFill>
                  <a:srgbClr val="1A1612"/>
                </a:solidFill>
                <a:latin typeface="Tiempos Headline"/>
              </a:rPr>
              <a:t xml:space="preserve">are </a:t>
            </a:r>
            <a:r>
              <a:rPr sz="5550" b="1" i="1" u="none">
                <a:solidFill>
                  <a:srgbClr val="1A1612"/>
                </a:solidFill>
                <a:latin typeface="Tiempos Headline"/>
              </a:rPr>
              <a:t>for</a:t>
            </a:r>
            <a:r>
              <a:rPr sz="5550" b="1" i="0" u="none">
                <a:solidFill>
                  <a:srgbClr val="1A1612"/>
                </a:solidFill>
                <a:latin typeface="Tiempos Headline"/>
              </a:rPr>
              <a:t xml:space="preserve">.
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800" y="3666083"/>
            <a:ext cx="4343400" cy="542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 i="0" u="none">
                <a:solidFill>
                  <a:srgbClr val="3A3128"/>
                </a:solidFill>
                <a:latin typeface="Tiempos Headline"/>
              </a:rPr>
              <a:t xml:space="preserve">The novelist on slow mornings, the cost of an
      honest sentence, and learning to leave a draft
      alone for a year.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2800" y="4494758"/>
            <a:ext cx="2038350" cy="11956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/>
            <a:r>
              <a:rPr sz="1012" b="0" i="0" u="none">
                <a:solidFill>
                  <a:srgbClr val="1A1612"/>
                </a:solidFill>
                <a:latin typeface="Tiempos Headline"/>
              </a:rPr>
              <a:t xml:space="preserve">The kettle is on for the second time. Halberstam
      writes longhand until eleven, then walks. Then,
      she has said in earlier interviews, the day
      becomes a kind of weather one consents 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800" y="4513808"/>
            <a:ext cx="4343400" cy="18228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/>
            <a:r>
              <a:rPr sz="1012" b="0" i="0" u="none">
                <a:solidFill>
                  <a:srgbClr val="1A1612"/>
                </a:solidFill>
                <a:latin typeface="Tiempos Headline"/>
              </a:rPr>
              <a:t xml:space="preserve">Her new novel </a:t>
            </a:r>
            <a:r>
              <a:rPr sz="1012" b="0" i="1" u="none">
                <a:solidFill>
                  <a:srgbClr val="1A1612"/>
                </a:solidFill>
                <a:latin typeface="Tiempos Headline"/>
              </a:rPr>
              <a:t>The Inland Sea</a:t>
            </a:r>
            <a:r>
              <a:rPr sz="1012" b="0" i="0" u="none">
                <a:solidFill>
                  <a:srgbClr val="1A1612"/>
                </a:solidFill>
                <a:latin typeface="Tiempos Headline"/>
              </a:rPr>
              <a:t xml:space="preserve"> is shorter
      than the last by half. “I wanted the silence
      to be load-bearing,” she says. “Not a pause
      between things — the thing itself.”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7850" y="4979045"/>
            <a:ext cx="2038350" cy="99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/>
            <a:r>
              <a:rPr sz="1012" b="0" i="0" u="none">
                <a:solidFill>
                  <a:srgbClr val="1A1612"/>
                </a:solidFill>
                <a:latin typeface="Tiempos Headline"/>
              </a:rPr>
              <a:t xml:space="preserve">We meet in the kitchen, then the study, then
      a back porch that looks at nothing in particular.
      In each room she is slightly different, more
      careful with what she will say.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7850" y="6061174"/>
            <a:ext cx="2038350" cy="5978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/>
            <a:r>
              <a:rPr sz="1012" b="0" i="0" u="none">
                <a:solidFill>
                  <a:srgbClr val="1A1612"/>
                </a:solidFill>
                <a:latin typeface="Tiempos Headline"/>
              </a:rPr>
              <a:t xml:space="preserve">“A page should cost something,” she offers,
      stirring nothing in her cup. “Otherwise it
      isn't a page. It's a sound.”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89438" y="457200"/>
            <a:ext cx="2817019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ECE6D8"/>
                </a:solidFill>
                <a:latin typeface="Tiempos Headline"/>
              </a:rPr>
              <a:t>Notes from a sinking coast — two photographs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19150"/>
            <a:ext cx="6497985" cy="4191000"/>
          </a:xfrm>
          <a:prstGeom prst="rect">
            <a:avLst/>
          </a:prstGeom>
          <a:solidFill>
            <a:srgbClr val="1A1814"/>
          </a:solidFill>
          <a:ln w="76200">
            <a:solidFill>
              <a:srgbClr val="EC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95350"/>
            <a:ext cx="6345585" cy="403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1009650"/>
            <a:ext cx="706176" cy="190500"/>
          </a:xfrm>
          <a:prstGeom prst="rect">
            <a:avLst/>
          </a:prstGeom>
          <a:solidFill>
            <a:srgbClr val="ECE6D8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D0C0A"/>
                </a:solidFill>
                <a:latin typeface="Inter Display"/>
              </a:rPr>
              <a:t>PLATE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36185" y="819150"/>
            <a:ext cx="4246215" cy="4191000"/>
          </a:xfrm>
          <a:prstGeom prst="rect">
            <a:avLst/>
          </a:prstGeom>
          <a:solidFill>
            <a:srgbClr val="1A1814"/>
          </a:solidFill>
          <a:ln w="76200">
            <a:solidFill>
              <a:srgbClr val="EC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385" y="895350"/>
            <a:ext cx="4093815" cy="403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45735" y="1009650"/>
            <a:ext cx="706176" cy="190500"/>
          </a:xfrm>
          <a:prstGeom prst="rect">
            <a:avLst/>
          </a:prstGeom>
          <a:solidFill>
            <a:srgbClr val="ECE6D8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D0C0A"/>
                </a:solidFill>
                <a:latin typeface="Inter Display"/>
              </a:rPr>
              <a:t>PLATE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438775"/>
            <a:ext cx="5185767" cy="9231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E5B06A"/>
                </a:solidFill>
                <a:latin typeface="Inter Display"/>
              </a:rPr>
              <a:t>Plate 01 — Aerial</a:t>
            </a:r>
            <a:r>
              <a:rPr sz="975" b="0" i="0" u="none">
                <a:solidFill>
                  <a:srgbClr val="CFC3A8"/>
                </a:solidFill>
                <a:latin typeface="Tiempos Headline"/>
              </a:rPr>
              <a:t xml:space="preserve">
      A salt marsh at low tide, photographed from
      </a:t>
            </a:r>
            <a:r>
              <a:rPr sz="975" b="0" i="1" u="none">
                <a:solidFill>
                  <a:srgbClr val="ECE6D8"/>
                </a:solidFill>
                <a:latin typeface="Tiempos Headline"/>
              </a:rPr>
              <a:t>350m above the Bay of Fundy</a:t>
            </a:r>
            <a:r>
              <a:rPr sz="975" b="0" i="0" u="none">
                <a:solidFill>
                  <a:srgbClr val="CFC3A8"/>
                </a:solidFill>
                <a:latin typeface="Tiempos Headline"/>
              </a:rPr>
              <a:t xml:space="preserve">.
      The bright veining is a tidal channel that has
      migrated nearly forty meters since the same frame
      was taken in 1998. Locals call this stretch
      </a:t>
            </a:r>
            <a:r>
              <a:rPr sz="975" b="0" i="1" u="none">
                <a:solidFill>
                  <a:srgbClr val="CFC3A8"/>
                </a:solidFill>
                <a:latin typeface="Tiempos Headline"/>
              </a:rPr>
              <a:t>the breathing field</a:t>
            </a:r>
            <a:r>
              <a:rPr sz="975" b="0" i="0" u="none">
                <a:solidFill>
                  <a:srgbClr val="CFC3A8"/>
                </a:solidFill>
                <a:latin typeface="Tiempos Headline"/>
              </a:rPr>
              <a:t xml:space="preserve">: at neap it is grass;
      at spring it is sea. The line between is a
      negotiation that the map will lose.
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5438775"/>
            <a:ext cx="5254972" cy="9231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E5B06A"/>
                </a:solidFill>
                <a:latin typeface="Inter Display"/>
              </a:rPr>
              <a:t>Plate 02 — The wall</a:t>
            </a:r>
            <a:r>
              <a:rPr sz="975" b="0" i="0" u="none">
                <a:solidFill>
                  <a:srgbClr val="CFC3A8"/>
                </a:solidFill>
                <a:latin typeface="Tiempos Headline"/>
              </a:rPr>
              <a:t xml:space="preserve">
      A retaining wall on the headland west of the
      village, poured the summer the lighthouse went
      automatic. The mason inscribed his initials and
      the year into the lower-left corner; both have
      since been overtaken by lichen. We photographed
      it in February, when the cold gives the concrete
      back its first colour — pale, faintly pink,
      the colour of an apology that is already too late.
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6524" y="6477000"/>
            <a:ext cx="81587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A6F54"/>
                </a:solidFill>
                <a:latin typeface="Inter Display"/>
              </a:rPr>
              <a:t>P. 084–085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000000">
                  <a:alpha val="0"/>
                </a:srgbClr>
              </a:gs>
              <a:gs pos="10000">
                <a:srgbClr val="000000">
                  <a:alpha val="5833"/>
                </a:srgbClr>
              </a:gs>
              <a:gs pos="20000">
                <a:srgbClr val="000000">
                  <a:alpha val="11667"/>
                </a:srgbClr>
              </a:gs>
              <a:gs pos="30000">
                <a:srgbClr val="000000">
                  <a:alpha val="17500"/>
                </a:srgbClr>
              </a:gs>
              <a:gs pos="40000">
                <a:srgbClr val="000000">
                  <a:alpha val="23333"/>
                </a:srgbClr>
              </a:gs>
              <a:gs pos="50000">
                <a:srgbClr val="000000">
                  <a:alpha val="29167"/>
                </a:srgbClr>
              </a:gs>
              <a:gs pos="60000">
                <a:srgbClr val="000000">
                  <a:alpha val="35000"/>
                </a:srgbClr>
              </a:gs>
              <a:gs pos="66667">
                <a:srgbClr val="000000">
                  <a:alpha val="42167"/>
                </a:srgbClr>
              </a:gs>
              <a:gs pos="73333">
                <a:srgbClr val="000000">
                  <a:alpha val="49333"/>
                </a:srgbClr>
              </a:gs>
              <a:gs pos="80000">
                <a:srgbClr val="000000">
                  <a:alpha val="56500"/>
                </a:srgbClr>
              </a:gs>
              <a:gs pos="86667">
                <a:srgbClr val="000000">
                  <a:alpha val="63667"/>
                </a:srgbClr>
              </a:gs>
              <a:gs pos="93333">
                <a:srgbClr val="000000">
                  <a:alpha val="70833"/>
                </a:srgbClr>
              </a:gs>
              <a:gs pos="100000">
                <a:srgbClr val="000000">
                  <a:alpha val="78000"/>
                </a:srgbClr>
              </a:gs>
            </a:gsLst>
            <a:path path="circle">
              <a:fillToRect l="50000" t="55000" r="50000" b="45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1333500"/>
            <a:ext cx="1051620" cy="1600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1EFF8C"/>
                </a:solidFill>
                <a:latin typeface="Tiempos Headline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52625"/>
            <a:ext cx="8381405" cy="421421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300" b="1" i="0" u="none">
                <a:solidFill>
                  <a:srgbClr val="FFFFFF"/>
                </a:solidFill>
                <a:latin typeface="Tiempos Headline"/>
              </a:rPr>
              <a:t xml:space="preserve">
    The work was never about being </a:t>
            </a:r>
            <a:r>
              <a:rPr sz="6300" b="1" i="1" u="none">
                <a:solidFill>
                  <a:srgbClr val="1EFF8C"/>
                </a:solidFill>
                <a:latin typeface="Tiempos Headline"/>
              </a:rPr>
              <a:t>seen</a:t>
            </a:r>
            <a:r>
              <a:rPr sz="6300" b="1" i="0" u="none">
                <a:solidFill>
                  <a:srgbClr val="FFFFFF"/>
                </a:solidFill>
                <a:latin typeface="Tiempos Headline"/>
              </a:rPr>
              <a:t>.</a:t>
            </a:r>
          </a:p>
          <a:p>
            <a:pPr algn="l"/>
            <a:r>
              <a:rPr sz="6300" b="1" i="0" u="none">
                <a:solidFill>
                  <a:srgbClr val="FFFFFF"/>
                </a:solidFill>
                <a:latin typeface="Tiempos Headline"/>
              </a:rPr>
              <a:t xml:space="preserve">
    It was about </a:t>
            </a:r>
            <a:r>
              <a:rPr sz="6300" b="1" i="1" u="none">
                <a:solidFill>
                  <a:srgbClr val="1EFF8C"/>
                </a:solidFill>
                <a:latin typeface="Tiempos Headline"/>
              </a:rPr>
              <a:t>seeing</a:t>
            </a:r>
            <a:r>
              <a:rPr sz="6300" b="1" i="0" u="none">
                <a:solidFill>
                  <a:srgbClr val="FFFFFF"/>
                </a:solidFill>
                <a:latin typeface="Tiempos Headline"/>
              </a:rPr>
              <a:t xml:space="preserve"> — and learning,</a:t>
            </a:r>
          </a:p>
          <a:p>
            <a:pPr algn="l"/>
            <a:r>
              <a:rPr sz="6300" b="1" i="0" u="none">
                <a:solidFill>
                  <a:srgbClr val="FFFFFF"/>
                </a:solidFill>
                <a:latin typeface="Tiempos Headline"/>
              </a:rPr>
              <a:t xml:space="preserve">
    finally, when to look away.
  </a:t>
            </a:r>
          </a:p>
        </p:txBody>
      </p:sp>
      <p:sp>
        <p:nvSpPr>
          <p:cNvPr id="6" name="Rectangle 5"/>
          <p:cNvSpPr/>
          <p:nvPr/>
        </p:nvSpPr>
        <p:spPr>
          <a:gradFill flip="none" rotWithShape="1">
            <a:gsLst>
              <a:gs pos="0">
                <a:srgbClr val="000000">
                  <a:alpha val="0"/>
                </a:srgbClr>
              </a:gs>
              <a:gs pos="8333">
                <a:srgbClr val="0F0F0F">
                  <a:alpha val="9167"/>
                </a:srgbClr>
              </a:gs>
              <a:gs pos="16667">
                <a:srgbClr val="363636">
                  <a:alpha val="18333"/>
                </a:srgbClr>
              </a:gs>
              <a:gs pos="25000">
                <a:srgbClr val="636363">
                  <a:alpha val="27500"/>
                </a:srgbClr>
              </a:gs>
              <a:gs pos="33333">
                <a:srgbClr val="949494">
                  <a:alpha val="36667"/>
                </a:srgbClr>
              </a:gs>
              <a:gs pos="41667">
                <a:srgbClr val="C8C8C8">
                  <a:alpha val="45833"/>
                </a:srgbClr>
              </a:gs>
              <a:gs pos="50000">
                <a:srgbClr val="FFFFFF">
                  <a:alpha val="55000"/>
                </a:srgbClr>
              </a:gs>
              <a:gs pos="58333">
                <a:srgbClr val="FFFFFF">
                  <a:alpha val="45833"/>
                </a:srgbClr>
              </a:gs>
              <a:gs pos="66667">
                <a:srgbClr val="FFFFFF">
                  <a:alpha val="36667"/>
                </a:srgbClr>
              </a:gs>
              <a:gs pos="75000">
                <a:srgbClr val="FFFFFF">
                  <a:alpha val="27500"/>
                </a:srgbClr>
              </a:gs>
              <a:gs pos="83333">
                <a:srgbClr val="FFFFFF">
                  <a:alpha val="18333"/>
                </a:srgbClr>
              </a:gs>
              <a:gs pos="91667">
                <a:srgbClr val="FFFFFF">
                  <a:alpha val="9167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xfrm>
            <a:off x="11572875" y="1333500"/>
            <a:ext cx="9525" cy="1524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43000" y="5638800"/>
            <a:ext cx="457200" cy="9525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457200"/>
            <a:ext cx="27336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6E5A3A"/>
                </a:solidFill>
                <a:latin typeface="Inter Display"/>
              </a:rPr>
              <a:t>Aperture · No. 062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876300"/>
            <a:ext cx="2733675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B04A1C"/>
                </a:solidFill>
                <a:latin typeface="Inter Display"/>
              </a:rPr>
              <a:t>Field Notebook —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33475"/>
            <a:ext cx="1991469" cy="17576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650" b="1" i="0" u="none">
                <a:solidFill>
                  <a:srgbClr val="15140F"/>
                </a:solidFill>
                <a:latin typeface="Tiempos Headline"/>
              </a:rPr>
              <a:t xml:space="preserve">
      Six</a:t>
            </a:r>
          </a:p>
          <a:p>
            <a:pPr algn="l"/>
            <a:r>
              <a:rPr sz="4650" b="1" i="0" u="none">
                <a:solidFill>
                  <a:srgbClr val="15140F"/>
                </a:solidFill>
                <a:latin typeface="Tiempos Headline"/>
              </a:rPr>
              <a:t>rooms,</a:t>
            </a:r>
          </a:p>
          <a:p>
            <a:pPr algn="l"/>
            <a:r>
              <a:rPr sz="4650" b="1" i="0" u="none">
                <a:solidFill>
                  <a:srgbClr val="15140F"/>
                </a:solidFill>
                <a:latin typeface="Tiempos Headline"/>
              </a:rPr>
              <a:t xml:space="preserve">one </a:t>
            </a:r>
            <a:r>
              <a:rPr sz="4650" b="1" i="1" u="none">
                <a:solidFill>
                  <a:srgbClr val="B04A1C"/>
                </a:solidFill>
                <a:latin typeface="Tiempos Headline"/>
              </a:rPr>
              <a:t>year</a:t>
            </a:r>
            <a:r>
              <a:rPr sz="4650" b="1" i="0" u="none">
                <a:solidFill>
                  <a:srgbClr val="15140F"/>
                </a:solidFill>
                <a:latin typeface="Tiempos Headline"/>
              </a:rPr>
              <a:t xml:space="preserve">.
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3055590"/>
            <a:ext cx="2733675" cy="6429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3A3428"/>
                </a:solidFill>
                <a:latin typeface="Tiempos Headline"/>
              </a:rPr>
              <a:t xml:space="preserve">A traveling portfolio — Reykjavik to Lisbon
      to Hanoi — built from the in-between hours.
      Edited from 4,200 frames.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2400" y="457200"/>
            <a:ext cx="5086350" cy="2905125"/>
          </a:xfrm>
          <a:prstGeom prst="roundRect">
            <a:avLst/>
          </a:prstGeom>
          <a:solidFill>
            <a:srgbClr val="22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457200"/>
            <a:ext cx="5086350" cy="2905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38600" y="533400"/>
            <a:ext cx="254645" cy="142875"/>
          </a:xfrm>
          <a:prstGeom prst="rect">
            <a:avLst/>
          </a:prstGeom>
          <a:solidFill>
            <a:srgbClr val="F6F4E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5140F"/>
                </a:solidFill>
                <a:latin typeface="Inter Display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2100" y="457200"/>
            <a:ext cx="2476500" cy="2905125"/>
          </a:xfrm>
          <a:prstGeom prst="roundRect">
            <a:avLst/>
          </a:prstGeom>
          <a:solidFill>
            <a:srgbClr val="22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100" y="457200"/>
            <a:ext cx="2476500" cy="2905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58300" y="533400"/>
            <a:ext cx="254645" cy="142875"/>
          </a:xfrm>
          <a:prstGeom prst="rect">
            <a:avLst/>
          </a:prstGeom>
          <a:solidFill>
            <a:srgbClr val="F6F4E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5140F"/>
                </a:solidFill>
                <a:latin typeface="Inter Display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2400" y="3495675"/>
            <a:ext cx="2476500" cy="2905125"/>
          </a:xfrm>
          <a:prstGeom prst="roundRect">
            <a:avLst/>
          </a:prstGeom>
          <a:solidFill>
            <a:srgbClr val="22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3495675"/>
            <a:ext cx="2476500" cy="2905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38600" y="3571875"/>
            <a:ext cx="254645" cy="142875"/>
          </a:xfrm>
          <a:prstGeom prst="rect">
            <a:avLst/>
          </a:prstGeom>
          <a:solidFill>
            <a:srgbClr val="F6F4E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5140F"/>
                </a:solidFill>
                <a:latin typeface="Inter Display"/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2250" y="3495675"/>
            <a:ext cx="2476500" cy="2905125"/>
          </a:xfrm>
          <a:prstGeom prst="roundRect">
            <a:avLst/>
          </a:prstGeom>
          <a:solidFill>
            <a:srgbClr val="22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3495675"/>
            <a:ext cx="2476500" cy="2905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48450" y="3571875"/>
            <a:ext cx="254645" cy="142875"/>
          </a:xfrm>
          <a:prstGeom prst="rect">
            <a:avLst/>
          </a:prstGeom>
          <a:solidFill>
            <a:srgbClr val="F6F4E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5140F"/>
                </a:solidFill>
                <a:latin typeface="Inter Display"/>
              </a:rP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2100" y="3495675"/>
            <a:ext cx="2476500" cy="1385888"/>
          </a:xfrm>
          <a:prstGeom prst="roundRect">
            <a:avLst/>
          </a:prstGeom>
          <a:solidFill>
            <a:srgbClr val="22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2100" y="3495675"/>
            <a:ext cx="2476500" cy="13858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58300" y="3571875"/>
            <a:ext cx="254645" cy="142875"/>
          </a:xfrm>
          <a:prstGeom prst="rect">
            <a:avLst/>
          </a:prstGeom>
          <a:solidFill>
            <a:srgbClr val="F6F4E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5140F"/>
                </a:solidFill>
                <a:latin typeface="Inter Display"/>
              </a:rPr>
              <a:t>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2100" y="5014912"/>
            <a:ext cx="2476500" cy="1385888"/>
          </a:xfrm>
          <a:prstGeom prst="roundRect">
            <a:avLst/>
          </a:prstGeom>
          <a:solidFill>
            <a:srgbClr val="22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100" y="5014912"/>
            <a:ext cx="2476500" cy="13858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58300" y="5091112"/>
            <a:ext cx="254645" cy="142875"/>
          </a:xfrm>
          <a:prstGeom prst="rect">
            <a:avLst/>
          </a:prstGeom>
          <a:solidFill>
            <a:srgbClr val="F6F4E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5140F"/>
                </a:solidFill>
                <a:latin typeface="Inter Display"/>
              </a:rPr>
              <a:t>06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gradFill flip="none" rotWithShape="1">
            <a:gsLst>
              <a:gs pos="0">
                <a:srgbClr val="000000">
                  <a:alpha val="0"/>
                </a:srgbClr>
              </a:gs>
              <a:gs pos="30000">
                <a:srgbClr val="000000">
                  <a:alpha val="0"/>
                </a:srgbClr>
              </a:gs>
              <a:gs pos="41667">
                <a:srgbClr val="000000">
                  <a:alpha val="9167"/>
                </a:srgbClr>
              </a:gs>
              <a:gs pos="53333">
                <a:srgbClr val="010001">
                  <a:alpha val="18333"/>
                </a:srgbClr>
              </a:gs>
              <a:gs pos="65000">
                <a:srgbClr val="020103">
                  <a:alpha val="27500"/>
                </a:srgbClr>
              </a:gs>
              <a:gs pos="76667">
                <a:srgbClr val="040308">
                  <a:alpha val="36667"/>
                </a:srgbClr>
              </a:gs>
              <a:gs pos="88333">
                <a:srgbClr val="050610">
                  <a:alpha val="45833"/>
                </a:srgbClr>
              </a:gs>
              <a:gs pos="100000">
                <a:srgbClr val="050C18">
                  <a:alpha val="55000"/>
                </a:srgbClr>
              </a:gs>
            </a:gsLst>
            <a:path path="circle">
              <a:fillToRect l="60000" t="45000" r="40000" b="55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62000" y="1143000"/>
            <a:ext cx="376926" cy="438150"/>
          </a:xfrm>
          <a:prstGeom prst="rect">
            <a:avLst/>
          </a:prstGeom>
          <a:solidFill>
            <a:srgbClr val="FF5B1F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1422"/>
                </a:solidFill>
                <a:latin typeface="Inter Display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9700" y="1238250"/>
            <a:ext cx="186704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5B1F"/>
                </a:solidFill>
                <a:latin typeface="Inter Display"/>
              </a:rPr>
              <a:t>A film by R. Sayre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700" y="1447800"/>
            <a:ext cx="145896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Inter Display"/>
              </a:rPr>
              <a:t>a study in three nights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143125"/>
            <a:ext cx="5708749" cy="287803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1100" b="1" i="0" u="none">
                <a:solidFill>
                  <a:srgbClr val="FFFFFF"/>
                </a:solidFill>
                <a:latin typeface="Inter Display"/>
              </a:rPr>
              <a:t xml:space="preserve">
    THE </a:t>
            </a:r>
            <a:r>
              <a:rPr sz="11100" b="0" i="1" u="none">
                <a:solidFill>
                  <a:srgbClr val="FF5B1F"/>
                </a:solidFill>
                <a:latin typeface="Tiempos Headline"/>
              </a:rPr>
              <a:t>Quiet</a:t>
            </a:r>
          </a:p>
          <a:p>
            <a:pPr algn="l"/>
            <a:r>
              <a:rPr sz="11100" b="1" i="0" u="none">
                <a:solidFill>
                  <a:srgbClr val="FFFFFF"/>
                </a:solidFill>
                <a:latin typeface="Inter Display"/>
              </a:rPr>
              <a:t xml:space="preserve">HOURS.
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053012"/>
            <a:ext cx="5143500" cy="44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Inter Display"/>
              </a:rPr>
              <a:t xml:space="preserve">A widow, a locksmith, and a stretch of coastal
    highway no one drives anymore. Photographed in
    8mm and 65mm. Scored by Hildur Gudnadottir.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3653" y="4661595"/>
            <a:ext cx="1016347" cy="8953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6300" b="1" i="0" u="none">
                <a:solidFill>
                  <a:srgbClr val="FFFFFF"/>
                </a:solidFill>
                <a:latin typeface="Inter Display"/>
              </a:rPr>
              <a:t>88</a:t>
            </a:r>
            <a:r>
              <a:rPr sz="6300" b="1" i="0" u="none">
                <a:solidFill>
                  <a:srgbClr val="FF5B1F"/>
                </a:solidFill>
                <a:latin typeface="Inter Display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30594" y="5534025"/>
            <a:ext cx="1199406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FFFFFF"/>
                </a:solidFill>
                <a:latin typeface="Inter Display"/>
              </a:rPr>
              <a:t>Minutes / 65mm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B1020"/>
              </a:gs>
              <a:gs pos="7500">
                <a:srgbClr val="0D1328"/>
              </a:gs>
              <a:gs pos="15000">
                <a:srgbClr val="101730"/>
              </a:gs>
              <a:gs pos="22500">
                <a:srgbClr val="121A38"/>
              </a:gs>
              <a:gs pos="30000">
                <a:srgbClr val="151D40"/>
              </a:gs>
              <a:gs pos="37500">
                <a:srgbClr val="172148"/>
              </a:gs>
              <a:gs pos="45000">
                <a:srgbClr val="1A2451"/>
              </a:gs>
              <a:gs pos="54167">
                <a:srgbClr val="1B2A59"/>
              </a:gs>
              <a:gs pos="63333">
                <a:srgbClr val="1C3161"/>
              </a:gs>
              <a:gs pos="72500">
                <a:srgbClr val="1D386A"/>
              </a:gs>
              <a:gs pos="81667">
                <a:srgbClr val="1D3F72"/>
              </a:gs>
              <a:gs pos="90833">
                <a:srgbClr val="1C467A"/>
              </a:gs>
              <a:gs pos="100000">
                <a:srgbClr val="1A4D82"/>
              </a:gs>
            </a:gsLst>
            <a:lin ang="2700000" scaled="0"/>
          </a:gradFill>
          <a:xfrm>
            <a:off x="0" y="0"/>
            <a:ext cx="13011150" cy="73152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47700" y="533400"/>
            <a:ext cx="10287000" cy="172789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200" b="1" i="0" u="none">
                <a:solidFill>
                  <a:srgbClr val="EEF3FF"/>
                </a:solidFill>
                <a:latin typeface="Inter"/>
              </a:rPr>
              <a:t>Operationally, this quarter validated a deliberate “native-first, raster-fallback” strategy for complex 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2527995"/>
            <a:ext cx="10858500" cy="6170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0" i="0" u="none">
                <a:solidFill>
                  <a:srgbClr val="EEF3FF"/>
                </a:solidFill>
                <a:latin typeface="Inter"/>
              </a:rPr>
              <a:t>We improved deterministic wrapping across long phrases, numerals (123,456,789), symbols (&amp; + / %), and punctuation-heavy snippets—without sacrificing editability in PowerPoint.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7700" y="3411736"/>
            <a:ext cx="3765500" cy="3370064"/>
          </a:xfrm>
          <a:prstGeom prst="round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  <a:effectLst>
            <a:outerShdw blurRad="266700" dist="114300" dir="5400000" algn="ctr" rotWithShape="0">
              <a:srgbClr val="040916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66775" y="3611761"/>
            <a:ext cx="33273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EEF3FF"/>
                </a:solidFill>
                <a:latin typeface="Inter"/>
              </a:rPr>
              <a:t>Fidelity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59411"/>
            <a:ext cx="3327350" cy="134838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EEF3FF"/>
                </a:solidFill>
                <a:latin typeface="Inter"/>
              </a:rPr>
              <a:t>93.4% average SSIM across stress scenarios with multi-line title/lede structures.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2750" y="3411736"/>
            <a:ext cx="3765500" cy="3370064"/>
          </a:xfrm>
          <a:prstGeom prst="round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  <a:effectLst>
            <a:outerShdw blurRad="266700" dist="114300" dir="5400000" algn="ctr" rotWithShape="0">
              <a:srgbClr val="040916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841825" y="3611761"/>
            <a:ext cx="33273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EEF3FF"/>
                </a:solidFill>
                <a:latin typeface="Inter"/>
              </a:rPr>
              <a:t>Editability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1825" y="3859411"/>
            <a:ext cx="3327350" cy="134838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EEF3FF"/>
                </a:solidFill>
                <a:latin typeface="Inter"/>
              </a:rPr>
              <a:t>88% of visible area emitted as native text/shape/table primitives.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7801" y="3411736"/>
            <a:ext cx="3765649" cy="3370064"/>
          </a:xfrm>
          <a:prstGeom prst="round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  <a:effectLst>
            <a:outerShdw blurRad="266700" dist="114300" dir="5400000" algn="ctr" rotWithShape="0">
              <a:srgbClr val="040916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816876" y="3611761"/>
            <a:ext cx="3327499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EEF3FF"/>
                </a:solidFill>
                <a:latin typeface="Inter"/>
              </a:rPr>
              <a:t>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16876" y="3859411"/>
            <a:ext cx="3327499" cy="101128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EEF3FF"/>
                </a:solidFill>
                <a:latin typeface="Inter"/>
              </a:rPr>
              <a:t>1.7s median single-slide conversion at standard preview resolution.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FAFAF9"/>
      </a:accent2>
      <a:accent3>
        <a:srgbClr val="475569"/>
      </a:accent3>
      <a:accent4>
        <a:srgbClr val="F5F5F7"/>
      </a:accent4>
      <a:accent5>
        <a:srgbClr val="2D1F1F"/>
      </a:accent5>
      <a:accent6>
        <a:srgbClr val="0B3A5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