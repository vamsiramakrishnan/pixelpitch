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838450"/>
            <a:ext cx="19249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143" y="2838450"/>
            <a:ext cx="1403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46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95338" y="3314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338" y="3886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338" y="4457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338" y="5029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338" y="5600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79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12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23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5350" y="3421380"/>
            <a:ext cx="115252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1A1A1A"/>
                </a:solidFill>
                <a:latin typeface="Inter"/>
              </a:rPr>
              <a:t>2021 · The crossover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5350" y="3562350"/>
            <a:ext cx="26717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Inter"/>
              </a:rPr>
              <a:t>CPI overtakes wage index for first time since 2008.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6688" y="329565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C41E3A"/>
                </a:solidFill>
                <a:latin typeface="Inter"/>
              </a:rPr>
              <a:t>+92 pts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6688" y="354330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E5F8C"/>
                </a:solidFill>
                <a:latin typeface="Inter"/>
              </a:rPr>
              <a:t>+98 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31251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normAutofit fontScale="74638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91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68655" y="3365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3.0T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655" y="39365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2.0T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655" y="4508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1.0T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079534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8477" y="4850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67577" y="479378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6677" y="46985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5777" y="45080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24877" y="42794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3977" y="45842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63077" y="4469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58602" y="34221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C41E3A"/>
                </a:solidFill>
                <a:latin typeface="Inter"/>
              </a:rPr>
              <a:t>3.13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702" y="3993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2.78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6802" y="4374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1.38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5902" y="38412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1A"/>
                </a:solidFill>
                <a:latin typeface="Inter"/>
              </a:rPr>
              <a:t>1.83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84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57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30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03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" y="57958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00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3191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or 60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697504" y="33745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504" y="39460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4652" y="4517559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2750" y="5089059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7075" y="4308009"/>
            <a:ext cx="94297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1" i="0">
                <a:solidFill>
                  <a:srgbClr val="D4A017"/>
                </a:solidFill>
                <a:latin typeface="Inter"/>
              </a:rPr>
              <a:t>1983 baseline · 6.0%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6350" y="3100239"/>
            <a:ext cx="62865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2020 · 14.7%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01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74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47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020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5100" y="58053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00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7337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71481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0529"/>
            <a:ext cx="12946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10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896374"/>
            <a:ext cx="37719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1A1A1A"/>
                </a:solidFill>
                <a:latin typeface="Inter"/>
              </a:rPr>
              <a:t>peak '22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15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891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10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82372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91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4600" y="2953524"/>
            <a:ext cx="47148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A1A1A"/>
                </a:solidFill>
                <a:latin typeface="Inter"/>
              </a:rPr>
              <a:t>cooled '23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46127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5410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29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1500" y="4612779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3891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10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6500" y="6153924"/>
            <a:ext cx="51863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E5F8C"/>
                </a:solidFill>
                <a:latin typeface="Inter"/>
              </a:rPr>
              <a:t>net decline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4612779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82372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791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9816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5706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24150" y="5781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150" y="6162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8,000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150" y="6543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7,000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4150" y="6924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6,000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8597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1A1A1A"/>
                </a:solidFill>
                <a:latin typeface="Inter"/>
              </a:rPr>
              <a:t>2005 · 8,891 papers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2888" y="722902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2024 · 6,005 papers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7000" y="6848475"/>
            <a:ext cx="679459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7000" y="6848475"/>
            <a:ext cx="6769001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7000" y="6477000"/>
            <a:ext cx="3834408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4681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UNC Hussman School / Northwestern Medill Local News Initiative · 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52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9427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828627"/>
            <a:ext cx="7239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1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6183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33377"/>
            <a:ext cx="1188839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177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4639" y="280481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34333"/>
            <a:ext cx="150911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356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4639" y="330577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57150"/>
                </a:lnTo>
                <a:lnTo>
                  <a:pt x="619125" y="76200"/>
                </a:lnTo>
                <a:lnTo>
                  <a:pt x="762000" y="9525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39158"/>
            <a:ext cx="1503462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7172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4639" y="381059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lnTo>
                  <a:pt x="247650" y="114300"/>
                </a:lnTo>
                <a:lnTo>
                  <a:pt x="371475" y="76200"/>
                </a:lnTo>
                <a:lnTo>
                  <a:pt x="495300" y="57150"/>
                </a:lnTo>
                <a:lnTo>
                  <a:pt x="619125" y="3810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43983"/>
            <a:ext cx="1489770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246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4639" y="431542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lnTo>
                  <a:pt x="247650" y="0"/>
                </a:lnTo>
                <a:lnTo>
                  <a:pt x="371475" y="0"/>
                </a:lnTo>
                <a:lnTo>
                  <a:pt x="495300" y="9525"/>
                </a:lnTo>
                <a:lnTo>
                  <a:pt x="619125" y="9525"/>
                </a:lnTo>
                <a:lnTo>
                  <a:pt x="762000" y="9525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44938"/>
            <a:ext cx="149140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38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4639" y="4816376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45894"/>
            <a:ext cx="1489025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862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4639" y="5317331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lnTo>
                  <a:pt x="247650" y="57150"/>
                </a:lnTo>
                <a:lnTo>
                  <a:pt x="371475" y="76200"/>
                </a:lnTo>
                <a:lnTo>
                  <a:pt x="495300" y="95250"/>
                </a:lnTo>
                <a:lnTo>
                  <a:pt x="619125" y="123825"/>
                </a:lnTo>
                <a:lnTo>
                  <a:pt x="762000" y="1524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46849"/>
            <a:ext cx="1489918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94639" y="5818287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43935"/>
            <a:ext cx="150792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546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4639" y="6315373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41021"/>
            <a:ext cx="1511498" cy="116979"/>
          </a:xfrm>
          <a:prstGeom prst="rect">
            <a:avLst/>
          </a:prstGeom>
          <a:noFill/>
        </p:spPr>
        <p:txBody>
          <a:bodyPr wrap="square" lIns="0" rIns="0" tIns="0" bIns="0">
            <a:normAutofit fontScale="60285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94639" y="6812459"/>
            <a:ext cx="401538" cy="455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3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76375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917752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1524000"/>
            <a:ext cx="2286000" cy="71794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45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80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73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80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82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80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46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6546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6659761" cy="617190"/>
          </a:xfrm>
          <a:prstGeom prst="rect">
            <a:avLst/>
          </a:prstGeom>
          <a:noFill/>
        </p:spPr>
        <p:txBody>
          <a:bodyPr wrap="square" lIns="0" rIns="0" tIns="0" bIns="0">
            <a:normAutofit fontScale="5956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161"/>
            <a:ext cx="6776740" cy="3249811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932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005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288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225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26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173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246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808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1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8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838605" cy="15772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88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4886325"/>
            <a:ext cx="3551337" cy="2762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725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725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725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19150"/>
            <a:ext cx="1198662" cy="626566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439400" y="5486400"/>
            <a:ext cx="1371600" cy="9144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4965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6299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07632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8966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0299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1633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296650" y="55435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14300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5633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4965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6299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07632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8966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10299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1633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2966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1430000" y="56769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15633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SCHEMATIC / INGEST-PIPELINE / V0.4.1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70914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22 OF 27 // SHEET 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22 — SCHEMATIC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81075"/>
            <a:ext cx="11430000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0A0A0A"/>
                </a:solidFill>
                <a:latin typeface="Consolas"/>
              </a:rPr>
              <a:t>INGEST → NORMALIZE →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96971" y="781050"/>
            <a:ext cx="1514029" cy="657820"/>
          </a:xfrm>
          <a:prstGeom prst="rect">
            <a:avLst/>
          </a:prstGeom>
          <a:noFill/>
        </p:spPr>
        <p:txBody>
          <a:bodyPr wrap="square" lIns="0" rIns="0" tIns="0" bIns="0">
            <a:normAutofit fontScale="90582" lnSpcReduction="0"/>
          </a:bodyPr>
          <a:lstStyle/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BLOCK  SERVICE UNIT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HOT    ACTIVE PATH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PROTOCOL  HTTP/2 // gRPC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LATENCY   p50 14ms
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 32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66750" y="2537460"/>
            <a:ext cx="6915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[01] INGEST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edge-rx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50" y="3116580"/>
            <a:ext cx="1037272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tcp/443 // 8 nodes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qps 38.6K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432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[02] QUEUE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32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kfk-buf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432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part 24 // r=3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432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lag 1.18K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43250" y="3459480"/>
            <a:ext cx="46101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HOLD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9750" y="2537460"/>
            <a:ext cx="88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5722"/>
                </a:solidFill>
                <a:latin typeface="Consolas"/>
              </a:rPr>
              <a:t>[03] NORMALIZE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7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parse + dedupe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19750" y="328803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9750" y="34594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67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[04] STORE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6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cold-tbl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6750" y="311658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parquet // s3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6750" y="3288030"/>
            <a:ext cx="69151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2.4 TB / day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9750" y="4442460"/>
            <a:ext cx="56578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[05] SINK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19750" y="4705350"/>
            <a:ext cx="838200" cy="238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Consolas"/>
              </a:rPr>
              <a:t>obs-sink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19750" y="500253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log + metrics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19750" y="51739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TAP 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7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34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67500" y="40005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tap/01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9250" y="470535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5722"/>
                </a:solidFill>
                <a:latin typeface="Consolas"/>
              </a:rPr>
              <a:t>hot/01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1000" y="5886450"/>
            <a:ext cx="1143000" cy="457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4191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34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477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7620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76300" y="59245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906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1049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2192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3335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4191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34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477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7620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8763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9906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1049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1219200" y="60388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13335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4191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5334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477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7620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8763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9906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11049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12192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3335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81000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5116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87141" y="6410325"/>
            <a:ext cx="42386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SINK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rev 0.4.1 // commit a8f12c9 // by platform-core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7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74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47130"/>
            <a:ext cx="1640086" cy="479822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398044" y="2162175"/>
            <a:ext cx="6939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108281" y="216217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42925" y="3486150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98044" y="3486150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253162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9108281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2925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3398044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253162" y="4810125"/>
            <a:ext cx="7570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108281" y="4810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0287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4203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553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06870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82040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09537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0871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2204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13538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14871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1620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23837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77525" y="22098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25622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77525" y="25336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375" y="28860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375" y="320992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77525" y="3181350"/>
            <a:ext cx="566203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" y="35337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77525" y="35052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375" y="3857625"/>
            <a:ext cx="36546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77525" y="38290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375" y="41814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77525" y="41529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375" y="45053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77525" y="44767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5375" y="48291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375" y="51530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" y="547687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5375" y="58007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943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4708" y="847130"/>
            <a:ext cx="176629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8000" y="838200"/>
            <a:ext cx="1143000" cy="571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7251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8585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9918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125200" y="8953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12585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3919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15252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16586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7251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8585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09918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11252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1258550" y="10287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13919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15252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6586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107251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08585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109918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11252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12585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13919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1525250" y="11620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165860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81025" y="2124075"/>
            <a:ext cx="21449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1025" y="2381250"/>
            <a:ext cx="4752975" cy="14097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715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191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2668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15144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7621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0097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2574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250507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752725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30003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4802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4956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74332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99097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23862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48627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73392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98157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23900" y="3038475"/>
            <a:ext cx="2856161" cy="466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19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2519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2519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800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350" y="353377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145" y="353377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10941" y="3533775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025" y="3981450"/>
            <a:ext cx="252338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" y="4238625"/>
            <a:ext cx="4752975" cy="6858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7905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001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2096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41922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6287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18383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20478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25742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4669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6765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288607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30956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30517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35147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7242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33825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14337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435292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456247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4772025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612338" y="847130"/>
            <a:ext cx="1198662" cy="479822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707439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46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3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3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44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28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23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9" name="Freeform 18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4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085975"/>
            <a:ext cx="8085237" cy="26187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899720"/>
            <a:ext cx="5857577" cy="779859"/>
          </a:xfrm>
          <a:prstGeom prst="rect">
            <a:avLst/>
          </a:prstGeom>
          <a:noFill/>
        </p:spPr>
        <p:txBody>
          <a:bodyPr wrap="square" lIns="0" rIns="0" tIns="0" bIns="0">
            <a:normAutofit fontScale="85933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98096"/>
            <a:ext cx="1129457" cy="1809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2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7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79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28700" y="838200"/>
            <a:ext cx="1735420" cy="1524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050"/>
            <a:ext cx="5569744" cy="993428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8225" y="3400425"/>
            <a:ext cx="2341215" cy="12001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412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2589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lnTo>
                  <a:pt x="457200" y="190500"/>
                </a:lnTo>
                <a:lnTo>
                  <a:pt x="685800" y="209550"/>
                </a:lnTo>
                <a:lnTo>
                  <a:pt x="914400" y="152400"/>
                </a:lnTo>
                <a:lnTo>
                  <a:pt x="1143000" y="133350"/>
                </a:lnTo>
                <a:lnTo>
                  <a:pt x="1371600" y="95250"/>
                </a:lnTo>
                <a:lnTo>
                  <a:pt x="1600200" y="114300"/>
                </a:lnTo>
                <a:lnTo>
                  <a:pt x="1828800" y="57150"/>
                </a:lnTo>
                <a:lnTo>
                  <a:pt x="2057400" y="7620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0375" y="3400425"/>
            <a:ext cx="2168426" cy="12001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939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2398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38" name="Freeform 37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lnTo>
                  <a:pt x="457200" y="228600"/>
                </a:lnTo>
                <a:lnTo>
                  <a:pt x="685800" y="190500"/>
                </a:lnTo>
                <a:lnTo>
                  <a:pt x="914400" y="171450"/>
                </a:lnTo>
                <a:lnTo>
                  <a:pt x="1143000" y="152400"/>
                </a:lnTo>
                <a:lnTo>
                  <a:pt x="1371600" y="114300"/>
                </a:lnTo>
                <a:lnTo>
                  <a:pt x="1600200" y="95250"/>
                </a:lnTo>
                <a:lnTo>
                  <a:pt x="1828800" y="76200"/>
                </a:lnTo>
                <a:lnTo>
                  <a:pt x="2057400" y="5715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00425"/>
            <a:ext cx="1368921" cy="12001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461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1801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51" name="Freeform 50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lnTo>
                  <a:pt x="457200" y="19050"/>
                </a:lnTo>
                <a:lnTo>
                  <a:pt x="685800" y="9525"/>
                </a:lnTo>
                <a:lnTo>
                  <a:pt x="914400" y="0"/>
                </a:lnTo>
                <a:lnTo>
                  <a:pt x="1143000" y="9525"/>
                </a:lnTo>
                <a:lnTo>
                  <a:pt x="1371600" y="9525"/>
                </a:lnTo>
                <a:lnTo>
                  <a:pt x="1600200" y="19050"/>
                </a:lnTo>
                <a:lnTo>
                  <a:pt x="1828800" y="9525"/>
                </a:lnTo>
                <a:lnTo>
                  <a:pt x="2057400" y="0"/>
                </a:lnTo>
                <a:lnTo>
                  <a:pt x="2286000" y="9525"/>
                </a:lnTo>
                <a:lnTo>
                  <a:pt x="2514600" y="9525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9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233690" y="685800"/>
            <a:ext cx="1646118" cy="1524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1123" y="990600"/>
            <a:ext cx="7549604" cy="5619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51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51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718721" y="2059781"/>
            <a:ext cx="1379339" cy="1524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4555034"/>
            <a:ext cx="16016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7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977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4821734"/>
            <a:ext cx="15500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3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993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3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4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8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4" name="Rectangle 3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37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798" y="4421684"/>
            <a:ext cx="18352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9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09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09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62798" y="4688384"/>
            <a:ext cx="209892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9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979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2798" y="4955084"/>
            <a:ext cx="178831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81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981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3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4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87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0" name="Rectangle 5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6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7304" y="4555034"/>
            <a:ext cx="198328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0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990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67304" y="4821734"/>
            <a:ext cx="219848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94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0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96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63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0" name="Rectangle 7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83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533400"/>
            <a:ext cx="1570179" cy="1524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838200"/>
            <a:ext cx="4389239" cy="905768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171700"/>
            <a:ext cx="4467523" cy="4375547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266825" y="2524125"/>
            <a:ext cx="123036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" y="2867025"/>
            <a:ext cx="3136702" cy="15780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875" y="4577358"/>
            <a:ext cx="3462784" cy="576262"/>
          </a:xfrm>
          <a:prstGeom prst="rect">
            <a:avLst/>
          </a:prstGeom>
          <a:noFill/>
        </p:spPr>
        <p:txBody>
          <a:bodyPr wrap="square" lIns="0" rIns="0" tIns="0" bIns="0">
            <a:normAutofit fontScale="6561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5513189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829598" y="2447925"/>
            <a:ext cx="11443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2171700"/>
            <a:ext cx="3081189" cy="9228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082236" y="2447925"/>
            <a:ext cx="46345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4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54" name="Rounded Rectangle 5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829598" y="4572000"/>
            <a:ext cx="66838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28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9082236" y="4572000"/>
            <a:ext cx="92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6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685800"/>
            <a:ext cx="2168505" cy="1524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990600"/>
            <a:ext cx="5827961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249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249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469" y="1336328"/>
            <a:ext cx="19709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9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59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59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59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419475"/>
            <a:ext cx="3038177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3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125" y="3419475"/>
            <a:ext cx="2901553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92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526" y="3419475"/>
            <a:ext cx="3017044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1" name="TextBox 50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3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4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762000" y="5143500"/>
            <a:ext cx="10668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6786" y="0"/>
                  <a:pt x="71429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571500" y="5524500"/>
            <a:ext cx="11049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7586" y="0"/>
                  <a:pt x="72414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52500" y="4762500"/>
            <a:ext cx="10287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5926" y="0"/>
                  <a:pt x="72222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004643" y="990600"/>
            <a:ext cx="2306538" cy="1524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903" y="1504950"/>
            <a:ext cx="9932045" cy="2141190"/>
          </a:xfrm>
          <a:prstGeom prst="rect">
            <a:avLst/>
          </a:prstGeom>
          <a:noFill/>
        </p:spPr>
        <p:txBody>
          <a:bodyPr wrap="square" lIns="0" rIns="0" tIns="0" bIns="0">
            <a:normAutofit fontScale="55583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7093" y="3667125"/>
            <a:ext cx="4417665" cy="499467"/>
          </a:xfrm>
          <a:prstGeom prst="rect">
            <a:avLst/>
          </a:prstGeom>
          <a:noFill/>
        </p:spPr>
        <p:txBody>
          <a:bodyPr wrap="square" lIns="0" rIns="0" tIns="0" bIns="0">
            <a:normAutofit fontScale="50156" lnSpcReduction="0"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12" name="TextBox 11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525714" y="4591050"/>
            <a:ext cx="907405" cy="1905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61770" y="4591050"/>
            <a:ext cx="1604516" cy="1905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42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2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568" y="6038850"/>
            <a:ext cx="841177" cy="1428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6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6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76300" y="685800"/>
            <a:ext cx="1976056" cy="1524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5557689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981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2981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09600" y="2190750"/>
            <a:ext cx="3581400" cy="17145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21409" y="2967038"/>
            <a:ext cx="662434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5016550" y="2276475"/>
            <a:ext cx="917525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8731" lnSpcReduction="0"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844159" y="2276475"/>
            <a:ext cx="937766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5070" lnSpcReduction="0"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75650" y="2509838"/>
            <a:ext cx="48904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522000" y="2509838"/>
            <a:ext cx="691902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1695" y="3424238"/>
            <a:ext cx="66555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871841" y="3190875"/>
            <a:ext cx="910084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7938" lnSpcReduction="0"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673852" y="3424238"/>
            <a:ext cx="692497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10592098" y="3190875"/>
            <a:ext cx="885527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402705" y="4338638"/>
            <a:ext cx="45214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030885" y="4338638"/>
            <a:ext cx="89148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5747147" y="4105275"/>
            <a:ext cx="2034778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39" name="TextBox 3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66423" y="4338638"/>
            <a:ext cx="50735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40" name="TextBox 3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479286" y="4338638"/>
            <a:ext cx="777478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41" name="TextBox 4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296144" y="5253038"/>
            <a:ext cx="665113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229570" y="5253038"/>
            <a:ext cx="49396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5565" y="5253038"/>
            <a:ext cx="65782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919168" y="5253038"/>
            <a:ext cx="506164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476655" y="5253038"/>
            <a:ext cx="108059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690920" y="5253038"/>
            <a:ext cx="35421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51" name="Rectangle 5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09600" y="6248400"/>
            <a:ext cx="22315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1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51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51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4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6800" y="685800"/>
            <a:ext cx="193030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76F51"/>
                </a:solidFill>
                <a:latin typeface="Inter"/>
              </a:rPr>
              <a:t>A field guide for the unhurried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05484"/>
            <a:ext cx="4417070" cy="212288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100" b="1" i="0" u="none">
                <a:solidFill>
                  <a:srgbClr val="2D1F1F"/>
                </a:solidFill>
                <a:latin typeface="Source Serif Pro"/>
              </a:rPr>
              <a:t xml:space="preserve">A softer cadence for the </a:t>
            </a:r>
            <a:r>
              <a:rPr sz="5100" b="0" i="1" u="none">
                <a:solidFill>
                  <a:srgbClr val="264653"/>
                </a:solidFill>
                <a:latin typeface="Source Serif Pro"/>
              </a:rPr>
              <a:t>way you work</a:t>
            </a:r>
            <a:r>
              <a:rPr sz="51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67225"/>
            <a:ext cx="4191000" cy="80143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A3A3A"/>
                </a:solidFill>
                <a:latin typeface="Inter"/>
              </a:rPr>
              <a:t>The companion deck for teams that prefer the long breath. Six chapters, one ritual, no urgency. Begin wherever the morning finds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81725"/>
            <a:ext cx="28673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Spring edition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Volume 04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Made slowly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>
                <a:alpha val="6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553200" y="1082040"/>
            <a:ext cx="775335" cy="1762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102" b="1" i="1">
                <a:solidFill>
                  <a:srgbClr val="E9C46A"/>
                </a:solidFill>
                <a:latin typeface="Source Serif Pro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762000"/>
            <a:ext cx="156180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Chapter Two · Field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544687"/>
            <a:ext cx="3564582" cy="11166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050" b="1" i="0" u="none">
                <a:solidFill>
                  <a:srgbClr val="2D1F1F"/>
                </a:solidFill>
                <a:latin typeface="Source Serif Pro"/>
              </a:rPr>
              <a:t xml:space="preserve">The morning we </a:t>
            </a:r>
            <a:r>
              <a:rPr sz="4050" b="0" i="1" u="none">
                <a:solidFill>
                  <a:srgbClr val="E76F51"/>
                </a:solidFill>
                <a:latin typeface="Source Serif Pro"/>
              </a:rPr>
              <a:t>stopped rushing</a:t>
            </a:r>
            <a:r>
              <a:rPr sz="40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362325"/>
            <a:ext cx="4562773" cy="10160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3A2A2A"/>
                </a:solidFill>
                <a:latin typeface="Inter"/>
              </a:rPr>
              <a:t xml:space="preserve">It started, as most quiet revolutions do, with a small refusal. We let the kettle whistle a moment longer. We sat where the light was thin, and we noticed it. The day, unhurried, agreed to begin </a:t>
            </a:r>
            <a:r>
              <a:rPr sz="1275" b="0" i="0" u="none">
                <a:solidFill>
                  <a:srgbClr val="264653"/>
                </a:solidFill>
                <a:latin typeface="Inter"/>
              </a:rPr>
              <a:t>with us, not despite us</a:t>
            </a:r>
            <a:r>
              <a:rPr sz="1275" b="0" i="0" u="none">
                <a:solidFill>
                  <a:srgbClr val="3A2A2A"/>
                </a:solidFill>
                <a:latin typeface="Inter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2066925"/>
            <a:ext cx="3996482" cy="135522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  The pace of the work changed the moment we stopped negotiating with the clock.
      </a:t>
            </a:r>
            <a:r>
              <a:rPr sz="975" b="0" i="0" u="none">
                <a:solidFill>
                  <a:srgbClr val="7A6A6A"/>
                </a:solidFill>
                <a:latin typeface="Inter"/>
              </a:rPr>
              <a:t>— from the foreword, page 4</a:t>
            </a:r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6181725"/>
            <a:ext cx="15640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Read in 6 minutes · with tea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285750" y="266700"/>
            <a:ext cx="5619750" cy="2305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85" y="13223"/>
                </a:moveTo>
                <a:cubicBezTo>
                  <a:pt x="32203" y="0"/>
                  <a:pt x="72881" y="9091"/>
                  <a:pt x="86441" y="46281"/>
                </a:cubicBezTo>
                <a:cubicBezTo>
                  <a:pt x="100000" y="83471"/>
                  <a:pt x="86441" y="100000"/>
                  <a:pt x="55932" y="94215"/>
                </a:cubicBezTo>
                <a:cubicBezTo>
                  <a:pt x="25424" y="88430"/>
                  <a:pt x="0" y="79339"/>
                  <a:pt x="5085" y="13223"/>
                </a:cubicBezTo>
                <a:close/>
              </a:path>
            </a:pathLst>
          </a:custGeom>
          <a:solidFill>
            <a:srgbClr val="A78BF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239250" y="5334000"/>
            <a:ext cx="3048000" cy="2000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375" y="9524"/>
                </a:moveTo>
                <a:cubicBezTo>
                  <a:pt x="65625" y="0"/>
                  <a:pt x="93750" y="19048"/>
                  <a:pt x="96875" y="57143"/>
                </a:cubicBezTo>
                <a:cubicBezTo>
                  <a:pt x="100000" y="95238"/>
                  <a:pt x="65625" y="100000"/>
                  <a:pt x="34375" y="90476"/>
                </a:cubicBezTo>
                <a:cubicBezTo>
                  <a:pt x="3125" y="80952"/>
                  <a:pt x="0" y="47619"/>
                  <a:pt x="6875" y="24762"/>
                </a:cubicBezTo>
                <a:cubicBezTo>
                  <a:pt x="10625" y="13333"/>
                  <a:pt x="21875" y="13333"/>
                  <a:pt x="34375" y="9524"/>
                </a:cubicBezTo>
                <a:close/>
              </a:path>
            </a:pathLst>
          </a:custGeom>
          <a:solidFill>
            <a:srgbClr val="E9C46A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933450" y="2609850"/>
            <a:ext cx="1104900" cy="1104900"/>
          </a:xfrm>
          <a:prstGeom prst="ellipse">
            <a:avLst/>
          </a:prstGeom>
          <a:solidFill>
            <a:srgbClr val="F7B2A2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981450" y="3486150"/>
            <a:ext cx="1104900" cy="1104900"/>
          </a:xfrm>
          <a:prstGeom prst="ellipse">
            <a:avLst/>
          </a:prstGeom>
          <a:solidFill>
            <a:srgbClr val="2A9D8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029450" y="2609850"/>
            <a:ext cx="1104900" cy="1104900"/>
          </a:xfrm>
          <a:prstGeom prst="ellipse">
            <a:avLst/>
          </a:pr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734550" y="3486150"/>
            <a:ext cx="1104900" cy="1104900"/>
          </a:xfrm>
          <a:prstGeom prst="ellipse">
            <a:avLst/>
          </a:prstGeom>
          <a:solidFill>
            <a:srgbClr val="F4A261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48000" y="2762250"/>
            <a:ext cx="1066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3077"/>
                </a:moveTo>
                <a:cubicBezTo>
                  <a:pt x="35714" y="0"/>
                  <a:pt x="53571" y="100000"/>
                  <a:pt x="100000" y="90769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4095750" y="3829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115050" y="2819400"/>
            <a:ext cx="1066800" cy="1295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82353"/>
                </a:moveTo>
                <a:cubicBezTo>
                  <a:pt x="42857" y="100000"/>
                  <a:pt x="60714" y="0"/>
                  <a:pt x="100000" y="16176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162800" y="2971800"/>
            <a:ext cx="152400" cy="171450"/>
          </a:xfrm>
          <a:custGeom>
            <a:avLst/>
            <a:gdLst/>
            <a:ahLst/>
            <a:cxnLst/>
            <a:rect l="l" t="t" r="r" b="b"/>
            <a:pathLst>
              <a:path w="152400" h="171450">
                <a:moveTo>
                  <a:pt x="0" y="0"/>
                </a:moveTo>
                <a:lnTo>
                  <a:pt x="152400" y="57150"/>
                </a:lnTo>
                <a:lnTo>
                  <a:pt x="19050" y="17145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63050" y="2895600"/>
            <a:ext cx="876300" cy="10096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6981"/>
                </a:moveTo>
                <a:cubicBezTo>
                  <a:pt x="52174" y="0"/>
                  <a:pt x="63043" y="100000"/>
                  <a:pt x="100000" y="100000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020300" y="3848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14400" y="1790700"/>
            <a:ext cx="3638550" cy="1143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66667"/>
                </a:moveTo>
                <a:cubicBezTo>
                  <a:pt x="32461" y="0"/>
                  <a:pt x="69110" y="100000"/>
                  <a:pt x="100000" y="33333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106150" y="1009650"/>
            <a:ext cx="266700" cy="266700"/>
          </a:xfrm>
          <a:prstGeom prst="ellipse">
            <a:avLst/>
          </a:prstGeom>
          <a:noFill/>
          <a:ln w="1524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1239500" y="8001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239500" y="14097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62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966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 fontScale="62454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-381000"/>
            <a:ext cx="33337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286" y="6250"/>
                </a:moveTo>
                <a:cubicBezTo>
                  <a:pt x="48571" y="0"/>
                  <a:pt x="88571" y="21875"/>
                  <a:pt x="94286" y="53125"/>
                </a:cubicBezTo>
                <a:cubicBezTo>
                  <a:pt x="100000" y="84375"/>
                  <a:pt x="71429" y="100000"/>
                  <a:pt x="42857" y="91875"/>
                </a:cubicBezTo>
                <a:cubicBezTo>
                  <a:pt x="14286" y="83750"/>
                  <a:pt x="0" y="62500"/>
                  <a:pt x="571" y="37500"/>
                </a:cubicBezTo>
                <a:cubicBezTo>
                  <a:pt x="1143" y="21875"/>
                  <a:pt x="0" y="9375"/>
                  <a:pt x="14286" y="625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620250" y="4953000"/>
            <a:ext cx="3048000" cy="2286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125" y="8333"/>
                </a:moveTo>
                <a:cubicBezTo>
                  <a:pt x="56250" y="0"/>
                  <a:pt x="87500" y="16667"/>
                  <a:pt x="93750" y="50000"/>
                </a:cubicBezTo>
                <a:cubicBezTo>
                  <a:pt x="100000" y="83333"/>
                  <a:pt x="78125" y="100000"/>
                  <a:pt x="53125" y="100000"/>
                </a:cubicBezTo>
                <a:cubicBezTo>
                  <a:pt x="28125" y="100000"/>
                  <a:pt x="6250" y="83333"/>
                  <a:pt x="3125" y="58333"/>
                </a:cubicBezTo>
                <a:cubicBezTo>
                  <a:pt x="0" y="33333"/>
                  <a:pt x="9375" y="25000"/>
                  <a:pt x="18750" y="18333"/>
                </a:cubicBezTo>
                <a:cubicBezTo>
                  <a:pt x="23750" y="15000"/>
                  <a:pt x="25000" y="11667"/>
                  <a:pt x="28125" y="8333"/>
                </a:cubicBezTo>
                <a:close/>
              </a:path>
            </a:pathLst>
          </a:custGeom>
          <a:solidFill>
            <a:srgbClr val="A78BF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5219700" y="5429250"/>
            <a:ext cx="1447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211" y="7692"/>
                </a:moveTo>
                <a:cubicBezTo>
                  <a:pt x="73684" y="0"/>
                  <a:pt x="100000" y="23077"/>
                  <a:pt x="97368" y="53846"/>
                </a:cubicBezTo>
                <a:cubicBezTo>
                  <a:pt x="94737" y="84615"/>
                  <a:pt x="60526" y="100000"/>
                  <a:pt x="31579" y="89231"/>
                </a:cubicBezTo>
                <a:cubicBezTo>
                  <a:pt x="2632" y="78462"/>
                  <a:pt x="0" y="41538"/>
                  <a:pt x="13158" y="20000"/>
                </a:cubicBezTo>
                <a:cubicBezTo>
                  <a:pt x="19737" y="10769"/>
                  <a:pt x="26316" y="9231"/>
                  <a:pt x="34211" y="7692"/>
                </a:cubicBezTo>
                <a:close/>
              </a:path>
            </a:pathLst>
          </a:custGeom>
          <a:solidFill>
            <a:srgbClr val="E9C46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409700" y="4933950"/>
            <a:ext cx="419100" cy="419100"/>
          </a:xfrm>
          <a:prstGeom prst="ellipse">
            <a:avLst/>
          </a:prstGeom>
          <a:solidFill>
            <a:srgbClr val="2A9D8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91800" y="1924050"/>
            <a:ext cx="342900" cy="342900"/>
          </a:xfrm>
          <a:prstGeom prst="ellipse">
            <a:avLst/>
          </a:prstGeom>
          <a:solidFill>
            <a:srgbClr val="F4A261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5524500" y="11049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28571"/>
                </a:cubicBezTo>
              </a:path>
            </a:pathLst>
          </a:custGeom>
          <a:noFill/>
          <a:ln w="1524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457450" y="4686300"/>
            <a:ext cx="304800" cy="266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750" y="64286"/>
                </a:moveTo>
                <a:cubicBezTo>
                  <a:pt x="0" y="35714"/>
                  <a:pt x="31250" y="0"/>
                  <a:pt x="50000" y="28571"/>
                </a:cubicBezTo>
                <a:cubicBezTo>
                  <a:pt x="68750" y="0"/>
                  <a:pt x="100000" y="35714"/>
                  <a:pt x="81250" y="64286"/>
                </a:cubicBezTo>
                <a:cubicBezTo>
                  <a:pt x="68750" y="85714"/>
                  <a:pt x="50000" y="100000"/>
                  <a:pt x="50000" y="100000"/>
                </a:cubicBezTo>
                <a:cubicBezTo>
                  <a:pt x="50000" y="100000"/>
                  <a:pt x="31250" y="85714"/>
                  <a:pt x="18750" y="64286"/>
                </a:cubicBezTo>
                <a:close/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7296150" y="4648200"/>
            <a:ext cx="400050" cy="38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000"/>
                </a:moveTo>
                <a:cubicBezTo>
                  <a:pt x="28571" y="0"/>
                  <a:pt x="80952" y="0"/>
                  <a:pt x="100000" y="40000"/>
                </a:cubicBezTo>
                <a:cubicBezTo>
                  <a:pt x="76190" y="85000"/>
                  <a:pt x="28571" y="100000"/>
                  <a:pt x="0" y="45000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334250" y="4743450"/>
            <a:ext cx="3619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6842" y="50000"/>
                  <a:pt x="73684" y="0"/>
                  <a:pt x="100000" y="7500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4572000" y="4038600"/>
            <a:ext cx="30480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0000"/>
                </a:moveTo>
                <a:cubicBezTo>
                  <a:pt x="18750" y="0"/>
                  <a:pt x="37500" y="100000"/>
                  <a:pt x="56250" y="50000"/>
                </a:cubicBezTo>
                <a:cubicBezTo>
                  <a:pt x="75000" y="0"/>
                  <a:pt x="875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 fontScale="622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2700" y="5067300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99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399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399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466850" cy="3333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5" b="1" i="1">
                <a:solidFill>
                  <a:srgbClr val="F4A261"/>
                </a:solidFill>
                <a:latin typeface="Source Serif Pro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53700" y="3829050"/>
            <a:ext cx="628650" cy="1428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2" b="1" i="1">
                <a:solidFill>
                  <a:srgbClr val="E76F51"/>
                </a:solidFill>
                <a:latin typeface="Source Serif Pro"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2000"/>
            <a:ext cx="117068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In their own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2676525"/>
            <a:ext cx="8059489" cy="95011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
      It's the first tool that </a:t>
            </a:r>
            <a:r>
              <a:rPr sz="3150" b="1" i="1" u="none">
                <a:solidFill>
                  <a:srgbClr val="E76F51"/>
                </a:solidFill>
                <a:latin typeface="Source Serif Pro"/>
              </a:rPr>
              <a:t>didn't ask me to hurry</a:t>
            </a:r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 — and somehow, that's exactly when the work got better.
 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953000"/>
            <a:ext cx="995511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34" b="1" i="0" u="none">
                <a:solidFill>
                  <a:srgbClr val="2D1F1F"/>
                </a:solidFill>
                <a:latin typeface="Source Serif Pro"/>
              </a:rPr>
              <a:t>Rae Okonkwo</a:t>
            </a:r>
          </a:p>
        </p:txBody>
      </p:sp>
      <p:sp>
        <p:nvSpPr>
          <p:cNvPr id="16" name="Oval 15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3681561" y="4976812"/>
            <a:ext cx="26122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7A6A6A"/>
                </a:solidFill>
                <a:latin typeface="Inter"/>
              </a:rPr>
              <a:t>Studio lead, Two Pines · using us since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257925"/>
            <a:ext cx="119166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Conversation no. 09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0" y="1524000"/>
            <a:ext cx="4191000" cy="4191000"/>
          </a:xfrm>
          <a:prstGeom prst="ellipse">
            <a:avLst/>
          </a:prstGeom>
          <a:solidFill>
            <a:srgbClr val="F7B2A2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7620000" y="1905000"/>
            <a:ext cx="3714750" cy="3409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6154" y="0"/>
                </a:moveTo>
                <a:cubicBezTo>
                  <a:pt x="79487" y="0"/>
                  <a:pt x="100000" y="26816"/>
                  <a:pt x="97436" y="51397"/>
                </a:cubicBezTo>
                <a:cubicBezTo>
                  <a:pt x="94872" y="75978"/>
                  <a:pt x="71795" y="100000"/>
                  <a:pt x="46154" y="98324"/>
                </a:cubicBezTo>
                <a:cubicBezTo>
                  <a:pt x="20513" y="96648"/>
                  <a:pt x="0" y="75419"/>
                  <a:pt x="513" y="50279"/>
                </a:cubicBezTo>
                <a:cubicBezTo>
                  <a:pt x="1026" y="25140"/>
                  <a:pt x="17436" y="0"/>
                  <a:pt x="46154" y="0"/>
                </a:cubicBezTo>
                <a:close/>
              </a:path>
            </a:pathLst>
          </a:custGeom>
          <a:noFill/>
          <a:ln w="13335">
            <a:solidFill>
              <a:srgbClr val="E76F51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0" y="571500"/>
            <a:ext cx="2095500" cy="1866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7273" y="10204"/>
                </a:moveTo>
                <a:cubicBezTo>
                  <a:pt x="59091" y="0"/>
                  <a:pt x="90909" y="20408"/>
                  <a:pt x="95455" y="51020"/>
                </a:cubicBezTo>
                <a:cubicBezTo>
                  <a:pt x="100000" y="81633"/>
                  <a:pt x="72727" y="100000"/>
                  <a:pt x="45455" y="94898"/>
                </a:cubicBezTo>
                <a:cubicBezTo>
                  <a:pt x="18182" y="89796"/>
                  <a:pt x="0" y="69388"/>
                  <a:pt x="3636" y="42857"/>
                </a:cubicBezTo>
                <a:cubicBezTo>
                  <a:pt x="6364" y="25510"/>
                  <a:pt x="13636" y="14286"/>
                  <a:pt x="27273" y="1020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000250" y="485775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105650" y="5810250"/>
            <a:ext cx="266700" cy="266700"/>
          </a:xfrm>
          <a:prstGeom prst="ellipse">
            <a:avLst/>
          </a:prstGeom>
          <a:solidFill>
            <a:srgbClr val="E9C46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1049000" y="5905500"/>
            <a:ext cx="381000" cy="381000"/>
          </a:xfrm>
          <a:prstGeom prst="ellipse">
            <a:avLst/>
          </a:prstGeom>
          <a:solidFill>
            <a:srgbClr val="9C89B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371600" y="3943350"/>
            <a:ext cx="30099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30380" y="0"/>
                  <a:pt x="68354" y="100000"/>
                  <a:pt x="100000" y="25000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333500" y="5600700"/>
            <a:ext cx="3810000" cy="2286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5000" y="16667"/>
                  <a:pt x="30000" y="100000"/>
                  <a:pt x="50000" y="50000"/>
                </a:cubicBezTo>
                <a:cubicBezTo>
                  <a:pt x="70000" y="0"/>
                  <a:pt x="850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895600" y="4362450"/>
            <a:ext cx="95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5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9144000" y="3238500"/>
            <a:ext cx="8001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524" y="0"/>
                </a:moveTo>
                <a:cubicBezTo>
                  <a:pt x="23810" y="0"/>
                  <a:pt x="0" y="40000"/>
                  <a:pt x="23810" y="70000"/>
                </a:cubicBezTo>
                <a:cubicBezTo>
                  <a:pt x="47619" y="100000"/>
                  <a:pt x="95238" y="90000"/>
                  <a:pt x="100000" y="50000"/>
                </a:cubicBezTo>
                <a:cubicBezTo>
                  <a:pt x="69048" y="55000"/>
                  <a:pt x="52381" y="32500"/>
                  <a:pt x="59524" y="0"/>
                </a:cubicBezTo>
                <a:close/>
              </a:path>
            </a:pathLst>
          </a:custGeom>
          <a:solidFill>
            <a:srgbClr val="FEF6E8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 fontScale="57476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87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82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3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1143000" y="3238500"/>
            <a:ext cx="2800350" cy="2819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408" y="13514"/>
                </a:moveTo>
                <a:cubicBezTo>
                  <a:pt x="51020" y="0"/>
                  <a:pt x="85034" y="13514"/>
                  <a:pt x="92517" y="40541"/>
                </a:cubicBezTo>
                <a:cubicBezTo>
                  <a:pt x="100000" y="67568"/>
                  <a:pt x="78231" y="91892"/>
                  <a:pt x="51020" y="95946"/>
                </a:cubicBezTo>
                <a:cubicBezTo>
                  <a:pt x="23810" y="100000"/>
                  <a:pt x="0" y="81081"/>
                  <a:pt x="680" y="55405"/>
                </a:cubicBezTo>
                <a:cubicBezTo>
                  <a:pt x="1361" y="40541"/>
                  <a:pt x="6803" y="23649"/>
                  <a:pt x="20408" y="1351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334500" y="-400050"/>
            <a:ext cx="3048000" cy="3219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250" y="592"/>
                </a:moveTo>
                <a:cubicBezTo>
                  <a:pt x="62500" y="6509"/>
                  <a:pt x="93750" y="30178"/>
                  <a:pt x="96875" y="56805"/>
                </a:cubicBezTo>
                <a:cubicBezTo>
                  <a:pt x="100000" y="83432"/>
                  <a:pt x="75000" y="100000"/>
                  <a:pt x="50000" y="95266"/>
                </a:cubicBezTo>
                <a:cubicBezTo>
                  <a:pt x="25000" y="90533"/>
                  <a:pt x="6250" y="77515"/>
                  <a:pt x="3125" y="58580"/>
                </a:cubicBezTo>
                <a:cubicBezTo>
                  <a:pt x="0" y="39645"/>
                  <a:pt x="9375" y="21893"/>
                  <a:pt x="18750" y="14793"/>
                </a:cubicBezTo>
                <a:cubicBezTo>
                  <a:pt x="23750" y="11243"/>
                  <a:pt x="26875" y="0"/>
                  <a:pt x="31250" y="592"/>
                </a:cubicBezTo>
                <a:close/>
              </a:path>
            </a:pathLst>
          </a:custGeom>
          <a:solidFill>
            <a:srgbClr val="E9C46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9715500" y="5524500"/>
            <a:ext cx="22860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2500"/>
                </a:moveTo>
                <a:cubicBezTo>
                  <a:pt x="66667" y="0"/>
                  <a:pt x="100000" y="25000"/>
                  <a:pt x="100000" y="62500"/>
                </a:cubicBezTo>
                <a:cubicBezTo>
                  <a:pt x="100000" y="100000"/>
                  <a:pt x="66667" y="100000"/>
                  <a:pt x="33333" y="87500"/>
                </a:cubicBezTo>
                <a:cubicBezTo>
                  <a:pt x="0" y="75000"/>
                  <a:pt x="0" y="25000"/>
                  <a:pt x="33333" y="12500"/>
                </a:cubicBezTo>
                <a:close/>
              </a:path>
            </a:pathLst>
          </a:cu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62550" y="1295400"/>
            <a:ext cx="190500" cy="190500"/>
          </a:xfrm>
          <a:prstGeom prst="ellipse">
            <a:avLst/>
          </a:prstGeom>
          <a:solidFill>
            <a:srgbClr val="E76F5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162550" y="2228850"/>
            <a:ext cx="190500" cy="190500"/>
          </a:xfrm>
          <a:prstGeom prst="ellipse">
            <a:avLst/>
          </a:prstGeom>
          <a:solidFill>
            <a:srgbClr val="F4A26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62550" y="316230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162550" y="4095750"/>
            <a:ext cx="190500" cy="190500"/>
          </a:xfrm>
          <a:prstGeom prst="ellipse">
            <a:avLst/>
          </a:prstGeom>
          <a:solidFill>
            <a:srgbClr val="A78BF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162550" y="5029200"/>
            <a:ext cx="190500" cy="190500"/>
          </a:xfrm>
          <a:prstGeom prst="ellipse">
            <a:avLst/>
          </a:prstGeom>
          <a:solidFill>
            <a:srgbClr val="E9C46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914400" y="1790700"/>
            <a:ext cx="30861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099" y="0"/>
                  <a:pt x="69136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714500" y="2762250"/>
            <a:ext cx="723900" cy="781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316" y="12195"/>
                </a:moveTo>
                <a:cubicBezTo>
                  <a:pt x="65789" y="0"/>
                  <a:pt x="100000" y="24390"/>
                  <a:pt x="92105" y="60976"/>
                </a:cubicBezTo>
                <a:cubicBezTo>
                  <a:pt x="84211" y="97561"/>
                  <a:pt x="26316" y="100000"/>
                  <a:pt x="10526" y="70732"/>
                </a:cubicBezTo>
                <a:cubicBezTo>
                  <a:pt x="0" y="51220"/>
                  <a:pt x="5263" y="21951"/>
                  <a:pt x="26316" y="12195"/>
                </a:cubicBezTo>
                <a:close/>
              </a:path>
            </a:pathLst>
          </a:custGeom>
          <a:noFill/>
          <a:ln w="14288">
            <a:solidFill>
              <a:srgbClr val="264653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4400" y="3829050"/>
            <a:ext cx="25146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6667" y="10000"/>
                  <a:pt x="33333" y="100000"/>
                  <a:pt x="50000" y="50000"/>
                </a:cubicBezTo>
                <a:cubicBezTo>
                  <a:pt x="66667" y="0"/>
                  <a:pt x="81818" y="100000"/>
                  <a:pt x="100000" y="50000"/>
                </a:cubicBezTo>
              </a:path>
            </a:pathLst>
          </a:custGeom>
          <a:noFill/>
          <a:ln w="12382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4229100"/>
            <a:ext cx="438150" cy="323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7059"/>
                </a:moveTo>
                <a:cubicBezTo>
                  <a:pt x="30435" y="0"/>
                  <a:pt x="78261" y="0"/>
                  <a:pt x="100000" y="41176"/>
                </a:cubicBezTo>
                <a:cubicBezTo>
                  <a:pt x="73913" y="82353"/>
                  <a:pt x="30435" y="100000"/>
                  <a:pt x="0" y="47059"/>
                </a:cubicBezTo>
                <a:close/>
              </a:path>
            </a:pathLst>
          </a:custGeom>
          <a:noFill/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4305300"/>
            <a:ext cx="4000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333" y="50000"/>
                  <a:pt x="66667" y="0"/>
                  <a:pt x="100000" y="75000"/>
                </a:cubicBezTo>
              </a:path>
            </a:pathLst>
          </a:custGeom>
          <a:noFill/>
          <a:ln w="1047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4991100" y="1143000"/>
            <a:ext cx="114300" cy="438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0435"/>
                  <a:pt x="0" y="65217"/>
                  <a:pt x="66667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312664"/>
            <a:ext cx="4076551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966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2966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2966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1028700"/>
            <a:ext cx="1404045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10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310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31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8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4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6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9300" y="3124051"/>
            <a:ext cx="1366986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33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333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333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44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1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 fontScale="64647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1700"/>
            <a:ext cx="262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3" name="Oval 22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5" name="Oval 24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7" name="Oval 26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9" name="Oval 28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1" name="Oval 30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3" name="Oval 32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5" name="Oval 34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7" name="Oval 36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9" name="Oval 38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1" name="Oval 40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3" name="Oval 42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2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3511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6369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39226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10500" y="42084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4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85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97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742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571750"/>
            <a:ext cx="85025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4205" y="2571750"/>
            <a:ext cx="72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5768" y="2571750"/>
            <a:ext cx="86975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419" y="2571750"/>
            <a:ext cx="85263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3955" y="2571750"/>
            <a:ext cx="26431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847975"/>
            <a:ext cx="13607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8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28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495675"/>
            <a:ext cx="16903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43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43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4143375"/>
            <a:ext cx="180885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9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59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791075"/>
            <a:ext cx="72955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4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4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2475" y="5991225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7769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859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6093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31629"/>
            <a:ext cx="1031081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1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51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2833092"/>
            <a:ext cx="363736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51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51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833092"/>
            <a:ext cx="43472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1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1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1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51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982045"/>
            <a:ext cx="353764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6241852"/>
            <a:ext cx="1222921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845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57775" y="6241852"/>
            <a:ext cx="335607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7710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6425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7590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76475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5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5741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66950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719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859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1970782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963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42543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5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33018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719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859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0495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05486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5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39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595961"/>
            <a:ext cx="54203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51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037904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232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68429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5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74122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6132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6505873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5758904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719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859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111329"/>
            <a:ext cx="1991320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6285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848475"/>
            <a:ext cx="396478" cy="95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275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480864" cy="95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719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859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05620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82133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965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5408" y="2490788"/>
            <a:ext cx="4472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9337" y="2490788"/>
            <a:ext cx="4234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8503" y="2490788"/>
            <a:ext cx="5686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5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25218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804571"/>
            <a:ext cx="2908846" cy="53429"/>
          </a:xfrm>
          <a:prstGeom prst="rect">
            <a:avLst/>
          </a:prstGeom>
          <a:noFill/>
        </p:spPr>
        <p:txBody>
          <a:bodyPr wrap="square" lIns="0" rIns="0" tIns="0" bIns="0">
            <a:normAutofit fontScale="5735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206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400175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90975"/>
            <a:ext cx="3100983" cy="5200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7110"/>
            <a:ext cx="26265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69918"/>
            <a:ext cx="22391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9437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47775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30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0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1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0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9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28407"/>
            <a:ext cx="46047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17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5985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2876" y="2152650"/>
            <a:ext cx="447824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22086" y="2601813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5571" y="2606576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1244" y="31399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6109" y="3144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2086" y="3616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16109" y="3620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51244" y="40924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16109" y="40972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22086" y="45687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6109" y="45734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22086" y="50449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16109" y="5049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22086" y="5521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16109" y="5525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22086" y="59974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5571" y="600223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25807" y="6473726"/>
            <a:ext cx="3754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95571" y="647848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22086" y="6848475"/>
            <a:ext cx="37921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16109" y="6848475"/>
            <a:ext cx="5662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TextBox 105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61364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55287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56363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59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87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77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00175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800" y="4542383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2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429250"/>
            <a:ext cx="5185767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429250"/>
            <a:ext cx="5254972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1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 fontScale="55442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11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6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62050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19630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15869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12573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19222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457200"/>
            <a:ext cx="5086350" cy="2905125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457200"/>
            <a:ext cx="2476500" cy="2905125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3495675"/>
            <a:ext cx="2476500" cy="2905125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3495675"/>
            <a:ext cx="2476500" cy="2905125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3495675"/>
            <a:ext cx="2476500" cy="1385888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5014912"/>
            <a:ext cx="2476500" cy="138588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076450"/>
            <a:ext cx="5596533" cy="303043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4590" y="4623495"/>
            <a:ext cx="1135410" cy="9620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5846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5846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