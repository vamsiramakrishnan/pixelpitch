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  <p:embeddedFont>
      <p:font typeface="Source Serif Pro" panose="02040603050405020304" charset="0"/>
      <p:regular r:id="rIdSlidifyFont5"/>
      <p:bold r:id="rIdSlidifyFont6"/>
      <p:italic r:id="rIdSlidifyFont7"/>
      <p:boldItalic r:id="rIdSlidifyFont8"/>
    </p:embeddedFont>
    <p:embeddedFont>
      <p:font typeface="IBM Plex Mono" panose="020B0609040504020204" charset="0"/>
      <p:regular r:id="rIdSlidifyFont9"/>
      <p:bold r:id="rIdSlidifyFont10"/>
    </p:embeddedFont>
    <p:embeddedFont>
      <p:font typeface="SF Pro Display" panose="020B0604020202020204" charset="0"/>
      <p:regular r:id="rIdSlidifyFont11"/>
      <p:bold r:id="rIdSlidifyFont12"/>
    </p:embeddedFont>
    <p:embeddedFont>
      <p:font typeface="SF Mono" panose="020B0609040504020204" charset="0"/>
      <p:regular r:id="rIdSlidifyFont13"/>
      <p:bold r:id="rIdSlidifyFont14"/>
    </p:embeddedFont>
    <p:embeddedFont>
      <p:font typeface="New York" panose="020B0604020202020204" charset="0"/>
      <p:regular r:id="rIdSlidifyFont15"/>
      <p:bold r:id="rIdSlidifyFont16"/>
      <p:boldItalic r:id="rIdSlidifyFont17"/>
    </p:embeddedFont>
    <p:embeddedFont>
      <p:font typeface="JetBrains Mono" panose="020B0609040504020204" charset="0"/>
      <p:regular r:id="rIdSlidifyFont18"/>
      <p:bold r:id="rIdSlidifyFont19"/>
    </p:embeddedFont>
    <p:embeddedFont>
      <p:font typeface="Tiempos Headline" panose="02040603050405020304" charset="0"/>
      <p:regular r:id="rIdSlidifyFont20"/>
      <p:bold r:id="rIdSlidifyFont21"/>
      <p:italic r:id="rIdSlidifyFont22"/>
      <p:boldItalic r:id="rIdSlidifyFont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Relationship Id="rIdSlidifyFont21" Type="http://schemas.openxmlformats.org/officeDocument/2006/relationships/font" Target="fonts/font21.fntdata"/><Relationship Id="rIdSlidifyFont22" Type="http://schemas.openxmlformats.org/officeDocument/2006/relationships/font" Target="fonts/font22.fntdata"/><Relationship Id="rIdSlidifyFont23" Type="http://schemas.openxmlformats.org/officeDocument/2006/relationships/font" Target="fonts/font2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The State of the Union · Economy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704850"/>
            <a:ext cx="60960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8382000" cy="1200150"/>
          </a:xfrm>
          <a:prstGeom prst="rect">
            <a:avLst/>
          </a:prstGeom>
          <a:noFill/>
        </p:spPr>
        <p:txBody>
          <a:bodyPr wrap="square" lIns="0" rIns="0" tIns="0" bIns="0">
            <a:normAutofit fontScale="70976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Wages climbed, then prices climbed 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228850"/>
            <a:ext cx="742950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8423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>Real median household income outran inflation for most of two decades. After 2021 the lines crossed, and households felt it before the data confirmed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950666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Updated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838450"/>
            <a:ext cx="1924943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788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Median wage, indexed (1994 = 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4143" y="2838450"/>
            <a:ext cx="1403300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4055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CPI, all items (1994 = 100)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3352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6800" y="3924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6800" y="4495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66800" y="5067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6800" y="5638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066800" y="3486150"/>
            <a:ext cx="7086600" cy="2152650"/>
          </a:xfrm>
          <a:custGeom>
            <a:avLst/>
            <a:gdLst/>
            <a:ahLst/>
            <a:cxnLst/>
            <a:rect l="l" t="t" r="r" b="b"/>
            <a:pathLst>
              <a:path w="7086600" h="2152650">
                <a:moveTo>
                  <a:pt x="0" y="2152650"/>
                </a:moveTo>
                <a:lnTo>
                  <a:pt x="590550" y="2057400"/>
                </a:lnTo>
                <a:close/>
                <a:lnTo>
                  <a:pt x="1181100" y="1885950"/>
                </a:lnTo>
                <a:close/>
                <a:lnTo>
                  <a:pt x="1771650" y="1790700"/>
                </a:lnTo>
                <a:close/>
                <a:lnTo>
                  <a:pt x="2362200" y="1714500"/>
                </a:lnTo>
                <a:close/>
                <a:lnTo>
                  <a:pt x="2952750" y="1543050"/>
                </a:lnTo>
                <a:close/>
                <a:lnTo>
                  <a:pt x="3543300" y="1371600"/>
                </a:lnTo>
                <a:close/>
                <a:lnTo>
                  <a:pt x="4133850" y="1181100"/>
                </a:lnTo>
                <a:close/>
                <a:lnTo>
                  <a:pt x="4724400" y="1009650"/>
                </a:lnTo>
                <a:close/>
                <a:lnTo>
                  <a:pt x="5314950" y="800100"/>
                </a:lnTo>
                <a:close/>
                <a:lnTo>
                  <a:pt x="5905500" y="438150"/>
                </a:lnTo>
                <a:close/>
                <a:lnTo>
                  <a:pt x="6496050" y="171450"/>
                </a:lnTo>
                <a:close/>
                <a:lnTo>
                  <a:pt x="7086600" y="0"/>
                </a:lnTo>
                <a:close/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66800" y="3429000"/>
            <a:ext cx="7086600" cy="2209800"/>
          </a:xfrm>
          <a:custGeom>
            <a:avLst/>
            <a:gdLst/>
            <a:ahLst/>
            <a:cxnLst/>
            <a:rect l="l" t="t" r="r" b="b"/>
            <a:pathLst>
              <a:path w="7086600" h="2209800">
                <a:moveTo>
                  <a:pt x="0" y="2209800"/>
                </a:moveTo>
                <a:lnTo>
                  <a:pt x="590550" y="2133600"/>
                </a:lnTo>
                <a:close/>
                <a:lnTo>
                  <a:pt x="1181100" y="2038350"/>
                </a:lnTo>
                <a:close/>
                <a:lnTo>
                  <a:pt x="1771650" y="1962150"/>
                </a:lnTo>
                <a:close/>
                <a:lnTo>
                  <a:pt x="2362200" y="1847850"/>
                </a:lnTo>
                <a:close/>
                <a:lnTo>
                  <a:pt x="2952750" y="1733550"/>
                </a:lnTo>
                <a:close/>
                <a:lnTo>
                  <a:pt x="3543300" y="1600200"/>
                </a:lnTo>
                <a:close/>
                <a:lnTo>
                  <a:pt x="4133850" y="1447800"/>
                </a:lnTo>
                <a:close/>
                <a:lnTo>
                  <a:pt x="4724400" y="1276350"/>
                </a:lnTo>
                <a:close/>
                <a:lnTo>
                  <a:pt x="5314950" y="1066800"/>
                </a:lnTo>
                <a:close/>
                <a:lnTo>
                  <a:pt x="5905500" y="666750"/>
                </a:lnTo>
                <a:close/>
                <a:lnTo>
                  <a:pt x="6496050" y="304800"/>
                </a:lnTo>
                <a:close/>
                <a:lnTo>
                  <a:pt x="7086600" y="0"/>
                </a:lnTo>
                <a:close/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6943725" y="3895725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943725" y="4067175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8120062" y="3452812"/>
            <a:ext cx="66675" cy="6667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20062" y="3395662"/>
            <a:ext cx="66675" cy="6667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or 20"/>
          <p:cNvCxnSpPr/>
          <p:nvPr/>
        </p:nvCxnSpPr>
        <p:spPr>
          <a:xfrm>
            <a:off x="6972300" y="3924300"/>
            <a:ext cx="0" cy="1714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6248400" y="3543300"/>
            <a:ext cx="723900" cy="3810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29150" y="3352800"/>
            <a:ext cx="1619250" cy="342900"/>
          </a:xfrm>
          <a:prstGeom prst="rect">
            <a:avLst/>
          </a:prstGeom>
          <a:noFill/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8801100" y="1752600"/>
            <a:ext cx="28575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Inflection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2066925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2001 · Dot-com bust. Wages stall for 18 months while CPI keeps a 2.4% trend.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256014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2008 · Financial crisis. First period since 1994 where real wages decline two years running.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1100" y="3053358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2015 · Recovery gap. CPI lulls below 1.5%; wage index reopens its lead.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1100" y="3546574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2021 · The crossover. Pandemic shock, supply chains, energy spike — CPI overtakes wages.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1100" y="403979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2024 · Now. Wage index 192; CPI 198. The 6-point gap is what households call "still behind."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77000"/>
            <a:ext cx="3687514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75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BLS CPI-U series and Census ASEC, 1994–2024 · The Times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Public Finance · Two-up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600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A1A1A"/>
                </a:solidFill>
                <a:latin typeface="Source Serif Pro"/>
              </a:rPr>
              <a:t>The federal deficit,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312515"/>
            <a:ext cx="9805541" cy="431899"/>
          </a:xfrm>
          <a:prstGeom prst="rect">
            <a:avLst/>
          </a:prstGeom>
          <a:noFill/>
        </p:spPr>
        <p:txBody>
          <a:bodyPr wrap="square" lIns="0" rIns="0" tIns="0" bIns="0">
            <a:normAutofit fontScale="74638" lnSpcReduction="0"/>
          </a:bodyPr>
          <a:lstStyle/>
          <a:p>
            <a:pPr algn="l"/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In raw dollars the deficit looks unprecedented. As a share of GDP it has been here before — </a:t>
            </a:r>
            <a:r>
              <a:rPr sz="1275" b="0" i="1" u="none">
                <a:solidFill>
                  <a:srgbClr val="1A1A1A"/>
                </a:solidFill>
                <a:latin typeface="Source Serif Pro"/>
              </a:rPr>
              <a:t>twice in the last forty years</a:t>
            </a:r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. </a:t>
            </a:r>
            <a:r>
              <a:rPr sz="1275" b="1" i="0" u="none">
                <a:solidFill>
                  <a:srgbClr val="1A1A1A"/>
                </a:solidFill>
                <a:latin typeface="Source Serif Pro"/>
              </a:rPr>
              <a:t>Same metric, two scales, two different stories.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 · Nominal dollars (USD trillions)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319189"/>
            <a:ext cx="5012085" cy="55245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headline number. Each bar is one fiscal year's deficit, not adjusted for inflation or population. The 2020 spike is COVID relief; the 2024 figure of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$1.83T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is the second-largest on record.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95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9670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538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5110014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066800" y="4976664"/>
            <a:ext cx="304800" cy="133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485900" y="4919514"/>
            <a:ext cx="304800" cy="1905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905000" y="4824264"/>
            <a:ext cx="304800" cy="2857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324100" y="4633764"/>
            <a:ext cx="304800" cy="476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743200" y="4405164"/>
            <a:ext cx="304800" cy="7048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62300" y="4709964"/>
            <a:ext cx="304800" cy="400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581400" y="4595664"/>
            <a:ext cx="304800" cy="514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000500" y="3547914"/>
            <a:ext cx="304800" cy="15621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419600" y="4119414"/>
            <a:ext cx="304800" cy="990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838700" y="4500414"/>
            <a:ext cx="304800" cy="609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257800" y="3967014"/>
            <a:ext cx="304800" cy="11430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33400" y="5795814"/>
            <a:ext cx="3224808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3903" lnSpcReduction="0"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All bars in current dollars.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2020 figure is the COVID-19 fiscal response.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B · Share of GDP (%)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5100" y="2319189"/>
            <a:ext cx="4881116" cy="56197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economist's number. Same eleven years, same deficits — but now sized against the economy that produced them. The picture flattens.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2024 = 6.3%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of GDP, well below the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14.7%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peak of 2020 and roughly equal to 1983.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96100" y="3405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96100" y="39765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96100" y="4548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96100" y="5119539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/>
          <p:cNvSpPr/>
          <p:nvPr/>
        </p:nvSpPr>
        <p:spPr>
          <a:xfrm>
            <a:off x="7200900" y="3462189"/>
            <a:ext cx="4191000" cy="1276350"/>
          </a:xfrm>
          <a:custGeom>
            <a:avLst/>
            <a:gdLst/>
            <a:ahLst/>
            <a:cxnLst/>
            <a:rect l="l" t="t" r="r" b="b"/>
            <a:pathLst>
              <a:path w="4191000" h="1276350">
                <a:moveTo>
                  <a:pt x="0" y="1276350"/>
                </a:moveTo>
                <a:lnTo>
                  <a:pt x="419100" y="1257300"/>
                </a:lnTo>
                <a:close/>
                <a:lnTo>
                  <a:pt x="838200" y="1181100"/>
                </a:lnTo>
                <a:close/>
                <a:lnTo>
                  <a:pt x="1257300" y="990600"/>
                </a:lnTo>
                <a:close/>
                <a:lnTo>
                  <a:pt x="1676400" y="781050"/>
                </a:lnTo>
                <a:close/>
                <a:lnTo>
                  <a:pt x="2095500" y="1085850"/>
                </a:lnTo>
                <a:close/>
                <a:lnTo>
                  <a:pt x="2514600" y="971550"/>
                </a:lnTo>
                <a:close/>
                <a:lnTo>
                  <a:pt x="2933700" y="0"/>
                </a:lnTo>
                <a:close/>
                <a:lnTo>
                  <a:pt x="3352800" y="323850"/>
                </a:lnTo>
                <a:close/>
                <a:lnTo>
                  <a:pt x="3771900" y="1085850"/>
                </a:lnTo>
                <a:close/>
                <a:lnTo>
                  <a:pt x="4191000" y="933450"/>
                </a:lnTo>
                <a:close/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172325" y="47099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7591425" y="46909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010525" y="46147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8429625" y="44242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848725" y="42146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92678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9686925" y="44051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10096500" y="3424089"/>
            <a:ext cx="76200" cy="762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0525125" y="3757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09442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353800" y="4357539"/>
            <a:ext cx="76200" cy="7620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 41"/>
          <p:cNvCxnSpPr/>
          <p:nvPr/>
        </p:nvCxnSpPr>
        <p:spPr>
          <a:xfrm>
            <a:off x="6896100" y="4433739"/>
            <a:ext cx="4953000" cy="0"/>
          </a:xfrm>
          <a:prstGeom prst="line">
            <a:avLst/>
          </a:prstGeom>
          <a:ln w="9525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9563100" y="3214539"/>
            <a:ext cx="571500" cy="2476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15100" y="5805339"/>
            <a:ext cx="2112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0639" lnSpcReduction="0"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Same eleven years.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crisis collapses to a pulse.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" y="6515100"/>
            <a:ext cx="3600301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325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CBO Historical Budget Data, FY 2014–2024 · BEA national accounts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Housing · Small multiples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Six cities, one shared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73373"/>
            <a:ext cx="9221986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71481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Median monthly rent for a one-bedroom, indexed to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January 2019 = 100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. Same scale, same window, six different answers. Boise looks like a different country than Pittsburgh.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850529"/>
            <a:ext cx="129465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996" lnSpcReduction="0"/>
          </a:bodyPr>
          <a:lstStyle/>
          <a:p>
            <a:pPr algn="l"/>
            <a:r>
              <a:rPr sz="825" b="0" i="0" u="none">
                <a:solidFill>
                  <a:srgbClr val="1A1A1A"/>
                </a:solidFill>
                <a:latin typeface="Inter"/>
              </a:rPr>
              <a:t>Median 1BR rent (indexed)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1456" y="1860054"/>
            <a:ext cx="148203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6997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Y-AXIS · 80 → 200 (every cell)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8286" y="1860054"/>
            <a:ext cx="148396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516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X-AXIS · Jan 2019 → Jan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6849" y="1860054"/>
            <a:ext cx="2101751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814" lnSpcReduction="0"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Each tick on the y-axis represents 30 index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Boise,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178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+78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39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39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39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39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723900" y="2869704"/>
            <a:ext cx="3333750" cy="952500"/>
          </a:xfrm>
          <a:custGeom>
            <a:avLst/>
            <a:gdLst/>
            <a:ahLst/>
            <a:cxnLst/>
            <a:rect l="l" t="t" r="r" b="b"/>
            <a:pathLst>
              <a:path w="3333750" h="952500">
                <a:moveTo>
                  <a:pt x="0" y="952500"/>
                </a:moveTo>
                <a:lnTo>
                  <a:pt x="552450" y="895350"/>
                </a:lnTo>
                <a:close/>
                <a:lnTo>
                  <a:pt x="1104900" y="742950"/>
                </a:lnTo>
                <a:close/>
                <a:lnTo>
                  <a:pt x="1657350" y="400050"/>
                </a:lnTo>
                <a:close/>
                <a:lnTo>
                  <a:pt x="2209800" y="114300"/>
                </a:lnTo>
                <a:close/>
                <a:lnTo>
                  <a:pt x="2762250" y="0"/>
                </a:lnTo>
                <a:close/>
                <a:lnTo>
                  <a:pt x="3333750" y="5715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4029075" y="28982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2933700" y="2984004"/>
            <a:ext cx="0" cy="83820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815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Phoenix, AZ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15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156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+56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720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720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720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4572000" y="3117354"/>
            <a:ext cx="3333750" cy="704850"/>
          </a:xfrm>
          <a:custGeom>
            <a:avLst/>
            <a:gdLst/>
            <a:ahLst/>
            <a:cxnLst/>
            <a:rect l="l" t="t" r="r" b="b"/>
            <a:pathLst>
              <a:path w="3333750" h="704850">
                <a:moveTo>
                  <a:pt x="0" y="704850"/>
                </a:moveTo>
                <a:lnTo>
                  <a:pt x="552450" y="628650"/>
                </a:lnTo>
                <a:close/>
                <a:lnTo>
                  <a:pt x="1104900" y="438150"/>
                </a:lnTo>
                <a:close/>
                <a:lnTo>
                  <a:pt x="1657350" y="190500"/>
                </a:lnTo>
                <a:close/>
                <a:lnTo>
                  <a:pt x="2209800" y="57150"/>
                </a:lnTo>
                <a:close/>
                <a:lnTo>
                  <a:pt x="2762250" y="1905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7877175" y="30887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82296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Austin, 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142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+42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201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4201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201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4201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8420100" y="3060204"/>
            <a:ext cx="3333750" cy="762000"/>
          </a:xfrm>
          <a:custGeom>
            <a:avLst/>
            <a:gdLst/>
            <a:ahLst/>
            <a:cxnLst/>
            <a:rect l="l" t="t" r="r" b="b"/>
            <a:pathLst>
              <a:path w="3333750" h="762000">
                <a:moveTo>
                  <a:pt x="0" y="762000"/>
                </a:moveTo>
                <a:lnTo>
                  <a:pt x="552450" y="647700"/>
                </a:lnTo>
                <a:close/>
                <a:lnTo>
                  <a:pt x="1104900" y="361950"/>
                </a:lnTo>
                <a:close/>
                <a:lnTo>
                  <a:pt x="1657350" y="0"/>
                </a:lnTo>
                <a:close/>
                <a:lnTo>
                  <a:pt x="2209800" y="114300"/>
                </a:lnTo>
                <a:close/>
                <a:lnTo>
                  <a:pt x="2762250" y="209550"/>
                </a:lnTo>
                <a:close/>
                <a:lnTo>
                  <a:pt x="3333750" y="26670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1725275" y="3298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334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Chicago, 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" y="46127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118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+18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239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239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239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239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723900" y="5765304"/>
            <a:ext cx="3333750" cy="304800"/>
          </a:xfrm>
          <a:custGeom>
            <a:avLst/>
            <a:gdLst/>
            <a:ahLst/>
            <a:cxnLst/>
            <a:rect l="l" t="t" r="r" b="b"/>
            <a:pathLst>
              <a:path w="3333750" h="304800">
                <a:moveTo>
                  <a:pt x="0" y="304800"/>
                </a:moveTo>
                <a:lnTo>
                  <a:pt x="552450" y="285750"/>
                </a:lnTo>
                <a:close/>
                <a:lnTo>
                  <a:pt x="1104900" y="190500"/>
                </a:lnTo>
                <a:close/>
                <a:lnTo>
                  <a:pt x="1657350" y="95250"/>
                </a:lnTo>
                <a:close/>
                <a:lnTo>
                  <a:pt x="2209800" y="38100"/>
                </a:lnTo>
                <a:close/>
                <a:lnTo>
                  <a:pt x="2762250" y="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29075" y="57367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43815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San Francisco, 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1500" y="4612779"/>
            <a:ext cx="157132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96</a:t>
            </a:r>
            <a:r>
              <a:rPr sz="825" b="1" i="0" u="none">
                <a:solidFill>
                  <a:srgbClr val="1E5F8C"/>
                </a:solidFill>
                <a:latin typeface="Consolas"/>
              </a:rPr>
              <a:t xml:space="preserve"> −4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5720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5720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5720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572000" y="5993904"/>
            <a:ext cx="3333750" cy="152400"/>
          </a:xfrm>
          <a:custGeom>
            <a:avLst/>
            <a:gdLst/>
            <a:ahLst/>
            <a:cxnLst/>
            <a:rect l="l" t="t" r="r" b="b"/>
            <a:pathLst>
              <a:path w="3333750" h="152400">
                <a:moveTo>
                  <a:pt x="0" y="76200"/>
                </a:moveTo>
                <a:lnTo>
                  <a:pt x="552450" y="114300"/>
                </a:lnTo>
                <a:close/>
                <a:lnTo>
                  <a:pt x="1104900" y="152400"/>
                </a:lnTo>
                <a:close/>
                <a:lnTo>
                  <a:pt x="1657350" y="95250"/>
                </a:lnTo>
                <a:close/>
                <a:lnTo>
                  <a:pt x="2209800" y="57150"/>
                </a:lnTo>
                <a:close/>
                <a:lnTo>
                  <a:pt x="2762250" y="1905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7877175" y="5965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82296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Pittsburgh, PA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612779"/>
            <a:ext cx="163443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4201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4201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4201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4201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8420100" y="5841504"/>
            <a:ext cx="3333750" cy="228600"/>
          </a:xfrm>
          <a:custGeom>
            <a:avLst/>
            <a:gdLst/>
            <a:ahLst/>
            <a:cxnLst/>
            <a:rect l="l" t="t" r="r" b="b"/>
            <a:pathLst>
              <a:path w="3333750" h="228600">
                <a:moveTo>
                  <a:pt x="0" y="228600"/>
                </a:moveTo>
                <a:lnTo>
                  <a:pt x="552450" y="209550"/>
                </a:lnTo>
                <a:close/>
                <a:lnTo>
                  <a:pt x="1104900" y="171450"/>
                </a:lnTo>
                <a:close/>
                <a:lnTo>
                  <a:pt x="1657350" y="114300"/>
                </a:lnTo>
                <a:close/>
                <a:lnTo>
                  <a:pt x="2209800" y="57150"/>
                </a:lnTo>
                <a:close/>
                <a:lnTo>
                  <a:pt x="2762250" y="1905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1725275" y="58129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533400" y="6515100"/>
            <a:ext cx="3800475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40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Apartment List Rent Estimates, Jan 2019–Jan 2025 · The Times analysis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429304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7000" y="457200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Investigation ·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7000" y="666750"/>
            <a:ext cx="6858000" cy="1188541"/>
          </a:xfrm>
          <a:prstGeom prst="rect">
            <a:avLst/>
          </a:prstGeom>
          <a:noFill/>
        </p:spPr>
        <p:txBody>
          <a:bodyPr wrap="square" lIns="0" rIns="0" tIns="0" bIns="0">
            <a:normAutofit fontScale="64349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The quiet collapse of local newsrooms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98166"/>
            <a:ext cx="6471493" cy="7218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Between 2005 and 2024, the United States lost </a:t>
            </a:r>
            <a:r>
              <a:rPr sz="1350" b="0" i="1" u="none">
                <a:solidFill>
                  <a:srgbClr val="1A1A1A"/>
                </a:solidFill>
                <a:latin typeface="Source Serif Pro"/>
              </a:rPr>
              <a:t>2,886 newspapers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 — most of them weeklies in counties of fewer than 50,000 people. The closures don't just shrink coverage. They reshape </a:t>
            </a:r>
            <a:r>
              <a:rPr sz="1350" b="1" i="0" u="none">
                <a:solidFill>
                  <a:srgbClr val="1A1A1A"/>
                </a:solidFill>
                <a:latin typeface="Source Serif Pro"/>
              </a:rPr>
              <a:t>turnout, bond ratings, and trust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957066"/>
            <a:ext cx="6738045" cy="8382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pattern is geographic and it is structural. Of the 3,143 counties in the country,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206 now have no local newspaper at all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and another 1,562 have only one — typically a weekly with fewer than three full-time reporters. The losses concentrate in places already losing population, jobs, and broadband.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News deserts compound on the deserts that produced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4004816"/>
            <a:ext cx="5915025" cy="9001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Source Serif Pro"/>
              </a:rPr>
              <a:t>"The first thing that goes is the school-board meeting. The last thing that goes is the obituary page. Everything in between is what we used to call accountability."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507637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— Penelope Muse Abernathy, UNC Hussman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532402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newspapers in operation, 2005–2024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5457379"/>
            <a:ext cx="6858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A net loss of one paper every 2.6 days for nineteen years.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0" y="5876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7000" y="6257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67000" y="6638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67000" y="7019479"/>
            <a:ext cx="6858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3048000" y="5857429"/>
            <a:ext cx="6381750" cy="1143000"/>
          </a:xfrm>
          <a:custGeom>
            <a:avLst/>
            <a:gdLst/>
            <a:ahLst/>
            <a:cxnLst/>
            <a:rect l="l" t="t" r="r" b="b"/>
            <a:pathLst>
              <a:path w="6381750" h="1143000">
                <a:moveTo>
                  <a:pt x="0" y="0"/>
                </a:moveTo>
                <a:lnTo>
                  <a:pt x="381000" y="38100"/>
                </a:lnTo>
                <a:close/>
                <a:lnTo>
                  <a:pt x="762000" y="114300"/>
                </a:lnTo>
                <a:close/>
                <a:lnTo>
                  <a:pt x="1143000" y="228600"/>
                </a:lnTo>
                <a:close/>
                <a:lnTo>
                  <a:pt x="1524000" y="361950"/>
                </a:lnTo>
                <a:close/>
                <a:lnTo>
                  <a:pt x="1905000" y="476250"/>
                </a:lnTo>
                <a:close/>
                <a:lnTo>
                  <a:pt x="2286000" y="552450"/>
                </a:lnTo>
                <a:close/>
                <a:lnTo>
                  <a:pt x="2667000" y="628650"/>
                </a:lnTo>
                <a:close/>
                <a:lnTo>
                  <a:pt x="3048000" y="685800"/>
                </a:lnTo>
                <a:close/>
                <a:lnTo>
                  <a:pt x="3429000" y="742950"/>
                </a:lnTo>
                <a:close/>
                <a:lnTo>
                  <a:pt x="3810000" y="800100"/>
                </a:lnTo>
                <a:close/>
                <a:lnTo>
                  <a:pt x="4191000" y="876300"/>
                </a:lnTo>
                <a:close/>
                <a:lnTo>
                  <a:pt x="4572000" y="933450"/>
                </a:lnTo>
                <a:close/>
                <a:lnTo>
                  <a:pt x="4953000" y="990600"/>
                </a:lnTo>
                <a:close/>
                <a:lnTo>
                  <a:pt x="5334000" y="1047750"/>
                </a:lnTo>
                <a:close/>
                <a:lnTo>
                  <a:pt x="5715000" y="1085850"/>
                </a:lnTo>
                <a:close/>
                <a:lnTo>
                  <a:pt x="6096000" y="1123950"/>
                </a:lnTo>
                <a:close/>
                <a:lnTo>
                  <a:pt x="6381750" y="1143000"/>
                </a:lnTo>
                <a:close/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19425" y="5828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9401175" y="6971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048000" y="5743129"/>
            <a:ext cx="571500" cy="1143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58250" y="7000429"/>
            <a:ext cx="571500" cy="190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67000" y="6848475"/>
            <a:ext cx="679459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What replaces the local paper, when anything does, is rarely local. Roughly </a:t>
            </a:r>
            <a:r>
              <a:rPr sz="1125" b="1" i="0" u="none">
                <a:solidFill>
                  <a:srgbClr val="1A1A1A"/>
                </a:solidFill>
                <a:latin typeface="Consolas"/>
              </a:rPr>
              <a:t>63%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of news desert counties are now covered — to whatever extent they are covered — by regional digital outlets headquartered more than 100 miles away.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Nearly half of those outlets have no reporter who has ever been to the county.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67000" y="6848475"/>
            <a:ext cx="6769001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downstream signals are starting to show up in unexpected ledgers. Counties that lost their last newspaper between 2008 and 2018 paid, on average,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11 basis points more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on subsequent municipal bond issues than demographically matched peers. The cost of explaining a town to itself, it turns out, is also the cost of borrowing.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1,412 words · Reporting from Athens, Ga., Galesburg, Ill., and Bend, 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Connectivity · Block grid + ranked sidebar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7429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82184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Where broadband still doesn't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94272"/>
            <a:ext cx="7010251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Share of households without a 25/3 Mbps wired connection, by state. The map below uses a tile per state — area is uniform, color encodes the gap.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Ten states have a connectivity deficit above 18%.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7239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tile map · % households unserved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580977"/>
            <a:ext cx="7239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Each square is one state at equal weight. Darker = a larger share of households offline.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2828627"/>
            <a:ext cx="7239000" cy="3619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23305" y="3028652"/>
            <a:ext cx="1544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0235" y="3028652"/>
            <a:ext cx="164288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3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0357" y="3638252"/>
            <a:ext cx="17948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67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5510" y="3638252"/>
            <a:ext cx="16758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1137" y="3638252"/>
            <a:ext cx="15606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75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9724" y="3638252"/>
            <a:ext cx="17755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05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8969" y="3638252"/>
            <a:ext cx="138261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196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7184" y="3638252"/>
            <a:ext cx="1482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VT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21798" y="3638252"/>
            <a:ext cx="15820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3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14" y="4247852"/>
            <a:ext cx="14957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8651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0598" y="4247852"/>
            <a:ext cx="15820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13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6580" y="4247852"/>
            <a:ext cx="18544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88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6718" y="4247852"/>
            <a:ext cx="14480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0444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7751" y="4247852"/>
            <a:ext cx="15909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202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OH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8141" y="4247852"/>
            <a:ext cx="1375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8944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5881" y="4247852"/>
            <a:ext cx="14123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356" y="4247852"/>
            <a:ext cx="147489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00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602" y="4857452"/>
            <a:ext cx="15299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56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6328" y="4857452"/>
            <a:ext cx="14674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517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40123" y="4857452"/>
            <a:ext cx="15835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59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57090" y="4857452"/>
            <a:ext cx="14653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52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49278" y="4857452"/>
            <a:ext cx="17844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117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2123" y="4857452"/>
            <a:ext cx="15195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3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KY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3789" y="4857452"/>
            <a:ext cx="18782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93184" y="4857452"/>
            <a:ext cx="14823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41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90208" y="4857452"/>
            <a:ext cx="17381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973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6774" y="4857452"/>
            <a:ext cx="14234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8890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7816" y="4857452"/>
            <a:ext cx="15656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79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17743" y="4857452"/>
            <a:ext cx="17591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35732" y="5467052"/>
            <a:ext cx="14793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24" y="5467052"/>
            <a:ext cx="17755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05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57388" y="5467052"/>
            <a:ext cx="14302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027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64979" y="5467052"/>
            <a:ext cx="14704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842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3165" y="5467052"/>
            <a:ext cx="14987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55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78970" y="5467052"/>
            <a:ext cx="15746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459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94225" y="5467052"/>
            <a:ext cx="146149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284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00254" y="5467052"/>
            <a:ext cx="15329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208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DC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50840" y="6076652"/>
            <a:ext cx="15693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424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9741" y="6076652"/>
            <a:ext cx="1375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55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LA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64979" y="6076652"/>
            <a:ext cx="166241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16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8941" y="6076652"/>
            <a:ext cx="1375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55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90505" y="6076652"/>
            <a:ext cx="153591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2236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45630" y="6076652"/>
            <a:ext cx="1473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507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16603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18698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20794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22889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6819454" y="6629102"/>
            <a:ext cx="85769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23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scale: 4% → 27%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371427"/>
            <a:ext cx="34290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Top 10 · Largest connectivity gap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666702"/>
            <a:ext cx="3429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Share of state households without a 25/3 wired connection.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0048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77250" y="29905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10700" y="3028652"/>
            <a:ext cx="163830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/>
          <p:cNvSpPr txBox="1"/>
          <p:nvPr/>
        </p:nvSpPr>
        <p:spPr>
          <a:xfrm>
            <a:off x="11125200" y="30048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26.8%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32620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77250" y="32477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Arkansas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10700" y="32858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9410700" y="3285827"/>
            <a:ext cx="147444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1125200" y="32620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24.1%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35191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77250" y="35049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West Virginia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410700" y="35430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9410700" y="3543002"/>
            <a:ext cx="144169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/>
          <p:cNvSpPr txBox="1"/>
          <p:nvPr/>
        </p:nvSpPr>
        <p:spPr>
          <a:xfrm>
            <a:off x="11125200" y="35191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23.6%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37763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77250" y="37620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New Mexico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10700" y="38001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9410700" y="3800177"/>
            <a:ext cx="137606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/>
          <p:cNvSpPr txBox="1"/>
          <p:nvPr/>
        </p:nvSpPr>
        <p:spPr>
          <a:xfrm>
            <a:off x="11125200" y="37763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22.5%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0335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77250" y="40192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Alabama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10700" y="40573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9410700" y="4057352"/>
            <a:ext cx="127783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11125200" y="40335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20.9%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0" y="42907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77250" y="42764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Kentucky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410700" y="43145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9410700" y="4314527"/>
            <a:ext cx="1245096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11125200" y="42907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20.3%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0" y="45478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77250" y="45336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Montana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410700" y="45717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9410700" y="4571702"/>
            <a:ext cx="121220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11125200" y="45478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29600" y="48050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77250" y="47907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Oklahoma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410700" y="48288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9410700" y="4828877"/>
            <a:ext cx="1179463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11125200" y="48050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29600" y="50622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77250" y="50479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18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North Carolina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410700" y="50860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9410700" y="5086052"/>
            <a:ext cx="1146721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11125200" y="50622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18.7%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29600" y="53956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477250" y="5305127"/>
            <a:ext cx="857250" cy="304800"/>
          </a:xfrm>
          <a:prstGeom prst="rect">
            <a:avLst/>
          </a:prstGeom>
          <a:noFill/>
        </p:spPr>
        <p:txBody>
          <a:bodyPr wrap="square" lIns="0" rIns="0" tIns="0" bIns="0">
            <a:normAutofit fontScale="65462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 Delta avg.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410700" y="54194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9410700" y="5419427"/>
            <a:ext cx="1113979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/>
          <p:cNvSpPr txBox="1"/>
          <p:nvPr/>
        </p:nvSpPr>
        <p:spPr>
          <a:xfrm>
            <a:off x="11125200" y="53956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3400" y="6515100"/>
            <a:ext cx="4635550" cy="2283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10" name="TextBox 109"/>
          <p:cNvSpPr txBox="1"/>
          <p:nvPr/>
        </p:nvSpPr>
        <p:spPr>
          <a:xfrm>
            <a:off x="533400" y="6515100"/>
            <a:ext cx="463555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87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FCC Form 477 (Dec 2023) · Microsoft Airband measured-connection data · Times analysis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3400" y="6629102"/>
            <a:ext cx="8221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66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LESS UNSERVED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593777" y="6629102"/>
            <a:ext cx="86618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72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MORE UNSERVED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142857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A017"/>
                </a:solidFill>
                <a:latin typeface="Inter"/>
              </a:rPr>
              <a:t>Climate ·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79508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Pledged vs. delivered: G20 emissions, 2015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75222"/>
            <a:ext cx="10068967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61834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Each country's 2030 NDC target, its 2024 trajectory, and the gap between them.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Eight G20 economies are off-pledge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; three are ahead of schedule. The arrows show year-on-year delta — not progress against the pledge.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3429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71427"/>
            <a:ext cx="2464147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3347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2015 baseline (MtCO₂e)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871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2024 actual (MtCO₂e)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6394" y="2371427"/>
            <a:ext cx="1540222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2030 pledge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8066" y="2371427"/>
            <a:ext cx="107811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67627" y="2371427"/>
            <a:ext cx="1590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Trajectory ·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2733377"/>
            <a:ext cx="1188839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177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China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peak before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347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11,860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871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13,450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6394" y="2638127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peak ≤14,000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94639" y="280481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+1.2%</a:t>
            </a:r>
          </a:p>
        </p:txBody>
      </p:sp>
      <p:sp>
        <p:nvSpPr>
          <p:cNvPr id="18" name="Freeform 17"/>
          <p:cNvSpPr/>
          <p:nvPr/>
        </p:nvSpPr>
        <p:spPr>
          <a:xfrm>
            <a:off x="10067627" y="2805708"/>
            <a:ext cx="762000" cy="133350"/>
          </a:xfrm>
          <a:custGeom>
            <a:avLst/>
            <a:gdLst/>
            <a:ahLst/>
            <a:cxnLst/>
            <a:rect l="l" t="t" r="r" b="b"/>
            <a:pathLst>
              <a:path w="762000" h="133350">
                <a:moveTo>
                  <a:pt x="0" y="133350"/>
                </a:moveTo>
                <a:lnTo>
                  <a:pt x="123825" y="114300"/>
                </a:lnTo>
                <a:close/>
                <a:lnTo>
                  <a:pt x="247650" y="95250"/>
                </a:lnTo>
                <a:close/>
                <a:lnTo>
                  <a:pt x="371475" y="57150"/>
                </a:lnTo>
                <a:close/>
                <a:lnTo>
                  <a:pt x="495300" y="38100"/>
                </a:lnTo>
                <a:close/>
                <a:lnTo>
                  <a:pt x="619125" y="19050"/>
                </a:lnTo>
                <a:close/>
                <a:lnTo>
                  <a:pt x="762000" y="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0905827" y="2781895"/>
            <a:ext cx="55140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At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" y="3234333"/>
            <a:ext cx="150911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356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States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−50% by 2030 vs. 2005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347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5,830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871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6394" y="313521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4639" y="330577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−1.8%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067627" y="3325713"/>
            <a:ext cx="762000" cy="95250"/>
          </a:xfrm>
          <a:custGeom>
            <a:avLst/>
            <a:gdLst/>
            <a:ahLst/>
            <a:cxnLst/>
            <a:rect l="l" t="t" r="r" b="b"/>
            <a:pathLst>
              <a:path w="762000" h="95250">
                <a:moveTo>
                  <a:pt x="0" y="0"/>
                </a:moveTo>
                <a:lnTo>
                  <a:pt x="123825" y="19050"/>
                </a:lnTo>
                <a:close/>
                <a:lnTo>
                  <a:pt x="247650" y="38100"/>
                </a:lnTo>
                <a:close/>
                <a:lnTo>
                  <a:pt x="371475" y="57150"/>
                </a:lnTo>
                <a:close/>
                <a:lnTo>
                  <a:pt x="495300" y="57150"/>
                </a:lnTo>
                <a:close/>
                <a:lnTo>
                  <a:pt x="619125" y="76200"/>
                </a:lnTo>
                <a:close/>
                <a:lnTo>
                  <a:pt x="762000" y="9525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866983" y="322093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" y="3739158"/>
            <a:ext cx="1503462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7172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India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−45% intensity by 2030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3347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2,510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871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6394" y="3640038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intensity −45%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4639" y="381059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+4.1%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067627" y="3811488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152400"/>
                </a:moveTo>
                <a:lnTo>
                  <a:pt x="123825" y="133350"/>
                </a:lnTo>
                <a:close/>
                <a:lnTo>
                  <a:pt x="247650" y="114300"/>
                </a:lnTo>
                <a:close/>
                <a:lnTo>
                  <a:pt x="371475" y="76200"/>
                </a:lnTo>
                <a:close/>
                <a:lnTo>
                  <a:pt x="495300" y="57150"/>
                </a:lnTo>
                <a:close/>
                <a:lnTo>
                  <a:pt x="619125" y="38100"/>
                </a:lnTo>
                <a:close/>
                <a:lnTo>
                  <a:pt x="762000" y="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10808196" y="3725763"/>
            <a:ext cx="850404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On intensity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7750" y="4243983"/>
            <a:ext cx="1489770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2466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Russia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−30% by 2030 vs. 1990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3347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2,140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871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2,090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6394" y="414486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1,680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94639" y="431542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Consolas"/>
              </a:rPr>
              <a:t>+0.1%</a:t>
            </a:r>
          </a:p>
        </p:txBody>
      </p:sp>
      <p:sp>
        <p:nvSpPr>
          <p:cNvPr id="39" name="Freeform 38"/>
          <p:cNvSpPr/>
          <p:nvPr/>
        </p:nvSpPr>
        <p:spPr>
          <a:xfrm>
            <a:off x="10067627" y="4382988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9525"/>
                </a:moveTo>
                <a:lnTo>
                  <a:pt x="123825" y="9525"/>
                </a:lnTo>
                <a:close/>
                <a:lnTo>
                  <a:pt x="247650" y="0"/>
                </a:lnTo>
                <a:close/>
                <a:lnTo>
                  <a:pt x="371475" y="0"/>
                </a:lnTo>
                <a:close/>
                <a:lnTo>
                  <a:pt x="495300" y="9525"/>
                </a:lnTo>
                <a:close/>
                <a:lnTo>
                  <a:pt x="619125" y="9525"/>
                </a:lnTo>
                <a:close/>
                <a:lnTo>
                  <a:pt x="762000" y="9525"/>
                </a:lnTo>
                <a:close/>
              </a:path>
            </a:pathLst>
          </a:custGeom>
          <a:noFill/>
          <a:ln w="14288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0866983" y="423058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750" y="4744938"/>
            <a:ext cx="149140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383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Japan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−46% by 2030 vs. 2013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83347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1,310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871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1,040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6394" y="4649688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94639" y="4816376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−2.4%</a:t>
            </a:r>
          </a:p>
        </p:txBody>
      </p:sp>
      <p:sp>
        <p:nvSpPr>
          <p:cNvPr id="46" name="Freeform 45"/>
          <p:cNvSpPr/>
          <p:nvPr/>
        </p:nvSpPr>
        <p:spPr>
          <a:xfrm>
            <a:off x="10067627" y="4817269"/>
            <a:ext cx="762000" cy="114300"/>
          </a:xfrm>
          <a:custGeom>
            <a:avLst/>
            <a:gdLst/>
            <a:ahLst/>
            <a:cxnLst/>
            <a:rect l="l" t="t" r="r" b="b"/>
            <a:pathLst>
              <a:path w="762000" h="114300">
                <a:moveTo>
                  <a:pt x="0" y="0"/>
                </a:moveTo>
                <a:lnTo>
                  <a:pt x="123825" y="19050"/>
                </a:lnTo>
                <a:close/>
                <a:lnTo>
                  <a:pt x="247650" y="38100"/>
                </a:lnTo>
                <a:close/>
                <a:lnTo>
                  <a:pt x="371475" y="57150"/>
                </a:lnTo>
                <a:close/>
                <a:lnTo>
                  <a:pt x="495300" y="76200"/>
                </a:lnTo>
                <a:close/>
                <a:lnTo>
                  <a:pt x="619125" y="95250"/>
                </a:lnTo>
                <a:close/>
                <a:lnTo>
                  <a:pt x="762000" y="1143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0905827" y="4793456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750" y="5245894"/>
            <a:ext cx="1489025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862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Germany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−65% by 2030 vs. 1990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347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906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871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06394" y="5146774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94639" y="5317331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−3.6%</a:t>
            </a:r>
          </a:p>
        </p:txBody>
      </p:sp>
      <p:sp>
        <p:nvSpPr>
          <p:cNvPr id="53" name="Freeform 52"/>
          <p:cNvSpPr/>
          <p:nvPr/>
        </p:nvSpPr>
        <p:spPr>
          <a:xfrm>
            <a:off x="10067627" y="5299174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0"/>
                </a:moveTo>
                <a:lnTo>
                  <a:pt x="123825" y="28575"/>
                </a:lnTo>
                <a:close/>
                <a:lnTo>
                  <a:pt x="247650" y="57150"/>
                </a:lnTo>
                <a:close/>
                <a:lnTo>
                  <a:pt x="371475" y="76200"/>
                </a:lnTo>
                <a:close/>
                <a:lnTo>
                  <a:pt x="495300" y="95250"/>
                </a:lnTo>
                <a:close/>
                <a:lnTo>
                  <a:pt x="619125" y="123825"/>
                </a:lnTo>
                <a:close/>
                <a:lnTo>
                  <a:pt x="762000" y="1524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893028" y="5232499"/>
            <a:ext cx="765572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On pledge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750" y="5746849"/>
            <a:ext cx="1489918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Kingdom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−68% by 2030 vs. 1990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3347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871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06394" y="5651599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94639" y="5818287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−4.0%</a:t>
            </a:r>
          </a:p>
        </p:txBody>
      </p:sp>
      <p:sp>
        <p:nvSpPr>
          <p:cNvPr id="60" name="Freeform 59"/>
          <p:cNvSpPr/>
          <p:nvPr/>
        </p:nvSpPr>
        <p:spPr>
          <a:xfrm>
            <a:off x="10067627" y="5800130"/>
            <a:ext cx="762000" cy="161925"/>
          </a:xfrm>
          <a:custGeom>
            <a:avLst/>
            <a:gdLst/>
            <a:ahLst/>
            <a:cxnLst/>
            <a:rect l="l" t="t" r="r" b="b"/>
            <a:pathLst>
              <a:path w="762000" h="161925">
                <a:moveTo>
                  <a:pt x="0" y="0"/>
                </a:moveTo>
                <a:lnTo>
                  <a:pt x="123825" y="19050"/>
                </a:lnTo>
                <a:close/>
                <a:lnTo>
                  <a:pt x="247650" y="47625"/>
                </a:lnTo>
                <a:close/>
                <a:lnTo>
                  <a:pt x="371475" y="76200"/>
                </a:lnTo>
                <a:close/>
                <a:lnTo>
                  <a:pt x="495300" y="104775"/>
                </a:lnTo>
                <a:close/>
                <a:lnTo>
                  <a:pt x="619125" y="133350"/>
                </a:lnTo>
                <a:close/>
                <a:lnTo>
                  <a:pt x="762000" y="161925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905827" y="5795367"/>
            <a:ext cx="53057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Ahead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7750" y="6243935"/>
            <a:ext cx="150792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5467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Brazil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−53% by 2030 vs. 2005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83347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871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1,180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06394" y="6148685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94639" y="6315373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−2.1%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067627" y="6335316"/>
            <a:ext cx="762000" cy="85725"/>
          </a:xfrm>
          <a:custGeom>
            <a:avLst/>
            <a:gdLst/>
            <a:ahLst/>
            <a:cxnLst/>
            <a:rect l="l" t="t" r="r" b="b"/>
            <a:pathLst>
              <a:path w="762000" h="85725">
                <a:moveTo>
                  <a:pt x="0" y="0"/>
                </a:moveTo>
                <a:lnTo>
                  <a:pt x="123825" y="9525"/>
                </a:lnTo>
                <a:close/>
                <a:lnTo>
                  <a:pt x="247650" y="28575"/>
                </a:lnTo>
                <a:close/>
                <a:lnTo>
                  <a:pt x="371475" y="38100"/>
                </a:lnTo>
                <a:close/>
                <a:lnTo>
                  <a:pt x="495300" y="57150"/>
                </a:lnTo>
                <a:close/>
                <a:lnTo>
                  <a:pt x="619125" y="66675"/>
                </a:lnTo>
                <a:close/>
                <a:lnTo>
                  <a:pt x="762000" y="85725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905827" y="6292453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6741021"/>
            <a:ext cx="1511498" cy="116979"/>
          </a:xfrm>
          <a:prstGeom prst="rect">
            <a:avLst/>
          </a:prstGeom>
          <a:noFill/>
        </p:spPr>
        <p:txBody>
          <a:bodyPr wrap="square" lIns="0" rIns="0" tIns="0" bIns="0">
            <a:normAutofit fontScale="60285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Australia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−43% by 2030 vs. 2005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83347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94871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461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06394" y="6645771"/>
            <a:ext cx="1540222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94639" y="6812459"/>
            <a:ext cx="401538" cy="45541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−1.1%</a:t>
            </a:r>
          </a:p>
        </p:txBody>
      </p:sp>
      <p:sp>
        <p:nvSpPr>
          <p:cNvPr id="74" name="Freeform 73"/>
          <p:cNvSpPr/>
          <p:nvPr/>
        </p:nvSpPr>
        <p:spPr>
          <a:xfrm>
            <a:off x="10067627" y="6832402"/>
            <a:ext cx="762000" cy="76200"/>
          </a:xfrm>
          <a:custGeom>
            <a:avLst/>
            <a:gdLst/>
            <a:ahLst/>
            <a:cxnLst/>
            <a:rect l="l" t="t" r="r" b="b"/>
            <a:pathLst>
              <a:path w="762000" h="76200">
                <a:moveTo>
                  <a:pt x="0" y="0"/>
                </a:moveTo>
                <a:lnTo>
                  <a:pt x="123825" y="9525"/>
                </a:lnTo>
                <a:close/>
                <a:lnTo>
                  <a:pt x="247650" y="19050"/>
                </a:lnTo>
                <a:close/>
                <a:lnTo>
                  <a:pt x="371475" y="38100"/>
                </a:lnTo>
                <a:close/>
                <a:lnTo>
                  <a:pt x="495300" y="47625"/>
                </a:lnTo>
                <a:close/>
                <a:lnTo>
                  <a:pt x="619125" y="57150"/>
                </a:lnTo>
                <a:close/>
                <a:lnTo>
                  <a:pt x="762000" y="762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0905827" y="6789539"/>
            <a:ext cx="562124" cy="68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3400" y="6515100"/>
            <a:ext cx="5182493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199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UNFCCC GHG inventories (latest), Climate Action Tracker · Pledges per submitted NDCs as of Q1 2025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342900"/>
            <a:ext cx="111252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514350"/>
            <a:ext cx="3193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Times Editorial Graphics · 2026 Annual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9547" y="519112"/>
            <a:ext cx="19490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VOL. XII · APRIL 30 · NEW YORK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8585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Cover · The year, in seven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76350"/>
            <a:ext cx="11125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A reporting project · 1,412 datapoints · 7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76375"/>
            <a:ext cx="9144595" cy="2284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The numbers that </a:t>
            </a:r>
            <a:r>
              <a:rPr sz="5850" b="1" i="1" u="none">
                <a:solidFill>
                  <a:srgbClr val="C41E3A"/>
                </a:solidFill>
                <a:latin typeface="Source Serif Pro"/>
              </a:rPr>
              <a:t>describe</a:t>
            </a:r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 the year, before the year describes itself.</a:t>
            </a:r>
          </a:p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"Numbers in this deck are rounded for the page; the long forms live in the appendix. Where two sources disagreed by less than 2%, we preferred the federal series."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917752"/>
            <a:ext cx="7237661" cy="7620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500" b="0" i="0" u="none">
                <a:solidFill>
                  <a:srgbClr val="1A1A1A"/>
                </a:solidFill>
                <a:latin typeface="Source Serif Pro"/>
              </a:rPr>
              <a:t xml:space="preserve">Wages and prices crossed. Newsrooms thinned. Broadband still missed twenty-three percent of the rural map. The federal deficit was either historic or routine — depending which axis you trusted. </a:t>
            </a:r>
            <a:r>
              <a:rPr sz="1500" b="1" i="0" u="none">
                <a:solidFill>
                  <a:srgbClr val="1A1A1A"/>
                </a:solidFill>
                <a:latin typeface="Source Serif Pro"/>
              </a:rPr>
              <a:t>Below: the dataset behind everything that follows.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333500"/>
            <a:ext cx="2286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Editor's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77854"/>
            <a:ext cx="16192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Tiny dataset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149304"/>
            <a:ext cx="1619250" cy="4799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Five headline figures from the seven slides that follow. Each is the lede of its own chart.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2225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Wage / CPI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2225" y="5120729"/>
            <a:ext cx="434578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6454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6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2225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CPI ahead, 2024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2225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2562225" y="5720804"/>
            <a:ext cx="1524000" cy="209550"/>
          </a:xfrm>
          <a:custGeom>
            <a:avLst/>
            <a:gdLst/>
            <a:ahLst/>
            <a:cxnLst/>
            <a:rect l="l" t="t" r="r" b="b"/>
            <a:pathLst>
              <a:path w="1524000" h="209550">
                <a:moveTo>
                  <a:pt x="0" y="209550"/>
                </a:moveTo>
                <a:lnTo>
                  <a:pt x="209550" y="190500"/>
                </a:lnTo>
                <a:close/>
                <a:lnTo>
                  <a:pt x="419100" y="152400"/>
                </a:lnTo>
                <a:close/>
                <a:lnTo>
                  <a:pt x="628650" y="133350"/>
                </a:lnTo>
                <a:close/>
                <a:lnTo>
                  <a:pt x="838200" y="95250"/>
                </a:lnTo>
                <a:close/>
                <a:lnTo>
                  <a:pt x="1047750" y="57150"/>
                </a:lnTo>
                <a:close/>
                <a:lnTo>
                  <a:pt x="1257300" y="19050"/>
                </a:lnTo>
                <a:close/>
                <a:lnTo>
                  <a:pt x="1524000" y="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2562225" y="570175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228600"/>
                </a:moveTo>
                <a:lnTo>
                  <a:pt x="209550" y="209550"/>
                </a:lnTo>
                <a:close/>
                <a:lnTo>
                  <a:pt x="419100" y="190500"/>
                </a:lnTo>
                <a:close/>
                <a:lnTo>
                  <a:pt x="628650" y="161925"/>
                </a:lnTo>
                <a:close/>
                <a:lnTo>
                  <a:pt x="838200" y="123825"/>
                </a:lnTo>
                <a:close/>
                <a:lnTo>
                  <a:pt x="1047750" y="76200"/>
                </a:lnTo>
                <a:close/>
                <a:lnTo>
                  <a:pt x="1257300" y="28575"/>
                </a:lnTo>
                <a:close/>
                <a:lnTo>
                  <a:pt x="1524000" y="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562225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01 · State of the union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8712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2024 deficit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8712" y="5120729"/>
            <a:ext cx="814834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7347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$1.83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8712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+33% YoY (nominal)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38712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938712" y="5911304"/>
            <a:ext cx="133350" cy="571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148262" y="5892254"/>
            <a:ext cx="13335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357812" y="5854154"/>
            <a:ext cx="133350" cy="1143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567362" y="5720804"/>
            <a:ext cx="133350" cy="2476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776912" y="5816054"/>
            <a:ext cx="133350" cy="1524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986462" y="5873204"/>
            <a:ext cx="133350" cy="95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196012" y="5758904"/>
            <a:ext cx="133350" cy="2095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938712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02 · Two-up scaling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Rents, Boise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120729"/>
            <a:ext cx="607516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6596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+78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since Jan 2019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315200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7315200" y="5720804"/>
            <a:ext cx="1524000" cy="247650"/>
          </a:xfrm>
          <a:custGeom>
            <a:avLst/>
            <a:gdLst/>
            <a:ahLst/>
            <a:cxnLst/>
            <a:rect l="l" t="t" r="r" b="b"/>
            <a:pathLst>
              <a:path w="1524000" h="247650">
                <a:moveTo>
                  <a:pt x="0" y="247650"/>
                </a:moveTo>
                <a:lnTo>
                  <a:pt x="257175" y="228600"/>
                </a:lnTo>
                <a:close/>
                <a:lnTo>
                  <a:pt x="514350" y="190500"/>
                </a:lnTo>
                <a:close/>
                <a:lnTo>
                  <a:pt x="762000" y="95250"/>
                </a:lnTo>
                <a:close/>
                <a:lnTo>
                  <a:pt x="1019175" y="19050"/>
                </a:lnTo>
                <a:close/>
                <a:lnTo>
                  <a:pt x="1276350" y="0"/>
                </a:lnTo>
                <a:close/>
                <a:lnTo>
                  <a:pt x="1524000" y="1905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8815388" y="5716042"/>
            <a:ext cx="47625" cy="4762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7315200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03 · Six cities, one axis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1688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Newspapers lost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1688" y="5139779"/>
            <a:ext cx="196691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2,886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1688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Consolas"/>
              </a:rPr>
              <a:t>2005 → 2024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1688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9691688" y="572080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0"/>
                </a:moveTo>
                <a:lnTo>
                  <a:pt x="257174" y="38100"/>
                </a:lnTo>
                <a:close/>
                <a:lnTo>
                  <a:pt x="514350" y="95250"/>
                </a:lnTo>
                <a:close/>
                <a:lnTo>
                  <a:pt x="762000" y="133350"/>
                </a:lnTo>
                <a:close/>
                <a:lnTo>
                  <a:pt x="1019174" y="171450"/>
                </a:lnTo>
                <a:close/>
                <a:lnTo>
                  <a:pt x="1276350" y="209550"/>
                </a:lnTo>
                <a:close/>
                <a:lnTo>
                  <a:pt x="1524000" y="2286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9667875" y="56969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1191875" y="59255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9691688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04 · The quiet collapse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" y="6477000"/>
            <a:ext cx="3740497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500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This deck. Files: slides 01–07 · Reporting window: Q4 2024 — Q1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07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2523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619250"/>
            <a:ext cx="6424464" cy="2667000"/>
          </a:xfrm>
          <a:prstGeom prst="rect">
            <a:avLst/>
          </a:prstGeom>
          <a:noFill/>
        </p:spPr>
        <p:txBody>
          <a:bodyPr wrap="none" lIns="0" rIns="0" tIns="0" bIns="0">
            <a:normAutofit fontScale="91925" lnSpcReduction="0"/>
          </a:bodyPr>
          <a:lstStyle/>
          <a:p>
            <a:pPr algn="l"/>
            <a:r>
              <a:rPr sz="18000" b="1" i="0" u="none">
                <a:solidFill>
                  <a:srgbClr val="FFFFFF"/>
                </a:solidFill>
                <a:latin typeface="Consolas"/>
              </a:rPr>
              <a:t>38.6</a:t>
            </a:r>
            <a:r>
              <a:rPr sz="18000" b="1" i="0" u="none">
                <a:solidFill>
                  <a:srgbClr val="0A84FF"/>
                </a:solidFill>
                <a:latin typeface="Consolas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86325"/>
            <a:ext cx="6659761" cy="617190"/>
          </a:xfrm>
          <a:prstGeom prst="rect">
            <a:avLst/>
          </a:prstGeom>
          <a:noFill/>
        </p:spPr>
        <p:txBody>
          <a:bodyPr wrap="square" lIns="0" rIns="0" tIns="0" bIns="0">
            <a:normAutofit fontScale="59563" lnSpcReduction="0"/>
          </a:bodyPr>
          <a:lstStyle/>
          <a:p>
            <a:pPr algn="l"/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Active devices shipped </a:t>
            </a:r>
            <a:r>
              <a:rPr sz="1950" b="1" i="0" u="none">
                <a:solidFill>
                  <a:srgbClr val="FFFFFF"/>
                </a:solidFill>
                <a:latin typeface="Sf Pro Display"/>
              </a:rPr>
              <a:t>last quarter</a:t>
            </a:r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 — the largest single-quarter run in the company's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2485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Q1 / Fiscal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49336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9F0A"/>
                </a:solidFill>
                <a:latin typeface="Sf Pro Display"/>
              </a:rPr>
              <a:t>Act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161"/>
            <a:ext cx="6776740" cy="3249811"/>
          </a:xfrm>
          <a:prstGeom prst="rect">
            <a:avLst/>
          </a:prstGeom>
          <a:noFill/>
        </p:spPr>
        <p:txBody>
          <a:bodyPr wrap="square" lIns="0" rIns="0" tIns="0" bIns="0">
            <a:normAutofit fontScale="58649" lnSpcReduction="0"/>
          </a:bodyPr>
          <a:lstStyle/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 xml:space="preserve">One </a:t>
            </a:r>
            <a:r>
              <a:rPr sz="12000" b="1" i="0" u="none">
                <a:solidFill>
                  <a:srgbClr val="FF9F0A"/>
                </a:solidFill>
                <a:latin typeface="Sf Pro Display"/>
              </a:rPr>
              <a:t>more</a:t>
            </a:r>
          </a:p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>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8908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F5AF2"/>
                </a:solidFill>
                <a:latin typeface="Sf Pro Display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50032"/>
            <a:ext cx="10722620" cy="630882"/>
          </a:xfrm>
          <a:prstGeom prst="rect">
            <a:avLst/>
          </a:prstGeom>
          <a:noFill/>
        </p:spPr>
        <p:txBody>
          <a:bodyPr wrap="none" lIns="0" rIns="0" tIns="0" bIns="0">
            <a:normAutofit fontScale="91337" lnSpcReduction="0"/>
          </a:bodyPr>
          <a:lstStyle/>
          <a:p>
            <a:pPr algn="l"/>
            <a:r>
              <a:rPr sz="5400" b="1" i="0" u="none">
                <a:solidFill>
                  <a:srgbClr val="FFFFFF"/>
                </a:solidFill>
                <a:latin typeface="Sf Pro Display"/>
              </a:rPr>
              <a:t>Pro, in the smallest possible frame.</a:t>
            </a:r>
          </a:p>
        </p:txBody>
      </p:sp>
      <p:sp>
        <p:nvSpPr>
          <p:cNvPr id="5" name="Freeform 4"/>
          <p:cNvSpPr/>
          <p:nvPr/>
        </p:nvSpPr>
        <p:spPr>
          <a:xfrm>
            <a:off x="1333500" y="2476500"/>
            <a:ext cx="342900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2500"/>
                </a:moveTo>
                <a:cubicBezTo>
                  <a:pt x="0" y="6250"/>
                  <a:pt x="5556" y="0"/>
                  <a:pt x="16667" y="0"/>
                </a:cubicBezTo>
                <a:lnTo>
                  <a:pt x="83333" y="0"/>
                </a:lnTo>
                <a:cubicBezTo>
                  <a:pt x="94444" y="0"/>
                  <a:pt x="100000" y="6250"/>
                  <a:pt x="100000" y="12500"/>
                </a:cubicBezTo>
                <a:lnTo>
                  <a:pt x="100000" y="87500"/>
                </a:lnTo>
                <a:cubicBezTo>
                  <a:pt x="100000" y="93750"/>
                  <a:pt x="94444" y="100000"/>
                  <a:pt x="83333" y="100000"/>
                </a:cubicBezTo>
                <a:lnTo>
                  <a:pt x="16667" y="100000"/>
                </a:lnTo>
                <a:cubicBezTo>
                  <a:pt x="5556" y="100000"/>
                  <a:pt x="0" y="93750"/>
                  <a:pt x="0" y="87500"/>
                </a:cubicBezTo>
                <a:close/>
              </a:path>
            </a:pathLst>
          </a:custGeom>
          <a:noFill/>
          <a:ln w="23812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809750" y="2952750"/>
            <a:ext cx="2476500" cy="2095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9091"/>
                </a:moveTo>
                <a:cubicBezTo>
                  <a:pt x="0" y="4545"/>
                  <a:pt x="3846" y="0"/>
                  <a:pt x="11538" y="0"/>
                </a:cubicBezTo>
                <a:lnTo>
                  <a:pt x="88462" y="0"/>
                </a:lnTo>
                <a:cubicBezTo>
                  <a:pt x="96154" y="0"/>
                  <a:pt x="100000" y="4545"/>
                  <a:pt x="100000" y="9091"/>
                </a:cubicBezTo>
                <a:lnTo>
                  <a:pt x="100000" y="90909"/>
                </a:lnTo>
                <a:cubicBezTo>
                  <a:pt x="100000" y="95455"/>
                  <a:pt x="96154" y="100000"/>
                  <a:pt x="88462" y="100000"/>
                </a:cubicBezTo>
                <a:lnTo>
                  <a:pt x="11538" y="100000"/>
                </a:lnTo>
                <a:cubicBezTo>
                  <a:pt x="3846" y="100000"/>
                  <a:pt x="0" y="95455"/>
                  <a:pt x="0" y="90909"/>
                </a:cubicBezTo>
                <a:close/>
              </a:path>
            </a:pathLst>
          </a:custGeom>
          <a:noFill/>
          <a:ln w="14288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00375" y="3952875"/>
            <a:ext cx="95250" cy="95250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3095625" y="4000500"/>
            <a:ext cx="1762125" cy="0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57750" y="3762375"/>
            <a:ext cx="238125" cy="238125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2581275"/>
            <a:ext cx="5866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2984" y="24574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12.9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248025"/>
            <a:ext cx="5576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6857" y="31242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 fontScale="95481" lnSpcReduction="0"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682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914775"/>
            <a:ext cx="6274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Battery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2984" y="37909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18.0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4581525"/>
            <a:ext cx="10514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6857" y="44577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3.4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5248275"/>
            <a:ext cx="91886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Starting 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6487" y="5124450"/>
            <a:ext cx="96351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$1,299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13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4988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Generational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3386"/>
            <a:ext cx="8572500" cy="1097161"/>
          </a:xfrm>
          <a:prstGeom prst="rect">
            <a:avLst/>
          </a:prstGeom>
          <a:noFill/>
        </p:spPr>
        <p:txBody>
          <a:bodyPr wrap="square" lIns="0" rIns="0" tIns="0" bIns="0">
            <a:normAutofit fontScale="67389" lnSpcReduction="0"/>
          </a:bodyPr>
          <a:lstStyle/>
          <a:p>
            <a:pPr algn="l"/>
            <a:r>
              <a:rPr sz="4500" b="1" i="0" u="none">
                <a:solidFill>
                  <a:srgbClr val="000000"/>
                </a:solidFill>
                <a:latin typeface="Sf Pro Display"/>
              </a:rPr>
              <a:t>Render times, halved. And then halved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28950"/>
            <a:ext cx="4178052" cy="1990725"/>
          </a:xfrm>
          <a:prstGeom prst="rect">
            <a:avLst/>
          </a:prstGeom>
          <a:noFill/>
        </p:spPr>
        <p:txBody>
          <a:bodyPr wrap="none" lIns="0" rIns="0" tIns="0" bIns="0">
            <a:normAutofit fontScale="90560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12.4</a:t>
            </a:r>
            <a:r>
              <a:rPr sz="3600" b="1" i="0" u="none">
                <a:solidFill>
                  <a:srgbClr val="000000"/>
                </a:solidFill>
                <a:latin typeface="Consolas"/>
              </a:rPr>
              <a:t xml:space="preserve">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Previous generation, average frame.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15000" y="4076700"/>
            <a:ext cx="685800" cy="0"/>
          </a:xfrm>
          <a:prstGeom prst="line">
            <a:avLst/>
          </a:prstGeom>
          <a:ln w="19050">
            <a:solidFill>
              <a:srgbClr val="30D1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86500" y="3962400"/>
            <a:ext cx="190500" cy="228600"/>
          </a:xfrm>
          <a:custGeom>
            <a:avLst/>
            <a:gdLst/>
            <a:ahLst/>
            <a:cxnLst/>
            <a:rect l="l" t="t" r="r" b="b"/>
            <a:pathLst>
              <a:path w="190500" h="228600">
                <a:moveTo>
                  <a:pt x="0" y="0"/>
                </a:moveTo>
                <a:lnTo>
                  <a:pt x="190500" y="114300"/>
                </a:lnTo>
                <a:close/>
                <a:lnTo>
                  <a:pt x="0" y="228600"/>
                </a:lnTo>
                <a:close/>
              </a:path>
            </a:pathLst>
          </a:custGeom>
          <a:noFill/>
          <a:ln w="1905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7056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028950"/>
            <a:ext cx="3214390" cy="1990725"/>
          </a:xfrm>
          <a:prstGeom prst="rect">
            <a:avLst/>
          </a:prstGeom>
          <a:noFill/>
        </p:spPr>
        <p:txBody>
          <a:bodyPr wrap="none" lIns="0" rIns="0" tIns="0" bIns="0">
            <a:normAutofit fontScale="90173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2.9</a:t>
            </a:r>
            <a:r>
              <a:rPr sz="3600" b="1" i="0" u="none">
                <a:solidFill>
                  <a:srgbClr val="30D158"/>
                </a:solidFill>
                <a:latin typeface="Consolas"/>
              </a:rPr>
              <a:t xml:space="preserve">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Same frame, on the new silicon.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14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9303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453A"/>
                </a:solidFill>
                <a:latin typeface="Sf Pro Display"/>
              </a:rP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47936"/>
            <a:ext cx="7482185" cy="511969"/>
          </a:xfrm>
          <a:prstGeom prst="rect">
            <a:avLst/>
          </a:prstGeom>
          <a:noFill/>
        </p:spPr>
        <p:txBody>
          <a:bodyPr wrap="none" lIns="0" rIns="0" tIns="0" bIns="0">
            <a:normAutofit fontScale="90682" lnSpcReduction="0"/>
          </a:bodyPr>
          <a:lstStyle/>
          <a:p>
            <a:pPr algn="l"/>
            <a:r>
              <a:rPr sz="4200" b="1" i="0" u="none">
                <a:solidFill>
                  <a:srgbClr val="FFFFFF"/>
                </a:solidFill>
                <a:latin typeface="Sf Pro Display"/>
              </a:rPr>
              <a:t>Four things, and they all matter.</a:t>
            </a:r>
          </a:p>
        </p:txBody>
      </p:sp>
      <p:sp>
        <p:nvSpPr>
          <p:cNvPr id="5" name="Oval 4"/>
          <p:cNvSpPr/>
          <p:nvPr/>
        </p:nvSpPr>
        <p:spPr>
          <a:xfrm>
            <a:off x="857250" y="2457450"/>
            <a:ext cx="419100" cy="4191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650" y="2609850"/>
            <a:ext cx="114300" cy="1143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Always-on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524250"/>
            <a:ext cx="4191000" cy="400050"/>
          </a:xfrm>
          <a:prstGeom prst="rect">
            <a:avLst/>
          </a:prstGeom>
          <a:noFill/>
        </p:spPr>
        <p:txBody>
          <a:bodyPr wrap="square" lIns="0" rIns="0" tIns="0" bIns="0">
            <a:normAutofit fontScale="9425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 single dial that tracks attention without ever leaving the frame.</a:t>
            </a:r>
          </a:p>
        </p:txBody>
      </p:sp>
      <p:sp>
        <p:nvSpPr>
          <p:cNvPr id="9" name="Freeform 8"/>
          <p:cNvSpPr/>
          <p:nvPr/>
        </p:nvSpPr>
        <p:spPr>
          <a:xfrm>
            <a:off x="6553200" y="2438400"/>
            <a:ext cx="457200" cy="419100"/>
          </a:xfrm>
          <a:custGeom>
            <a:avLst/>
            <a:gdLst/>
            <a:ahLst/>
            <a:cxnLst/>
            <a:rect l="l" t="t" r="r" b="b"/>
            <a:pathLst>
              <a:path w="457200" h="419100">
                <a:moveTo>
                  <a:pt x="228600" y="0"/>
                </a:moveTo>
                <a:lnTo>
                  <a:pt x="457200" y="419100"/>
                </a:lnTo>
                <a:close/>
                <a:lnTo>
                  <a:pt x="0" y="419100"/>
                </a:lnTo>
                <a:close/>
                <a:lnTo>
                  <a:pt x="228600" y="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 9"/>
          <p:cNvCxnSpPr/>
          <p:nvPr/>
        </p:nvCxnSpPr>
        <p:spPr>
          <a:xfrm>
            <a:off x="6781800" y="2571750"/>
            <a:ext cx="0" cy="209550"/>
          </a:xfrm>
          <a:prstGeom prst="line">
            <a:avLst/>
          </a:prstGeom>
          <a:ln w="19050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77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Adaptive throughput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Throttles up under pressure, sleeps the rest of the time.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7250" y="4476750"/>
            <a:ext cx="419100" cy="495300"/>
          </a:xfrm>
          <a:custGeom>
            <a:avLst/>
            <a:gdLst/>
            <a:ahLst/>
            <a:cxnLst/>
            <a:rect l="l" t="t" r="r" b="b"/>
            <a:pathLst>
              <a:path w="419100" h="495300">
                <a:moveTo>
                  <a:pt x="209550" y="0"/>
                </a:moveTo>
                <a:lnTo>
                  <a:pt x="419100" y="123825"/>
                </a:lnTo>
                <a:close/>
                <a:lnTo>
                  <a:pt x="419100" y="371475"/>
                </a:lnTo>
                <a:close/>
                <a:lnTo>
                  <a:pt x="209550" y="495300"/>
                </a:lnTo>
                <a:close/>
                <a:lnTo>
                  <a:pt x="0" y="371475"/>
                </a:lnTo>
                <a:close/>
                <a:lnTo>
                  <a:pt x="0" y="123825"/>
                </a:lnTo>
                <a:close/>
                <a:lnTo>
                  <a:pt x="209550" y="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028700" y="4686300"/>
            <a:ext cx="76200" cy="762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Hex-core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Six identical cores, scheduled by an entirely new kernel.</a:t>
            </a:r>
          </a:p>
        </p:txBody>
      </p:sp>
      <p:sp>
        <p:nvSpPr>
          <p:cNvPr id="17" name="Oval 16"/>
          <p:cNvSpPr/>
          <p:nvPr/>
        </p:nvSpPr>
        <p:spPr>
          <a:xfrm>
            <a:off x="65913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8199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705600" y="47625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6675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Constellation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9791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All your devices, in agreement, without a server in the middle.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15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119003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047875"/>
            <a:ext cx="9297442" cy="1992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800" b="1" i="0" u="none">
                <a:solidFill>
                  <a:srgbClr val="0A84FF"/>
                </a:solidFill>
                <a:latin typeface="New York"/>
              </a:rPr>
              <a:t>“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It is the </a:t>
            </a:r>
            <a:r>
              <a:rPr sz="4800" b="1" i="1" u="none">
                <a:solidFill>
                  <a:srgbClr val="0A84FF"/>
                </a:solidFill>
                <a:latin typeface="New York"/>
              </a:rPr>
              <a:t>quietest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 piece of hardware we have ever built — and somehow the most powerful.</a:t>
            </a:r>
            <a:r>
              <a:rPr sz="4800" b="1" i="0" u="none">
                <a:solidFill>
                  <a:srgbClr val="0A84FF"/>
                </a:solidFill>
                <a:latin typeface="New York"/>
              </a:rPr>
              <a:t>”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
   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5400675"/>
            <a:ext cx="95250" cy="9525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90650" y="5257800"/>
            <a:ext cx="1651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Sf Pro Display"/>
              </a:rPr>
              <a:t>Maren Asplund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0650" y="5476875"/>
            <a:ext cx="1651248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5078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Sf Pro Display"/>
              </a:rPr>
              <a:t>VP, Hardware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0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16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23931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886325"/>
            <a:ext cx="3551337" cy="2762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13500" b="1" i="0" u="none">
                <a:solidFill>
                  <a:srgbClr val="FFFFFF"/>
                </a:solidFill>
                <a:latin typeface="Sf Pro Display"/>
              </a:rPr>
              <a:t>Thank you.</a:t>
            </a:r>
          </a:p>
          <a:p>
            <a:pPr algn="l"/>
            <a:r>
              <a:rPr sz="1800" b="0" i="0" u="none">
                <a:solidFill>
                  <a:srgbClr val="FFFFFF"/>
                </a:solidFill>
                <a:latin typeface="Sf Pro Display"/>
              </a:rPr>
              <a:t xml:space="preserve">Available everywhere on </a:t>
            </a:r>
            <a:r>
              <a:rPr sz="1800" b="1" i="0" u="none">
                <a:solidFill>
                  <a:srgbClr val="FFFFFF"/>
                </a:solidFill>
                <a:latin typeface="Sf Pro Display"/>
              </a:rPr>
              <a:t>May 14</a:t>
            </a:r>
            <a:r>
              <a:rPr sz="1800" b="0" i="0" u="none">
                <a:solidFill>
                  <a:srgbClr val="FFFFFF"/>
                </a:solidFill>
                <a:latin typeface="Sf Pro Display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53700" y="3733800"/>
            <a:ext cx="228600" cy="22860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17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1000" y="819150"/>
            <a:ext cx="11430000" cy="5524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1447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RUNTIME-04 / SPEC SHEET / REV.0231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7768" y="338138"/>
            <a:ext cx="25232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21 OF 27 // 2026.04.30 // 14:02 UTC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8001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21 — SPEC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038225"/>
            <a:ext cx="11430000" cy="4799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AFAF9"/>
                </a:solidFill>
                <a:latin typeface="Consolas"/>
              </a:rPr>
              <a:t>RUNTIME-04 // COLD-PATH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00100"/>
            <a:ext cx="1198662" cy="670322"/>
          </a:xfrm>
          <a:prstGeom prst="rect">
            <a:avLst/>
          </a:prstGeom>
          <a:noFill/>
        </p:spPr>
        <p:txBody>
          <a:bodyPr wrap="square" lIns="0" rIns="0" tIns="0" bIns="0">
            <a:normAutofit fontScale="93589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BUILD  a8f12c9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HOST  us-east-1c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SLO   p99 &lt; 80ms
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266950"/>
            <a:ext cx="9144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2266950"/>
            <a:ext cx="59436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266950"/>
            <a:ext cx="2095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0" y="2266950"/>
            <a:ext cx="1143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22669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25431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25431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P50_LATENCY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25431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0" y="25431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0850" y="27003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0670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30670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P99_LATENCY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30670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76.1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0" y="30670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0850" y="3224212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" y="359092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400" y="359092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THROUGHPUT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0" y="359092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38.6K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0" y="359092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req / 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3748088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" y="41148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5400" y="411480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ERROR_RATE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0" y="411480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0.013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4500" y="411480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5min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6386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5400" y="46386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CACHE_HIT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9000" y="46386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94.2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4500" y="46386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0850" y="47958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51625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5400" y="51625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QUEUE_DEPTH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51625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4500" y="51625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jobs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219825"/>
            <a:ext cx="328032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SAMPLED  14:01:58 UTC  //  TZ=Z  //  </a:t>
            </a:r>
            <a:r>
              <a:rPr sz="825" b="1" i="0" u="none">
                <a:solidFill>
                  <a:srgbClr val="CDFF00"/>
                </a:solidFill>
                <a:latin typeface="Consolas"/>
              </a:rPr>
              <a:t>NEXT ROLL 00:30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6505575"/>
            <a:ext cx="32801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SOURCE: prom/agent-2 // pull=15s // retention=30d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2338" y="6505575"/>
            <a:ext cx="11986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 7c1a:88de:f0b4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0850" y="4271962"/>
            <a:ext cx="729146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0850" y="5319712"/>
            <a:ext cx="636138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30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49911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50292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6730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054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1435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1816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219700" y="6096000"/>
            <a:ext cx="38100" cy="1143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768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3149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3530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3911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4292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4673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5054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55435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5816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381000" y="2095500"/>
            <a:ext cx="11430000" cy="3619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57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7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0480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480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524500" y="2476500"/>
            <a:ext cx="2095500" cy="1143000"/>
          </a:xfrm>
          <a:prstGeom prst="rect">
            <a:avLst/>
          </a:prstGeom>
          <a:solidFill>
            <a:srgbClr val="FF5722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5524500" y="2476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19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19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524500" y="4381500"/>
            <a:ext cx="2095500" cy="9525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524500" y="4381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 13"/>
          <p:cNvCxnSpPr/>
          <p:nvPr/>
        </p:nvCxnSpPr>
        <p:spPr>
          <a:xfrm>
            <a:off x="24765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53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20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72250" y="3619500"/>
            <a:ext cx="0" cy="76200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3619500"/>
            <a:ext cx="0" cy="123825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620000" y="4857750"/>
            <a:ext cx="15240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4000" y="3619500"/>
            <a:ext cx="0" cy="123825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24000" y="4857750"/>
            <a:ext cx="4000500" cy="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099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486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153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534150" y="43434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0" y="48196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 26"/>
          <p:cNvCxnSpPr/>
          <p:nvPr/>
        </p:nvCxnSpPr>
        <p:spPr>
          <a:xfrm>
            <a:off x="3810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205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620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469231" y="6410325"/>
            <a:ext cx="360759" cy="21907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42925" y="847130"/>
            <a:ext cx="11268075" cy="40868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0786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36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DENSITY-GRID / SUBSYSTEMS / Q2-2026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33868" y="338138"/>
            <a:ext cx="15771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23 OF 27 // 12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23 — DENSITY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5813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12 SUBSYSTEMS // ONE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70914" y="828080"/>
            <a:ext cx="1640086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9237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4 COLS × 3 ROWS = 12 CELLS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AS-OF 2026.04.30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925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925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925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tcp/443 ingress, 8 nodes, mTLS terminator.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" y="3105150"/>
            <a:ext cx="45883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48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p99 76ms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8044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BUFFER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8044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kfk-buf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044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24 partitions, replication 3, 1.18K lag.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09345" y="310515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73910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8281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281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cold-tbl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281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Parquet on s3, 2.4TB / day, 30d retention.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8281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2.4TB/d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925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05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925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obs-sink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2925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Logs + metrics tap, 15s scrape, single tenant.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8044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06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AUTH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8044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tok-sign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8044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Signing service, ed25519, 4ms median.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8044" y="4429125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675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p50 4ms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3162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CACHE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3162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warm-set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3162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LRU 64GiB, 94.2% hit, 3 shards, no spill.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3162" y="4429125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hit 94.2%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8281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08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8281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edge-route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8281" y="3921323"/>
            <a:ext cx="2540794" cy="159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Anycast plan, 12 PoPs, weighted RR.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8281" y="4429125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12 pop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925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09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nightly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925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Cron 03:00Z, 8 stages, idempotent retries.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925" y="5753100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8894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03:00Z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4226" y="575310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67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IDLE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8044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FLAGS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8044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flag-svc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98044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Bool + multivar, 1.4K rules, 12ms eval.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98044" y="5753100"/>
            <a:ext cx="57358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1.4K rules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3162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BILLING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3162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meter-rx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53162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Per-tenant counters, 5min rollup, idem keys.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3162" y="5753100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rollup 5m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08281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DLQ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08281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dead-q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08281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Quarantine bucket, 412 items, 7d TTL.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08281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136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n=412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62283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69998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WATCH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1000" y="6505575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12 / 12 UNITS LISTED // 0 OMITTED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9b3f:0211:c4d8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21819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976938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6100762" y="2028825"/>
            <a:ext cx="2855119" cy="1323975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6253162" y="216217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 / HOT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3162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3162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A0A0A"/>
                </a:solidFill>
                <a:latin typeface="Consolas"/>
              </a:rPr>
              <a:t>Parse + dedupe path, 62% cpu, primary loop.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53162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23" lnSpcReduction="0"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32056" y="2085975"/>
            <a:ext cx="5715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1687175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3121819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976938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8832056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687175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3121819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5976938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8832056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1687175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CODE / norm-svc.rs / fn handle_batch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9341" y="338138"/>
            <a:ext cx="20816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24 OF 27 // 1 FILE // 38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24 — CODE BLOCK 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360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0A0A0A"/>
                </a:solidFill>
                <a:latin typeface="Consolas"/>
              </a:rPr>
              <a:t>fn handle_batch&lt;T&gt;( ) -&gt; Result&lt;Out, Err&gt;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0" y="1895475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1895475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BOUND CONCURRENCY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2076450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Semaphore caps in-flight batches at 64. Backpressure is a permit, not a queue.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656284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265628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PARSE /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83725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Per-record budget = 200us. Over-budget rows route to DLQ, never block the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341709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DEDUPE / xxh64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359806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Bloom + recent set. Hot path: O(1) avg, no allocations, single hash family.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4177903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4177903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EMIT / SINK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4358878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Async batch flush, fixed 4KiB frames, idempotent on retry. No partial commits.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RUST 1.78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5736" y="6448425"/>
            <a:ext cx="85963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edition 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9954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no_unsafe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4665" y="6505575"/>
            <a:ext cx="25863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commit a8f12c9 // owner: norm@platform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00" y="1752600"/>
            <a:ext cx="6858000" cy="5040957"/>
          </a:xfrm>
          <a:prstGeom prst="rect">
            <a:avLst/>
          </a:prstGeom>
          <a:solidFill>
            <a:srgbClr val="0A0A0A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95300" y="1812131"/>
            <a:ext cx="2293888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~/svc/norm/src/handler.rs  //  rust 1.78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7175" y="1812131"/>
            <a:ext cx="917525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L1:38  UTF-8  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974" y="2228850"/>
            <a:ext cx="3375571" cy="43633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hot path: parse, dedupe, emit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2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pub fn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handle_batch&lt;T: Record&gt;(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batch: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&amp;[Raw&lt;T&gt;]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ctx: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&amp;Ctx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) -&gt;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Result&lt;Out, Err&gt;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{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01 - bound concurrency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sem = ctx.sem.clone();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_p  = sem.acquire()?;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02 - parse with budget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parsed = batch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.iter()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.map(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|r|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parse(r, ctx))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.collect::&lt;Result&lt;Vec&lt;_&gt;, _&gt;&gt;()?;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03 - dedupe (xxhash64)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uniq = dedupe(&amp;parsed, &amp;ctx.seen);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04 - emit to sink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sink::emit(&amp;ctx.out, uniq).await?;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Ok(Out { n: parsed.len() as u32 })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0" y="3417094"/>
            <a:ext cx="228600" cy="22860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42517" y="6448425"/>
            <a:ext cx="630287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HOT PATH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95375" y="847130"/>
            <a:ext cx="10715625" cy="50964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STATUS-BOARD / FLEET-Z / LIVE 14:02:07Z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96971" y="338138"/>
            <a:ext cx="15140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25 OF 27 // 12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25 — STATUS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8124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FLEET-Z // RUNTIME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44708" y="828080"/>
            <a:ext cx="1766292" cy="533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ROWS  12</a:t>
            </a:r>
          </a:p>
          <a:p>
            <a:pPr algn="r"/>
            <a:r>
              <a:rPr sz="825" b="1" i="0" u="none">
                <a:solidFill>
                  <a:srgbClr val="FF5722"/>
                </a:solidFill>
                <a:latin typeface="Consolas"/>
              </a:rPr>
              <a:t>OK    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WATCH 3 // FAIL 2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5 MIN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505575"/>
            <a:ext cx="353258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 prom/agent-2 // pull=15s // alert chan=#oncall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e22a:71f0:08bc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525" y="1914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1914525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8825" y="191452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3225" y="19145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525" y="21526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21526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us-east-1c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8825" y="21526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12.4ms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77525" y="22098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525" y="24765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025" y="24765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eu-west-2a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8825" y="24765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14.1ms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77525" y="25336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525" y="28003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025" y="28003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kfk-buf / part-12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8825" y="28003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77525" y="28575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525" y="31242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025" y="31242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norm-svc / hot-loop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8825" y="31242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77525" y="3181350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525" y="34480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025" y="34480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cold-tbl / writer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8825" y="34480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2.4TB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77525" y="35052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0525" y="37719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025" y="37719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obs-sink / tap-1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8825" y="37719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15s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77525" y="38290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0525" y="40957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025" y="40957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tok-sign / ed25519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8825" y="40957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4.0ms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77525" y="41529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0525" y="44196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025" y="44196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warm-set / shard-2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8825" y="44196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94.2%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77525" y="44767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0525" y="47434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025" y="47434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flag-svc / eval-rt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8825" y="47434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12.0ms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77525" y="480060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525" y="50673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2025" y="50673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meter-rx / rollup-5m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8825" y="50673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7525" y="512445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0525" y="53911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2025" y="53911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dead-q / quarantine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8825" y="53911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77525" y="54483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FAIL 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" y="57150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2025" y="57150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nightly / cron-03Z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8825" y="57150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77525" y="577215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IDLE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1000" y="1495425"/>
            <a:ext cx="4289227" cy="1428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MANIFESTO / RUNTIME /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7811" y="338138"/>
            <a:ext cx="17031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26 OF 27 // 09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26 — MANIFESTO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0A0A0A"/>
                </a:solidFill>
                <a:latin typeface="Consolas"/>
              </a:rPr>
              <a:t>NINE LAWS //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495425"/>
            <a:ext cx="11430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 xml:space="preserve">A working list. 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UPDATED 2026.04.30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. Replaces all priors.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1812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812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PREFER EXPLICIT OVER CLEVER. NAMES DESCRIBE WHAT, NOT HOW.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0" y="21812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000" y="26289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6289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BUDGETS ARE LAWS. P99 IS A CONTRACT, NOT A WISH.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0" y="26289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000" y="30765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0765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RETRIES ARE IDEMPOTENT OR THEY ARE BUGS.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5500" y="30765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THE HOT PATH ALLOCATES NOTHING IT CAN LEND.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9719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719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EVERY QUEUE HAS A DEPTH. UNBOUNDED IS UNSHIPPED.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0" y="39719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000" y="44196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19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TIMEOUTS BEFORE RETRIES BEFORE CIRCUITS. IN THAT ORDER.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5500" y="44196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" y="48672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672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LOG THE DECISION, NOT THE DATA. PII NEVER CROSSES THE 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5500" y="48672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000" y="531495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3149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FEATURE FLAGS EXPIRE. STALE FLAGS ARE TECHNICAL DEBT.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5500" y="531495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" y="57626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7626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A DASHBOARD THAT NEVER ALERTS IS DECORATION.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5500" y="57626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448425"/>
            <a:ext cx="4009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v1.0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093" y="6448425"/>
            <a:ext cx="572988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09 LAWS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9370" y="6448425"/>
            <a:ext cx="51554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SIG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drafted by platform-core // ratified 2026.04.30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524250"/>
            <a:ext cx="440494" cy="43815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0" y="3524250"/>
            <a:ext cx="566203" cy="438150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9231" y="6448425"/>
            <a:ext cx="572988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UPDATED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81025" y="847130"/>
            <a:ext cx="11229975" cy="325814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625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DOT-MATRIX / LADDER / SAMPLE WINDOW 60s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3178" y="338138"/>
            <a:ext cx="13878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27 OF 27 //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481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27 — DOT MATRIX + LADDER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481712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SATURATION // 14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28080"/>
            <a:ext cx="1198662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2640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DOTS  18</a:t>
            </a:r>
          </a:p>
          <a:p>
            <a:pPr algn="r"/>
            <a:r>
              <a:rPr sz="825" b="1" i="0" u="none">
                <a:solidFill>
                  <a:srgbClr val="0066FF"/>
                </a:solidFill>
                <a:latin typeface="Consolas"/>
              </a:rPr>
              <a:t>FILLED 14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OPEN 4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60s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448425"/>
            <a:ext cx="745034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SAMPLE 60s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8575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WINDOW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8058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END OF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2401" y="6505575"/>
            <a:ext cx="283859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final slide // 27/27 // sig 4f12:7d80:c001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1025" y="2124075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A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norm-svc / cpu sat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3076575"/>
            <a:ext cx="4467225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SAT </a:t>
            </a:r>
            <a:r>
              <a:rPr sz="3150" b="1" i="0" u="none">
                <a:solidFill>
                  <a:srgbClr val="0066FF"/>
                </a:solidFill>
                <a:latin typeface="Consolas"/>
              </a:rPr>
              <a:t>77.8</a:t>
            </a:r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% 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 14/18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1695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9491" y="3533775"/>
            <a:ext cx="400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3981450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B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kfk-buf / partition 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025" y="19526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5525" y="1952625"/>
            <a:ext cx="36957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METRIC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1225" y="19526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9475" y="1952625"/>
            <a:ext cx="76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4025" y="21907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5525" y="21907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1225" y="21907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39475" y="21907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+02.1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4025" y="25050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5525" y="25050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cpu_sys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1225" y="25050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39475" y="25050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4025" y="28194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5525" y="28194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mem_rss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1225" y="28194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3.20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39475" y="28194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4025" y="31337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5525" y="31337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heap_alloc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225" y="31337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812 MB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39475" y="31337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+12.0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4025" y="34480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5525" y="34480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net_rx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1225" y="34480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410 Mbps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39475" y="34480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+18.2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4025" y="37623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5525" y="37623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1225" y="37623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388 Mbps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9475" y="37623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+14.0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34025" y="40767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05525" y="40767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disk_iops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01225" y="40767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8.4K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39475" y="4076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34025" y="43910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05525" y="43910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gc_pause_p99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1225" y="43910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2.1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39475" y="43910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34025" y="47053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05525" y="47053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queue_lag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01225" y="47053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 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39475" y="47053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+04.0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4025" y="50196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05525" y="50196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err_per_5m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1225" y="50196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39475" y="50196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3184" y="6448425"/>
            <a:ext cx="458242" cy="180975"/>
          </a:xfrm>
          <a:prstGeom prst="rect">
            <a:avLst/>
          </a:prstGeom>
          <a:solidFill>
            <a:srgbClr val="0066F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14/18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30000">
                <a:srgbClr val="1A103E"/>
              </a:gs>
              <a:gs pos="55000">
                <a:srgbClr val="0A0820"/>
              </a:gs>
              <a:gs pos="78000">
                <a:srgbClr val="050510"/>
              </a:gs>
              <a:gs pos="100000">
                <a:srgbClr val="050510"/>
              </a:gs>
            </a:gsLst>
            <a:path path="circle">
              <a:fillToRect l="25000" t="18000" r="75000" b="82000"/>
            </a:path>
          </a:gradFill>
          <a:xfrm>
            <a:off x="0" y="0"/>
            <a:ext cx="12192000" cy="70743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7074396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818CF8">
                  <a:alpha val="42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6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5905500" cy="5905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06B6D4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72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39000" y="2476500"/>
            <a:ext cx="6477000" cy="6477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gradFill flip="none" rotWithShape="1">
            <a:gsLst>
              <a:gs pos="0">
                <a:srgbClr val="FFFFFF">
                  <a:alpha val="2400"/>
                </a:srgbClr>
              </a:gs>
              <a:gs pos="100000">
                <a:srgbClr val="FFFFFF">
                  <a:alpha val="24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404812"/>
            <a:ext cx="209550" cy="209550"/>
          </a:xfrm>
          <a:prstGeom prst="roundRect">
            <a:avLst/>
          </a:prstGeom>
          <a:ln>
            <a:noFill/>
          </a:ln>
          <a:effectLst>
            <a:outerShdw blurRad="13335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14400" y="428625"/>
            <a:ext cx="43056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626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Lattice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7783" y="428625"/>
            <a:ext cx="53607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60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0562" y="428625"/>
            <a:ext cx="592187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3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449" y="428625"/>
            <a:ext cx="44588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448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2038" y="428625"/>
            <a:ext cx="69473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96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3468" y="428625"/>
            <a:ext cx="325636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439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1927" y="342900"/>
            <a:ext cx="777041" cy="3333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9" name="Freeform 18"/>
          <p:cNvSpPr/>
          <p:nvPr/>
        </p:nvSpPr>
        <p:spPr>
          <a:xfrm>
            <a:off x="8191500" y="13335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8572500" y="15240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1591925" y="1304925"/>
            <a:ext cx="57150" cy="5715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8162925" y="5114925"/>
            <a:ext cx="57150" cy="5715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762000" y="1619250"/>
            <a:ext cx="2583210" cy="304800"/>
          </a:xfrm>
          <a:prstGeom prst="roundRect">
            <a:avLst/>
          </a:prstGeom>
          <a:solidFill>
            <a:srgbClr val="818CF8">
              <a:alpha val="10000"/>
            </a:srgbClr>
          </a:solidFill>
          <a:ln w="952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866775" y="1738312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028700" y="1695450"/>
            <a:ext cx="106352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C4B5FD"/>
                </a:solidFill>
                <a:latin typeface="Inter"/>
              </a:rPr>
              <a:t>v4 NOW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87476" y="1695450"/>
            <a:ext cx="101485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872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·  SOC 2 TYPE II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2085975"/>
            <a:ext cx="8085237" cy="261878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infrastructure</a:t>
            </a:r>
          </a:p>
          <a:p>
            <a:pPr algn="l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28000">
                      <a:srgbClr val="A78BFA"/>
                    </a:gs>
                    <a:gs pos="55000">
                      <a:srgbClr val="C084FC"/>
                    </a:gs>
                    <a:gs pos="78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for AI-native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6600" b="1" i="0" u="none">
                <a:gradFill rotWithShape="1">
                  <a:gsLst>
                    <a:gs pos="0">
                      <a:srgbClr val="06B6D4"/>
                    </a:gs>
                    <a:gs pos="70000">
                      <a:srgbClr val="6366F1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Inter"/>
              </a:rPr>
              <a:t>product teams.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899720"/>
            <a:ext cx="5857577" cy="779859"/>
          </a:xfrm>
          <a:prstGeom prst="rect">
            <a:avLst/>
          </a:prstGeom>
          <a:noFill/>
        </p:spPr>
        <p:txBody>
          <a:bodyPr wrap="square" lIns="0" rIns="0" tIns="0" bIns="0">
            <a:normAutofit fontScale="85933" lnSpcReduction="0"/>
          </a:bodyPr>
          <a:lstStyle/>
          <a:p>
            <a:pPr algn="l"/>
            <a:r>
              <a:rPr sz="1425" b="1" i="0" u="none">
                <a:solidFill>
                  <a:srgbClr val="E4E4E7"/>
                </a:solidFill>
                <a:latin typeface="Inter"/>
              </a:rPr>
              <a:t>Lattice</a:t>
            </a:r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 is the deployment layer used by 14,000 teams to ship agents,
      pipelines and inference at the edge — without a platform team. One SDK,
      every region, sub-50ms cold starts.
    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971550" y="6198096"/>
            <a:ext cx="1129457" cy="180975"/>
          </a:xfrm>
          <a:prstGeom prst="rect">
            <a:avLst/>
          </a:prstGeom>
          <a:effectLst>
            <a:outerShdw blurRad="342900" dist="114300" dir="5400000" algn="ctr" rotWithShape="0">
              <a:srgbClr val="FFFFFF">
                <a:alpha val="18000"/>
              </a:srgbClr>
            </a:outerShdw>
            <a:outerShdw blurRad="57150" dist="1905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09090B"/>
                </a:solidFill>
                <a:latin typeface="Inter"/>
              </a:rPr>
              <a:t>Start building</a:t>
            </a:r>
            <a:r>
              <a:rPr sz="975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3907" y="6055221"/>
            <a:ext cx="1323231" cy="46672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F5F5F7"/>
                </a:solidFill>
                <a:latin typeface="Inter"/>
              </a:rPr>
              <a:t>Book a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848475"/>
            <a:ext cx="95904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92498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092523" y="6848475"/>
            <a:ext cx="832991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8249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No credit card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96964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3296989" y="6848475"/>
            <a:ext cx="918716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7458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Deploy in &lt; 90s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70369" y="64389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10875169" y="6372225"/>
            <a:ext cx="7072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01 / Index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0" y="0"/>
            <a:ext cx="331544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298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The infrastructure for AI-native product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78000" t="12000" r="22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60000">
                <a:srgbClr val="06B6D4">
                  <a:alpha val="8000"/>
                </a:srgbClr>
              </a:gs>
              <a:gs pos="75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01000" y="-15240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8000"/>
                </a:srgbClr>
              </a:gs>
              <a:gs pos="40000">
                <a:srgbClr val="10B981">
                  <a:alpha val="10000"/>
                </a:srgbClr>
              </a:gs>
              <a:gs pos="70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028700" y="838200"/>
            <a:ext cx="1735420" cy="152400"/>
          </a:xfrm>
          <a:prstGeom prst="rect">
            <a:avLst/>
          </a:prstGeom>
          <a:solidFill>
            <a:srgbClr val="06B6D4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67E8F9"/>
                </a:solidFill>
                <a:latin typeface="Inter"/>
              </a:rPr>
              <a:t>BY THE NUMBERS · FY26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62050"/>
            <a:ext cx="5569744" cy="993428"/>
          </a:xfrm>
          <a:prstGeom prst="rect">
            <a:avLst/>
          </a:prstGeom>
          <a:noFill/>
        </p:spPr>
        <p:txBody>
          <a:bodyPr wrap="square" lIns="0" rIns="0" tIns="0" bIns="0">
            <a:normAutofit fontScale="54858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Trusted at </a:t>
            </a:r>
            <a:r>
              <a:rPr sz="34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production scale</a:t>
            </a:r>
          </a:p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across every region.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0" y="1677293"/>
            <a:ext cx="3619500" cy="442912"/>
          </a:xfrm>
          <a:prstGeom prst="rect">
            <a:avLst/>
          </a:prstGeom>
          <a:noFill/>
        </p:spPr>
        <p:txBody>
          <a:bodyPr wrap="square" lIns="0" rIns="0" tIns="0" bIns="0">
            <a:normAutofit fontScale="53811" lnSpcReduction="0"/>
          </a:bodyPr>
          <a:lstStyle/>
          <a:p>
            <a:pPr algn="r"/>
            <a:r>
              <a:rPr sz="1125" b="0" i="0" u="none">
                <a:solidFill>
                  <a:srgbClr val="A1A1AA"/>
                </a:solidFill>
                <a:latin typeface="Inter"/>
              </a:rPr>
              <a:t>Live telemetry from the Lattice control plane — last 30 days, all customer environments included.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76200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76200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7152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01302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20352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327475" y="2657475"/>
            <a:ext cx="38100" cy="381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1038225" y="3176588"/>
            <a:ext cx="107617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Requests 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7401" y="3133725"/>
            <a:ext cx="602252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8225" y="3400425"/>
            <a:ext cx="2341215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82217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38.6</a:t>
            </a:r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822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Across 14,200 deployments in 31 regions. p95 latency steady at 47ms.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38225" y="5230416"/>
            <a:ext cx="2667000" cy="247650"/>
          </a:xfrm>
          <a:custGeom>
            <a:avLst/>
            <a:gdLst/>
            <a:ahLst/>
            <a:cxnLst/>
            <a:rect l="l" t="t" r="r" b="b"/>
            <a:pathLst>
              <a:path w="2667000" h="247650">
                <a:moveTo>
                  <a:pt x="0" y="247650"/>
                </a:moveTo>
                <a:lnTo>
                  <a:pt x="228600" y="228600"/>
                </a:lnTo>
                <a:close/>
                <a:lnTo>
                  <a:pt x="457200" y="190500"/>
                </a:lnTo>
                <a:close/>
                <a:lnTo>
                  <a:pt x="685800" y="209550"/>
                </a:lnTo>
                <a:close/>
                <a:lnTo>
                  <a:pt x="914400" y="152400"/>
                </a:lnTo>
                <a:close/>
                <a:lnTo>
                  <a:pt x="1143000" y="133350"/>
                </a:lnTo>
                <a:close/>
                <a:lnTo>
                  <a:pt x="1371600" y="95250"/>
                </a:lnTo>
                <a:close/>
                <a:lnTo>
                  <a:pt x="1600200" y="114300"/>
                </a:lnTo>
                <a:close/>
                <a:lnTo>
                  <a:pt x="1828800" y="57150"/>
                </a:lnTo>
                <a:close/>
                <a:lnTo>
                  <a:pt x="2057400" y="76200"/>
                </a:lnTo>
                <a:close/>
                <a:lnTo>
                  <a:pt x="2286000" y="38100"/>
                </a:lnTo>
                <a:close/>
                <a:lnTo>
                  <a:pt x="2514600" y="19050"/>
                </a:lnTo>
                <a:close/>
                <a:lnTo>
                  <a:pt x="2667000" y="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9415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9415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0367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645176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835676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7959626" y="2657475"/>
            <a:ext cx="38100" cy="381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670375" y="3176588"/>
            <a:ext cx="112633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Active customers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0445" y="3133725"/>
            <a:ext cx="599126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4.2×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0375" y="3400425"/>
            <a:ext cx="2168426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76150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14.2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037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Including 312 of the Forbes 2000. Net dollar retention of 137% YoY.</a:t>
            </a:r>
          </a:p>
        </p:txBody>
      </p:sp>
      <p:sp>
        <p:nvSpPr>
          <p:cNvPr id="38" name="Freeform 37"/>
          <p:cNvSpPr/>
          <p:nvPr/>
        </p:nvSpPr>
        <p:spPr>
          <a:xfrm>
            <a:off x="4670375" y="5230416"/>
            <a:ext cx="2667000" cy="266700"/>
          </a:xfrm>
          <a:custGeom>
            <a:avLst/>
            <a:gdLst/>
            <a:ahLst/>
            <a:cxnLst/>
            <a:rect l="l" t="t" r="r" b="b"/>
            <a:pathLst>
              <a:path w="2667000" h="266700">
                <a:moveTo>
                  <a:pt x="0" y="266700"/>
                </a:moveTo>
                <a:lnTo>
                  <a:pt x="228600" y="247650"/>
                </a:lnTo>
                <a:close/>
                <a:lnTo>
                  <a:pt x="457200" y="228600"/>
                </a:lnTo>
                <a:close/>
                <a:lnTo>
                  <a:pt x="685800" y="190500"/>
                </a:lnTo>
                <a:close/>
                <a:lnTo>
                  <a:pt x="914400" y="171450"/>
                </a:lnTo>
                <a:close/>
                <a:lnTo>
                  <a:pt x="1143000" y="152400"/>
                </a:lnTo>
                <a:close/>
                <a:lnTo>
                  <a:pt x="1371600" y="114300"/>
                </a:lnTo>
                <a:close/>
                <a:lnTo>
                  <a:pt x="1600200" y="95250"/>
                </a:lnTo>
                <a:close/>
                <a:lnTo>
                  <a:pt x="1828800" y="76200"/>
                </a:lnTo>
                <a:close/>
                <a:lnTo>
                  <a:pt x="2057400" y="57150"/>
                </a:lnTo>
                <a:close/>
                <a:lnTo>
                  <a:pt x="2286000" y="38100"/>
                </a:lnTo>
                <a:close/>
                <a:lnTo>
                  <a:pt x="2514600" y="19050"/>
                </a:lnTo>
                <a:close/>
                <a:lnTo>
                  <a:pt x="2667000" y="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26301" y="2857500"/>
            <a:ext cx="3403699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26301" y="2857500"/>
            <a:ext cx="3403699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35826" y="2867025"/>
            <a:ext cx="3384649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27747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46797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1591925" y="2657475"/>
            <a:ext cx="38100" cy="38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3176588"/>
            <a:ext cx="1144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Uptime, last 12mo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2367" y="3133725"/>
            <a:ext cx="514629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99.99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3400425"/>
            <a:ext cx="1368921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57200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4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×9s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526" y="4607719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Zero customer-impacting incidents on the data plane. RTO &lt; 60s globally.</a:t>
            </a:r>
          </a:p>
        </p:txBody>
      </p:sp>
      <p:sp>
        <p:nvSpPr>
          <p:cNvPr id="51" name="Freeform 50"/>
          <p:cNvSpPr/>
          <p:nvPr/>
        </p:nvSpPr>
        <p:spPr>
          <a:xfrm>
            <a:off x="8302526" y="5258991"/>
            <a:ext cx="2667000" cy="19050"/>
          </a:xfrm>
          <a:custGeom>
            <a:avLst/>
            <a:gdLst/>
            <a:ahLst/>
            <a:cxnLst/>
            <a:rect l="l" t="t" r="r" b="b"/>
            <a:pathLst>
              <a:path w="2667000" h="19050">
                <a:moveTo>
                  <a:pt x="0" y="9525"/>
                </a:moveTo>
                <a:lnTo>
                  <a:pt x="228600" y="9525"/>
                </a:lnTo>
                <a:close/>
                <a:lnTo>
                  <a:pt x="457200" y="19050"/>
                </a:lnTo>
                <a:close/>
                <a:lnTo>
                  <a:pt x="685800" y="9525"/>
                </a:lnTo>
                <a:close/>
                <a:lnTo>
                  <a:pt x="914400" y="0"/>
                </a:lnTo>
                <a:close/>
                <a:lnTo>
                  <a:pt x="1143000" y="9525"/>
                </a:lnTo>
                <a:close/>
                <a:lnTo>
                  <a:pt x="1371600" y="9525"/>
                </a:lnTo>
                <a:close/>
                <a:lnTo>
                  <a:pt x="1600200" y="19050"/>
                </a:lnTo>
                <a:close/>
                <a:lnTo>
                  <a:pt x="1828800" y="9525"/>
                </a:lnTo>
                <a:close/>
                <a:lnTo>
                  <a:pt x="2057400" y="0"/>
                </a:lnTo>
                <a:close/>
                <a:lnTo>
                  <a:pt x="2286000" y="9525"/>
                </a:lnTo>
                <a:close/>
                <a:lnTo>
                  <a:pt x="2514600" y="9525"/>
                </a:lnTo>
                <a:close/>
                <a:lnTo>
                  <a:pt x="2667000" y="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762000" y="6353175"/>
            <a:ext cx="32155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Source · 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status.lattice.dev</a:t>
            </a:r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 · Apr 30, 2026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75702" y="641985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699552" y="6353175"/>
            <a:ext cx="7304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02 / Index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197078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463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Trusted at production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50000" t="8000" r="50000" b="92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40000">
                <a:srgbClr val="6366F1">
                  <a:alpha val="16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667000" y="571500"/>
            <a:ext cx="6858000" cy="3619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233690" y="685800"/>
            <a:ext cx="1646118" cy="152400"/>
          </a:xfrm>
          <a:prstGeom prst="rect">
            <a:avLst/>
          </a:prstGeom>
          <a:solidFill>
            <a:srgbClr val="818CF8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C4B5FD"/>
                </a:solidFill>
                <a:latin typeface="Inter"/>
              </a:rPr>
              <a:t>SIMPLE, USAGE-BASED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1123" y="990600"/>
            <a:ext cx="7549604" cy="561975"/>
          </a:xfrm>
          <a:prstGeom prst="rect">
            <a:avLst/>
          </a:prstGeom>
          <a:noFill/>
        </p:spPr>
        <p:txBody>
          <a:bodyPr wrap="none" lIns="0" rIns="0" tIns="0" bIns="0">
            <a:normAutofit fontScale="97512" lnSpcReduction="0"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 xml:space="preserve">Pricing that scales </a:t>
            </a:r>
            <a:r>
              <a:rPr sz="3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with your traffic.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581150"/>
            <a:ext cx="5334000" cy="221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0" i="0" u="none">
                <a:solidFill>
                  <a:srgbClr val="A1A1AA"/>
                </a:solidFill>
                <a:latin typeface="Inter"/>
              </a:rPr>
              <a:t>Start free. Pay only for what you ship. No platform fees, no per-seat lock-in.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79615" y="1955006"/>
            <a:ext cx="2632770" cy="3619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827240" y="2002631"/>
            <a:ext cx="75813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Monthly</a:t>
            </a:r>
          </a:p>
        </p:txBody>
      </p:sp>
      <p:sp>
        <p:nvSpPr>
          <p:cNvPr id="14" name="TextBox 13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5718721" y="2059781"/>
            <a:ext cx="1379339" cy="152400"/>
          </a:xfrm>
          <a:prstGeom prst="rect">
            <a:avLst/>
          </a:prstGeom>
          <a:effectLst>
            <a:outerShdw blurRad="114300" dist="38100" dir="5400000" algn="ctr" rotWithShape="0">
              <a:srgbClr val="FFFFFF">
                <a:alpha val="18000"/>
              </a:srgbClr>
            </a:outerShdw>
          </a:effectLst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820"/>
                </a:solidFill>
                <a:latin typeface="Inter"/>
              </a:rPr>
              <a:t>Annual</a:t>
            </a:r>
            <a:r>
              <a:rPr sz="975" b="1" i="0" u="none">
                <a:solidFill>
                  <a:srgbClr val="A3E635"/>
                </a:solidFill>
                <a:latin typeface="Inter"/>
              </a:rPr>
              <a:t xml:space="preserve">  · Save 20%</a:t>
            </a:r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438823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438823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809875"/>
            <a:ext cx="2962573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Starter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067050"/>
            <a:ext cx="683865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8740" y="3409950"/>
            <a:ext cx="4897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3657600"/>
            <a:ext cx="296257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builders shipping side projects.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3962400"/>
            <a:ext cx="77704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475" y="4555034"/>
            <a:ext cx="160168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552" lnSpcReduction="0"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1M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 / mo included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475" y="4821734"/>
            <a:ext cx="1550045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078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3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2 regions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475" y="5078909"/>
            <a:ext cx="120357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14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Community support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475" y="5345609"/>
            <a:ext cx="1547366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23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Edge runtime + KV cache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725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475" y="5612309"/>
            <a:ext cx="100235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60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GitHub previews</a:t>
            </a:r>
          </a:p>
        </p:txBody>
      </p:sp>
      <p:sp>
        <p:nvSpPr>
          <p:cNvPr id="34" name="Rectangle 33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9625" y="5934075"/>
            <a:ext cx="3038773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847725" y="6038850"/>
            <a:ext cx="2962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No credit card required.</a:t>
            </a:r>
          </a:p>
        </p:txBody>
      </p:sp>
      <p:sp>
        <p:nvSpPr>
          <p:cNvPr id="36" name="Rectangle 35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4C1D95">
                  <a:alpha val="45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0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4238923" y="2438400"/>
            <a:ext cx="3714006" cy="421005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7145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4238923" y="2438400"/>
            <a:ext cx="3714006" cy="421005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8333">
                <a:srgbClr val="18B1DF"/>
              </a:gs>
              <a:gs pos="16667">
                <a:srgbClr val="30ABE8"/>
              </a:gs>
              <a:gs pos="25000">
                <a:srgbClr val="46A4F0"/>
              </a:gs>
              <a:gs pos="33333">
                <a:srgbClr val="5B9DF5"/>
              </a:gs>
              <a:gs pos="41667">
                <a:srgbClr val="6F95F8"/>
              </a:gs>
              <a:gs pos="50000">
                <a:srgbClr val="818CF8"/>
              </a:gs>
              <a:gs pos="58333">
                <a:srgbClr val="9781F6"/>
              </a:gs>
              <a:gs pos="66667">
                <a:srgbClr val="AC76EE"/>
              </a:gs>
              <a:gs pos="75000">
                <a:srgbClr val="BF6BE0"/>
              </a:gs>
              <a:gs pos="83333">
                <a:srgbClr val="D05FCD"/>
              </a:gs>
              <a:gs pos="91667">
                <a:srgbClr val="DF54B5"/>
              </a:gs>
              <a:gs pos="100000">
                <a:srgbClr val="EC4899"/>
              </a:gs>
            </a:gsLst>
            <a:lin ang="1200000" scaled="0"/>
          </a:gradFill>
          <a:xfrm>
            <a:off x="5470624" y="2333625"/>
            <a:ext cx="834279" cy="228600"/>
          </a:xfrm>
          <a:prstGeom prst="rect">
            <a:avLst/>
          </a:prstGeom>
          <a:effectLst>
            <a:outerShdw blurRad="171450" dist="57150" dir="5400000" algn="ctr" rotWithShape="0">
              <a:srgbClr val="C084FC">
                <a:alpha val="45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820"/>
                </a:solidFill>
                <a:latin typeface="Inter"/>
              </a:rPr>
              <a:t>Most popular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7048" y="2695575"/>
            <a:ext cx="32377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Pro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7048" y="2952750"/>
            <a:ext cx="1016347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$49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50545" y="3295650"/>
            <a:ext cx="67687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43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seat / 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7048" y="3543300"/>
            <a:ext cx="323775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teams shipping production AI features.</a:t>
            </a:r>
          </a:p>
        </p:txBody>
      </p:sp>
      <p:sp>
        <p:nvSpPr>
          <p:cNvPr id="47" name="TextBox 4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477048" y="3848100"/>
            <a:ext cx="1206912" cy="390525"/>
          </a:xfrm>
          <a:prstGeom prst="rect">
            <a:avLst/>
          </a:prstGeom>
          <a:effectLst>
            <a:outerShdw blurRad="266700" dist="95250" dir="5400000" algn="ctr" rotWithShape="0">
              <a:srgbClr val="FFFFFF">
                <a:alpha val="20000"/>
              </a:srgbClr>
            </a:outerShdw>
            <a:outerShdw blurRad="57150" dist="19050" dir="5400000" algn="ctr" rotWithShape="0">
              <a:srgbClr val="000000">
                <a:alpha val="2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820"/>
                </a:solidFill>
                <a:latin typeface="Inter"/>
              </a:rPr>
              <a:t>Start 14-day trial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7048" y="44100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2798" y="4421684"/>
            <a:ext cx="18352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9748" lnSpcReduction="0"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50M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requests, then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$0.40 /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77048" y="46767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62798" y="4688384"/>
            <a:ext cx="209892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2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Unlimited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31 regions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77048" y="49434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62798" y="4955084"/>
            <a:ext cx="17883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985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SLO dashboards +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p95 alerts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7048" y="52101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798" y="5212259"/>
            <a:ext cx="205606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14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SSO, audit log, role-based access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7048" y="54768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798" y="5478959"/>
            <a:ext cx="1312515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21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Priority Slack support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77048" y="57435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798" y="5745659"/>
            <a:ext cx="2088654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48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Custom domains + edge functions</a:t>
            </a:r>
          </a:p>
        </p:txBody>
      </p:sp>
      <p:sp>
        <p:nvSpPr>
          <p:cNvPr id="60" name="Rectangle 5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38948" y="6067425"/>
            <a:ext cx="3313956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4477048" y="6172200"/>
            <a:ext cx="32377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Starter.</a:t>
            </a:r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143429" y="2552700"/>
            <a:ext cx="3438971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143429" y="2552700"/>
            <a:ext cx="3438971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8381554" y="2809875"/>
            <a:ext cx="296272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Enterprise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81554" y="3067050"/>
            <a:ext cx="1952625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6593" lnSpcReduction="0"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81554" y="3657600"/>
            <a:ext cx="29627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platforms with regulated workloads.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1554" y="3962400"/>
            <a:ext cx="97713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1554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67304" y="4555034"/>
            <a:ext cx="1983284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78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Volume pricing &amp;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committed 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81554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67304" y="4821734"/>
            <a:ext cx="219848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06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VPC peering, BYOK,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SOC 2 + HIPAA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81554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67304" y="5078909"/>
            <a:ext cx="176822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78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Dedicated solutions architect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81554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67304" y="5345609"/>
            <a:ext cx="165184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39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99.99% SLA + 24/7 on-call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1554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67304" y="5612309"/>
            <a:ext cx="172834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518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SSO/SCIM, custom retention</a:t>
            </a:r>
          </a:p>
        </p:txBody>
      </p:sp>
      <p:sp>
        <p:nvSpPr>
          <p:cNvPr id="80" name="Rectangle 7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343454" y="5934075"/>
            <a:ext cx="3038921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8381554" y="6038850"/>
            <a:ext cx="29627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Pro.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52097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All prices in USD · Billed monthly or annually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9979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3829" y="6486525"/>
            <a:ext cx="7085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03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249882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Pricing that scales with your traffic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20000" t="80000" r="80000" b="2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8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10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533400"/>
            <a:ext cx="1570179" cy="15240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BEF264"/>
                </a:solidFill>
                <a:latin typeface="Inter"/>
              </a:rPr>
              <a:t>PLATFORM · ONE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838200"/>
            <a:ext cx="4389239" cy="905768"/>
          </a:xfrm>
          <a:prstGeom prst="rect">
            <a:avLst/>
          </a:prstGeom>
          <a:noFill/>
        </p:spPr>
        <p:txBody>
          <a:bodyPr wrap="square" lIns="0" rIns="0" tIns="0" bIns="0">
            <a:normAutofit fontScale="50973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Everything you need</a:t>
            </a:r>
          </a:p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to ship 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06B6D4"/>
                    </a:gs>
                  </a:gsLst>
                  <a:lin ang="900000" scaled="0"/>
                </a:gradFill>
                <a:latin typeface="Inter"/>
              </a:rPr>
              <a:t>AI in production.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3900" y="1096566"/>
            <a:ext cx="3238500" cy="61972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r"/>
            <a:r>
              <a:rPr sz="1050" b="0" i="0" u="none">
                <a:solidFill>
                  <a:srgbClr val="A1A1AA"/>
                </a:solidFill>
                <a:latin typeface="Inter"/>
              </a:rPr>
              <a:t>Six primitives, designed to compose. Pick the ones you need — replace any of them with your own when you outgrow us.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4C1D95">
                  <a:alpha val="50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2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609600" y="2171700"/>
            <a:ext cx="4467523" cy="4375547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9050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171700"/>
            <a:ext cx="4467523" cy="4375547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266825" y="2524125"/>
            <a:ext cx="123036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9D5FF"/>
                </a:solidFill>
                <a:latin typeface="Inter"/>
              </a:rPr>
              <a:t xml:space="preserve">
        Inference Edge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" y="2867025"/>
            <a:ext cx="3136702" cy="15780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Sub-50ms</a:t>
            </a:r>
            <a:r>
              <a:rPr sz="2850" b="1" i="0" u="none">
                <a:solidFill>
                  <a:srgbClr val="F5F5F7"/>
                </a:solidFill>
                <a:latin typeface="Inter"/>
              </a:rPr>
              <a:t xml:space="preserve"> inference, in every region your users live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875" y="4577358"/>
            <a:ext cx="3462784" cy="576262"/>
          </a:xfrm>
          <a:prstGeom prst="rect">
            <a:avLst/>
          </a:prstGeom>
          <a:noFill/>
        </p:spPr>
        <p:txBody>
          <a:bodyPr wrap="square" lIns="0" rIns="0" tIns="0" bIns="0">
            <a:normAutofit fontScale="65610" lnSpcReduction="0"/>
          </a:bodyPr>
          <a:lstStyle/>
          <a:p>
            <a:pPr algn="l"/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
        Cold-start </a:t>
            </a:r>
            <a:r>
              <a:rPr sz="1087" b="1" i="0" u="none">
                <a:solidFill>
                  <a:srgbClr val="FBCFE8"/>
                </a:solidFill>
                <a:latin typeface="Inter"/>
              </a:rPr>
              <a:t>under 90ms</a:t>
            </a:r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 on Anthropic, OpenAI, Mistral and any model you bring.
        Automatic fallback, streaming-first, request-level cost telemetry.
    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5513189"/>
            <a:ext cx="3509814" cy="498872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Consolas"/>
              </a:rPr>
              <a:t>// One call. Any model. Any region.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
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const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r =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await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lattice.</a:t>
            </a:r>
            <a:r>
              <a:rPr sz="900" b="0" i="0" u="none">
                <a:solidFill>
                  <a:srgbClr val="67E8F9"/>
                </a:solidFill>
                <a:latin typeface="Consolas"/>
              </a:rPr>
              <a:t>infer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({
  model: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"claude-opus-4.7"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region: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"auto"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stream: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true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});
 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" y="6318647"/>
            <a:ext cx="706124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Streaming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4981" y="6318647"/>
            <a:ext cx="601247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Failover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77839" y="6318647"/>
            <a:ext cx="717891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31 regions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0327" y="6318647"/>
            <a:ext cx="76429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Cost-aware</a:t>
            </a:r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2171700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2171700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829598" y="2447925"/>
            <a:ext cx="11443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Observability
  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7648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79051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Trace every token, prompt, retry.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7648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926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OTel-native. Pipe to Datadog, Honeycomb, or query in-product.</a:t>
            </a:r>
          </a:p>
        </p:txBody>
      </p:sp>
      <p:sp>
        <p:nvSpPr>
          <p:cNvPr id="33" name="Rounded Rectangle 32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467648" y="4213920"/>
            <a:ext cx="212824" cy="1541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737622" y="4110930"/>
            <a:ext cx="212973" cy="257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007745" y="4152156"/>
            <a:ext cx="212824" cy="2159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277719" y="4039046"/>
            <a:ext cx="212973" cy="32905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547842" y="4069854"/>
            <a:ext cx="212824" cy="29825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817816" y="3967014"/>
            <a:ext cx="212973" cy="40109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087939" y="4008090"/>
            <a:ext cx="212824" cy="36001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357914" y="3915519"/>
            <a:ext cx="212824" cy="4525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627888" y="3956745"/>
            <a:ext cx="212824" cy="41136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897862" y="3874443"/>
            <a:ext cx="212824" cy="493663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2171700"/>
            <a:ext cx="3081189" cy="2050703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2171700"/>
            <a:ext cx="3081189" cy="9228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082236" y="2447925"/>
            <a:ext cx="46345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Evals
  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20286" y="2790825"/>
            <a:ext cx="2643039" cy="24095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CI for prompts &amp;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0286" y="3107978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Block deploys when quality regresses. Score: F1, BLEU, custom rubric.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286" y="3612803"/>
            <a:ext cx="609600" cy="6096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880872" y="3841403"/>
            <a:ext cx="28842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3E635"/>
                </a:solidFill>
                <a:latin typeface="Inter"/>
              </a:rPr>
              <a:t>92%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3236" y="3722340"/>
            <a:ext cx="80575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+3.4 pts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3236" y="3960465"/>
            <a:ext cx="805755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089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vs. last release</a:t>
            </a:r>
          </a:p>
        </p:txBody>
      </p:sp>
      <p:sp>
        <p:nvSpPr>
          <p:cNvPr id="54" name="Rounded Rectangle 53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4295775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4295775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829598" y="4572000"/>
            <a:ext cx="66838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Caching
     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648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94412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Semantic + KV cache, free.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67648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Up to 78% cost reduction on repeat prompts. Auto-invalidates on schema drift.</a:t>
            </a:r>
          </a:p>
        </p:txBody>
      </p:sp>
      <p:sp>
        <p:nvSpPr>
          <p:cNvPr id="61" name="Rounded Rectangle 60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467648" y="6029325"/>
            <a:ext cx="212824" cy="46285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737622" y="6111627"/>
            <a:ext cx="212973" cy="38055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007745" y="6183660"/>
            <a:ext cx="212824" cy="30852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277719" y="6245423"/>
            <a:ext cx="212973" cy="24675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547842" y="6307038"/>
            <a:ext cx="212824" cy="18514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817816" y="6358533"/>
            <a:ext cx="212973" cy="13364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087939" y="6379071"/>
            <a:ext cx="212824" cy="11310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357914" y="6399609"/>
            <a:ext cx="212824" cy="9257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627888" y="6420296"/>
            <a:ext cx="212824" cy="7188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897862" y="6440835"/>
            <a:ext cx="212824" cy="5134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4295775"/>
            <a:ext cx="3081189" cy="206305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4295775"/>
            <a:ext cx="3081189" cy="92837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9082236" y="4572000"/>
            <a:ext cx="9277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Guardrails
     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20286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68995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Policy &amp; PII, before the model sees it.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20286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Drop-in moderation. SOC 2 + HIPAA-ready, per-tenant 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20286" y="5844480"/>
            <a:ext cx="35525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PII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32689" y="5844480"/>
            <a:ext cx="58369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Toxicity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56589" y="5844480"/>
            <a:ext cx="64790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Jailbreak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20286" y="6130230"/>
            <a:ext cx="674150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+24 more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1340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Six primitives · One SDK · Six lines of code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6854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0704" y="6486525"/>
            <a:ext cx="7116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04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3188196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0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Everything you need to ship AI in 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D4D4D8">
                  <a:alpha val="45000"/>
                </a:srgbClr>
              </a:gs>
              <a:gs pos="16667">
                <a:srgbClr val="D4D4D8">
                  <a:alpha val="37500"/>
                </a:srgbClr>
              </a:gs>
              <a:gs pos="33333">
                <a:srgbClr val="D4D4D8">
                  <a:alpha val="30000"/>
                </a:srgbClr>
              </a:gs>
              <a:gs pos="50000">
                <a:srgbClr val="D4D4D8">
                  <a:alpha val="22500"/>
                </a:srgbClr>
              </a:gs>
              <a:gs pos="66667">
                <a:srgbClr val="D4D4D8">
                  <a:alpha val="15000"/>
                </a:srgbClr>
              </a:gs>
              <a:gs pos="83333">
                <a:srgbClr val="D4D4D8">
                  <a:alpha val="7500"/>
                </a:srgbClr>
              </a:gs>
              <a:gs pos="100000">
                <a:srgbClr val="D4D4D8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80000" t="90000" r="20000" b="1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F472B6">
                  <a:alpha val="20000"/>
                </a:srgbClr>
              </a:gs>
              <a:gs pos="38000">
                <a:srgbClr val="C084FC">
                  <a:alpha val="14000"/>
                </a:srgbClr>
              </a:gs>
              <a:gs pos="60000">
                <a:srgbClr val="6366F1">
                  <a:alpha val="8000"/>
                </a:srgbClr>
              </a:gs>
              <a:gs pos="75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685800"/>
            <a:ext cx="2168505" cy="152400"/>
          </a:xfrm>
          <a:prstGeom prst="rect">
            <a:avLst/>
          </a:prstGeom>
          <a:solidFill>
            <a:srgbClr val="EC4899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9A8D4"/>
                </a:solidFill>
                <a:latin typeface="Inter"/>
              </a:rPr>
              <a:t>CUSTOMERS · IN THEIR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990600"/>
            <a:ext cx="5827961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4180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Teams ship faster </a:t>
            </a:r>
            <a:r>
              <a:rPr sz="3450" b="1" i="0" u="none">
                <a:gradFill rotWithShape="1">
                  <a:gsLst>
                    <a:gs pos="0">
                      <a:srgbClr val="FBBF24"/>
                    </a:gs>
                    <a:gs pos="50000">
                      <a:srgbClr val="F472B6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on Lattice.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1469" y="1117253"/>
            <a:ext cx="197093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FBBF24"/>
                </a:solidFill>
                <a:latin typeface="Inter"/>
              </a:rPr>
              <a:t>★ ★ ★ ★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1469" y="1336328"/>
            <a:ext cx="197093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421" lnSpcReduction="0"/>
          </a:bodyPr>
          <a:lstStyle/>
          <a:p>
            <a:pPr algn="r"/>
            <a:r>
              <a:rPr sz="975" b="1" i="0" u="none">
                <a:solidFill>
                  <a:srgbClr val="F5F5F7"/>
                </a:solidFill>
                <a:latin typeface="Inter"/>
              </a:rPr>
              <a:t>4.9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G2 · </a:t>
            </a:r>
            <a:r>
              <a:rPr sz="975" b="1" i="0" u="none">
                <a:solidFill>
                  <a:srgbClr val="F5F5F7"/>
                </a:solidFill>
                <a:latin typeface="Inter"/>
              </a:rPr>
              <a:t>240+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verified reviews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307017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26067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419475"/>
            <a:ext cx="3038177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We replaced four vendors with Lattice and our AI cost dropped </a:t>
            </a:r>
            <a:r>
              <a:rPr sz="12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72% in a quarter.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The eval pipeline alone saved us from shipping a regression on launch day.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4478536"/>
            <a:ext cx="792380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72%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2749" y="4478536"/>
            <a:ext cx="63035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Series C</a:t>
            </a:r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847725" y="5381625"/>
            <a:ext cx="45720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MR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38275" y="5448300"/>
            <a:ext cx="1423988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Maya Reyes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275" y="5629275"/>
            <a:ext cx="1423988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36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Head of Platform · Notion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8582" y="5486400"/>
            <a:ext cx="44393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NTN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370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370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797576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988076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5751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5125" y="3419475"/>
            <a:ext cx="2901553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From </a:t>
            </a:r>
            <a:r>
              <a:rPr sz="12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prototype to 8M users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without a platform team. The observability story is what closed it for us — every prompt, every retry, traced.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5125" y="4478536"/>
            <a:ext cx="768897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8M MAU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1780" y="4478536"/>
            <a:ext cx="68284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Public co.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4575125" y="5381625"/>
            <a:ext cx="40645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JK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5675" y="5448300"/>
            <a:ext cx="124762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Jordan Kim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5675" y="5629275"/>
            <a:ext cx="1247626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Staff Engineer · Linear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7711" y="5486400"/>
            <a:ext cx="43820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LNR</a:t>
            </a:r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64401" y="2552700"/>
            <a:ext cx="3517999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64401" y="2552700"/>
            <a:ext cx="3517999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52512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071562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2733675"/>
            <a:ext cx="3041749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526" y="3419475"/>
            <a:ext cx="3017044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Our security review took </a:t>
            </a:r>
            <a:r>
              <a:rPr sz="12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three days, not three months.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SOC 2, BYOK, audit logs — everything was already in the box. It just worked.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4478536"/>
            <a:ext cx="830289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30× faster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0653" y="4478536"/>
            <a:ext cx="706278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Regulated</a:t>
            </a:r>
          </a:p>
        </p:txBody>
      </p:sp>
      <p:sp>
        <p:nvSpPr>
          <p:cNvPr id="51" name="TextBox 50"/>
          <p:cNvSpPr txBox="1"/>
          <p:nvPr/>
        </p:nvSpPr>
        <p:spPr>
          <a:gradFill flip="none" rotWithShape="1">
            <a:gsLst>
              <a:gs pos="0">
                <a:srgbClr val="A3E635"/>
              </a:gs>
              <a:gs pos="8333">
                <a:srgbClr val="8FE451"/>
              </a:gs>
              <a:gs pos="16667">
                <a:srgbClr val="7BE266"/>
              </a:gs>
              <a:gs pos="25000">
                <a:srgbClr val="68DF76"/>
              </a:gs>
              <a:gs pos="33333">
                <a:srgbClr val="55DC84"/>
              </a:gs>
              <a:gs pos="41667">
                <a:srgbClr val="44D88F"/>
              </a:gs>
              <a:gs pos="50000">
                <a:srgbClr val="34D399"/>
              </a:gs>
              <a:gs pos="58333">
                <a:srgbClr val="2FCF95"/>
              </a:gs>
              <a:gs pos="66667">
                <a:srgbClr val="2ACA91"/>
              </a:gs>
              <a:gs pos="75000">
                <a:srgbClr val="25C68D"/>
              </a:gs>
              <a:gs pos="83333">
                <a:srgbClr val="1FC289"/>
              </a:gs>
              <a:gs pos="91667">
                <a:srgbClr val="18BD85"/>
              </a:gs>
              <a:gs pos="100000">
                <a:srgbClr val="10B981"/>
              </a:gs>
            </a:gsLst>
            <a:lin ang="2700000" scaled="0"/>
          </a:gradFill>
          <a:xfrm>
            <a:off x="8302526" y="5381625"/>
            <a:ext cx="448791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AO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3076" y="5448300"/>
            <a:ext cx="71511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6384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Ade Okafor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3076" y="5629275"/>
            <a:ext cx="715119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0989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CISO · Ramp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68918" y="5486400"/>
            <a:ext cx="461428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RMP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6486525"/>
            <a:ext cx="24525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240+ teams · 31 regions · One SDK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51170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10875020" y="6486525"/>
            <a:ext cx="7073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05 / Index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0" y="0"/>
            <a:ext cx="2025253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74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Teams ship faster on Lattice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40000"/>
                </a:srgbClr>
              </a:gs>
              <a:gs pos="38000">
                <a:srgbClr val="6366F1">
                  <a:alpha val="22000"/>
                </a:srgbClr>
              </a:gs>
              <a:gs pos="60000">
                <a:srgbClr val="06B6D4">
                  <a:alpha val="10000"/>
                </a:srgbClr>
              </a:gs>
              <a:gs pos="78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09750" y="-2095500"/>
            <a:ext cx="85725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40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714500" y="4762500"/>
            <a:ext cx="8763000" cy="4000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29903" y="1504950"/>
            <a:ext cx="9932045" cy="266164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0" y="1638300"/>
            <a:ext cx="12192000" cy="1882080"/>
          </a:xfrm>
          <a:prstGeom prst="rect">
            <a:avLst/>
          </a:prstGeom>
          <a:noFill/>
        </p:spPr>
        <p:txBody>
          <a:bodyPr wrap="square" lIns="0" rIns="0" tIns="0" bIns="0">
            <a:normAutofit fontScale="68231" lnSpcReduction="0"/>
          </a:bodyPr>
          <a:lstStyle/>
          <a:p>
            <a:pPr algn="ctr"/>
            <a:r>
              <a:rPr sz="7800" b="1" i="0" u="none">
                <a:solidFill>
                  <a:srgbClr val="F5F5F7"/>
                </a:solidFill>
                <a:latin typeface="Inter"/>
              </a:rPr>
              <a:t>Ship the future,</a:t>
            </a:r>
          </a:p>
          <a:p>
            <a:pPr algn="ctr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22000">
                      <a:srgbClr val="A78BFA"/>
                    </a:gs>
                    <a:gs pos="48000">
                      <a:srgbClr val="C084FC"/>
                    </a:gs>
                    <a:gs pos="72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faster than yesterday.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638550"/>
            <a:ext cx="12192000" cy="56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Spin up your first deployment in </a:t>
            </a:r>
            <a:r>
              <a:rPr sz="1425" b="1" i="0" u="none">
                <a:solidFill>
                  <a:srgbClr val="E4E4E7"/>
                </a:solidFill>
                <a:latin typeface="Inter"/>
              </a:rPr>
              <a:t>under 90 seconds.</a:t>
            </a:r>
          </a:p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>30-day free trial · no credit card · cancel anytime.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2150" y="5219700"/>
            <a:ext cx="95904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3199" y="5219700"/>
            <a:ext cx="80099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82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SOC 2 Type 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193" y="5219700"/>
            <a:ext cx="75426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4896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HIPAA-ready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2454" y="5219700"/>
            <a:ext cx="597247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895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31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30" y="6043612"/>
            <a:ext cx="8526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Trusted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6467475"/>
            <a:ext cx="39379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129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Lattice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0761" y="6486525"/>
            <a:ext cx="7316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06 /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4643" y="990600"/>
            <a:ext cx="2306538" cy="1524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D4D4D8"/>
                </a:solidFill>
                <a:latin typeface="Inter"/>
              </a:rPr>
              <a:t>READY WHEN YOU ARE</a:t>
            </a:r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  ·  v4.7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525714" y="4591050"/>
            <a:ext cx="907405" cy="190500"/>
          </a:xfrm>
          <a:prstGeom prst="rect">
            <a:avLst/>
          </a:prstGeom>
          <a:effectLst>
            <a:outerShdw blurRad="419100" dist="152400" dir="5400000" algn="ctr" rotWithShape="0">
              <a:srgbClr val="FFFFFF">
                <a:alpha val="22000"/>
              </a:srgbClr>
            </a:outerShdw>
            <a:outerShdw blurRad="76200" dist="3810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  <a:innerShdw blurRad="0" dist="9525" dir="5400000">
              <a:srgbClr val="FFFFFF">
                <a:alpha val="8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9090B"/>
                </a:solidFill>
                <a:latin typeface="Inter"/>
              </a:rPr>
              <a:t>Start free</a:t>
            </a:r>
            <a:r>
              <a:rPr sz="1050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1200000" scaled="0"/>
          </a:gradFill>
          <a:xfrm>
            <a:off x="6061770" y="4591050"/>
            <a:ext cx="1604516" cy="190500"/>
          </a:xfrm>
          <a:prstGeom prst="rect">
            <a:avLst/>
          </a:prstGeom>
          <a:effectLst>
            <a:outerShdw blurRad="381000" dist="152400" dir="5400000" algn="ctr" rotWithShape="0">
              <a:srgbClr val="C084FC">
                <a:alpha val="40000"/>
              </a:srgbClr>
            </a:outerShdw>
            <a:outerShdw blurRad="95250" dist="38100" dir="5400000" algn="ctr" rotWithShape="0">
              <a:srgbClr val="EC4899">
                <a:alpha val="30000"/>
              </a:srgbClr>
            </a:outerShdw>
            <a:innerShdw blurRad="0" dist="9525" dir="16200000">
              <a:srgbClr val="000000">
                <a:alpha val="20000"/>
              </a:srgbClr>
            </a:innerShdw>
            <a:innerShdw blurRad="0" dist="9525" dir="5400000">
              <a:srgbClr val="FFFFFF">
                <a:alpha val="4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Talk to an engineer</a:t>
            </a:r>
            <a:r>
              <a:rPr sz="1050" b="1" i="0" u="none">
                <a:solidFill>
                  <a:srgbClr val="0A0820"/>
                </a:solidFill>
                <a:latin typeface="Inter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75498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6268492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xfrm>
            <a:off x="7314754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3820567" y="5972175"/>
            <a:ext cx="673075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9134" y="5972175"/>
            <a:ext cx="641486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16178" y="5972175"/>
            <a:ext cx="558831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61" y="5972175"/>
            <a:ext cx="685967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4931" y="5972175"/>
            <a:ext cx="723919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568" y="6038850"/>
            <a:ext cx="841177" cy="14287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14,200 teams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6457950"/>
            <a:ext cx="171450" cy="17145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0526911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0" y="0"/>
            <a:ext cx="2671911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Ship the future, faster than yesterday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10000" t="10000" r="90000" b="9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6000"/>
                </a:srgbClr>
              </a:gs>
              <a:gs pos="38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40000">
                <a:srgbClr val="10B981">
                  <a:alpha val="10000"/>
                </a:srgbClr>
              </a:gs>
              <a:gs pos="72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876300" y="685800"/>
            <a:ext cx="1976056" cy="152400"/>
          </a:xfrm>
          <a:prstGeom prst="rect">
            <a:avLst/>
          </a:prstGeom>
          <a:solidFill>
            <a:srgbClr val="6366F1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5B4FC"/>
                </a:solidFill>
                <a:latin typeface="Inter"/>
              </a:rPr>
              <a:t>CUSTOMERS · A SHORT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990600"/>
            <a:ext cx="5557689" cy="485775"/>
          </a:xfrm>
          <a:prstGeom prst="rect">
            <a:avLst/>
          </a:prstGeom>
          <a:noFill/>
        </p:spPr>
        <p:txBody>
          <a:bodyPr wrap="none" lIns="0" rIns="0" tIns="0" bIns="0">
            <a:normAutofit fontScale="94658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14,200 teams build on 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Lattice.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9181" y="934343"/>
            <a:ext cx="673577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312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9181" y="1305818"/>
            <a:ext cx="8254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Forbes 2000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8603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867007" y="934343"/>
            <a:ext cx="52525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67007" y="1305818"/>
            <a:ext cx="70678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Countries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4524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0926217" y="934343"/>
            <a:ext cx="599349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4.9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6217" y="1305818"/>
            <a:ext cx="6561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G2 rating</a:t>
            </a:r>
          </a:p>
        </p:txBody>
      </p:sp>
      <p:sp>
        <p:nvSpPr>
          <p:cNvPr id="20" name="Rectangle 19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6366F1">
                  <a:alpha val="22000"/>
                </a:srgbClr>
              </a:gs>
              <a:gs pos="8333">
                <a:srgbClr val="746BF4">
                  <a:alpha val="21333"/>
                </a:srgbClr>
              </a:gs>
              <a:gs pos="16667">
                <a:srgbClr val="856FF7">
                  <a:alpha val="20667"/>
                </a:srgbClr>
              </a:gs>
              <a:gs pos="25000">
                <a:srgbClr val="9474F9">
                  <a:alpha val="20000"/>
                </a:srgbClr>
              </a:gs>
              <a:gs pos="33333">
                <a:srgbClr val="A379FB">
                  <a:alpha val="19333"/>
                </a:srgbClr>
              </a:gs>
              <a:gs pos="41667">
                <a:srgbClr val="B27FFC">
                  <a:alpha val="18667"/>
                </a:srgbClr>
              </a:gs>
              <a:gs pos="50000">
                <a:srgbClr val="C084FC">
                  <a:alpha val="18000"/>
                </a:srgbClr>
              </a:gs>
              <a:gs pos="58333">
                <a:srgbClr val="CA7AF1">
                  <a:alpha val="17667"/>
                </a:srgbClr>
              </a:gs>
              <a:gs pos="66667">
                <a:srgbClr val="D370E3">
                  <a:alpha val="17333"/>
                </a:srgbClr>
              </a:gs>
              <a:gs pos="75000">
                <a:srgbClr val="DB66D3">
                  <a:alpha val="17000"/>
                </a:srgbClr>
              </a:gs>
              <a:gs pos="83333">
                <a:srgbClr val="E25CC2">
                  <a:alpha val="16667"/>
                </a:srgbClr>
              </a:gs>
              <a:gs pos="91667">
                <a:srgbClr val="E752AE">
                  <a:alpha val="16333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609600" y="2190750"/>
            <a:ext cx="3581400" cy="171450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228600" dist="76200" dir="5400000" algn="ctr" rotWithShape="0">
              <a:srgbClr val="6366F1">
                <a:alpha val="20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09600" y="2190750"/>
            <a:ext cx="3581400" cy="17145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2221409" y="2967038"/>
            <a:ext cx="662434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NOTION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2338" y="2276475"/>
            <a:ext cx="62388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SINCE 2024</a:t>
            </a:r>
          </a:p>
        </p:txBody>
      </p:sp>
      <p:sp>
        <p:nvSpPr>
          <p:cNvPr id="28" name="TextBox 27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5016550" y="2276475"/>
            <a:ext cx="917525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8731" lnSpcReduction="0"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LINEAR</a:t>
            </a:r>
            <a:r>
              <a:rPr sz="800" b="1" i="0" u="none">
                <a:solidFill>
                  <a:srgbClr val="52525B"/>
                </a:solidFill>
                <a:latin typeface="Inter"/>
              </a:rPr>
              <a:t>CASE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6844159" y="2276475"/>
            <a:ext cx="937766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5070" lnSpcReduction="0"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VERCEL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0" name="TextBox 2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75650" y="2509838"/>
            <a:ext cx="48904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522000" y="2509838"/>
            <a:ext cx="691902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32" name="TextBox 3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1695" y="3424238"/>
            <a:ext cx="66555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33" name="TextBox 32"/>
          <p:cNvSpPr txBox="1"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16667">
                <a:srgbClr val="8BE04D">
                  <a:alpha val="15667"/>
                </a:srgbClr>
              </a:gs>
              <a:gs pos="33333">
                <a:srgbClr val="74D95D">
                  <a:alpha val="15333"/>
                </a:srgbClr>
              </a:gs>
              <a:gs pos="50000">
                <a:srgbClr val="5DD26A">
                  <a:alpha val="15000"/>
                </a:srgbClr>
              </a:gs>
              <a:gs pos="66667">
                <a:srgbClr val="46CA74">
                  <a:alpha val="14667"/>
                </a:srgbClr>
              </a:gs>
              <a:gs pos="83333">
                <a:srgbClr val="2EC27B">
                  <a:alpha val="14333"/>
                </a:srgbClr>
              </a:gs>
              <a:gs pos="100000">
                <a:srgbClr val="10B981">
                  <a:alpha val="14000"/>
                </a:srgbClr>
              </a:gs>
            </a:gsLst>
            <a:lin ang="2700000" scaled="0"/>
          </a:gradFill>
          <a:xfrm>
            <a:off x="6871841" y="3190875"/>
            <a:ext cx="910084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7938" lnSpcReduction="0"/>
          </a:bodyPr>
          <a:lstStyle/>
          <a:p>
            <a:pPr algn="l"/>
            <a:r>
              <a:rPr sz="1050" b="1" i="0" u="none">
                <a:solidFill>
                  <a:srgbClr val="BEF264"/>
                </a:solidFill>
                <a:latin typeface="Inter"/>
              </a:rPr>
              <a:t>STRIPE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4" name="TextBox 3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673852" y="3424238"/>
            <a:ext cx="692497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FRAMER</a:t>
            </a:r>
          </a:p>
        </p:txBody>
      </p:sp>
      <p:sp>
        <p:nvSpPr>
          <p:cNvPr id="35" name="TextBox 34"/>
          <p:cNvSpPr txBox="1"/>
          <p:nvPr/>
        </p:nvSpPr>
        <p:spPr>
          <a:gradFill flip="none" rotWithShape="1">
            <a:gsLst>
              <a:gs pos="0">
                <a:srgbClr val="FBBF24">
                  <a:alpha val="16000"/>
                </a:srgbClr>
              </a:gs>
              <a:gs pos="16667">
                <a:srgbClr val="FFA813">
                  <a:alpha val="16000"/>
                </a:srgbClr>
              </a:gs>
              <a:gs pos="33333">
                <a:srgbClr val="FF912A">
                  <a:alpha val="16000"/>
                </a:srgbClr>
              </a:gs>
              <a:gs pos="50000">
                <a:srgbClr val="FF7B47">
                  <a:alpha val="16000"/>
                </a:srgbClr>
              </a:gs>
              <a:gs pos="66667">
                <a:srgbClr val="FF6663">
                  <a:alpha val="16000"/>
                </a:srgbClr>
              </a:gs>
              <a:gs pos="83333">
                <a:srgbClr val="FC557F">
                  <a:alpha val="16000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10592098" y="3190875"/>
            <a:ext cx="885527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FIGMA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6" name="TextBox 3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402705" y="4338638"/>
            <a:ext cx="45214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CLAY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030885" y="4338638"/>
            <a:ext cx="89148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38" name="TextBox 37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5747147" y="4105275"/>
            <a:ext cx="2034778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ANTHROPIC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PARTNER</a:t>
            </a:r>
          </a:p>
        </p:txBody>
      </p:sp>
      <p:sp>
        <p:nvSpPr>
          <p:cNvPr id="39" name="TextBox 38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66423" y="4338638"/>
            <a:ext cx="50735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RIVET</a:t>
            </a:r>
          </a:p>
        </p:txBody>
      </p:sp>
      <p:sp>
        <p:nvSpPr>
          <p:cNvPr id="40" name="TextBox 3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479286" y="4338638"/>
            <a:ext cx="777478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RECRAFT</a:t>
            </a:r>
          </a:p>
        </p:txBody>
      </p:sp>
      <p:sp>
        <p:nvSpPr>
          <p:cNvPr id="41" name="TextBox 4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296144" y="5253038"/>
            <a:ext cx="665113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RETOOL</a:t>
            </a:r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229570" y="5253038"/>
            <a:ext cx="49396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WARP</a:t>
            </a:r>
          </a:p>
        </p:txBody>
      </p:sp>
      <p:sp>
        <p:nvSpPr>
          <p:cNvPr id="43" name="TextBox 42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5565" y="5253038"/>
            <a:ext cx="65782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PRISMA</a:t>
            </a:r>
          </a:p>
        </p:txBody>
      </p:sp>
      <p:sp>
        <p:nvSpPr>
          <p:cNvPr id="44" name="TextBox 4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919168" y="5253038"/>
            <a:ext cx="506164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PLAID</a:t>
            </a:r>
          </a:p>
        </p:txBody>
      </p:sp>
      <p:sp>
        <p:nvSpPr>
          <p:cNvPr id="45" name="TextBox 44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476655" y="5253038"/>
            <a:ext cx="108059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BRAINTRUST</a:t>
            </a:r>
          </a:p>
        </p:txBody>
      </p:sp>
      <p:sp>
        <p:nvSpPr>
          <p:cNvPr id="46" name="TextBox 4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690920" y="5253038"/>
            <a:ext cx="35421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ARC</a:t>
            </a:r>
          </a:p>
        </p:txBody>
      </p:sp>
      <p:sp>
        <p:nvSpPr>
          <p:cNvPr id="47" name="Rectangle 4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6096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gradFill flip="none" rotWithShape="1">
            <a:gsLst>
              <a:gs pos="0">
                <a:srgbClr val="1E1B4B">
                  <a:alpha val="80000"/>
                </a:srgbClr>
              </a:gs>
              <a:gs pos="16667">
                <a:srgbClr val="1B1943">
                  <a:alpha val="80000"/>
                </a:srgbClr>
              </a:gs>
              <a:gs pos="33333">
                <a:srgbClr val="19173C">
                  <a:alpha val="80000"/>
                </a:srgbClr>
              </a:gs>
              <a:gs pos="50000">
                <a:srgbClr val="161534">
                  <a:alpha val="80000"/>
                </a:srgbClr>
              </a:gs>
              <a:gs pos="66667">
                <a:srgbClr val="14132D">
                  <a:alpha val="80000"/>
                </a:srgbClr>
              </a:gs>
              <a:gs pos="83333">
                <a:srgbClr val="111126">
                  <a:alpha val="80000"/>
                </a:srgbClr>
              </a:gs>
              <a:gs pos="100000">
                <a:srgbClr val="0F0F1F">
                  <a:alpha val="80000"/>
                </a:srgbClr>
              </a:gs>
            </a:gsLst>
            <a:lin ang="2700000" scaled="0"/>
          </a:gradFill>
          <a:xfrm>
            <a:off x="5245150" y="5324475"/>
            <a:ext cx="1701701" cy="31432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190500" dist="57150" dir="5400000" algn="ctr" rotWithShape="0">
              <a:srgbClr val="000000">
                <a:alpha val="3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5407075" y="5414962"/>
            <a:ext cx="15731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6501" y="5410200"/>
            <a:ext cx="96842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D4D4D8"/>
                </a:solidFill>
                <a:latin typeface="Inter"/>
              </a:rPr>
              <a:t>END OF DECK</a:t>
            </a:r>
          </a:p>
        </p:txBody>
      </p:sp>
      <p:sp>
        <p:nvSpPr>
          <p:cNvPr id="51" name="Rectangle 5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1183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09600" y="6248400"/>
            <a:ext cx="223152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09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Built by </a:t>
            </a:r>
            <a:r>
              <a:rPr sz="975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1200000" scaled="0"/>
                </a:gradFill>
                <a:latin typeface="Inter"/>
              </a:rPr>
              <a:t>Lattice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· lattice.dev/customers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033075" y="6319838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1356925" y="6253162"/>
            <a:ext cx="2254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FIN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210666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89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14,200 teams build on Lattice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1695450"/>
            <a:ext cx="3028950" cy="3771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8175" y="4438650"/>
            <a:ext cx="819150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86548" lnSpcReduction="0"/>
          </a:bodyPr>
          <a:lstStyle/>
          <a:p>
            <a:pPr algn="l"/>
            <a:r>
              <a:rPr sz="975" b="0" i="0" u="none">
                <a:solidFill>
                  <a:srgbClr val="2D1F1F"/>
                </a:solidFill>
                <a:latin typeface="Source Serif Pro"/>
              </a:rPr>
              <a:t>Morning, no.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67700" y="5038725"/>
            <a:ext cx="124018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262" lnSpcReduction="0"/>
          </a:bodyPr>
          <a:lstStyle/>
          <a:p>
            <a:pPr algn="l"/>
            <a:r>
              <a:rPr sz="825" b="0" i="0" u="none">
                <a:solidFill>
                  <a:srgbClr val="2D1F1F"/>
                </a:solidFill>
                <a:latin typeface="Inter"/>
              </a:rPr>
              <a:t>Photographed at low tide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4191000"/>
            <a:ext cx="2514600" cy="2438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939" y="15625"/>
                </a:moveTo>
                <a:cubicBezTo>
                  <a:pt x="45455" y="0"/>
                  <a:pt x="75758" y="7812"/>
                  <a:pt x="87879" y="32812"/>
                </a:cubicBezTo>
                <a:cubicBezTo>
                  <a:pt x="100000" y="57812"/>
                  <a:pt x="83333" y="85938"/>
                  <a:pt x="55303" y="92969"/>
                </a:cubicBezTo>
                <a:cubicBezTo>
                  <a:pt x="27273" y="100000"/>
                  <a:pt x="3788" y="78125"/>
                  <a:pt x="4545" y="50000"/>
                </a:cubicBezTo>
                <a:cubicBezTo>
                  <a:pt x="5303" y="32812"/>
                  <a:pt x="0" y="25781"/>
                  <a:pt x="18939" y="15625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534400" y="-495300"/>
            <a:ext cx="3314700" cy="34671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138" y="3297"/>
                </a:moveTo>
                <a:cubicBezTo>
                  <a:pt x="52874" y="6044"/>
                  <a:pt x="83908" y="25275"/>
                  <a:pt x="91954" y="50000"/>
                </a:cubicBezTo>
                <a:cubicBezTo>
                  <a:pt x="100000" y="74725"/>
                  <a:pt x="84483" y="95604"/>
                  <a:pt x="58621" y="97802"/>
                </a:cubicBezTo>
                <a:cubicBezTo>
                  <a:pt x="32759" y="100000"/>
                  <a:pt x="10345" y="84615"/>
                  <a:pt x="6897" y="62088"/>
                </a:cubicBezTo>
                <a:cubicBezTo>
                  <a:pt x="3448" y="39560"/>
                  <a:pt x="0" y="0"/>
                  <a:pt x="24138" y="3297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10134600" y="3619500"/>
            <a:ext cx="14859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308" y="10000"/>
                </a:moveTo>
                <a:cubicBezTo>
                  <a:pt x="67949" y="0"/>
                  <a:pt x="100000" y="20000"/>
                  <a:pt x="98718" y="50000"/>
                </a:cubicBezTo>
                <a:cubicBezTo>
                  <a:pt x="97436" y="80000"/>
                  <a:pt x="67949" y="100000"/>
                  <a:pt x="38462" y="92500"/>
                </a:cubicBezTo>
                <a:cubicBezTo>
                  <a:pt x="8974" y="85000"/>
                  <a:pt x="0" y="56250"/>
                  <a:pt x="8974" y="32500"/>
                </a:cubicBezTo>
                <a:cubicBezTo>
                  <a:pt x="14103" y="20000"/>
                  <a:pt x="23077" y="17500"/>
                  <a:pt x="42308" y="10000"/>
                </a:cubicBezTo>
                <a:close/>
              </a:path>
            </a:pathLst>
          </a:cu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791200" y="5981700"/>
            <a:ext cx="609600" cy="6096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714500" y="933450"/>
            <a:ext cx="381000" cy="3810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248400" y="1600200"/>
            <a:ext cx="114300" cy="419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4545"/>
                  <a:pt x="0" y="66364"/>
                  <a:pt x="100000" y="100000"/>
                </a:cubicBez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90600" y="952500"/>
            <a:ext cx="1219200" cy="57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3333"/>
                </a:moveTo>
                <a:cubicBezTo>
                  <a:pt x="37500" y="0"/>
                  <a:pt x="71875" y="100000"/>
                  <a:pt x="100000" y="0"/>
                </a:cubicBezTo>
              </a:path>
            </a:pathLst>
          </a:custGeom>
          <a:noFill/>
          <a:ln w="14288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990600" y="5734050"/>
            <a:ext cx="4152900" cy="2095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455"/>
                </a:moveTo>
                <a:cubicBezTo>
                  <a:pt x="17431" y="9091"/>
                  <a:pt x="31193" y="90909"/>
                  <a:pt x="49541" y="45455"/>
                </a:cubicBezTo>
                <a:cubicBezTo>
                  <a:pt x="67890" y="0"/>
                  <a:pt x="83945" y="100000"/>
                  <a:pt x="100000" y="54545"/>
                </a:cubicBezTo>
              </a:path>
            </a:pathLst>
          </a:custGeom>
          <a:noFill/>
          <a:ln w="1333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858500" y="6286500"/>
            <a:ext cx="8001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9048" y="0"/>
                  <a:pt x="30952" y="100000"/>
                  <a:pt x="50000" y="50000"/>
                </a:cubicBezTo>
                <a:cubicBezTo>
                  <a:pt x="69048" y="0"/>
                  <a:pt x="80952" y="100000"/>
                  <a:pt x="100000" y="50000"/>
                </a:cubicBezTo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1325463"/>
            <a:ext cx="4626769" cy="99848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17544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A9D8F"/>
                </a:solidFill>
                <a:latin typeface="Inter"/>
              </a:rPr>
              <a:t>A small daily ritual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4988"/>
            <a:ext cx="5524500" cy="987326"/>
          </a:xfrm>
          <a:prstGeom prst="rect">
            <a:avLst/>
          </a:prstGeom>
          <a:noFill/>
        </p:spPr>
        <p:txBody>
          <a:bodyPr wrap="square" lIns="0" rIns="0" tIns="0" bIns="0">
            <a:normAutofit fontScale="74572" lnSpcReduction="0"/>
          </a:bodyPr>
          <a:lstStyle/>
          <a:p>
            <a:pPr algn="l"/>
            <a:r>
              <a:rPr sz="3600" b="1" i="0" u="none">
                <a:solidFill>
                  <a:srgbClr val="2D1F1F"/>
                </a:solidFill>
                <a:latin typeface="Source Serif Pro"/>
              </a:rPr>
              <a:t xml:space="preserve">Four steps, </a:t>
            </a:r>
            <a:r>
              <a:rPr sz="3600" b="0" i="1" u="none">
                <a:solidFill>
                  <a:srgbClr val="E76F51"/>
                </a:solidFill>
                <a:latin typeface="Source Serif Pro"/>
              </a:rPr>
              <a:t>none of them rushed</a:t>
            </a:r>
            <a:r>
              <a:rPr sz="36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Arrive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Sit before you stand.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Two minutes by the window. No phone, no agenda. Notice the temperature of the room.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2400" y="36195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2400" y="41910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Warm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2400" y="44577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Make something hot.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47852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Tea, coffee, broth — the choice matters less than the slowness of preparing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One line, by hand.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Whatever is loudest in your chest. Five words is enough; no one is grading.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600" y="3619500"/>
            <a:ext cx="1905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4191000"/>
            <a:ext cx="1905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Begin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600" y="4457700"/>
            <a:ext cx="1905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Choose one thing.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600" y="4785271"/>
            <a:ext cx="1905000" cy="426541"/>
          </a:xfrm>
          <a:prstGeom prst="rect">
            <a:avLst/>
          </a:prstGeom>
          <a:noFill/>
        </p:spPr>
        <p:txBody>
          <a:bodyPr wrap="square" lIns="0" rIns="0" tIns="0" bIns="0">
            <a:normAutofit fontScale="84337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Not the urgent thing. The kind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148426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Practice, not performance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182713" y="1821061"/>
            <a:ext cx="7826573" cy="124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2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E76F51"/>
                </a:solidFill>
                <a:latin typeface="Inter"/>
              </a:rPr>
              <a:t>Designed with breathing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830586"/>
            <a:ext cx="12192000" cy="1234380"/>
          </a:xfrm>
          <a:prstGeom prst="rect">
            <a:avLst/>
          </a:prstGeom>
          <a:noFill/>
        </p:spPr>
        <p:txBody>
          <a:bodyPr wrap="square" lIns="0" rIns="0" tIns="0" bIns="0">
            <a:normAutofit fontScale="96913" lnSpcReduction="0"/>
          </a:bodyPr>
          <a:lstStyle/>
          <a:p>
            <a:pPr algn="ctr"/>
            <a:r>
              <a:rPr sz="4500" b="1" i="0" u="none">
                <a:solidFill>
                  <a:srgbClr val="2D1F1F"/>
                </a:solidFill>
                <a:latin typeface="Source Serif Pro"/>
              </a:rPr>
              <a:t xml:space="preserve">Made for the </a:t>
            </a:r>
            <a:r>
              <a:rPr sz="4500" b="0" i="1" u="none">
                <a:solidFill>
                  <a:srgbClr val="264653"/>
                </a:solidFill>
                <a:latin typeface="Source Serif Pro"/>
              </a:rPr>
              <a:t>long breath</a:t>
            </a:r>
            <a:r>
              <a:rPr sz="4500" b="1" i="0" u="none">
                <a:solidFill>
                  <a:srgbClr val="2D1F1F"/>
                </a:solidFill>
                <a:latin typeface="Source Serif Pro"/>
              </a:rPr>
              <a:t>, not the short sprint.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981325"/>
            <a:ext cx="12192000" cy="53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75" b="0" i="0" u="none">
                <a:solidFill>
                  <a:srgbClr val="4A3A3A"/>
                </a:solidFill>
                <a:latin typeface="Inter"/>
              </a:rPr>
              <a:t>A way of working that treats focus the way good cooks treat heat — patiently, with attention, and with a willingness to wait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5527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2700" y="5067300"/>
            <a:ext cx="1478459" cy="238125"/>
          </a:xfrm>
          <a:prstGeom prst="rect">
            <a:avLst/>
          </a:prstGeom>
          <a:noFill/>
        </p:spPr>
        <p:txBody>
          <a:bodyPr wrap="none" lIns="0" rIns="0" tIns="0" bIns="0">
            <a:normAutofit fontScale="84841" lnSpcReduction="0"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 xml:space="preserve">Begin </a:t>
            </a:r>
            <a:r>
              <a:rPr sz="1650" b="0" i="1" u="none">
                <a:solidFill>
                  <a:srgbClr val="E76F51"/>
                </a:solidFill>
                <a:latin typeface="Source Serif Pro"/>
              </a:rPr>
              <a:t>once</a:t>
            </a:r>
            <a:r>
              <a:rPr sz="1650" b="1" i="0" u="none">
                <a:solidFill>
                  <a:srgbClr val="2D1F1F"/>
                </a:solidFill>
                <a:latin typeface="Source Serif Pro"/>
              </a:rPr>
              <a:t>, well.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27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9376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One thing at a time, until it has the shape it deserves. Then the next.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85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3152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Posture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067300"/>
            <a:ext cx="28575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Soft attention.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44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Hold your task the way you'd hold a sleeping cat. Firmly, but never tightly.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57150" y="1524000"/>
            <a:ext cx="37528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3706" y="18750"/>
                </a:moveTo>
                <a:cubicBezTo>
                  <a:pt x="39086" y="0"/>
                  <a:pt x="79695" y="8750"/>
                  <a:pt x="89848" y="40625"/>
                </a:cubicBezTo>
                <a:cubicBezTo>
                  <a:pt x="100000" y="72500"/>
                  <a:pt x="79695" y="93750"/>
                  <a:pt x="54315" y="96875"/>
                </a:cubicBezTo>
                <a:cubicBezTo>
                  <a:pt x="28934" y="100000"/>
                  <a:pt x="6091" y="84375"/>
                  <a:pt x="3046" y="62500"/>
                </a:cubicBezTo>
                <a:cubicBezTo>
                  <a:pt x="0" y="40625"/>
                  <a:pt x="4569" y="27500"/>
                  <a:pt x="8629" y="22500"/>
                </a:cubicBezTo>
                <a:cubicBezTo>
                  <a:pt x="11168" y="20000"/>
                  <a:pt x="11168" y="19375"/>
                  <a:pt x="13706" y="18750"/>
                </a:cubicBezTo>
                <a:close/>
              </a:path>
            </a:pathLst>
          </a:cu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953500" y="4381500"/>
            <a:ext cx="3276600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3256" y="7692"/>
                </a:moveTo>
                <a:cubicBezTo>
                  <a:pt x="52326" y="0"/>
                  <a:pt x="87209" y="19231"/>
                  <a:pt x="93605" y="53846"/>
                </a:cubicBezTo>
                <a:cubicBezTo>
                  <a:pt x="100000" y="88462"/>
                  <a:pt x="69767" y="100000"/>
                  <a:pt x="40698" y="94615"/>
                </a:cubicBezTo>
                <a:cubicBezTo>
                  <a:pt x="11628" y="89231"/>
                  <a:pt x="0" y="66154"/>
                  <a:pt x="4651" y="41538"/>
                </a:cubicBezTo>
                <a:cubicBezTo>
                  <a:pt x="8140" y="23077"/>
                  <a:pt x="14535" y="10769"/>
                  <a:pt x="23256" y="7692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496050" y="1009650"/>
            <a:ext cx="342900" cy="3429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934700" y="1409700"/>
            <a:ext cx="609600" cy="609600"/>
          </a:xfrm>
          <a:prstGeom prst="ellipse">
            <a:avLst/>
          </a:pr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390650" y="5581650"/>
            <a:ext cx="266700" cy="2667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038350" y="5334000"/>
            <a:ext cx="647700" cy="6858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471" y="11111"/>
                </a:moveTo>
                <a:cubicBezTo>
                  <a:pt x="61765" y="0"/>
                  <a:pt x="100000" y="27778"/>
                  <a:pt x="88235" y="63889"/>
                </a:cubicBezTo>
                <a:cubicBezTo>
                  <a:pt x="76471" y="100000"/>
                  <a:pt x="14706" y="94444"/>
                  <a:pt x="5882" y="55556"/>
                </a:cubicBezTo>
                <a:cubicBezTo>
                  <a:pt x="0" y="33333"/>
                  <a:pt x="5882" y="16667"/>
                  <a:pt x="26471" y="11111"/>
                </a:cubicBezTo>
                <a:close/>
              </a:path>
            </a:pathLst>
          </a:custGeom>
          <a:noFill/>
          <a:ln w="13335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67000" y="5772150"/>
            <a:ext cx="24765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7500"/>
                </a:moveTo>
                <a:cubicBezTo>
                  <a:pt x="30769" y="0"/>
                  <a:pt x="69231" y="100000"/>
                  <a:pt x="100000" y="37500"/>
                </a:cubicBezTo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143000" y="6096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42857"/>
                </a:cubicBezTo>
              </a:path>
            </a:pathLst>
          </a:custGeom>
          <a:noFill/>
          <a:ln w="13335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452961" y="5024438"/>
            <a:ext cx="57150" cy="5715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333500" y="3256359"/>
            <a:ext cx="6426994" cy="133454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333500" y="1028700"/>
            <a:ext cx="23233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A9D8F"/>
                </a:solidFill>
                <a:latin typeface="Inter"/>
              </a:rPr>
              <a:t>When you're ready — and not 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265884"/>
            <a:ext cx="7429500" cy="1316534"/>
          </a:xfrm>
          <a:prstGeom prst="rect">
            <a:avLst/>
          </a:prstGeom>
          <a:noFill/>
        </p:spPr>
        <p:txBody>
          <a:bodyPr wrap="square" lIns="0" rIns="0" tIns="0" bIns="0">
            <a:normAutofit fontScale="66441" lnSpcReduction="0"/>
          </a:bodyPr>
          <a:lstStyle/>
          <a:p>
            <a:pPr algn="l"/>
            <a:r>
              <a:rPr sz="4800" b="1" i="0" u="none">
                <a:solidFill>
                  <a:srgbClr val="2D1F1F"/>
                </a:solidFill>
                <a:latin typeface="Source Serif Pro"/>
              </a:rPr>
              <a:t xml:space="preserve">Take the </a:t>
            </a:r>
            <a:r>
              <a:rPr sz="4800" b="0" i="1" u="none">
                <a:solidFill>
                  <a:srgbClr val="E76F51"/>
                </a:solidFill>
                <a:latin typeface="Source Serif Pro"/>
              </a:rPr>
              <a:t>first slow breath</a:t>
            </a:r>
            <a:r>
              <a:rPr sz="4800" b="1" i="0" u="none">
                <a:solidFill>
                  <a:srgbClr val="2D1F1F"/>
                </a:solidFill>
                <a:latin typeface="Source Serif Pro"/>
              </a:rPr>
              <a:t>, then begin.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4305300"/>
            <a:ext cx="1290935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D1F1F"/>
                </a:solidFill>
                <a:latin typeface="Inter"/>
              </a:rPr>
              <a:t>Start the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3500" y="5734050"/>
            <a:ext cx="78164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5924550"/>
            <a:ext cx="781645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2256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Free,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2345" y="5734050"/>
            <a:ext cx="123586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2345" y="5924550"/>
            <a:ext cx="1235869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873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Six unhurried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414" y="5734050"/>
            <a:ext cx="92184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5414" y="5924550"/>
            <a:ext cx="921841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090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Yours, not 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6318945" cy="232395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4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E76F51"/>
                </a:solidFill>
                <a:latin typeface="Inter"/>
              </a:rPr>
              <a:t>What we believe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2189"/>
            <a:ext cx="4076551" cy="473125"/>
          </a:xfrm>
          <a:prstGeom prst="rect">
            <a:avLst/>
          </a:prstGeom>
          <a:noFill/>
        </p:spPr>
        <p:txBody>
          <a:bodyPr wrap="none" lIns="0" rIns="0" tIns="0" bIns="0">
            <a:normAutofit fontScale="85976" lnSpcReduction="0"/>
          </a:bodyPr>
          <a:lstStyle/>
          <a:p>
            <a:pPr algn="l"/>
            <a:r>
              <a:rPr sz="3450" b="1" i="0" u="none">
                <a:solidFill>
                  <a:srgbClr val="2D1F1F"/>
                </a:solidFill>
                <a:latin typeface="Source Serif Pro"/>
              </a:rPr>
              <a:t xml:space="preserve">Five quiet </a:t>
            </a:r>
            <a:r>
              <a:rPr sz="3450" b="0" i="1" u="none">
                <a:solidFill>
                  <a:srgbClr val="264653"/>
                </a:solidFill>
                <a:latin typeface="Source Serif Pro"/>
              </a:rPr>
              <a:t>convictions</a:t>
            </a:r>
            <a:r>
              <a:rPr sz="34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95550"/>
            <a:ext cx="3619500" cy="6599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We wrote them down so we'd remember on the days the noise got loud. They aren't rules. They're the shape of the work, when the work goes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0" y="102870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0" y="1028700"/>
            <a:ext cx="3829496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Slow is a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feature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0" y="1306711"/>
            <a:ext cx="3829496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2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Speed without consideration is just hurry, and hurry leaves a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0" y="172715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1727150"/>
            <a:ext cx="2860923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Whitespace is a kindness.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0" y="2005161"/>
            <a:ext cx="2860923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9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What we leave out tells the reader we trust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0" y="242560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0" y="2425601"/>
            <a:ext cx="376937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Make it by hand, when you can.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0" y="2703612"/>
            <a:ext cx="376937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053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The wobble is the warmth. We do not optimize the wobble away.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0" y="312405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9300" y="3124051"/>
            <a:ext cx="431289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Soft is not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weak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9300" y="3402062"/>
            <a:ext cx="431289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72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A round corner has held more weight than a sharp one, in our experience.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0" y="3822502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0" y="3822502"/>
            <a:ext cx="3637359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Begin where the light 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100512"/>
            <a:ext cx="3637359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56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If a thing won't start, move closer to a window. Then try again.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25455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Pinned above the studio sink · revised slowly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95532" y="228600"/>
            <a:ext cx="20868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 · Vendor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14 · Competitive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8265021" cy="702469"/>
          </a:xfrm>
          <a:prstGeom prst="rect">
            <a:avLst/>
          </a:prstGeom>
          <a:noFill/>
        </p:spPr>
        <p:txBody>
          <a:bodyPr wrap="square" lIns="0" rIns="0" tIns="0" bIns="0">
            <a:normAutofit fontScale="64647" lnSpcReduction="0"/>
          </a:bodyPr>
          <a:lstStyle/>
          <a:p>
            <a:pPr algn="l"/>
            <a:r>
              <a:rPr sz="2400" b="1" i="0" u="none">
                <a:solidFill>
                  <a:srgbClr val="1A1A1A"/>
                </a:solidFill>
                <a:latin typeface="Source Serif Pro"/>
              </a:rPr>
              <a:t>Three of eleven vendors clear both bars; the long tail still wins on price, not capability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00238"/>
            <a:ext cx="8763000" cy="4694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Source Serif Pro"/>
              </a:rPr>
              <a:t>Across n=412 buyer evaluations completed in Q3 2025, only Northstack, Aldermark, and Veridian combined top-quartile depth-of-feature scores with a credible go-to-market footprint outside North America — a pattern unchanged since our 2023 review.</a:t>
            </a:r>
          </a:p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1700"/>
            <a:ext cx="123825" cy="229046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Depth of platform capability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2372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0700" y="2171700"/>
            <a:ext cx="5734050" cy="321945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00225" y="3781425"/>
            <a:ext cx="57150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657725" y="2181225"/>
            <a:ext cx="9525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00225" y="29813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00225" y="45815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289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864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895475" y="2257425"/>
            <a:ext cx="8469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A · Specialist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6803" y="2257425"/>
            <a:ext cx="6131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 ·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5475" y="5200650"/>
            <a:ext cx="43785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 · 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0055" y="5200650"/>
            <a:ext cx="54992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D · Scale</a:t>
            </a:r>
          </a:p>
        </p:txBody>
      </p:sp>
      <p:sp>
        <p:nvSpPr>
          <p:cNvPr id="22" name="Oval 21"/>
          <p:cNvSpPr/>
          <p:nvPr/>
        </p:nvSpPr>
        <p:spPr>
          <a:xfrm>
            <a:off x="5962650" y="2690515"/>
            <a:ext cx="133350" cy="13335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124575" y="2547640"/>
            <a:ext cx="53846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24" name="Oval 23"/>
          <p:cNvSpPr/>
          <p:nvPr/>
        </p:nvSpPr>
        <p:spPr>
          <a:xfrm>
            <a:off x="5400675" y="2892028"/>
            <a:ext cx="114300" cy="11430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553075" y="2739628"/>
            <a:ext cx="50690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54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26" name="Oval 25"/>
          <p:cNvSpPr/>
          <p:nvPr/>
        </p:nvSpPr>
        <p:spPr>
          <a:xfrm>
            <a:off x="6434138" y="3152924"/>
            <a:ext cx="104775" cy="104775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581775" y="2995761"/>
            <a:ext cx="40019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6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28" name="Oval 27"/>
          <p:cNvSpPr/>
          <p:nvPr/>
        </p:nvSpPr>
        <p:spPr>
          <a:xfrm>
            <a:off x="3462338" y="2832795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609975" y="2675632"/>
            <a:ext cx="50214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58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Quartzline</a:t>
            </a:r>
          </a:p>
        </p:txBody>
      </p:sp>
      <p:sp>
        <p:nvSpPr>
          <p:cNvPr id="30" name="Oval 29"/>
          <p:cNvSpPr/>
          <p:nvPr/>
        </p:nvSpPr>
        <p:spPr>
          <a:xfrm>
            <a:off x="2781300" y="3349675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24175" y="3187750"/>
            <a:ext cx="4972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80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Brightlade</a:t>
            </a:r>
          </a:p>
        </p:txBody>
      </p:sp>
      <p:sp>
        <p:nvSpPr>
          <p:cNvPr id="32" name="Oval 31"/>
          <p:cNvSpPr/>
          <p:nvPr/>
        </p:nvSpPr>
        <p:spPr>
          <a:xfrm>
            <a:off x="4157662" y="354642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295775" y="3379738"/>
            <a:ext cx="45050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72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Forrowex</a:t>
            </a:r>
          </a:p>
        </p:txBody>
      </p:sp>
      <p:sp>
        <p:nvSpPr>
          <p:cNvPr id="34" name="Oval 33"/>
          <p:cNvSpPr/>
          <p:nvPr/>
        </p:nvSpPr>
        <p:spPr>
          <a:xfrm>
            <a:off x="5176838" y="4113014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324475" y="4241602"/>
            <a:ext cx="51226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20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Crestmoor</a:t>
            </a:r>
          </a:p>
        </p:txBody>
      </p:sp>
      <p:sp>
        <p:nvSpPr>
          <p:cNvPr id="36" name="Oval 35"/>
          <p:cNvSpPr/>
          <p:nvPr/>
        </p:nvSpPr>
        <p:spPr>
          <a:xfrm>
            <a:off x="6196012" y="4359473"/>
            <a:ext cx="123825" cy="1238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6353175" y="4497586"/>
            <a:ext cx="37966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06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Halberd</a:t>
            </a:r>
          </a:p>
        </p:txBody>
      </p:sp>
      <p:sp>
        <p:nvSpPr>
          <p:cNvPr id="38" name="Oval 37"/>
          <p:cNvSpPr/>
          <p:nvPr/>
        </p:nvSpPr>
        <p:spPr>
          <a:xfrm>
            <a:off x="3014662" y="4634657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152775" y="4753719"/>
            <a:ext cx="4527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48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Otterbein</a:t>
            </a:r>
          </a:p>
        </p:txBody>
      </p:sp>
      <p:sp>
        <p:nvSpPr>
          <p:cNvPr id="40" name="Oval 39"/>
          <p:cNvSpPr/>
          <p:nvPr/>
        </p:nvSpPr>
        <p:spPr>
          <a:xfrm>
            <a:off x="3929062" y="482664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4067175" y="4945707"/>
            <a:ext cx="363587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192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Mendip</a:t>
            </a:r>
          </a:p>
        </p:txBody>
      </p:sp>
      <p:sp>
        <p:nvSpPr>
          <p:cNvPr id="42" name="Oval 41"/>
          <p:cNvSpPr/>
          <p:nvPr/>
        </p:nvSpPr>
        <p:spPr>
          <a:xfrm>
            <a:off x="6781800" y="4821882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391275" y="4945707"/>
            <a:ext cx="31774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51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Pellish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20530" y="2028825"/>
            <a:ext cx="107439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1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Median GTM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90700" y="5467350"/>
            <a:ext cx="46910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Narrow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44643" y="5467350"/>
            <a:ext cx="36105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Broad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0700" y="5657850"/>
            <a:ext cx="5715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Go-to-market reach 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0" y="2171700"/>
            <a:ext cx="1356271" cy="160288"/>
          </a:xfrm>
          <a:prstGeom prst="rect">
            <a:avLst/>
          </a:prstGeom>
          <a:noFill/>
        </p:spPr>
        <p:txBody>
          <a:bodyPr wrap="none" lIns="0" rIns="0" tIns="0" bIns="0">
            <a:normAutofit fontScale="82988" lnSpcReduction="0"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Vendors plotted (n=11)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77200" y="2493913"/>
            <a:ext cx="6256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17027" y="249391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22.4%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77200" y="2779663"/>
            <a:ext cx="58921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17027" y="277966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14.1%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77200" y="3065413"/>
            <a:ext cx="4653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91143" y="3065413"/>
            <a:ext cx="2912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9.8%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0500" y="33511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04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Quartzline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10500" y="36369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05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Brightlade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0500" y="39226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06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Halberd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10500" y="42084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07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Other (5)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10500" y="5029200"/>
            <a:ext cx="3771900" cy="960686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7953375" y="5153025"/>
            <a:ext cx="34861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So what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3375" y="5324475"/>
            <a:ext cx="3435400" cy="51449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Quadrant B is contestable for at most one entrant by 2027; specialists in A face a binary — acquire reach within 18 months, or accept share erosion of 180–240 bps annually.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353175"/>
            <a:ext cx="8333482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433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vendor benchmarking, March 2026; based on n=412 enterprise software buyers, Q3 2025; depth-of-capability score is a 24-criterion weighted index.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Bars defined at 75th-percentile thresholds.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Eleven vendors with &gt;0.5% share.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Modeled under base-case GTM scenario.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51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9658" y="228600"/>
            <a:ext cx="217274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III · Spend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22 · Wallet Composition by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144917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857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Mid-market budgets are tilting toward platform fees; SMB still pays primarily for services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8382000" cy="468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four buyer cohorts, the share of wallet absorbed by recurring license fees ranges from 28% to 61% — the spread, more than the levels, drives go-to-market choices for the next planning cycle.</a:t>
            </a:r>
          </a:p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Share of total IT software wallet, %, FY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32410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Five categories; rows sum to 100% of segment spend (n=412)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2571750"/>
            <a:ext cx="85025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407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Platform &amp; license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4205" y="2571750"/>
            <a:ext cx="72866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363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5768" y="2571750"/>
            <a:ext cx="86975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898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Managed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8419" y="2571750"/>
            <a:ext cx="85263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399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Training &amp;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3955" y="2571750"/>
            <a:ext cx="26431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565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847975"/>
            <a:ext cx="1360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061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Enterprise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(&gt;$1B revenue)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980" y="28575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n=118 · $84.2M avg.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0384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19125" y="30480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087" y="30480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7735" y="30480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5564" y="3048000"/>
            <a:ext cx="375444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1077" y="3048000"/>
            <a:ext cx="368498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495675"/>
            <a:ext cx="169039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840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Upper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($250M–$1B)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1980" y="35052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n=146 · $18.6M avg.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6861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19125" y="36957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314" y="36957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98790" y="36957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0438" y="36957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7258" y="36957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143375"/>
            <a:ext cx="180885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677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Lower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($50M–$250M)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1609" y="41529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n=98 · $4.1M avg.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43338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619125" y="43434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1349" y="43434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0292" y="43434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768" y="43434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7258" y="43434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791075"/>
            <a:ext cx="72955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717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SMB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(&lt;$50M)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1609" y="48006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n=50 · $0.6M avg.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49815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19125" y="49911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896" y="49911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31%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7826" y="49911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9280" y="49911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3588" y="49911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578718" y="5429250"/>
            <a:ext cx="61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697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240521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2435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4262586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8172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11996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391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7899648" y="5429250"/>
            <a:ext cx="27890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57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734050"/>
            <a:ext cx="7429500" cy="70276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752475" y="5838825"/>
            <a:ext cx="7143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Methodology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2475" y="5991225"/>
            <a:ext cx="69855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77691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Categories per Beacon &amp; Lowe 2024 taxonomy, v3.2; respondents allocated 100 points across the five buckets.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Differences across cohorts significant at p&lt;0.01.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20100" y="2171700"/>
            <a:ext cx="31623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Three takeaways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20100" y="2552700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43950" y="2552700"/>
            <a:ext cx="2838450" cy="321469"/>
          </a:xfrm>
          <a:prstGeom prst="rect">
            <a:avLst/>
          </a:prstGeom>
          <a:noFill/>
        </p:spPr>
        <p:txBody>
          <a:bodyPr wrap="square" lIns="0" rIns="0" tIns="0" bIns="0">
            <a:normAutofit fontScale="93396" lnSpcReduction="0"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Platform share rises ~11 ppts per tier of buyer scale.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43950" y="2931319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Mix shifts ~33 ppts end-to-end — from 28% in SMB to 61% in enterprise — tracking IT-team self-sufficiency more closely than absolute spend.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20100" y="3700462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43950" y="3700462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SMB services line is structurally sticky.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43950" y="3918347"/>
            <a:ext cx="2838450" cy="51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Implementation plus managed services hold a combined 53% of SMB wallets, and have moved less than 200 bps in three years.3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20100" y="4704904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43950" y="4704904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Training is the swing line for upsell.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3950" y="4922788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Mid-market buyers willing to fund 10–11% of wallet on enablement pay 1.4× the platform multiple of peers, on average.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6353175"/>
            <a:ext cx="8256836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859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Buyer Wallet Survey, FY 2025; n=412 enterprise software buyers, fielded Q3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Excludes hardware and infrastructure-as-a-service.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Cohort definitions follow Beacon &amp; Lowe segmentation, vintage 2024.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Three-year window: FY 2022–FY 2025 longitudinal panel.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52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86900" y="228600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IV · Operating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31 · Archetype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08009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6093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Four operating-model archetypes — only the federated build sustains a return spread above 12 ppts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5250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9499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the 218 large-buyer transformations in our 2026 panel, the trade-off between cost-to-serve and revenue uplift narrows materially under federated ownership; full outsourcing remains the lowest-variance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90750"/>
            <a:ext cx="2095500" cy="518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031629"/>
            <a:ext cx="1031081" cy="147638"/>
          </a:xfrm>
          <a:prstGeom prst="rect">
            <a:avLst/>
          </a:prstGeom>
          <a:noFill/>
        </p:spPr>
        <p:txBody>
          <a:bodyPr wrap="none" lIns="0" rIns="0" tIns="0" bIns="0">
            <a:normAutofit fontScale="9652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Months from kick-off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8450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9.4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7775" y="2833092"/>
            <a:ext cx="363736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6.8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7100" y="2833092"/>
            <a:ext cx="43472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853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11.2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6425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8.1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305175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42950" y="360848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Indexed, 100 =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8450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4425" y="3305175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05777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416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9741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642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9066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417105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vs. trailing 12-month run-rate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845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3.8%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7775" y="3982045"/>
            <a:ext cx="353764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710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6425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5.2%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43031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742950" y="473362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% staff at month 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845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24425" y="443031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505777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710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9725" y="454461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642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" y="529619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Steering hours / quarter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84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29241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0099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0956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1813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278832" y="5116711"/>
            <a:ext cx="36343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6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~28 hrs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24425" y="499288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577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435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2292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3149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4006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5498157" y="5116711"/>
            <a:ext cx="36656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5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~36 hrs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771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73628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4485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75342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76200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7717482" y="5116711"/>
            <a:ext cx="34647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2176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~18 hrs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964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95821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96678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97536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98393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9936807" y="5116711"/>
            <a:ext cx="36775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83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~30 hrs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55545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742950" y="585876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Beacon &amp; Lowe rubric, 1–5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38450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2 · Low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24425" y="555545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5057775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2 · Low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77100" y="5660231"/>
            <a:ext cx="558403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4 · High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96425" y="5660231"/>
            <a:ext cx="526107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3 · Med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950" y="6241852"/>
            <a:ext cx="1222921" cy="136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Composite 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845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3.2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57775" y="6241852"/>
            <a:ext cx="335607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4.1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 xml:space="preserve"> /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7710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2.8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96425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3.4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084094"/>
            <a:ext cx="10549384" cy="138112"/>
          </a:xfrm>
          <a:prstGeom prst="rect">
            <a:avLst/>
          </a:prstGeom>
          <a:noFill/>
        </p:spPr>
        <p:txBody>
          <a:bodyPr wrap="none" lIns="0" rIns="0" tIns="0" bIns="0">
            <a:normAutofit fontScale="81116" lnSpcReduction="0"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“Spread” defined as year-3 revenue uplift minus three-year cost increase, normalized.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Median across n=218 transformations; quartile bounds available in appendix C-4.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Composite weights: cost 30%, time 20%, uplift 30%, retention 10%, governance 10%.
 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9600" y="64198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7978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Source: Beacon &amp; Lowe Transformation Outcomes Database, March 2026; based on n=218 large-enterprise transformations completed FY 2021–FY 2024; archetype assignment per primary delivery owner at month 6.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53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945041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75700" y="228600"/>
            <a:ext cx="24067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 · Forces Shaping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 · Five Demand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9749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7590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Five forces are reshaping enterprise software demand through 2028 — only two are reversible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7712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Three are structural shifts in buyer behavior; two are policy- or rate-driven and may unwind. Where forces stack, planning windows compress to under nine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276475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01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95525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Procurement is consolidating — six vendors absorb the budget that twenty-two used to share.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82168"/>
            <a:ext cx="6385471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5741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Concentration ratios rose from 41% to 68% of category spend in three years across 412 surveyed buyers; long-tail vendors retain niche use-cases but lose framework agreements first.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013918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irreversible by 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375" y="2266950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7375" y="2619375"/>
            <a:ext cx="1970782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963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Top-6 share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of category spend, FY 2025; up from 41% in FY 2022.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7375" y="293727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27 ppts vs. FY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442543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02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61593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Generative-AI features have moved from differentiator to table stakes inside fourteen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29186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007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By Q1 2026, 79% of RFPs included native AI-feature requirements as gating criteria, up from 12% in Q3 2024; vendors without a credible roadmap drop out at first-pass screening.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76861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accelerating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7375" y="3433018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79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7375" y="3785443"/>
            <a:ext cx="204951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3456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RFPs gating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on native AI features, Q1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7375" y="396344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67 ppts in 18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05486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03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24536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normAutofit fontScale="97199" lnSpcReduction="0"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Capital cost has reset deal economics — payback windows under 18 months are now mandatory.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92129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5733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The median budget-committee threshold tightened from 24 months in 2022 to 17 months in early 2026, reflecting a 280-bps rise in internal hurdle rates; rate cuts could partially unwind this.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339804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Cyclical · partially reversible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7375" y="4595961"/>
            <a:ext cx="542032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73861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17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7375" y="4948386"/>
            <a:ext cx="2037904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232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Median payback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threshold, Q1 2026; down from 24 months three years earlier.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7375" y="5266283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↓ 7 months vs. 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768429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04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787479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Data-residency mandates are fragmenting deployment plans across at least three regions.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6074122"/>
            <a:ext cx="6175474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6132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Sixty-one percent of surveyed buyers now require in-region data planes for at least one workload, against a backdrop of nine major regulatory updates since FY 2023.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7375" y="5758904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61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7375" y="6111329"/>
            <a:ext cx="1991320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6285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Buyers requiring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in-region data planes for at least one workload.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7375" y="6429226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19 ppts vs. FY 2023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848475"/>
            <a:ext cx="39647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05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Talent gravity has shifted — engineering hubs outside the US now win 38% of senior hires.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6848475"/>
            <a:ext cx="6477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63846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Four cities — Bengaluru, Warsaw, Lisbon and Mexico City — absorb the bulk of the shift, materially changing where vendor R&amp;D capacity sits over the planning horizon.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persistent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77375" y="6848475"/>
            <a:ext cx="4808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38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77375" y="6848475"/>
            <a:ext cx="205620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82133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Senior R&amp;D hires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placed outside the US, FY 2025.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77375" y="6848475"/>
            <a:ext cx="21050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14 ppts vs. FY 2022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353175"/>
            <a:ext cx="8287494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Demand Drivers Index, March 2026; n=412 enterprise software buyers; reversibility classification per the firm's three-criterion rubric (policy, capital, behavior).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Forces 03 and 04 classified as partially reversible.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Concentration ratio measures top-6 share of cumulative category spend.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Counts EU, UK, IN, BR, KR, JP, AU, CA, ZA major updates since FY 2023.</a:t>
            </a:r>
          </a:p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Policy · reversibility 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54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4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92245" y="228600"/>
            <a:ext cx="21901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 · Value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47 · EBITDA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17302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965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Three quarters of the FY27 EBITDA uplift comes from price and mix — cost programs hold the rest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6513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 $612M base expands to $864M by FY27 in the recommended plan; the bridge is dominated by net-price realization and channel mix, with cost-out and one-time investments largely cancelling.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171700"/>
            <a:ext cx="7448550" cy="3257550"/>
          </a:xfrm>
          <a:prstGeom prst="rect">
            <a:avLst/>
          </a:prstGeom>
          <a:solidFill>
            <a:srgbClr val="F7F5F2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90575" y="2314575"/>
            <a:ext cx="30292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FY24 to FY27 EBITDA Bridge, USD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2486025"/>
            <a:ext cx="278070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729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 view; figures rounded to nearest $5M, base · deltas ·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5408" y="2490788"/>
            <a:ext cx="447229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997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9337" y="2490788"/>
            <a:ext cx="42341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2096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Additions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8503" y="2490788"/>
            <a:ext cx="568672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1540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Subtractions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765" y="2824162"/>
            <a:ext cx="25911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647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811" y="3295650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811" y="3767138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811" y="4238625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088" y="4662488"/>
            <a:ext cx="5878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771775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371600" y="3240881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371600" y="3709988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371600" y="4179094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447800" y="3499842"/>
            <a:ext cx="660797" cy="1148358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371600" y="3385542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$612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actual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997" y="3323481"/>
            <a:ext cx="660797" cy="176361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184797" y="3209181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797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new logos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74194" y="3064669"/>
            <a:ext cx="660797" cy="258812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97994" y="2950220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9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realization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87391" y="2959447"/>
            <a:ext cx="660797" cy="105073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811191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119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SG&amp;A re-base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588" y="2959447"/>
            <a:ext cx="660797" cy="52536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624388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438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Headwind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13784" y="3012132"/>
            <a:ext cx="660797" cy="78730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437584" y="2897684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758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R&amp;D &amp; 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6981" y="3027164"/>
            <a:ext cx="660797" cy="63698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250781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078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M&amp;A &amp; one-offs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40178" y="3027015"/>
            <a:ext cx="660797" cy="1621185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7063978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$864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97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target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171700"/>
            <a:ext cx="33528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Calculation detail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2409825"/>
            <a:ext cx="3352800" cy="47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372475" y="2552700"/>
            <a:ext cx="30670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Bridge math · $M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2475" y="2714625"/>
            <a:ext cx="2207865" cy="157162"/>
          </a:xfrm>
          <a:prstGeom prst="rect">
            <a:avLst/>
          </a:prstGeom>
          <a:noFill/>
        </p:spPr>
        <p:txBody>
          <a:bodyPr wrap="none" lIns="0" rIns="0" tIns="0" bIns="0">
            <a:normAutofit fontScale="87480" lnSpcReduction="0"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FY24 actual to FY27 plan, in flow order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72475" y="30517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FY24 EBITDA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26850" y="30517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6775" y="32803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at 18.4% margin on $3,326M revenue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2475" y="34898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Volume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26850" y="34898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6775" y="37184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+1,420 net logos × $66k ACV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72475" y="3928021"/>
            <a:ext cx="270733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Price &amp; mix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6007" y="3928021"/>
            <a:ext cx="28351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+138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86775" y="41566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+3.6% list · +1.4 ppt mix shift to platform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2475" y="43661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Cost-out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26850" y="43661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6775" y="45947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SG&amp;A from 22.1% → 20.7% of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2475" y="48043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FX &amp; inflation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26850" y="48043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6775" y="50329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USD strength + 4.1% wage drift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72475" y="52424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Reinvestment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26850" y="52424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6775" y="54710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R&amp;D 14.0% → 14.9% · GTM uplift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72475" y="56806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Other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26850" y="56806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6775" y="59092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Tuck-ins (2) · one-time benefit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72475" y="6204496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FY27 EBITDA plan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26850" y="620449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864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72475" y="6480721"/>
            <a:ext cx="252189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18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at </a:t>
            </a:r>
            <a:r>
              <a:rPr sz="800" b="1" i="0" u="none">
                <a:solidFill>
                  <a:srgbClr val="1A1A1A"/>
                </a:solidFill>
                <a:latin typeface="Inter"/>
              </a:rPr>
              <a:t>21.3%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margin on $4,058M revenue (+6.9% CAGR)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72475" y="6804571"/>
            <a:ext cx="2908846" cy="53429"/>
          </a:xfrm>
          <a:prstGeom prst="rect">
            <a:avLst/>
          </a:prstGeom>
          <a:noFill/>
        </p:spPr>
        <p:txBody>
          <a:bodyPr wrap="square" lIns="0" rIns="0" tIns="0" bIns="0">
            <a:normAutofit fontScale="5735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CAGR on EBITDA: </a:t>
            </a:r>
            <a:r>
              <a:rPr sz="800" b="1" i="0" u="none">
                <a:solidFill>
                  <a:srgbClr val="1A1A1A"/>
                </a:solidFill>
                <a:latin typeface="Source Serif Pro"/>
              </a:rPr>
              <a:t>+12.2%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over three years; 76% of the absolute uplift sits in price, mix, and volume.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353175"/>
            <a:ext cx="8401943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206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value-architecture model, March 2026 vintage; client management plan, FY24 actuals from audited 10-K; macro inputs from IMF World Economic Outlook, Oct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Recommended-plan view; downside case in appendix D-2.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Order is presentational, not arithmetic.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Volume + price + mix combined.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55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304800"/>
            <a:ext cx="171450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76300" y="333375"/>
            <a:ext cx="10154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Beacon &amp; Lowe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7004" y="333375"/>
            <a:ext cx="1340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· Strategy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917" y="333375"/>
            <a:ext cx="36724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Confidential · Working Draft ·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3925"/>
            <a:ext cx="20210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Confidential · Internal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38250"/>
            <a:ext cx="3317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Report · ESP-2026-Q2-014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400175"/>
            <a:ext cx="2506861" cy="41329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 xml:space="preserve">The Enterprise Software </a:t>
            </a:r>
            <a:r>
              <a:rPr sz="1350" b="1" i="1" u="none">
                <a:solidFill>
                  <a:srgbClr val="475569"/>
                </a:solidFill>
                <a:latin typeface="Source Serif Pro"/>
              </a:rPr>
              <a:t>Quarterly</a:t>
            </a:r>
          </a:p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>Spring 2026 issue, vol. XII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950541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57250" y="1950541"/>
            <a:ext cx="15516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Series · Practice POVs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81000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90975"/>
            <a:ext cx="3100983" cy="5200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Helmsworth Industries plc — Office of the Chief Strategy Officer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Steering committee · Project Atlas, workstream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6135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7110"/>
            <a:ext cx="26265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Beacon &amp; Lowe — Enterprise Software Practice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Lead: M. Okafor · Co-leads: J. Aalto, R. Vance, S. Iyer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588943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Date of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769918"/>
            <a:ext cx="22391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9437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30 April 2026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Supersedes: 28 February 2026 working 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914400"/>
            <a:ext cx="70358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Strategic outlook 2026 – 2028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6550" y="1247775"/>
            <a:ext cx="4171355" cy="115996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Concentration, capability,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 xml:space="preserve">and the </a:t>
            </a:r>
            <a:r>
              <a:rPr sz="2850" b="1" i="1" u="none">
                <a:solidFill>
                  <a:srgbClr val="0B3A5C"/>
                </a:solidFill>
                <a:latin typeface="Source Serif Pro"/>
              </a:rPr>
              <a:t>narrowing window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for enterprise software bets.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550" y="2540050"/>
            <a:ext cx="6286500" cy="497086"/>
          </a:xfrm>
          <a:prstGeom prst="rect">
            <a:avLst/>
          </a:prstGeom>
          <a:noFill/>
        </p:spPr>
        <p:txBody>
          <a:bodyPr wrap="square" lIns="0" rIns="0" tIns="0" bIns="0">
            <a:normAutofit fontScale="50562" lnSpcReduction="0"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Source Serif Pro"/>
              </a:rPr>
              <a:t>A field study of 412 buyers, 218 transformations, and 11 vendors — with the operating-model implications for the next 36 months of capital allocation.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6550" y="3446711"/>
            <a:ext cx="70358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Contents · six sections, 84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6550" y="3684836"/>
            <a:ext cx="133290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678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I. Forces shaping 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5982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6801" y="3684836"/>
            <a:ext cx="10583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754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II. Vendor 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86381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550" y="3961061"/>
            <a:ext cx="114850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33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III. Spend composition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5982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6801" y="3961061"/>
            <a:ext cx="107632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9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IV. Operating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86381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6550" y="4237286"/>
            <a:ext cx="106486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V. Value 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5982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6801" y="4237286"/>
            <a:ext cx="11281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169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VI. Recommendations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86381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6550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Field 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6550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6550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3810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enterprise software buyers, fielded Q3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984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Transformations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984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984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0196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large-enterprise programs, FY 2021–FY 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89418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Modeling horizon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89418" y="5828407"/>
            <a:ext cx="460474" cy="247650"/>
          </a:xfrm>
          <a:prstGeom prst="rect">
            <a:avLst/>
          </a:prstGeom>
          <a:noFill/>
        </p:spPr>
        <p:txBody>
          <a:bodyPr wrap="none" lIns="0" rIns="0" tIns="0" bIns="0">
            <a:normAutofit fontScale="7986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36</a:t>
            </a:r>
            <a:r>
              <a:rPr sz="975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9418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planning window through Q1 FY 2029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15100"/>
            <a:ext cx="34005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LLP · New York · London · Singapore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002" y="6515100"/>
            <a:ext cx="3322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Enterprise Software Quarterly · Spring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8566" y="6515100"/>
            <a:ext cx="4338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56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5357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32752" y="228600"/>
            <a:ext cx="194964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VI · Capability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62 · Buyer-Reported Capability Gaps, Top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178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59851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AI-grounded reporting tops the gap list for the second straight year — eight of ten gaps moved against vendors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2876" y="2152650"/>
            <a:ext cx="447824" cy="134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6466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Buyers rate the unmet-need score on a 0–100 scale across 24 capability dimensions; positive deltas indicate gaps widening since FY 2024. Year-on-year movement is positive in eight cases, neutral in one, narrowing in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2713"/>
            <a:ext cx="3429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" y="2182713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4700" y="2182713"/>
            <a:ext cx="51054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Unmet-need score, 0–100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3450" y="2152650"/>
            <a:ext cx="857250" cy="134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4050" y="2182713"/>
            <a:ext cx="857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34650" y="2182713"/>
            <a:ext cx="1047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Prior 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684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" y="2630388"/>
            <a:ext cx="2095500" cy="247650"/>
          </a:xfrm>
          <a:prstGeom prst="rect">
            <a:avLst/>
          </a:prstGeom>
          <a:noFill/>
        </p:spPr>
        <p:txBody>
          <a:bodyPr wrap="square" lIns="0" rIns="0" tIns="0" bIns="0">
            <a:normAutofit fontScale="830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Citation-backed answers across enterprise corpora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4700" y="25827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324225" y="2582763"/>
            <a:ext cx="4280446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381375" y="2606576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53450" y="2592288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84.2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2086" y="2601813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+6.8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95571" y="2606576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3106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" y="3230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55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Audit-grade provenance across SaaS estate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312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3324225" y="3120926"/>
            <a:ext cx="402565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381375" y="3144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3450" y="3130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78.6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51244" y="31399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+11.4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6109" y="3144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#05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582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" y="3706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Sub-1s response on &gt;1B-row analytics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14700" y="3597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324225" y="3597176"/>
            <a:ext cx="3770858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3381375" y="3620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3450" y="3606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22086" y="3616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+4.2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16109" y="3620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#04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59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5850" y="4182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EU, UK, IN, BR sovereignty by default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14700" y="4073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3324225" y="4073426"/>
            <a:ext cx="361801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381375" y="4097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3450" y="4082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70.8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51244" y="40924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+18.6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6109" y="40972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4535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5850" y="4659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Long-running, recoverable, multi-vendor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4700" y="4549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324225" y="4549676"/>
            <a:ext cx="336321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3381375" y="4573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53450" y="4559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66.1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2086" y="45687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+3.1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16109" y="45734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5011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850" y="5135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Per-feature, per-seat, per-event billing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14700" y="5025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324225" y="5025926"/>
            <a:ext cx="315932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3381375" y="5049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3450" y="5035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61.7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22086" y="50449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+5.4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16109" y="5049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5487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5850" y="5611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Sub-50ms inference at branch sites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14700" y="5502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3324225" y="5502176"/>
            <a:ext cx="295557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3381375" y="5525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53450" y="5511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57.9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22086" y="5521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7A1F3D"/>
                </a:solidFill>
                <a:latin typeface="Inter"/>
              </a:rPr>
              <a:t xml:space="preserve">▼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−2.6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6109" y="5525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#03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↓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−4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9600" y="5964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5850" y="6087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ABAC at warehouse + app boundary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14700" y="5978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3324225" y="5978426"/>
            <a:ext cx="275168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3381375" y="6002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53450" y="5987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54.2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22086" y="59974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+1.8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95571" y="600223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#08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5850" y="6564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OpenTelemetry-native, vendor-agnostic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14700" y="6454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3324225" y="6454676"/>
            <a:ext cx="2445990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3381375" y="6478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25807" y="6473726"/>
            <a:ext cx="3754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64748B"/>
                </a:solidFill>
                <a:latin typeface="Inter"/>
              </a:rPr>
              <a:t xml:space="preserve">▬ </a:t>
            </a:r>
            <a:r>
              <a:rPr sz="862" b="1" i="0" u="none">
                <a:solidFill>
                  <a:srgbClr val="64748B"/>
                </a:solidFill>
                <a:latin typeface="Inter"/>
              </a:rPr>
              <a:t>+0.4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95571" y="647848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67223" lnSpcReduction="0"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#09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57 / 84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6848475"/>
            <a:ext cx="3429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5850" y="6848475"/>
            <a:ext cx="20955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Per-tenant policy enforced server-side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314700" y="693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3324225" y="6930926"/>
            <a:ext cx="2191196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3381375" y="6848475"/>
            <a:ext cx="12948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3450" y="6848475"/>
            <a:ext cx="85725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43.1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22086" y="6848475"/>
            <a:ext cx="379214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+2.2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16109" y="6848475"/>
            <a:ext cx="566291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#12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147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/>
          <p:cNvSpPr txBox="1"/>
          <p:nvPr/>
        </p:nvSpPr>
        <p:spPr>
          <a:xfrm>
            <a:off x="3285306" y="6848475"/>
            <a:ext cx="58787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910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45323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8674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/>
          <p:cNvSpPr txBox="1"/>
          <p:nvPr/>
        </p:nvSpPr>
        <p:spPr>
          <a:xfrm>
            <a:off x="580868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1437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/>
          <p:cNvSpPr txBox="1"/>
          <p:nvPr/>
        </p:nvSpPr>
        <p:spPr>
          <a:xfrm>
            <a:off x="70850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201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8332068" y="6848475"/>
            <a:ext cx="1760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096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/>
          <p:cNvSpPr txBox="1"/>
          <p:nvPr/>
        </p:nvSpPr>
        <p:spPr>
          <a:xfrm>
            <a:off x="7334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Risers 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3425" y="5915025"/>
            <a:ext cx="3210371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61364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>Sovereignty &amp; lineage capabilities widened gap fastest, +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15.0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on average since FY 2024.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434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/>
          <p:cNvSpPr txBox="1"/>
          <p:nvPr/>
        </p:nvSpPr>
        <p:spPr>
          <a:xfrm>
            <a:off x="44672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Decliners 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67225" y="5915025"/>
            <a:ext cx="2669679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55287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Edge runtimes narrowed by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2.6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; first material vendor improvement in three cycles.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0772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/>
          <p:cNvSpPr txBox="1"/>
          <p:nvPr/>
        </p:nvSpPr>
        <p:spPr>
          <a:xfrm>
            <a:off x="82010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Implication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01025" y="5915025"/>
            <a:ext cx="32008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56363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Roadmap funding should target the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top 4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— together they account for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~58%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of stated buyer urgency.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9600" y="6353175"/>
            <a:ext cx="8532168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8868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Capability Gap Index, FY 2026; n=412 enterprise software buyers, fielded Q3 2025; YoY base is FY 2024 fielding of n=389.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Eight gaps widened, one flat, one narrowed.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Score is 100 × (importance − satisfaction).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Urgency-weighted by buyer-stated planning window.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9600" y="6440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553450" y="6464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48.3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1384995" cy="361950"/>
          </a:xfrm>
          <a:prstGeom prst="rect">
            <a:avLst/>
          </a:prstGeom>
          <a:noFill/>
        </p:spPr>
        <p:txBody>
          <a:bodyPr wrap="none" lIns="0" rIns="0" tIns="0" bIns="0">
            <a:normAutofit fontScale="89707" lnSpcReduction="0"/>
          </a:bodyPr>
          <a:lstStyle/>
          <a:p>
            <a:pPr algn="l"/>
            <a:r>
              <a:rPr sz="2550" b="1" i="0" u="none">
                <a:solidFill>
                  <a:srgbClr val="FFFFFF"/>
                </a:solidFill>
                <a:latin typeface="Tiempos Headline"/>
              </a:rPr>
              <a:t>CABINET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00840" y="476250"/>
            <a:ext cx="54366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Vol. 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11209" y="476250"/>
            <a:ext cx="9325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0466" y="476250"/>
            <a:ext cx="47193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$14.00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23950"/>
            <a:ext cx="298504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3B1F"/>
                </a:solidFill>
                <a:latin typeface="Inter Display"/>
              </a:rPr>
              <a:t>The Long View — Issue No.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629150"/>
            <a:ext cx="5334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Tiempos Headline"/>
              </a:rPr>
              <a:t xml:space="preserve">Six photographers spent the year tracing the
    geographies that hold us — from the saltline
    of the Aral Sea to the ridge above Glen Coe —
    asking what a landscape remembers.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9857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Photographs by Maren Asher  ·  Words by Idris Calloway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6650" y="1905000"/>
            <a:ext cx="133350" cy="203105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USPS · PRINTED IN MAINE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28000">
                <a:srgbClr val="000000">
                  <a:alpha val="10000"/>
                </a:srgbClr>
              </a:gs>
              <a:gs pos="60000">
                <a:srgbClr val="000000">
                  <a:alpha val="10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9250"/>
            <a:ext cx="11277600" cy="308431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1563350" y="1619250"/>
            <a:ext cx="19050" cy="400050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/>
              </a:gs>
              <a:gs pos="20000">
                <a:srgbClr val="FFFFFF"/>
              </a:gs>
              <a:gs pos="40000">
                <a:srgbClr val="FFFFFF"/>
              </a:gs>
              <a:gs pos="60000">
                <a:srgbClr val="FFFFFF"/>
              </a:gs>
              <a:gs pos="80000">
                <a:srgbClr val="FFFFFF"/>
              </a:gs>
              <a:gs pos="100000">
                <a:srgbClr val="FFFFFF"/>
              </a:gs>
            </a:gsLst>
            <a:lin ang="0" scaled="0"/>
          </a:gradFill>
          <a:xfrm>
            <a:off x="10439400" y="5810250"/>
            <a:ext cx="1143000" cy="4381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44767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477000" cy="685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266700"/>
            <a:ext cx="12102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Aperture · 062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6477595"/>
            <a:ext cx="58178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 xml:space="preserve">Portrait of M. Halberstam, photographed in Hudson, New York,
      on the morning of the third snow. Sigma 50mm, available light.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40F0A">
                  <a:alpha val="10000"/>
                </a:srgbClr>
              </a:gs>
              <a:gs pos="5833">
                <a:srgbClr val="140F0A">
                  <a:alpha val="8333"/>
                </a:srgbClr>
              </a:gs>
              <a:gs pos="11667">
                <a:srgbClr val="140F0A">
                  <a:alpha val="6667"/>
                </a:srgbClr>
              </a:gs>
              <a:gs pos="17500">
                <a:srgbClr val="140F0A">
                  <a:alpha val="5000"/>
                </a:srgbClr>
              </a:gs>
              <a:gs pos="23333">
                <a:srgbClr val="140F0A">
                  <a:alpha val="3333"/>
                </a:srgbClr>
              </a:gs>
              <a:gs pos="29167">
                <a:srgbClr val="140F0A">
                  <a:alpha val="1667"/>
                </a:srgbClr>
              </a:gs>
              <a:gs pos="35000">
                <a:srgbClr val="140F0A">
                  <a:alpha val="0"/>
                </a:srgbClr>
              </a:gs>
              <a:gs pos="45833">
                <a:srgbClr val="140F0A">
                  <a:alpha val="7500"/>
                </a:srgbClr>
              </a:gs>
              <a:gs pos="56667">
                <a:srgbClr val="140F0A">
                  <a:alpha val="15000"/>
                </a:srgbClr>
              </a:gs>
              <a:gs pos="67500">
                <a:srgbClr val="140F0A">
                  <a:alpha val="22500"/>
                </a:srgbClr>
              </a:gs>
              <a:gs pos="78333">
                <a:srgbClr val="140F0A">
                  <a:alpha val="30000"/>
                </a:srgbClr>
              </a:gs>
              <a:gs pos="89167">
                <a:srgbClr val="140F0A">
                  <a:alpha val="37500"/>
                </a:srgbClr>
              </a:gs>
              <a:gs pos="100000">
                <a:srgbClr val="140F0A">
                  <a:alpha val="45000"/>
                </a:srgbClr>
              </a:gs>
            </a:gsLst>
            <a:lin ang="5400000" scaled="0"/>
          </a:gradFill>
          <a:xfrm>
            <a:off x="0" y="0"/>
            <a:ext cx="6477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162800" y="609600"/>
            <a:ext cx="9673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The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82583" y="671512"/>
            <a:ext cx="2685157" cy="9525"/>
          </a:xfrm>
          <a:prstGeom prst="rect">
            <a:avLst/>
          </a:prstGeom>
          <a:solidFill>
            <a:srgbClr val="C8B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20140" y="609600"/>
            <a:ext cx="38606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P. 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0" y="1143000"/>
            <a:ext cx="43434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501E"/>
                </a:solidFill>
                <a:latin typeface="Inter Display"/>
              </a:rPr>
              <a:t>An interview — in three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0" y="1400175"/>
            <a:ext cx="3117205" cy="21202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
      What the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>quiet hours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are </a:t>
            </a:r>
            <a:r>
              <a:rPr sz="5550" b="1" i="1" u="none">
                <a:solidFill>
                  <a:srgbClr val="1A1612"/>
                </a:solidFill>
                <a:latin typeface="Tiempos Headline"/>
              </a:rPr>
              <a:t>for</a:t>
            </a:r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0" y="3694658"/>
            <a:ext cx="4343400" cy="542925"/>
          </a:xfrm>
          <a:prstGeom prst="rect">
            <a:avLst/>
          </a:prstGeom>
          <a:noFill/>
        </p:spPr>
        <p:txBody>
          <a:bodyPr wrap="square" lIns="0" rIns="0" tIns="0" bIns="0">
            <a:normAutofit fontScale="99359" lnSpcReduction="0"/>
          </a:bodyPr>
          <a:lstStyle/>
          <a:p>
            <a:pPr algn="l"/>
            <a:r>
              <a:rPr sz="1425" b="0" i="0" u="none">
                <a:solidFill>
                  <a:srgbClr val="3A3128"/>
                </a:solidFill>
                <a:latin typeface="Tiempos Headline"/>
              </a:rPr>
              <a:t xml:space="preserve">The novelist on slow mornings, the cost of an
      honest sentence, and learning to leave a draft
      alone for a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0" y="4542383"/>
            <a:ext cx="4343400" cy="18228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162800" y="4523333"/>
            <a:ext cx="4343400" cy="2164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Her new novel </a:t>
            </a:r>
            <a:r>
              <a:rPr sz="1012" b="0" i="1" u="none">
                <a:solidFill>
                  <a:srgbClr val="1A1612"/>
                </a:solidFill>
                <a:latin typeface="Tiempos Headline"/>
              </a:rPr>
              <a:t>The Inland Sea</a:t>
            </a:r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 is shorter
      than the last by half. “I wanted the silence
      to be load-bearing,” she says. “Not a pause
      between things — the thing itself.”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0" y="4523333"/>
            <a:ext cx="2038350" cy="1195685"/>
          </a:xfrm>
          <a:prstGeom prst="rect">
            <a:avLst/>
          </a:prstGeom>
          <a:noFill/>
        </p:spPr>
        <p:txBody>
          <a:bodyPr wrap="square" lIns="0" rIns="0" tIns="0" bIns="0">
            <a:normAutofit fontScale="6433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The kettle is on for the second time. Halberstam
      writes longhand until eleven, then walks. Then,
      she has said in earlier interviews, the day
      becomes a kind of weather one consents 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7850" y="5007620"/>
            <a:ext cx="2038350" cy="996404"/>
          </a:xfrm>
          <a:prstGeom prst="rect">
            <a:avLst/>
          </a:prstGeom>
          <a:noFill/>
        </p:spPr>
        <p:txBody>
          <a:bodyPr wrap="square" lIns="0" rIns="0" tIns="0" bIns="0">
            <a:normAutofit fontScale="6449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We meet in the kitchen, then the study, then
      a back porch that looks at nothing in particular.
      In each room she is slightly different, more
      careful with what she will say.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7850" y="6089749"/>
            <a:ext cx="2038350" cy="597843"/>
          </a:xfrm>
          <a:prstGeom prst="rect">
            <a:avLst/>
          </a:prstGeom>
          <a:noFill/>
        </p:spPr>
        <p:txBody>
          <a:bodyPr wrap="square" lIns="0" rIns="0" tIns="0" bIns="0">
            <a:normAutofit fontScale="74713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“A page should cost something,” she offers,
      stirring nothing in her cup. “Otherwise it
      isn't a page. It's a sound.”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0" y="6830467"/>
            <a:ext cx="1886843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Photograph — A. Reinholt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17795" y="6830467"/>
            <a:ext cx="1288405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Issue 062 / Spring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66725"/>
            <a:ext cx="175140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Photo Essay · No.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79020" y="457200"/>
            <a:ext cx="28170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630" lnSpcReduction="0"/>
          </a:bodyPr>
          <a:lstStyle/>
          <a:p>
            <a:pPr algn="l"/>
            <a:r>
              <a:rPr sz="1050" b="1" i="0" u="none">
                <a:solidFill>
                  <a:srgbClr val="ECE6D8"/>
                </a:solidFill>
                <a:latin typeface="Tiempos Headline"/>
              </a:rPr>
              <a:t>Notes from a sinking coast — two photographs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3900" y="466725"/>
            <a:ext cx="1568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Aperture / Spring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19150"/>
            <a:ext cx="649798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350"/>
            <a:ext cx="6345585" cy="403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6185" y="819150"/>
            <a:ext cx="424621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385" y="895350"/>
            <a:ext cx="4093815" cy="403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5735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429250"/>
            <a:ext cx="5185767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salt marsh at low tide, photographed from
      </a:t>
            </a:r>
            <a:r>
              <a:rPr sz="975" b="0" i="1" u="none">
                <a:solidFill>
                  <a:srgbClr val="ECE6D8"/>
                </a:solidFill>
                <a:latin typeface="Tiempos Headline"/>
              </a:rPr>
              <a:t>350m above the Bay of Fundy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.
      The bright veining is a tidal channel that has
      migrated nearly forty meters since the same frame
      was taken in 1998. Locals call this stretch
      </a:t>
            </a:r>
            <a:r>
              <a:rPr sz="975" b="0" i="1" u="none">
                <a:solidFill>
                  <a:srgbClr val="CFC3A8"/>
                </a:solidFill>
                <a:latin typeface="Tiempos Headline"/>
              </a:rPr>
              <a:t>the breathing field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: at neap it is grass;
      at spring it is sea. The line between is a
      negotiation that the map will lose.
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5429250"/>
            <a:ext cx="5254972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02 — The wall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retaining wall on the headland west of the
      village, poured the summer the lighthouse went
      automatic. The mason inscribed his initials and
      the year into the lower-left corner; both have
      since been overtaken by lichen. We photographed
      it in February, when the cold gives the concrete
      back its first colour — pale, faintly pink,
      the colour of an apology that is already too late.
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477000"/>
            <a:ext cx="1784003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181" lnSpcReduction="0"/>
          </a:bodyPr>
          <a:lstStyle/>
          <a:p>
            <a:pPr algn="l"/>
            <a:r>
              <a:rPr sz="825" b="0" i="0" u="none">
                <a:solidFill>
                  <a:srgbClr val="7A6F54"/>
                </a:solidFill>
                <a:latin typeface="Tiempos Headline"/>
              </a:rPr>
              <a:t>The Inland Sea — an essay in eight plates.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36610" y="6457950"/>
            <a:ext cx="84579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F54"/>
                </a:solidFill>
                <a:latin typeface="Inter Display"/>
              </a:rPr>
              <a:t>P. 084–085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5833"/>
                </a:srgbClr>
              </a:gs>
              <a:gs pos="20000">
                <a:srgbClr val="000000">
                  <a:alpha val="11667"/>
                </a:srgbClr>
              </a:gs>
              <a:gs pos="30000">
                <a:srgbClr val="000000">
                  <a:alpha val="17500"/>
                </a:srgbClr>
              </a:gs>
              <a:gs pos="40000">
                <a:srgbClr val="000000">
                  <a:alpha val="23333"/>
                </a:srgbClr>
              </a:gs>
              <a:gs pos="50000">
                <a:srgbClr val="000000">
                  <a:alpha val="29167"/>
                </a:srgbClr>
              </a:gs>
              <a:gs pos="60000">
                <a:srgbClr val="000000">
                  <a:alpha val="35000"/>
                </a:srgbClr>
              </a:gs>
              <a:gs pos="66667">
                <a:srgbClr val="000000">
                  <a:alpha val="42167"/>
                </a:srgbClr>
              </a:gs>
              <a:gs pos="73333">
                <a:srgbClr val="000000">
                  <a:alpha val="49333"/>
                </a:srgbClr>
              </a:gs>
              <a:gs pos="80000">
                <a:srgbClr val="000000">
                  <a:alpha val="56500"/>
                </a:srgbClr>
              </a:gs>
              <a:gs pos="86667">
                <a:srgbClr val="000000">
                  <a:alpha val="63667"/>
                </a:srgbClr>
              </a:gs>
              <a:gs pos="93333">
                <a:srgbClr val="000000">
                  <a:alpha val="70833"/>
                </a:srgbClr>
              </a:gs>
              <a:gs pos="100000">
                <a:srgbClr val="000000">
                  <a:alpha val="78000"/>
                </a:srgbClr>
              </a:gs>
            </a:gsLst>
            <a:path path="circle">
              <a:fillToRect l="50000" t="55000" r="50000" b="4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42900"/>
            <a:ext cx="640556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86057" lnSpcReduction="0"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Tiempos Headline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641" y="376238"/>
            <a:ext cx="16798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Conversations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799" y="376238"/>
            <a:ext cx="9016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333500"/>
            <a:ext cx="1051620" cy="1600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1EFF8C"/>
                </a:solidFill>
                <a:latin typeface="Tiempos Headline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52625"/>
            <a:ext cx="8381405" cy="42142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43000" y="1981200"/>
            <a:ext cx="9906000" cy="4160490"/>
          </a:xfrm>
          <a:prstGeom prst="rect">
            <a:avLst/>
          </a:prstGeom>
          <a:noFill/>
        </p:spPr>
        <p:txBody>
          <a:bodyPr wrap="square" lIns="0" rIns="0" tIns="0" bIns="0">
            <a:normAutofit fontScale="65527" lnSpcReduction="0"/>
          </a:bodyPr>
          <a:lstStyle/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The work was never about being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seen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>.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It was about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seeing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 — and learning,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finally, when to look away.
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5562600"/>
            <a:ext cx="111725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436" lnSpcReduction="0"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 Display"/>
              </a:rPr>
              <a:t>JUNO ELIAS-MORI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0353" y="5562600"/>
            <a:ext cx="16383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0908" lnSpcReduction="0"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Inter Display"/>
              </a:rPr>
              <a:t>photographer, in conversation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9167"/>
                </a:srgbClr>
              </a:gs>
              <a:gs pos="16667">
                <a:srgbClr val="363636">
                  <a:alpha val="18333"/>
                </a:srgbClr>
              </a:gs>
              <a:gs pos="25000">
                <a:srgbClr val="636363">
                  <a:alpha val="27500"/>
                </a:srgbClr>
              </a:gs>
              <a:gs pos="33333">
                <a:srgbClr val="949494">
                  <a:alpha val="36667"/>
                </a:srgbClr>
              </a:gs>
              <a:gs pos="41667">
                <a:srgbClr val="C8C8C8">
                  <a:alpha val="45833"/>
                </a:srgbClr>
              </a:gs>
              <a:gs pos="50000">
                <a:srgbClr val="FFFFFF">
                  <a:alpha val="55000"/>
                </a:srgbClr>
              </a:gs>
              <a:gs pos="58333">
                <a:srgbClr val="FFFFFF">
                  <a:alpha val="45833"/>
                </a:srgbClr>
              </a:gs>
              <a:gs pos="66667">
                <a:srgbClr val="FFFFFF">
                  <a:alpha val="36667"/>
                </a:srgbClr>
              </a:gs>
              <a:gs pos="75000">
                <a:srgbClr val="FFFFFF">
                  <a:alpha val="27500"/>
                </a:srgbClr>
              </a:gs>
              <a:gs pos="83333">
                <a:srgbClr val="FFFFFF">
                  <a:alpha val="18333"/>
                </a:srgbClr>
              </a:gs>
              <a:gs pos="91667">
                <a:srgbClr val="FFFFFF">
                  <a:alpha val="9167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11572875" y="1333500"/>
            <a:ext cx="9525" cy="152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143000" y="5634038"/>
            <a:ext cx="457200" cy="9525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09600" y="6400800"/>
            <a:ext cx="2433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Conversation No. 03 / Excerpt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8695" y="6400800"/>
            <a:ext cx="219089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Photo — J. Elias-Mori,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25051" y="6400800"/>
            <a:ext cx="4573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P. 028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2733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E5A3A"/>
                </a:solidFill>
                <a:latin typeface="Inter Display"/>
              </a:rPr>
              <a:t>Aperture · No. 062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895350"/>
            <a:ext cx="27336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B04A1C"/>
                </a:solidFill>
                <a:latin typeface="Inter Display"/>
              </a:rPr>
              <a:t>Field Notebook —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162050"/>
            <a:ext cx="1991469" cy="175766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
      Six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>rooms,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one </a:t>
            </a:r>
            <a:r>
              <a:rPr sz="4650" b="1" i="1" u="none">
                <a:solidFill>
                  <a:srgbClr val="B04A1C"/>
                </a:solidFill>
                <a:latin typeface="Tiempos Headline"/>
              </a:rPr>
              <a:t>year</a:t>
            </a:r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084165"/>
            <a:ext cx="2733675" cy="642938"/>
          </a:xfrm>
          <a:prstGeom prst="rect">
            <a:avLst/>
          </a:prstGeom>
          <a:noFill/>
        </p:spPr>
        <p:txBody>
          <a:bodyPr wrap="square" lIns="0" rIns="0" tIns="0" bIns="0">
            <a:normAutofit fontScale="83008" lnSpcReduction="0"/>
          </a:bodyPr>
          <a:lstStyle/>
          <a:p>
            <a:pPr algn="l"/>
            <a:r>
              <a:rPr sz="1125" b="0" i="0" u="none">
                <a:solidFill>
                  <a:srgbClr val="3A3428"/>
                </a:solidFill>
                <a:latin typeface="Tiempos Headline"/>
              </a:rPr>
              <a:t xml:space="preserve">A traveling portfolio — Reykjavik to Lisbon
      to Hanoi — built from the in-between hours.
      Edited from 4,200 frames.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5905500"/>
            <a:ext cx="19630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Photographer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M. Asher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057900"/>
            <a:ext cx="15869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Editor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I. Calloway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6210300"/>
            <a:ext cx="12573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Plates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6 of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362700"/>
            <a:ext cx="19222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Dates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03.2025 / 02.2026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2400" y="457200"/>
            <a:ext cx="508635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962400" y="457200"/>
            <a:ext cx="508635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Reykjavik — The atrium, 6:14am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8600" y="533400"/>
            <a:ext cx="24779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2100" y="457200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182100" y="457200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Lisbon — 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8300" y="533400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6240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96240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Bay of Fundy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600" y="3571875"/>
            <a:ext cx="269677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225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57225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Texture, copper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571875"/>
            <a:ext cx="273100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2100" y="3495675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82100" y="3495675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Hanoi — alley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3571875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2100" y="5014912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9182100" y="5014912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Object — the watch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8300" y="5091112"/>
            <a:ext cx="26937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5B1F"/>
              </a:gs>
              <a:gs pos="9167">
                <a:srgbClr val="FF5B1F">
                  <a:alpha val="83333"/>
                </a:srgbClr>
              </a:gs>
              <a:gs pos="18333">
                <a:srgbClr val="FF5B1F">
                  <a:alpha val="66667"/>
                </a:srgbClr>
              </a:gs>
              <a:gs pos="27500">
                <a:srgbClr val="FF5B1F">
                  <a:alpha val="50000"/>
                </a:srgbClr>
              </a:gs>
              <a:gs pos="36667">
                <a:srgbClr val="FF5B1F">
                  <a:alpha val="33333"/>
                </a:srgbClr>
              </a:gs>
              <a:gs pos="45833">
                <a:srgbClr val="FF5B1F">
                  <a:alpha val="16667"/>
                </a:srgbClr>
              </a:gs>
              <a:gs pos="55000">
                <a:srgbClr val="FF5B1F">
                  <a:alpha val="0"/>
                </a:srgbClr>
              </a:gs>
              <a:gs pos="100000">
                <a:srgbClr val="FF5B1F">
                  <a:alpha val="0"/>
                </a:srgbClr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41667">
                <a:srgbClr val="000000">
                  <a:alpha val="9167"/>
                </a:srgbClr>
              </a:gs>
              <a:gs pos="53333">
                <a:srgbClr val="010001">
                  <a:alpha val="18333"/>
                </a:srgbClr>
              </a:gs>
              <a:gs pos="65000">
                <a:srgbClr val="020103">
                  <a:alpha val="27500"/>
                </a:srgbClr>
              </a:gs>
              <a:gs pos="76667">
                <a:srgbClr val="040308">
                  <a:alpha val="36667"/>
                </a:srgbClr>
              </a:gs>
              <a:gs pos="88333">
                <a:srgbClr val="050610">
                  <a:alpha val="45833"/>
                </a:srgbClr>
              </a:gs>
              <a:gs pos="100000">
                <a:srgbClr val="050C18">
                  <a:alpha val="55000"/>
                </a:srgbClr>
              </a:gs>
            </a:gsLst>
            <a:path path="circle">
              <a:fillToRect l="60000" t="45000" r="40000" b="5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2076450"/>
            <a:ext cx="10668000" cy="35090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8310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Inter Display"/>
              </a:rPr>
              <a:t>A24 / FILMS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1737" y="638175"/>
            <a:ext cx="114166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Dossier · 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1930" y="638175"/>
            <a:ext cx="26580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In selected cinemas · 04.30.26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9700" y="1238250"/>
            <a:ext cx="178787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5B1F"/>
                </a:solidFill>
                <a:latin typeface="Inter Display"/>
              </a:rPr>
              <a:t>A film by R. Sayre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700" y="1447800"/>
            <a:ext cx="14638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>a study in three nights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2286000"/>
            <a:ext cx="10668000" cy="2622352"/>
          </a:xfrm>
          <a:prstGeom prst="rect">
            <a:avLst/>
          </a:prstGeom>
          <a:noFill/>
        </p:spPr>
        <p:txBody>
          <a:bodyPr wrap="square" lIns="0" rIns="0" tIns="0" bIns="0">
            <a:normAutofit fontScale="80396" lnSpcReduction="0"/>
          </a:bodyPr>
          <a:lstStyle/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
    THE </a:t>
            </a:r>
            <a:r>
              <a:rPr sz="11100" b="0" i="1" u="none">
                <a:solidFill>
                  <a:srgbClr val="FF5B1F"/>
                </a:solidFill>
                <a:latin typeface="Tiempos Headline"/>
              </a:rPr>
              <a:t>Quiet</a:t>
            </a:r>
          </a:p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HOURS.
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053012"/>
            <a:ext cx="5143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Inter Display"/>
              </a:rPr>
              <a:t xml:space="preserve">A widow, a locksmith, and a stretch of coastal
    highway no one drives anymore. Photographed in
    8mm and 65mm. Scored by Hildur Gudnadottir.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3599" y="4747320"/>
            <a:ext cx="1206401" cy="72003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r"/>
            <a:r>
              <a:rPr sz="6300" b="1" i="0" u="none">
                <a:solidFill>
                  <a:srgbClr val="FFFFFF"/>
                </a:solidFill>
                <a:latin typeface="Inter Display"/>
              </a:rPr>
              <a:t>88</a:t>
            </a:r>
            <a:r>
              <a:rPr sz="6300" b="1" i="0" u="none">
                <a:solidFill>
                  <a:srgbClr val="FF5B1F"/>
                </a:solidFill>
                <a:latin typeface="Inter Display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3599" y="5524500"/>
            <a:ext cx="120640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FFFFFF"/>
                </a:solidFill>
                <a:latin typeface="Inter Display"/>
              </a:rPr>
              <a:t>Minutes / 65mm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6134100"/>
            <a:ext cx="21755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An A24 / Plan B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6164" y="6134100"/>
            <a:ext cx="227989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Critic’s Pick — The Atlantic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4656" y="6134100"/>
            <a:ext cx="251534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Press Materials /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43000"/>
            <a:ext cx="376926" cy="438150"/>
          </a:xfrm>
          <a:prstGeom prst="rect">
            <a:avLst/>
          </a:prstGeom>
          <a:solidFill>
            <a:srgbClr val="FF5B1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1422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A1A1A"/>
      </a:accent1>
      <a:accent2>
        <a:srgbClr val="FAFAF9"/>
      </a:accent2>
      <a:accent3>
        <a:srgbClr val="475569"/>
      </a:accent3>
      <a:accent4>
        <a:srgbClr val="F5F5F7"/>
      </a:accent4>
      <a:accent5>
        <a:srgbClr val="2D1F1F"/>
      </a:accent5>
      <a:accent6>
        <a:srgbClr val="0B3A5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