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2000" cy="6858000" type="screen4x3"/>
  <p:notesSz cx="6858000" cy="9144000"/>
  <p:embeddedFontLst>
    <p:embeddedFont>
      <p:font typeface="Source Serif Pro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IBM Plex Mono" panose="020B0609040504020204" charset="0"/>
      <p:regular r:id="rIdSlidifyFont5"/>
      <p:bold r:id="rIdSlidifyFont6"/>
    </p:embeddedFont>
    <p:embeddedFont>
      <p:font typeface="SF Pro Display" panose="020B0604020202020204" charset="0"/>
      <p:regular r:id="rIdSlidifyFont7"/>
      <p:bold r:id="rIdSlidifyFont8"/>
    </p:embeddedFont>
    <p:embeddedFont>
      <p:font typeface="SF Mono" panose="020B0609040504020204" charset="0"/>
      <p:regular r:id="rIdSlidifyFont9"/>
      <p:bold r:id="rIdSlidifyFont10"/>
    </p:embeddedFont>
    <p:embeddedFont>
      <p:font typeface="New York" panose="020B0604020202020204" charset="0"/>
      <p:regular r:id="rIdSlidifyFont11"/>
      <p:bold r:id="rIdSlidifyFont12"/>
      <p:boldItalic r:id="rIdSlidifyFont13"/>
    </p:embeddedFont>
    <p:embeddedFont>
      <p:font typeface="JetBrains Mono" panose="020B0609040504020204" charset="0"/>
      <p:regular r:id="rIdSlidifyFont14"/>
      <p:bold r:id="rIdSlidifyFont15"/>
    </p:embeddedFont>
    <p:embeddedFont>
      <p:font typeface="Tiempos Headline" panose="02040603050405020304" charset="0"/>
      <p:regular r:id="rIdSlidifyFont16"/>
      <p:bold r:id="rIdSlidifyFont17"/>
      <p:italic r:id="rIdSlidifyFont18"/>
      <p:boldItalic r:id="rIdSlidifyFont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5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68580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5725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0980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31616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 18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795338" y="3314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338" y="3886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175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338" y="4457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338" y="5029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338" y="5600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68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79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01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12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723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350" y="3421380"/>
            <a:ext cx="115252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1A1A1A"/>
                </a:solidFill>
                <a:latin typeface="Inter"/>
              </a:rPr>
              <a:t>2021 · The crossover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350" y="3562350"/>
            <a:ext cx="26717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Inter"/>
              </a:rPr>
              <a:t>CPI overtakes wage index for first time since 2008.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86688" y="329565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C41E3A"/>
                </a:solidFill>
                <a:latin typeface="Inter"/>
              </a:rPr>
              <a:t>+92 pts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86688" y="354330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E5F8C"/>
                </a:solidFill>
                <a:latin typeface="Inter"/>
              </a:rPr>
              <a:t>+98 pts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01100" y="1752600"/>
            <a:ext cx="285750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1100" y="204787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25410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303430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352752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40207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6486525"/>
            <a:ext cx="3547467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9346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08106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2810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574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289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00414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0719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385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8814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7861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5956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3670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6718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575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098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0813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4623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289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68655" y="33269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3.0T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655" y="38984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2.0T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655" y="44699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1.0T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041434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8477" y="4812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67577" y="475568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6677" y="46604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5777" y="4469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24877" y="42413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3977" y="45461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63077" y="4431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58602" y="33840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C41E3A"/>
                </a:solidFill>
                <a:latin typeface="Inter"/>
              </a:rPr>
              <a:t>3.13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702" y="39555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2.78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6802" y="43365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1.38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5902" y="38031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1A"/>
                </a:solidFill>
                <a:latin typeface="Inter"/>
              </a:rPr>
              <a:t>1.83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84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57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30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0377" y="51938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" y="57577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5100" y="2081064"/>
            <a:ext cx="5524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2810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96100" y="33669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96100" y="39384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96100" y="4509939"/>
            <a:ext cx="4953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96100" y="50814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00900" y="34240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172325" y="46718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7591425" y="46528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010525" y="45766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8429625" y="43861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8848725" y="41765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267825" y="4481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686925" y="43670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10096500" y="33859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525125" y="3719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944225" y="44813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353800" y="43194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or 60"/>
          <p:cNvCxnSpPr/>
          <p:nvPr/>
        </p:nvCxnSpPr>
        <p:spPr>
          <a:xfrm>
            <a:off x="6896100" y="43956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9563100" y="31764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697504" y="3336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504" y="39079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4652" y="4479459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2750" y="5050959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7075" y="4269909"/>
            <a:ext cx="94297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1" i="0">
                <a:solidFill>
                  <a:srgbClr val="D4A017"/>
                </a:solidFill>
                <a:latin typeface="Inter"/>
              </a:rPr>
              <a:t>1983 baseline · 6.0%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6350" y="3062139"/>
            <a:ext cx="62865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2020 · 14.7%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01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74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47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02077" y="52033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5100" y="57672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24625"/>
            <a:ext cx="345236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5432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9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239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239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39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723900" y="2822079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4029075" y="28506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933700" y="2936379"/>
            <a:ext cx="0" cy="838200"/>
          </a:xfrm>
          <a:prstGeom prst="line">
            <a:avLst/>
          </a:prstGeom>
          <a:ln w="9525">
            <a:solidFill>
              <a:srgbClr val="000000">
                <a:alpha val="12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10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29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848749"/>
            <a:ext cx="37719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1A1A1A"/>
                </a:solidFill>
                <a:latin typeface="Inter"/>
              </a:rPr>
              <a:t>peak '22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15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15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20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720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5720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572000" y="3069729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7877175" y="30411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3891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10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1648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3172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20100" y="2631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420100" y="3012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420100" y="33935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420100" y="37745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Freeform 33"/>
          <p:cNvSpPr/>
          <p:nvPr/>
        </p:nvSpPr>
        <p:spPr>
          <a:xfrm>
            <a:off x="8420100" y="3012579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/>
          <p:cNvSpPr/>
          <p:nvPr/>
        </p:nvSpPr>
        <p:spPr>
          <a:xfrm>
            <a:off x="11725275" y="3250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8237220" y="26087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9130" y="37517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905899"/>
            <a:ext cx="47148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A1A1A"/>
                </a:solidFill>
                <a:latin typeface="Inter"/>
              </a:rPr>
              <a:t>cooled '23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4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00" y="4565154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239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239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239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39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723900" y="5717679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4029075" y="56891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5410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29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15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1500" y="4565154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45720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5720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5720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5720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/>
          <p:cNvSpPr/>
          <p:nvPr/>
        </p:nvSpPr>
        <p:spPr>
          <a:xfrm>
            <a:off x="4572000" y="5946279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7877175" y="5917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43891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310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86500" y="6106299"/>
            <a:ext cx="51863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E5F8C"/>
                </a:solidFill>
                <a:latin typeface="Inter"/>
              </a:rPr>
              <a:t>net decline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4412754"/>
            <a:ext cx="3619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4565154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420100" y="4879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8420100" y="5260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8420100" y="5641479"/>
            <a:ext cx="333375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420100" y="6022479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8420100" y="5793879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Oval 66"/>
          <p:cNvSpPr/>
          <p:nvPr/>
        </p:nvSpPr>
        <p:spPr>
          <a:xfrm>
            <a:off x="11725275" y="57653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8237220" y="4856619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79130" y="5999619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" y="6524625"/>
            <a:ext cx="362694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3531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4770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7911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3801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398576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57329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285929"/>
            <a:ext cx="6858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0022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19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00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581329"/>
            <a:ext cx="6858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696232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0027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771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1470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68597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694327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24150" y="5724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150" y="6105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8,000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150" y="6486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7,000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4150" y="686707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6,000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2882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1A1A1A"/>
                </a:solidFill>
                <a:latin typeface="Inter"/>
              </a:rPr>
              <a:t>2005 · 8,891 papers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2888" y="717187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2024 · 6,005 papers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0" y="708424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7000" y="6486525"/>
            <a:ext cx="36230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UNC Hussman School / Northwestern Medill Local News Initiative · 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452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7150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52377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428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33400" y="2790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934200" y="27905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533400" y="34001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430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752600" y="34001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362200" y="34001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2971800" y="34001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5814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800600" y="34001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3246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934200" y="34001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334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1430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752600" y="40097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2362200" y="40097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29718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5814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41910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48006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410200" y="40097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019800" y="40097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6294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239000" y="40097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5334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1430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7526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362200" y="46193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29718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3581400" y="46193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4191000" y="46193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4800600" y="46193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4102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6019800" y="46193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6629400" y="46193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7239000" y="4619327"/>
            <a:ext cx="533400" cy="533400"/>
          </a:xfrm>
          <a:prstGeom prst="rect">
            <a:avLst/>
          </a:prstGeom>
          <a:solidFill>
            <a:srgbClr val="1E5F8C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11430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17526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23622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29718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581400" y="52289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191000" y="52289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4800600" y="52289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410200" y="5228927"/>
            <a:ext cx="533400" cy="533400"/>
          </a:xfrm>
          <a:prstGeom prst="rect">
            <a:avLst/>
          </a:prstGeom>
          <a:solidFill>
            <a:srgbClr val="1E5F8C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334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23622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29718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35814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41910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4800600" y="5838527"/>
            <a:ext cx="533400" cy="533400"/>
          </a:xfrm>
          <a:prstGeom prst="rect">
            <a:avLst/>
          </a:prstGeom>
          <a:solidFill>
            <a:srgbClr val="1E5F8C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410200" y="5838527"/>
            <a:ext cx="533400" cy="533400"/>
          </a:xfrm>
          <a:prstGeom prst="rect">
            <a:avLst/>
          </a:prstGeom>
          <a:solidFill>
            <a:srgbClr val="1E5F8C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752600" y="5838527"/>
            <a:ext cx="533400" cy="533400"/>
          </a:xfrm>
          <a:prstGeom prst="rect">
            <a:avLst/>
          </a:prstGeom>
          <a:solidFill>
            <a:srgbClr val="1E5F8C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742474" y="3011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43274" y="3011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24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WA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20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61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MT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712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8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904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WI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09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336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VT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43274" y="36211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2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52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NV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9616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WY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712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SD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1808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790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00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IN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096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OH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192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PA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288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384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448074" y="42307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RI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352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UT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616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CO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712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1808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MO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790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KY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00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WV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096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VA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6192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2288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DE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384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NY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48074" y="48403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MA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520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AZ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616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712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KS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1808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AR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904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TN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000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0096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SC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19274" y="54499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DC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24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HI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712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OK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1808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LA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7904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MS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000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096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GA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192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1A1A1A"/>
                </a:solidFill>
                <a:latin typeface="Inter"/>
              </a:rPr>
              <a:t>FL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961674" y="6059507"/>
            <a:ext cx="115253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AFAF6"/>
                </a:solidFill>
                <a:latin typeface="Inter"/>
              </a:rPr>
              <a:t>TX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4757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168533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Rectangle 111"/>
          <p:cNvSpPr/>
          <p:nvPr/>
        </p:nvSpPr>
        <p:spPr>
          <a:xfrm>
            <a:off x="18948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/>
          <p:cNvSpPr/>
          <p:nvPr/>
        </p:nvSpPr>
        <p:spPr>
          <a:xfrm>
            <a:off x="210443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/>
          <p:cNvSpPr/>
          <p:nvPr/>
        </p:nvSpPr>
        <p:spPr>
          <a:xfrm>
            <a:off x="2313980" y="65814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/>
          <p:cNvSpPr txBox="1"/>
          <p:nvPr/>
        </p:nvSpPr>
        <p:spPr>
          <a:xfrm>
            <a:off x="8229600" y="2352377"/>
            <a:ext cx="342900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0" y="26286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0" y="29667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477250" y="29524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9410700" y="29905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TextBox 119"/>
          <p:cNvSpPr txBox="1"/>
          <p:nvPr/>
        </p:nvSpPr>
        <p:spPr>
          <a:xfrm>
            <a:off x="11125200" y="29667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0" y="32239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477250" y="32096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410700" y="32477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Rectangle 123"/>
          <p:cNvSpPr/>
          <p:nvPr/>
        </p:nvSpPr>
        <p:spPr>
          <a:xfrm>
            <a:off x="9410700" y="32477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/>
          <p:cNvSpPr txBox="1"/>
          <p:nvPr/>
        </p:nvSpPr>
        <p:spPr>
          <a:xfrm>
            <a:off x="11125200" y="32239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29600" y="34810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477250" y="34668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410700" y="35049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Rectangle 128"/>
          <p:cNvSpPr/>
          <p:nvPr/>
        </p:nvSpPr>
        <p:spPr>
          <a:xfrm>
            <a:off x="9410700" y="35049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TextBox 129"/>
          <p:cNvSpPr txBox="1"/>
          <p:nvPr/>
        </p:nvSpPr>
        <p:spPr>
          <a:xfrm>
            <a:off x="11125200" y="34810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37382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477250" y="37239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410700" y="37620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Rectangle 133"/>
          <p:cNvSpPr/>
          <p:nvPr/>
        </p:nvSpPr>
        <p:spPr>
          <a:xfrm>
            <a:off x="9410700" y="37620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/>
          <p:cNvSpPr txBox="1"/>
          <p:nvPr/>
        </p:nvSpPr>
        <p:spPr>
          <a:xfrm>
            <a:off x="11125200" y="37382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229600" y="39954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477250" y="39811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410700" y="40192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/>
          <p:cNvSpPr/>
          <p:nvPr/>
        </p:nvSpPr>
        <p:spPr>
          <a:xfrm>
            <a:off x="9410700" y="40192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TextBox 139"/>
          <p:cNvSpPr txBox="1"/>
          <p:nvPr/>
        </p:nvSpPr>
        <p:spPr>
          <a:xfrm>
            <a:off x="11125200" y="39954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29600" y="4252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477250" y="42383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410700" y="4276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4" name="Rectangle 143"/>
          <p:cNvSpPr/>
          <p:nvPr/>
        </p:nvSpPr>
        <p:spPr>
          <a:xfrm>
            <a:off x="9410700" y="42764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125200" y="4252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229600" y="45097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77250" y="44955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410700" y="45336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Rectangle 148"/>
          <p:cNvSpPr/>
          <p:nvPr/>
        </p:nvSpPr>
        <p:spPr>
          <a:xfrm>
            <a:off x="9410700" y="45336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0" name="TextBox 149"/>
          <p:cNvSpPr txBox="1"/>
          <p:nvPr/>
        </p:nvSpPr>
        <p:spPr>
          <a:xfrm>
            <a:off x="11125200" y="45097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229600" y="47669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77250" y="47526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9410700" y="47907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ectangle 153"/>
          <p:cNvSpPr/>
          <p:nvPr/>
        </p:nvSpPr>
        <p:spPr>
          <a:xfrm>
            <a:off x="9410700" y="47907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125200" y="47669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229600" y="50241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77250" y="50098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410700" y="50479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Rectangle 158"/>
          <p:cNvSpPr/>
          <p:nvPr/>
        </p:nvSpPr>
        <p:spPr>
          <a:xfrm>
            <a:off x="9410700" y="50479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/>
          <p:cNvSpPr txBox="1"/>
          <p:nvPr/>
        </p:nvSpPr>
        <p:spPr>
          <a:xfrm>
            <a:off x="11125200" y="50241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229600" y="53575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8477250" y="52670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410700" y="53813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4" name="Rectangle 163"/>
          <p:cNvSpPr/>
          <p:nvPr/>
        </p:nvSpPr>
        <p:spPr>
          <a:xfrm>
            <a:off x="9410700" y="53813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125200" y="53575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33400" y="6524625"/>
            <a:ext cx="436944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14282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7150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5617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52377"/>
            <a:ext cx="342900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52377"/>
            <a:ext cx="2469952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9152" y="2352377"/>
            <a:ext cx="1543645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4247" y="2352377"/>
            <a:ext cx="154379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19491" y="2352377"/>
            <a:ext cx="154379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4735" y="2352377"/>
            <a:ext cx="1080641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6826" y="2352377"/>
            <a:ext cx="1571774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04802"/>
            <a:ext cx="1120825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9152" y="2609552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04247" y="2609552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9491" y="2609552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Freeform 16"/>
          <p:cNvSpPr/>
          <p:nvPr/>
        </p:nvSpPr>
        <p:spPr>
          <a:xfrm>
            <a:off x="10086826" y="2777133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5026" y="2753320"/>
            <a:ext cx="54947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" y="3205758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9152" y="3106638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247" y="310663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9491" y="310663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3" name="Freeform 22"/>
          <p:cNvSpPr/>
          <p:nvPr/>
        </p:nvSpPr>
        <p:spPr>
          <a:xfrm>
            <a:off x="10086826" y="3301860"/>
            <a:ext cx="699046" cy="87381"/>
          </a:xfrm>
          <a:custGeom>
            <a:avLst/>
            <a:gdLst/>
            <a:ahLst/>
            <a:cxnLst/>
            <a:rect l="l" t="t" r="r" b="b"/>
            <a:pathLst>
              <a:path w="699046" h="87381">
                <a:moveTo>
                  <a:pt x="0" y="0"/>
                </a:moveTo>
                <a:lnTo>
                  <a:pt x="113595" y="17476"/>
                </a:lnTo>
                <a:lnTo>
                  <a:pt x="227190" y="34952"/>
                </a:lnTo>
                <a:lnTo>
                  <a:pt x="340785" y="52428"/>
                </a:lnTo>
                <a:lnTo>
                  <a:pt x="454380" y="52428"/>
                </a:lnTo>
                <a:lnTo>
                  <a:pt x="567975" y="69904"/>
                </a:lnTo>
                <a:lnTo>
                  <a:pt x="699046" y="87381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10862072" y="3192363"/>
            <a:ext cx="796528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" y="3710583"/>
            <a:ext cx="1401217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89152" y="3611463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4247" y="3611463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19491" y="3611463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29" name="Freeform 28"/>
          <p:cNvSpPr/>
          <p:nvPr/>
        </p:nvSpPr>
        <p:spPr>
          <a:xfrm>
            <a:off x="10086826" y="3792825"/>
            <a:ext cx="662881" cy="132576"/>
          </a:xfrm>
          <a:custGeom>
            <a:avLst/>
            <a:gdLst/>
            <a:ahLst/>
            <a:cxnLst/>
            <a:rect l="l" t="t" r="r" b="b"/>
            <a:pathLst>
              <a:path w="662881" h="132576">
                <a:moveTo>
                  <a:pt x="0" y="132576"/>
                </a:moveTo>
                <a:lnTo>
                  <a:pt x="107718" y="116004"/>
                </a:lnTo>
                <a:lnTo>
                  <a:pt x="215436" y="99432"/>
                </a:lnTo>
                <a:lnTo>
                  <a:pt x="323154" y="66288"/>
                </a:lnTo>
                <a:lnTo>
                  <a:pt x="430872" y="49716"/>
                </a:lnTo>
                <a:lnTo>
                  <a:pt x="538591" y="33144"/>
                </a:lnTo>
                <a:lnTo>
                  <a:pt x="662881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0825907" y="3697188"/>
            <a:ext cx="832693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" y="4215408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89152" y="4116288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04247" y="411628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9491" y="4116288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5" name="Freeform 34"/>
          <p:cNvSpPr/>
          <p:nvPr/>
        </p:nvSpPr>
        <p:spPr>
          <a:xfrm>
            <a:off x="10086826" y="4355200"/>
            <a:ext cx="699046" cy="8738"/>
          </a:xfrm>
          <a:custGeom>
            <a:avLst/>
            <a:gdLst/>
            <a:ahLst/>
            <a:cxnLst/>
            <a:rect l="l" t="t" r="r" b="b"/>
            <a:pathLst>
              <a:path w="699046" h="8738">
                <a:moveTo>
                  <a:pt x="0" y="8738"/>
                </a:moveTo>
                <a:lnTo>
                  <a:pt x="113595" y="8738"/>
                </a:lnTo>
                <a:lnTo>
                  <a:pt x="227190" y="0"/>
                </a:lnTo>
                <a:lnTo>
                  <a:pt x="340785" y="0"/>
                </a:lnTo>
                <a:lnTo>
                  <a:pt x="454380" y="8738"/>
                </a:lnTo>
                <a:lnTo>
                  <a:pt x="567975" y="8738"/>
                </a:lnTo>
                <a:lnTo>
                  <a:pt x="699046" y="8738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10862072" y="4202013"/>
            <a:ext cx="796528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" y="4716363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89152" y="4621113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4247" y="4621113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9491" y="4621113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086826" y="4788694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10925026" y="4764881"/>
            <a:ext cx="56718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7750" y="5217319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89152" y="5118199"/>
            <a:ext cx="1543645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4247" y="5118199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9491" y="5118199"/>
            <a:ext cx="1543794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47" name="Freeform 46"/>
          <p:cNvSpPr/>
          <p:nvPr/>
        </p:nvSpPr>
        <p:spPr>
          <a:xfrm>
            <a:off x="10086826" y="5274859"/>
            <a:ext cx="727919" cy="145584"/>
          </a:xfrm>
          <a:custGeom>
            <a:avLst/>
            <a:gdLst/>
            <a:ahLst/>
            <a:cxnLst/>
            <a:rect l="l" t="t" r="r" b="b"/>
            <a:pathLst>
              <a:path w="727919" h="145584">
                <a:moveTo>
                  <a:pt x="0" y="0"/>
                </a:moveTo>
                <a:lnTo>
                  <a:pt x="118287" y="27297"/>
                </a:lnTo>
                <a:lnTo>
                  <a:pt x="236574" y="54594"/>
                </a:lnTo>
                <a:lnTo>
                  <a:pt x="354860" y="72792"/>
                </a:lnTo>
                <a:lnTo>
                  <a:pt x="473147" y="90990"/>
                </a:lnTo>
                <a:lnTo>
                  <a:pt x="591434" y="118287"/>
                </a:lnTo>
                <a:lnTo>
                  <a:pt x="727919" y="145584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10890945" y="5203924"/>
            <a:ext cx="767655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7750" y="5718274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89152" y="5623024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04247" y="5623024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19491" y="5623024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86826" y="5771555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925026" y="5766792"/>
            <a:ext cx="52923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6215360"/>
            <a:ext cx="1406128" cy="2970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9152" y="6120110"/>
            <a:ext cx="1543645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4247" y="6120110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9491" y="6120110"/>
            <a:ext cx="1543794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59" name="Freeform 58"/>
          <p:cNvSpPr/>
          <p:nvPr/>
        </p:nvSpPr>
        <p:spPr>
          <a:xfrm>
            <a:off x="10086826" y="6306741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10925026" y="6263878"/>
            <a:ext cx="56718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7750" y="6712446"/>
            <a:ext cx="1406128" cy="1455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89152" y="6617196"/>
            <a:ext cx="1543645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04247" y="6617196"/>
            <a:ext cx="1543794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9491" y="6617196"/>
            <a:ext cx="1543794" cy="240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65" name="Freeform 64"/>
          <p:cNvSpPr/>
          <p:nvPr/>
        </p:nvSpPr>
        <p:spPr>
          <a:xfrm>
            <a:off x="10086826" y="6803827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10925026" y="6760964"/>
            <a:ext cx="567184" cy="970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3400" y="6524625"/>
            <a:ext cx="4951661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752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4350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76325"/>
            <a:ext cx="111252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47775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47800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889177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600" y="1514475"/>
            <a:ext cx="2286000" cy="7179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4987379"/>
            <a:ext cx="1619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reeform 17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Freeform 36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4987379"/>
            <a:ext cx="196691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>
                <a:alpha val="6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Freeform 43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3400" y="6486525"/>
            <a:ext cx="357931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638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7061597" cy="60766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86500"/>
            <a:ext cx="123467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3899" y="6286500"/>
            <a:ext cx="4761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21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16361"/>
            <a:ext cx="6626423" cy="310693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86500"/>
            <a:ext cx="1817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956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80143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522446" cy="630882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5290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0990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1103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0990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1103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6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0532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357467" cy="511969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20163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5438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567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797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815655"/>
            <a:ext cx="8363992" cy="157728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4895850"/>
            <a:ext cx="3376166" cy="2571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286500"/>
            <a:ext cx="1817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48095" y="6286500"/>
            <a:ext cx="4819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12338" y="819150"/>
            <a:ext cx="1198662" cy="6265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0439400" y="5486400"/>
            <a:ext cx="1371600" cy="9144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04965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6299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7632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8966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10299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11633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296650" y="55435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430000" y="55435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563350" y="55435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04965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06299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07632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08966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110299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11163300" y="567690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112966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11430000" y="56769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11563350" y="567690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22 — SCHEMATIC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981075"/>
            <a:ext cx="11430000" cy="41999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0A0A0A"/>
                </a:solidFill>
                <a:latin typeface="Consolas"/>
              </a:rPr>
              <a:t>INGEST → NORMALIZE → STORE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96971" y="781050"/>
            <a:ext cx="1514029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BLOCK  SERVICE UNIT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>HOT    ACTIVE PATH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PROTOCOL  HTTP/2 // gRPC</a:t>
            </a:r>
          </a:p>
          <a:p>
            <a:pPr algn="r"/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
    LATENCY   p50 14ms
  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Connector 30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66750" y="2537460"/>
            <a:ext cx="6915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[01] INGEST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7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edge-rx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6750" y="3116580"/>
            <a:ext cx="1037272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tcp/443 // 8 nodes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qps 38.6K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[02] QUEUE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432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kfk-buf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432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part 24 // r=3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432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lag 1.18K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43250" y="3459480"/>
            <a:ext cx="46101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HOLD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9750" y="2537460"/>
            <a:ext cx="88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5722"/>
                </a:solidFill>
                <a:latin typeface="Consolas"/>
              </a:rPr>
              <a:t>[03] NORMALIZE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19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197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parse + dedupe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19750" y="328803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19750" y="34594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67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[04]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86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cold-tbl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6750" y="311658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parquet // s3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6750" y="3288030"/>
            <a:ext cx="69151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2.4 TB / day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19750" y="4442460"/>
            <a:ext cx="56578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[05] SINK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19750" y="4705350"/>
            <a:ext cx="838200" cy="238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Consolas"/>
              </a:rPr>
              <a:t>obs-sink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19750" y="500253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log + metrics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19750" y="51739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TAP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908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67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4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67500" y="40005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tap/01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619250" y="470535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5722"/>
                </a:solidFill>
                <a:latin typeface="Consolas"/>
              </a:rPr>
              <a:t>hot/01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1000" y="5886450"/>
            <a:ext cx="1143000" cy="457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4191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334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6477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7620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876300" y="59245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9906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049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219200" y="59245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1333500" y="59245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4191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5334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/>
          <p:cNvSpPr/>
          <p:nvPr/>
        </p:nvSpPr>
        <p:spPr>
          <a:xfrm>
            <a:off x="6477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/>
          <p:cNvSpPr/>
          <p:nvPr/>
        </p:nvSpPr>
        <p:spPr>
          <a:xfrm>
            <a:off x="7620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/>
          <p:cNvSpPr/>
          <p:nvPr/>
        </p:nvSpPr>
        <p:spPr>
          <a:xfrm>
            <a:off x="8763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/>
          <p:cNvSpPr/>
          <p:nvPr/>
        </p:nvSpPr>
        <p:spPr>
          <a:xfrm>
            <a:off x="990600" y="60388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1049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219200" y="60388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333500" y="60388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4191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5334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6477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7620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8763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9906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11049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1219200" y="6153150"/>
            <a:ext cx="76200" cy="762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1333500" y="615315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381000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25116" y="6410325"/>
            <a:ext cx="486966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NET B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887141" y="6410325"/>
            <a:ext cx="42386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SINK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70914" y="847130"/>
            <a:ext cx="1640086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925" y="2162175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398044" y="2162175"/>
            <a:ext cx="6939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253162" y="2162175"/>
            <a:ext cx="2540794" cy="1047750"/>
          </a:xfrm>
          <a:prstGeom prst="rect">
            <a:avLst/>
          </a:prstGeom>
          <a:solidFill>
            <a:srgbClr val="0066FF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21911" y="3105150"/>
            <a:ext cx="172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3162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8281" y="216217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42925" y="3486150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398044" y="3486150"/>
            <a:ext cx="56777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6253162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9108281" y="3486150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542925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3398044" y="4810125"/>
            <a:ext cx="63088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6253162" y="4810125"/>
            <a:ext cx="7570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9108281" y="481012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10287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104203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10553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06870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082040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9537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10871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2204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13538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14871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620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812131"/>
            <a:ext cx="6629400" cy="4780062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209800"/>
            <a:ext cx="6477000" cy="44123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375" y="223837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77525" y="22098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375" y="25622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77525" y="25336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375" y="28860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375" y="320992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77525" y="3181350"/>
            <a:ext cx="566203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375" y="3533775"/>
            <a:ext cx="37291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77525" y="35052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375" y="3857625"/>
            <a:ext cx="36546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77525" y="38290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375" y="41814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77525" y="415290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375" y="45053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77525" y="4476750"/>
            <a:ext cx="496421" cy="20002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5375" y="482917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5375" y="5153025"/>
            <a:ext cx="39528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5375" y="5476875"/>
            <a:ext cx="387831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5375" y="5800725"/>
            <a:ext cx="380374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44708" y="847130"/>
            <a:ext cx="176629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68000" y="838200"/>
            <a:ext cx="1143000" cy="571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7251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8585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9918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1125200" y="8953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12585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3919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1525250" y="8953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1658600" y="8953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7251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8585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9918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11252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1258550" y="102870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13919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1525250" y="102870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1658600" y="102870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07251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108585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109918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111252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1125855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1391900" y="11620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1525250" y="11620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11658600" y="11620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810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143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6477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7810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144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0477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11811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13144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14478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5811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7145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1847850" y="6191250"/>
            <a:ext cx="95250" cy="9525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19812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2114550" y="6191250"/>
            <a:ext cx="95250" cy="95250"/>
          </a:xfrm>
          <a:prstGeom prst="rect">
            <a:avLst/>
          </a:prstGeom>
          <a:solidFill>
            <a:srgbClr val="CD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2247900" y="6191250"/>
            <a:ext cx="95250" cy="952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TextBox 7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81025" y="2124075"/>
            <a:ext cx="21449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900" y="3038475"/>
            <a:ext cx="2856161" cy="6000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025" y="3981450"/>
            <a:ext cx="252338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1025" y="4238625"/>
            <a:ext cx="4752975" cy="68580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787519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992267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19701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1401762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606510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1811258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2016006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2220754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2425502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2630249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834997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/>
          <p:cNvSpPr/>
          <p:nvPr/>
        </p:nvSpPr>
        <p:spPr>
          <a:xfrm>
            <a:off x="3039745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/>
          <p:cNvSpPr/>
          <p:nvPr/>
        </p:nvSpPr>
        <p:spPr>
          <a:xfrm>
            <a:off x="3244493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3449241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653988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/>
        </p:nvSpPr>
        <p:spPr>
          <a:xfrm>
            <a:off x="3858736" y="4495800"/>
            <a:ext cx="133350" cy="133350"/>
          </a:xfrm>
          <a:prstGeom prst="ellipse">
            <a:avLst/>
          </a:prstGeom>
          <a:solidFill>
            <a:srgbClr val="0066FF"/>
          </a:solidFill>
          <a:ln w="19050">
            <a:solidFill>
              <a:srgbClr val="006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/>
        </p:nvSpPr>
        <p:spPr>
          <a:xfrm>
            <a:off x="4063484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4268232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/>
          <p:cNvSpPr/>
          <p:nvPr/>
        </p:nvSpPr>
        <p:spPr>
          <a:xfrm>
            <a:off x="4472980" y="4495800"/>
            <a:ext cx="133350" cy="133350"/>
          </a:xfrm>
          <a:prstGeom prst="ellipse">
            <a:avLst/>
          </a:prstGeom>
          <a:solidFill>
            <a:srgbClr val="FAFAF9"/>
          </a:solidFill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4677728" y="4495800"/>
            <a:ext cx="133350" cy="133350"/>
          </a:xfrm>
          <a:prstGeom prst="ellipse">
            <a:avLst/>
          </a:prstGeom>
          <a:noFill/>
          <a:ln w="19050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12338" y="847130"/>
            <a:ext cx="1198662" cy="4798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0965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102298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/>
          <p:cNvSpPr/>
          <p:nvPr/>
        </p:nvSpPr>
        <p:spPr>
          <a:xfrm>
            <a:off x="103632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104965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/>
          <p:cNvSpPr/>
          <p:nvPr/>
        </p:nvSpPr>
        <p:spPr>
          <a:xfrm>
            <a:off x="106299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/>
          <p:cNvSpPr/>
          <p:nvPr/>
        </p:nvSpPr>
        <p:spPr>
          <a:xfrm>
            <a:off x="107632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/>
          <p:cNvSpPr/>
          <p:nvPr/>
        </p:nvSpPr>
        <p:spPr>
          <a:xfrm>
            <a:off x="108966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/>
          <p:cNvSpPr/>
          <p:nvPr/>
        </p:nvSpPr>
        <p:spPr>
          <a:xfrm>
            <a:off x="110299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111633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ectangle 87"/>
          <p:cNvSpPr/>
          <p:nvPr/>
        </p:nvSpPr>
        <p:spPr>
          <a:xfrm>
            <a:off x="11296650" y="6191250"/>
            <a:ext cx="95250" cy="95250"/>
          </a:xfrm>
          <a:prstGeom prst="rect">
            <a:avLst/>
          </a:prstGeom>
          <a:noFill/>
          <a:ln w="9525">
            <a:solidFill>
              <a:srgbClr val="FAFA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114300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/>
          <p:cNvSpPr/>
          <p:nvPr/>
        </p:nvSpPr>
        <p:spPr>
          <a:xfrm>
            <a:off x="11563350" y="6191250"/>
            <a:ext cx="95250" cy="9525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/>
          <p:cNvSpPr/>
          <p:nvPr/>
        </p:nvSpPr>
        <p:spPr>
          <a:xfrm>
            <a:off x="11696700" y="6191250"/>
            <a:ext cx="95250" cy="952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7527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7527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45452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45452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4582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7045821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0050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528102" y="342900"/>
            <a:ext cx="777041" cy="32385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4" name="Freeform 13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762000" y="1619250"/>
            <a:ext cx="2813149" cy="295275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/>
          <p:cNvSpPr/>
          <p:nvPr/>
        </p:nvSpPr>
        <p:spPr>
          <a:xfrm>
            <a:off x="866775" y="1733550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62000" y="2085975"/>
            <a:ext cx="9278838" cy="25902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4890195"/>
            <a:ext cx="5666036" cy="770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2" name="TextBox 21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88571"/>
            <a:ext cx="1301800" cy="171450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6250" y="6045696"/>
            <a:ext cx="1070502" cy="4572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26018" y="64436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49605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678418" y="6362700"/>
            <a:ext cx="75158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62000"/>
            <a:ext cx="2584549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0625"/>
            <a:ext cx="6479084" cy="9200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0500" y="1667768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225" y="3176588"/>
            <a:ext cx="12363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6926" y="3133725"/>
            <a:ext cx="62239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533775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4598194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Across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14,200 deployments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 in 31 regions. p95 latency steady at 47ms.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0375" y="3176588"/>
            <a:ext cx="12852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2139" y="3133725"/>
            <a:ext cx="649337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0375" y="3533775"/>
            <a:ext cx="2851100" cy="9310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0375" y="4598194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Including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312 of the Forbes 2000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>. Net dollar retention of 137% YoY.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526" y="3176588"/>
            <a:ext cx="136668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71113" y="3133725"/>
            <a:ext cx="58266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526" y="3533775"/>
            <a:ext cx="2851249" cy="9310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526" y="4598194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Zero customer-impacting incidents on the data plane. </a:t>
            </a:r>
            <a:r>
              <a:rPr sz="1050" b="1" i="0" u="none">
                <a:solidFill>
                  <a:srgbClr val="E4E4E7"/>
                </a:solidFill>
                <a:latin typeface="Inter"/>
              </a:rPr>
              <a:t>RTO &lt; 60s</a:t>
            </a:r>
            <a:r>
              <a:rPr sz="1050" b="0" i="0" u="none">
                <a:solidFill>
                  <a:srgbClr val="A1A1AA"/>
                </a:solidFill>
                <a:latin typeface="Inter"/>
              </a:rPr>
              <a:t xml:space="preserve"> globally.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6362700"/>
            <a:ext cx="33859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0"/>
            <a:ext cx="2069157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6294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83051" y="609600"/>
            <a:ext cx="2425898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38225"/>
            <a:ext cx="12192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1571625"/>
            <a:ext cx="53340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8327" y="2214562"/>
            <a:ext cx="833735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42062" y="2214562"/>
            <a:ext cx="1941612" cy="257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057525"/>
            <a:ext cx="704999" cy="533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874" y="3390900"/>
            <a:ext cx="5201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475" y="4516934"/>
            <a:ext cx="173161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475" y="4783634"/>
            <a:ext cx="1718072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475" y="5050334"/>
            <a:ext cx="127888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475" y="5317034"/>
            <a:ext cx="1654373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475" y="5583734"/>
            <a:ext cx="106040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7725" y="2809875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" y="3648075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" y="3943350"/>
            <a:ext cx="2962573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45148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7815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50482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5314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55816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725" y="6010275"/>
            <a:ext cx="29625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1621" y="3276600"/>
            <a:ext cx="71407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62798" y="4383584"/>
            <a:ext cx="199013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2798" y="4650284"/>
            <a:ext cx="2344936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2798" y="4916984"/>
            <a:ext cx="1962894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2798" y="5183684"/>
            <a:ext cx="2145209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2798" y="5450384"/>
            <a:ext cx="1374428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62798" y="5717084"/>
            <a:ext cx="2226171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27018" y="2333625"/>
            <a:ext cx="1337667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77048" y="2695575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048" y="2943225"/>
            <a:ext cx="1057424" cy="533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77048" y="3533775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77048" y="3829050"/>
            <a:ext cx="3237756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7048" y="43815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77048" y="46482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77048" y="49149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77048" y="51816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77048" y="54483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571500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6143625"/>
            <a:ext cx="32377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1554" y="3057525"/>
            <a:ext cx="2153989" cy="533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7304" y="4516934"/>
            <a:ext cx="221992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7304" y="4783634"/>
            <a:ext cx="2354461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7304" y="5050334"/>
            <a:ext cx="1881485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67304" y="5317034"/>
            <a:ext cx="1722090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67304" y="5583734"/>
            <a:ext cx="1810792" cy="1863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1554" y="2809875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1554" y="3648075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81554" y="3943350"/>
            <a:ext cx="2962721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1554" y="45148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81554" y="47815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1554" y="50482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81554" y="53149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1554" y="5581650"/>
            <a:ext cx="190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1554" y="6010275"/>
            <a:ext cx="296272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96050"/>
            <a:ext cx="353883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0" y="0"/>
            <a:ext cx="265048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2317403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66775"/>
            <a:ext cx="5206752" cy="8399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3900" y="1087041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4875" y="2466975"/>
            <a:ext cx="3876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4875" y="2905125"/>
            <a:ext cx="3429000" cy="18997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875" y="4938266"/>
            <a:ext cx="3619500" cy="8286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" y="5938391"/>
            <a:ext cx="3876973" cy="8340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4875" y="6848475"/>
            <a:ext cx="879872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897" y="6848475"/>
            <a:ext cx="730895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9942" y="6848475"/>
            <a:ext cx="897285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377" y="6848475"/>
            <a:ext cx="938212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7648" y="2390775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3236" y="3968055"/>
            <a:ext cx="85918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3236" y="4206180"/>
            <a:ext cx="8591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286" y="2390775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0286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0286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Block deploys when quality regresses. Score: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F1, BLEU, custom rubric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76854" y="4087118"/>
            <a:ext cx="29646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67648" y="4514850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7648" y="5473005"/>
            <a:ext cx="2643039" cy="5572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Up to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78% cost reduction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repeat prompts. Auto-invalidates on schema drift.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0286" y="4514850"/>
            <a:ext cx="264303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Drop-in moderation. </a:t>
            </a:r>
            <a:r>
              <a:rPr sz="975" b="1" i="0" u="none">
                <a:solidFill>
                  <a:srgbClr val="E4E4E7"/>
                </a:solidFill>
                <a:latin typeface="Inter"/>
              </a:rPr>
              <a:t>SOC 2 + HIPAA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>-ready, per-tenant rules.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0286" y="5844480"/>
            <a:ext cx="38323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0669" y="5844480"/>
            <a:ext cx="709315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7134" y="5844480"/>
            <a:ext cx="78581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20286" y="6120705"/>
            <a:ext cx="833884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496050"/>
            <a:ext cx="320918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0" y="0"/>
            <a:ext cx="339968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6294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0853738" y="6496050"/>
            <a:ext cx="72866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09600"/>
            <a:ext cx="3164235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019175"/>
            <a:ext cx="6830020" cy="4600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54604" y="1126778"/>
            <a:ext cx="212779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54604" y="1336328"/>
            <a:ext cx="21277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8275" y="5453062"/>
            <a:ext cx="15074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8275" y="5624512"/>
            <a:ext cx="15074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725" y="3400425"/>
            <a:ext cx="3041600" cy="1180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" y="4714726"/>
            <a:ext cx="88329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8170" y="4714726"/>
            <a:ext cx="70499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" y="538162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467" y="5491162"/>
            <a:ext cx="4878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5675" y="5453062"/>
            <a:ext cx="132903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5675" y="5624512"/>
            <a:ext cx="132903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5125" y="3400425"/>
            <a:ext cx="3041600" cy="9447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5125" y="4478536"/>
            <a:ext cx="82197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4253" y="4478536"/>
            <a:ext cx="803225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5125" y="538162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0476" y="5491162"/>
            <a:ext cx="47625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76" y="5453062"/>
            <a:ext cx="82971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3076" y="5624512"/>
            <a:ext cx="82971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526" y="3400425"/>
            <a:ext cx="3041749" cy="9447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526" y="4478536"/>
            <a:ext cx="97943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9114" y="4478536"/>
            <a:ext cx="83239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526" y="538162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41534" y="5491162"/>
            <a:ext cx="502741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496050"/>
            <a:ext cx="25601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0" y="0"/>
            <a:ext cx="214119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2A1A5E"/>
              </a:gs>
              <a:gs pos="22000">
                <a:srgbClr val="1E1B4B"/>
              </a:gs>
              <a:gs pos="45000">
                <a:srgbClr val="14102E"/>
              </a:gs>
              <a:gs pos="70000">
                <a:srgbClr val="0A0820"/>
              </a:gs>
              <a:gs pos="90000">
                <a:srgbClr val="050510"/>
              </a:gs>
              <a:gs pos="100000">
                <a:srgbClr val="050510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Freeform 11"/>
          <p:cNvSpPr/>
          <p:nvPr/>
        </p:nvSpPr>
        <p:spPr>
          <a:xfrm>
            <a:off x="762000" y="5143500"/>
            <a:ext cx="10668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6786" y="0"/>
                  <a:pt x="71429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571500" y="5524500"/>
            <a:ext cx="11049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7586" y="0"/>
                  <a:pt x="72414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52500" y="4762500"/>
            <a:ext cx="1028700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25926" y="0"/>
                  <a:pt x="72222" y="0"/>
                  <a:pt x="100000" y="10000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4892725" y="990600"/>
            <a:ext cx="2530376" cy="1428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626" y="1524000"/>
            <a:ext cx="11512748" cy="21030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0102" y="3667125"/>
            <a:ext cx="4851648" cy="48994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342805" y="4591050"/>
            <a:ext cx="1033462" cy="180975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04917" y="4591050"/>
            <a:ext cx="1844278" cy="180975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49155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6262688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7322641" y="5286375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680073" y="5981700"/>
            <a:ext cx="673075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9539" y="5981700"/>
            <a:ext cx="641486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8525" y="5981700"/>
            <a:ext cx="558831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47" y="5981700"/>
            <a:ext cx="685967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1096" y="5981700"/>
            <a:ext cx="723919" cy="26670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6632" y="6048375"/>
            <a:ext cx="921209" cy="1333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9" name="Rounded Rectangle 28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0506968" y="6557962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4008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467279" y="1305818"/>
            <a:ext cx="9115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1276" y="1305818"/>
            <a:ext cx="7712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4928" y="1305818"/>
            <a:ext cx="7274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56181" y="6262688"/>
            <a:ext cx="2262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09600"/>
            <a:ext cx="2893516" cy="2952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019175"/>
            <a:ext cx="6584752" cy="4199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279" y="943868"/>
            <a:ext cx="911572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1276" y="943868"/>
            <a:ext cx="771227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4928" y="943868"/>
            <a:ext cx="727472" cy="3143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843" y="2276475"/>
            <a:ext cx="675382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8629" y="2943225"/>
            <a:ext cx="1023342" cy="209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530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8850" y="21907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530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315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48850" y="31051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745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5300" y="4019550"/>
            <a:ext cx="358140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48850" y="40195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574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053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31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48850" y="4933950"/>
            <a:ext cx="1733550" cy="8001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6327" y="5419725"/>
            <a:ext cx="6012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1704" y="5419725"/>
            <a:ext cx="107007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0073" y="5424488"/>
            <a:ext cx="17100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257925"/>
            <a:ext cx="24531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2284065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" y="5676900"/>
            <a:ext cx="838200" cy="838200"/>
          </a:xfrm>
          <a:prstGeom prst="ellipse">
            <a:avLst/>
          </a:prstGeom>
          <a:solidFill>
            <a:srgbClr val="F7B2A2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10972800" y="609600"/>
            <a:ext cx="533400" cy="533400"/>
          </a:xfrm>
          <a:prstGeom prst="ellipse">
            <a:avLst/>
          </a:prstGeom>
          <a:solidFill>
            <a:srgbClr val="A78BFA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6724650" y="666750"/>
            <a:ext cx="5124450" cy="5467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2342" y="3833"/>
                </a:moveTo>
                <a:cubicBezTo>
                  <a:pt x="56506" y="0"/>
                  <a:pt x="88104" y="10453"/>
                  <a:pt x="94052" y="31707"/>
                </a:cubicBezTo>
                <a:cubicBezTo>
                  <a:pt x="100000" y="52962"/>
                  <a:pt x="88104" y="69686"/>
                  <a:pt x="74721" y="81882"/>
                </a:cubicBezTo>
                <a:cubicBezTo>
                  <a:pt x="61338" y="94077"/>
                  <a:pt x="39777" y="100000"/>
                  <a:pt x="21933" y="92334"/>
                </a:cubicBezTo>
                <a:cubicBezTo>
                  <a:pt x="4089" y="84669"/>
                  <a:pt x="0" y="63066"/>
                  <a:pt x="6320" y="45645"/>
                </a:cubicBezTo>
                <a:cubicBezTo>
                  <a:pt x="12639" y="28223"/>
                  <a:pt x="8178" y="7666"/>
                  <a:pt x="32342" y="3833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6457950" y="2400300"/>
            <a:ext cx="2590800" cy="2743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0147" y="9722"/>
                </a:moveTo>
                <a:cubicBezTo>
                  <a:pt x="52206" y="0"/>
                  <a:pt x="83824" y="13194"/>
                  <a:pt x="91912" y="38889"/>
                </a:cubicBezTo>
                <a:cubicBezTo>
                  <a:pt x="100000" y="64583"/>
                  <a:pt x="83088" y="87500"/>
                  <a:pt x="59559" y="93750"/>
                </a:cubicBezTo>
                <a:cubicBezTo>
                  <a:pt x="36029" y="100000"/>
                  <a:pt x="10294" y="89583"/>
                  <a:pt x="5147" y="66667"/>
                </a:cubicBezTo>
                <a:cubicBezTo>
                  <a:pt x="0" y="43750"/>
                  <a:pt x="8088" y="19444"/>
                  <a:pt x="30147" y="9722"/>
                </a:cubicBezTo>
                <a:close/>
              </a:path>
            </a:pathLst>
          </a:custGeom>
          <a:solidFill>
            <a:srgbClr val="E9C46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8115300" y="1695450"/>
            <a:ext cx="3028950" cy="3771900"/>
          </a:xfrm>
          <a:prstGeom prst="roundRect">
            <a:avLst/>
          </a:prstGeom>
          <a:solidFill>
            <a:srgbClr val="FEF6E8"/>
          </a:solidFill>
          <a:ln w="9525">
            <a:solidFill>
              <a:srgbClr val="2D1F1F">
                <a:alpha val="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xfrm>
            <a:off x="8267700" y="1847850"/>
            <a:ext cx="2724150" cy="2095500"/>
          </a:xfrm>
          <a:prstGeom prst="round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10172700" y="2114550"/>
            <a:ext cx="419100" cy="419100"/>
          </a:xfrm>
          <a:prstGeom prst="ellipse">
            <a:avLst/>
          </a:prstGeom>
          <a:solidFill>
            <a:srgbClr val="E9C46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8267700" y="3238500"/>
            <a:ext cx="2724150" cy="704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7027"/>
                </a:moveTo>
                <a:cubicBezTo>
                  <a:pt x="25175" y="0"/>
                  <a:pt x="47552" y="54054"/>
                  <a:pt x="74126" y="27027"/>
                </a:cubicBezTo>
                <a:cubicBezTo>
                  <a:pt x="88112" y="13514"/>
                  <a:pt x="95105" y="43243"/>
                  <a:pt x="100000" y="54054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8267700" y="4248150"/>
            <a:ext cx="1352550" cy="0"/>
          </a:xfrm>
          <a:prstGeom prst="line">
            <a:avLst/>
          </a:prstGeom>
          <a:ln w="9525">
            <a:solidFill>
              <a:srgbClr val="2D1F1F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Freeform 11"/>
          <p:cNvSpPr/>
          <p:nvPr/>
        </p:nvSpPr>
        <p:spPr>
          <a:xfrm>
            <a:off x="914400" y="3486150"/>
            <a:ext cx="363855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461" y="0"/>
                  <a:pt x="63874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5657850" y="1790700"/>
            <a:ext cx="704850" cy="819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324" y="9302"/>
                </a:moveTo>
                <a:cubicBezTo>
                  <a:pt x="64865" y="0"/>
                  <a:pt x="100000" y="30233"/>
                  <a:pt x="86486" y="65116"/>
                </a:cubicBezTo>
                <a:cubicBezTo>
                  <a:pt x="72973" y="100000"/>
                  <a:pt x="8108" y="93023"/>
                  <a:pt x="2703" y="51163"/>
                </a:cubicBezTo>
                <a:cubicBezTo>
                  <a:pt x="0" y="34884"/>
                  <a:pt x="2703" y="16279"/>
                  <a:pt x="24324" y="9302"/>
                </a:cubicBezTo>
                <a:close/>
              </a:path>
            </a:pathLst>
          </a:custGeom>
          <a:noFill/>
          <a:ln w="14288">
            <a:solidFill>
              <a:srgbClr val="264653">
                <a:alpha val="5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1047750"/>
            <a:ext cx="533400" cy="361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895"/>
                </a:moveTo>
                <a:cubicBezTo>
                  <a:pt x="28571" y="0"/>
                  <a:pt x="75000" y="0"/>
                  <a:pt x="100000" y="36842"/>
                </a:cubicBezTo>
                <a:cubicBezTo>
                  <a:pt x="75000" y="84211"/>
                  <a:pt x="35714" y="100000"/>
                  <a:pt x="0" y="57895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1181100"/>
            <a:ext cx="476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2000" y="50000"/>
                  <a:pt x="68000" y="0"/>
                  <a:pt x="100000" y="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8267700" y="4453890"/>
            <a:ext cx="102155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1">
                <a:solidFill>
                  <a:srgbClr val="2D1F1F"/>
                </a:solidFill>
                <a:latin typeface="Source Serif Pro"/>
              </a:rPr>
              <a:t>Morning, no. 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7700" y="5059680"/>
            <a:ext cx="138303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7A6A6A"/>
                </a:solidFill>
                <a:latin typeface="Inter"/>
              </a:rPr>
              <a:t>Photographed at low 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6800" y="685800"/>
            <a:ext cx="202480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E76F51"/>
                </a:solidFill>
                <a:latin typeface="Inter"/>
              </a:rPr>
              <a:t>A field guide for the unhurried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205484"/>
            <a:ext cx="4417070" cy="21228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100" b="1" i="0" u="none">
                <a:solidFill>
                  <a:srgbClr val="2D1F1F"/>
                </a:solidFill>
                <a:latin typeface="Source Serif Pro"/>
              </a:rPr>
              <a:t xml:space="preserve">A softer cadence for the </a:t>
            </a:r>
            <a:r>
              <a:rPr sz="5100" b="0" i="1" u="none">
                <a:solidFill>
                  <a:srgbClr val="264653"/>
                </a:solidFill>
                <a:latin typeface="Source Serif Pro"/>
              </a:rPr>
              <a:t>way you work</a:t>
            </a:r>
            <a:r>
              <a:rPr sz="51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467225"/>
            <a:ext cx="4191000" cy="8014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4A3A3A"/>
                </a:solidFill>
                <a:latin typeface="Inter"/>
              </a:rPr>
              <a:t>The companion deck for teams that prefer the long breath. Six chapters, one ritual, no urgency. Begin wherever the morning finds you.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191250"/>
            <a:ext cx="295528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Spring edition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Volume 04 </a:t>
            </a:r>
            <a:r>
              <a:rPr sz="900" b="0" i="0" u="none">
                <a:solidFill>
                  <a:srgbClr val="D8C8B8"/>
                </a:solidFill>
                <a:latin typeface="Inter"/>
              </a:rPr>
              <a:t xml:space="preserve"> / </a:t>
            </a:r>
            <a:r>
              <a:rPr sz="900" b="0" i="0" u="none">
                <a:solidFill>
                  <a:srgbClr val="7A6A6A"/>
                </a:solidFill>
                <a:latin typeface="Inter"/>
              </a:rPr>
              <a:t xml:space="preserve"> Made slowly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>
                <a:alpha val="6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553200" y="1082040"/>
            <a:ext cx="775335" cy="1762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102" b="1" i="1">
                <a:solidFill>
                  <a:srgbClr val="E9C46A"/>
                </a:solidFill>
                <a:latin typeface="Source Serif Pro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762000"/>
            <a:ext cx="1605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Chapter Two · Field notes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1544687"/>
            <a:ext cx="3564582" cy="11166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2D1F1F"/>
                </a:solidFill>
                <a:latin typeface="Source Serif Pro"/>
              </a:rPr>
              <a:t xml:space="preserve">The morning we </a:t>
            </a:r>
            <a:r>
              <a:rPr sz="4050" b="0" i="1" u="none">
                <a:solidFill>
                  <a:srgbClr val="E76F51"/>
                </a:solidFill>
                <a:latin typeface="Source Serif Pro"/>
              </a:rPr>
              <a:t>stopped rushing</a:t>
            </a:r>
            <a:r>
              <a:rPr sz="40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362325"/>
            <a:ext cx="4565154" cy="1016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3A2A2A"/>
                </a:solidFill>
                <a:latin typeface="Inter"/>
              </a:rPr>
              <a:t xml:space="preserve">It started, as most quiet revolutions do, with a small refusal. We let the kettle whistle a moment longer. We sat where the light was thin, and we noticed it. The day, unhurried, agreed to begin </a:t>
            </a:r>
            <a:r>
              <a:rPr sz="1275" b="0" i="0" u="none">
                <a:solidFill>
                  <a:srgbClr val="264653"/>
                </a:solidFill>
                <a:latin typeface="Inter"/>
              </a:rPr>
              <a:t>with us, not despite us</a:t>
            </a:r>
            <a:r>
              <a:rPr sz="1275" b="0" i="0" u="none">
                <a:solidFill>
                  <a:srgbClr val="3A2A2A"/>
                </a:solidFill>
                <a:latin typeface="Inter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2066925"/>
            <a:ext cx="3996482" cy="135522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  The pace of the work changed the moment we stopped negotiating with the clock.
      </a:t>
            </a:r>
            <a:r>
              <a:rPr sz="975" b="0" i="0" u="none">
                <a:solidFill>
                  <a:srgbClr val="7A6A6A"/>
                </a:solidFill>
                <a:latin typeface="Inter"/>
              </a:rPr>
              <a:t>— from the foreword, page 4</a:t>
            </a:r>
            <a:r>
              <a:rPr sz="1950" b="0" i="1" u="none">
                <a:solidFill>
                  <a:srgbClr val="264653"/>
                </a:solidFill>
                <a:latin typeface="Source Serif Pro"/>
              </a:rPr>
              <a:t xml:space="preserve">
  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6191250"/>
            <a:ext cx="167282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Read in 6 minutes · with tea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285750" y="266700"/>
            <a:ext cx="5619750" cy="2305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085" y="13223"/>
                </a:moveTo>
                <a:cubicBezTo>
                  <a:pt x="32203" y="0"/>
                  <a:pt x="72881" y="9091"/>
                  <a:pt x="86441" y="46281"/>
                </a:cubicBezTo>
                <a:cubicBezTo>
                  <a:pt x="100000" y="83471"/>
                  <a:pt x="86441" y="100000"/>
                  <a:pt x="55932" y="94215"/>
                </a:cubicBezTo>
                <a:cubicBezTo>
                  <a:pt x="25424" y="88430"/>
                  <a:pt x="0" y="79339"/>
                  <a:pt x="5085" y="13223"/>
                </a:cubicBezTo>
                <a:close/>
              </a:path>
            </a:pathLst>
          </a:custGeom>
          <a:solidFill>
            <a:srgbClr val="A78BFA">
              <a:alpha val="1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239250" y="5334000"/>
            <a:ext cx="3048000" cy="2000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375" y="9524"/>
                </a:moveTo>
                <a:cubicBezTo>
                  <a:pt x="65625" y="0"/>
                  <a:pt x="93750" y="19048"/>
                  <a:pt x="96875" y="57143"/>
                </a:cubicBezTo>
                <a:cubicBezTo>
                  <a:pt x="100000" y="95238"/>
                  <a:pt x="65625" y="100000"/>
                  <a:pt x="34375" y="90476"/>
                </a:cubicBezTo>
                <a:cubicBezTo>
                  <a:pt x="3125" y="80952"/>
                  <a:pt x="0" y="47619"/>
                  <a:pt x="6875" y="24762"/>
                </a:cubicBezTo>
                <a:cubicBezTo>
                  <a:pt x="10625" y="13333"/>
                  <a:pt x="21875" y="13333"/>
                  <a:pt x="34375" y="9524"/>
                </a:cubicBezTo>
                <a:close/>
              </a:path>
            </a:pathLst>
          </a:custGeom>
          <a:solidFill>
            <a:srgbClr val="E9C46A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933450" y="2609850"/>
            <a:ext cx="1104900" cy="1104900"/>
          </a:xfrm>
          <a:prstGeom prst="ellipse">
            <a:avLst/>
          </a:prstGeom>
          <a:solidFill>
            <a:srgbClr val="F7B2A2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981450" y="3486150"/>
            <a:ext cx="1104900" cy="1104900"/>
          </a:xfrm>
          <a:prstGeom prst="ellipse">
            <a:avLst/>
          </a:prstGeom>
          <a:solidFill>
            <a:srgbClr val="2A9D8F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029450" y="2609850"/>
            <a:ext cx="1104900" cy="1104900"/>
          </a:xfrm>
          <a:prstGeom prst="ellipse">
            <a:avLst/>
          </a:prstGeom>
          <a:solidFill>
            <a:srgbClr val="A78BFA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9734550" y="3486150"/>
            <a:ext cx="1104900" cy="1104900"/>
          </a:xfrm>
          <a:prstGeom prst="ellipse">
            <a:avLst/>
          </a:prstGeom>
          <a:solidFill>
            <a:srgbClr val="F4A261">
              <a:alpha val="3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3048000" y="2762250"/>
            <a:ext cx="1066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23077"/>
                </a:moveTo>
                <a:cubicBezTo>
                  <a:pt x="35714" y="0"/>
                  <a:pt x="53571" y="100000"/>
                  <a:pt x="100000" y="90769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4095750" y="382905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115050" y="2819400"/>
            <a:ext cx="1066800" cy="1295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82353"/>
                </a:moveTo>
                <a:cubicBezTo>
                  <a:pt x="42857" y="100000"/>
                  <a:pt x="60714" y="0"/>
                  <a:pt x="100000" y="16176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162800" y="2971800"/>
            <a:ext cx="152400" cy="171450"/>
          </a:xfrm>
          <a:custGeom>
            <a:avLst/>
            <a:gdLst/>
            <a:ahLst/>
            <a:cxnLst/>
            <a:rect l="l" t="t" r="r" b="b"/>
            <a:pathLst>
              <a:path w="152400" h="171450">
                <a:moveTo>
                  <a:pt x="0" y="0"/>
                </a:moveTo>
                <a:lnTo>
                  <a:pt x="152400" y="57150"/>
                </a:lnTo>
                <a:lnTo>
                  <a:pt x="19050" y="17145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63050" y="2895600"/>
            <a:ext cx="876300" cy="10096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6981"/>
                </a:moveTo>
                <a:cubicBezTo>
                  <a:pt x="52174" y="0"/>
                  <a:pt x="63043" y="100000"/>
                  <a:pt x="100000" y="100000"/>
                </a:cubicBezTo>
              </a:path>
            </a:pathLst>
          </a:custGeom>
          <a:noFill/>
          <a:ln w="15240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10020300" y="3848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57150"/>
                </a:lnTo>
                <a:lnTo>
                  <a:pt x="0" y="152400"/>
                </a:lnTo>
                <a:close/>
              </a:path>
            </a:pathLst>
          </a:custGeom>
          <a:solidFill>
            <a:srgbClr val="264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14400" y="1790700"/>
            <a:ext cx="3638550" cy="1143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66667"/>
                </a:moveTo>
                <a:cubicBezTo>
                  <a:pt x="32461" y="0"/>
                  <a:pt x="69110" y="100000"/>
                  <a:pt x="100000" y="33333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11106150" y="1009650"/>
            <a:ext cx="266700" cy="266700"/>
          </a:xfrm>
          <a:prstGeom prst="ellipse">
            <a:avLst/>
          </a:prstGeom>
          <a:noFill/>
          <a:ln w="1524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 16"/>
          <p:cNvCxnSpPr/>
          <p:nvPr/>
        </p:nvCxnSpPr>
        <p:spPr>
          <a:xfrm flipV="1">
            <a:off x="11239500" y="8001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1239500" y="1409700"/>
            <a:ext cx="0" cy="7620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15062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896600" y="1143000"/>
            <a:ext cx="76200" cy="0"/>
          </a:xfrm>
          <a:prstGeom prst="line">
            <a:avLst/>
          </a:prstGeom>
          <a:ln w="15240">
            <a:solidFill>
              <a:srgbClr val="F4A2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85800"/>
            <a:ext cx="1250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3147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5718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8994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41910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44481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47757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0400" y="3314700"/>
            <a:ext cx="2286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10400" y="3571875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0400" y="3899446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600" y="4191000"/>
            <a:ext cx="190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53600" y="4448175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775746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6267450"/>
            <a:ext cx="154200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-381000"/>
            <a:ext cx="33337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4286" y="6250"/>
                </a:moveTo>
                <a:cubicBezTo>
                  <a:pt x="48571" y="0"/>
                  <a:pt x="88571" y="21875"/>
                  <a:pt x="94286" y="53125"/>
                </a:cubicBezTo>
                <a:cubicBezTo>
                  <a:pt x="100000" y="84375"/>
                  <a:pt x="71429" y="100000"/>
                  <a:pt x="42857" y="91875"/>
                </a:cubicBezTo>
                <a:cubicBezTo>
                  <a:pt x="14286" y="83750"/>
                  <a:pt x="0" y="62500"/>
                  <a:pt x="571" y="37500"/>
                </a:cubicBezTo>
                <a:cubicBezTo>
                  <a:pt x="1143" y="21875"/>
                  <a:pt x="0" y="9375"/>
                  <a:pt x="14286" y="6250"/>
                </a:cubicBezTo>
                <a:close/>
              </a:path>
            </a:pathLst>
          </a:custGeom>
          <a:solidFill>
            <a:srgbClr val="F7B2A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620250" y="4953000"/>
            <a:ext cx="3048000" cy="2286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8125" y="8333"/>
                </a:moveTo>
                <a:cubicBezTo>
                  <a:pt x="56250" y="0"/>
                  <a:pt x="87500" y="16667"/>
                  <a:pt x="93750" y="50000"/>
                </a:cubicBezTo>
                <a:cubicBezTo>
                  <a:pt x="100000" y="83333"/>
                  <a:pt x="78125" y="100000"/>
                  <a:pt x="53125" y="100000"/>
                </a:cubicBezTo>
                <a:cubicBezTo>
                  <a:pt x="28125" y="100000"/>
                  <a:pt x="6250" y="83333"/>
                  <a:pt x="3125" y="58333"/>
                </a:cubicBezTo>
                <a:cubicBezTo>
                  <a:pt x="0" y="33333"/>
                  <a:pt x="9375" y="25000"/>
                  <a:pt x="18750" y="18333"/>
                </a:cubicBezTo>
                <a:cubicBezTo>
                  <a:pt x="23750" y="15000"/>
                  <a:pt x="25000" y="11667"/>
                  <a:pt x="28125" y="8333"/>
                </a:cubicBezTo>
                <a:close/>
              </a:path>
            </a:pathLst>
          </a:custGeom>
          <a:solidFill>
            <a:srgbClr val="A78BF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5219700" y="5429250"/>
            <a:ext cx="14478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4211" y="7692"/>
                </a:moveTo>
                <a:cubicBezTo>
                  <a:pt x="73684" y="0"/>
                  <a:pt x="100000" y="23077"/>
                  <a:pt x="97368" y="53846"/>
                </a:cubicBezTo>
                <a:cubicBezTo>
                  <a:pt x="94737" y="84615"/>
                  <a:pt x="60526" y="100000"/>
                  <a:pt x="31579" y="89231"/>
                </a:cubicBezTo>
                <a:cubicBezTo>
                  <a:pt x="2632" y="78462"/>
                  <a:pt x="0" y="41538"/>
                  <a:pt x="13158" y="20000"/>
                </a:cubicBezTo>
                <a:cubicBezTo>
                  <a:pt x="19737" y="10769"/>
                  <a:pt x="26316" y="9231"/>
                  <a:pt x="34211" y="7692"/>
                </a:cubicBezTo>
                <a:close/>
              </a:path>
            </a:pathLst>
          </a:custGeom>
          <a:solidFill>
            <a:srgbClr val="E9C46A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409700" y="4933950"/>
            <a:ext cx="419100" cy="419100"/>
          </a:xfrm>
          <a:prstGeom prst="ellipse">
            <a:avLst/>
          </a:prstGeom>
          <a:solidFill>
            <a:srgbClr val="2A9D8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91800" y="1924050"/>
            <a:ext cx="342900" cy="342900"/>
          </a:xfrm>
          <a:prstGeom prst="ellipse">
            <a:avLst/>
          </a:prstGeom>
          <a:solidFill>
            <a:srgbClr val="F4A261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5524500" y="11049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28571"/>
                </a:cubicBezTo>
              </a:path>
            </a:pathLst>
          </a:custGeom>
          <a:noFill/>
          <a:ln w="1524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457450" y="4686300"/>
            <a:ext cx="304800" cy="2667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750" y="64286"/>
                </a:moveTo>
                <a:cubicBezTo>
                  <a:pt x="0" y="35714"/>
                  <a:pt x="31250" y="0"/>
                  <a:pt x="50000" y="28571"/>
                </a:cubicBezTo>
                <a:cubicBezTo>
                  <a:pt x="68750" y="0"/>
                  <a:pt x="100000" y="35714"/>
                  <a:pt x="81250" y="64286"/>
                </a:cubicBezTo>
                <a:cubicBezTo>
                  <a:pt x="68750" y="85714"/>
                  <a:pt x="50000" y="100000"/>
                  <a:pt x="50000" y="100000"/>
                </a:cubicBezTo>
                <a:cubicBezTo>
                  <a:pt x="50000" y="100000"/>
                  <a:pt x="31250" y="85714"/>
                  <a:pt x="18750" y="64286"/>
                </a:cubicBezTo>
                <a:close/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7296150" y="4648200"/>
            <a:ext cx="400050" cy="38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000"/>
                </a:moveTo>
                <a:cubicBezTo>
                  <a:pt x="28571" y="0"/>
                  <a:pt x="80952" y="0"/>
                  <a:pt x="100000" y="40000"/>
                </a:cubicBezTo>
                <a:cubicBezTo>
                  <a:pt x="76190" y="85000"/>
                  <a:pt x="28571" y="100000"/>
                  <a:pt x="0" y="45000"/>
                </a:cubicBezTo>
                <a:close/>
              </a:path>
            </a:pathLst>
          </a:custGeom>
          <a:noFill/>
          <a:ln w="1428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7334250" y="4743450"/>
            <a:ext cx="3619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6842" y="50000"/>
                  <a:pt x="73684" y="0"/>
                  <a:pt x="100000" y="75000"/>
                </a:cubicBezTo>
              </a:path>
            </a:pathLst>
          </a:custGeom>
          <a:noFill/>
          <a:ln w="1143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4572000" y="4038600"/>
            <a:ext cx="30480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0000"/>
                </a:moveTo>
                <a:cubicBezTo>
                  <a:pt x="18750" y="0"/>
                  <a:pt x="37500" y="100000"/>
                  <a:pt x="56250" y="50000"/>
                </a:cubicBezTo>
                <a:cubicBezTo>
                  <a:pt x="75000" y="0"/>
                  <a:pt x="875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0" y="914400"/>
            <a:ext cx="1219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533900"/>
            <a:ext cx="3390900" cy="1552426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52700" y="4838700"/>
            <a:ext cx="2857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52700" y="5057775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2700" y="5385346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8500" y="4533900"/>
            <a:ext cx="3390900" cy="1552426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7315200" y="4838700"/>
            <a:ext cx="2857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5057775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385346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>
                <a:alpha val="3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466850" cy="3333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5" b="1" i="1">
                <a:solidFill>
                  <a:srgbClr val="F4A261"/>
                </a:solidFill>
                <a:latin typeface="Source Serif Pro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53700" y="3829050"/>
            <a:ext cx="628650" cy="1428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2" b="1" i="1">
                <a:solidFill>
                  <a:srgbClr val="E76F51"/>
                </a:solidFill>
                <a:latin typeface="Source Serif Pro"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762000"/>
            <a:ext cx="122247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C89B8"/>
                </a:solidFill>
                <a:latin typeface="Inter"/>
              </a:rPr>
              <a:t>In their own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67000" y="2676525"/>
            <a:ext cx="8059489" cy="95011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
      It's the first tool that </a:t>
            </a:r>
            <a:r>
              <a:rPr sz="3150" b="1" i="1" u="none">
                <a:solidFill>
                  <a:srgbClr val="E76F51"/>
                </a:solidFill>
                <a:latin typeface="Source Serif Pro"/>
              </a:rPr>
              <a:t>didn't ask me to hurry</a:t>
            </a:r>
            <a:r>
              <a:rPr sz="3150" b="0" i="1" u="none">
                <a:solidFill>
                  <a:srgbClr val="2D1F1F"/>
                </a:solidFill>
                <a:latin typeface="Source Serif Pro"/>
              </a:rPr>
              <a:t xml:space="preserve"> — and somehow, that's exactly when the work got better.
    </a:t>
            </a:r>
          </a:p>
        </p:txBody>
      </p:sp>
      <p:sp>
        <p:nvSpPr>
          <p:cNvPr id="15" name="Oval 14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143000" y="6267450"/>
            <a:ext cx="123735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Conversation no. 09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7239000" y="1524000"/>
            <a:ext cx="4191000" cy="4191000"/>
          </a:xfrm>
          <a:prstGeom prst="ellipse">
            <a:avLst/>
          </a:prstGeom>
          <a:solidFill>
            <a:srgbClr val="F7B2A2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7620000" y="1905000"/>
            <a:ext cx="3714750" cy="3409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6154" y="0"/>
                </a:moveTo>
                <a:cubicBezTo>
                  <a:pt x="79487" y="0"/>
                  <a:pt x="100000" y="26816"/>
                  <a:pt x="97436" y="51397"/>
                </a:cubicBezTo>
                <a:cubicBezTo>
                  <a:pt x="94872" y="75978"/>
                  <a:pt x="71795" y="100000"/>
                  <a:pt x="46154" y="98324"/>
                </a:cubicBezTo>
                <a:cubicBezTo>
                  <a:pt x="20513" y="96648"/>
                  <a:pt x="0" y="75419"/>
                  <a:pt x="513" y="50279"/>
                </a:cubicBezTo>
                <a:cubicBezTo>
                  <a:pt x="1026" y="25140"/>
                  <a:pt x="17436" y="0"/>
                  <a:pt x="46154" y="0"/>
                </a:cubicBezTo>
                <a:close/>
              </a:path>
            </a:pathLst>
          </a:custGeom>
          <a:noFill/>
          <a:ln w="13335">
            <a:solidFill>
              <a:srgbClr val="E76F51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0" y="571500"/>
            <a:ext cx="2095500" cy="18669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7273" y="10204"/>
                </a:moveTo>
                <a:cubicBezTo>
                  <a:pt x="59091" y="0"/>
                  <a:pt x="90909" y="20408"/>
                  <a:pt x="95455" y="51020"/>
                </a:cubicBezTo>
                <a:cubicBezTo>
                  <a:pt x="100000" y="81633"/>
                  <a:pt x="72727" y="100000"/>
                  <a:pt x="45455" y="94898"/>
                </a:cubicBezTo>
                <a:cubicBezTo>
                  <a:pt x="18182" y="89796"/>
                  <a:pt x="0" y="69388"/>
                  <a:pt x="3636" y="42857"/>
                </a:cubicBezTo>
                <a:cubicBezTo>
                  <a:pt x="6364" y="25510"/>
                  <a:pt x="13636" y="14286"/>
                  <a:pt x="27273" y="1020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000250" y="485775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7105650" y="5810250"/>
            <a:ext cx="266700" cy="266700"/>
          </a:xfrm>
          <a:prstGeom prst="ellipse">
            <a:avLst/>
          </a:prstGeom>
          <a:solidFill>
            <a:srgbClr val="E9C46A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1049000" y="5905500"/>
            <a:ext cx="381000" cy="381000"/>
          </a:xfrm>
          <a:prstGeom prst="ellipse">
            <a:avLst/>
          </a:prstGeom>
          <a:solidFill>
            <a:srgbClr val="9C89B8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1371600" y="3943350"/>
            <a:ext cx="30099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30380" y="0"/>
                  <a:pt x="68354" y="100000"/>
                  <a:pt x="100000" y="25000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333500" y="5600700"/>
            <a:ext cx="3810000" cy="2286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5000" y="16667"/>
                  <a:pt x="30000" y="100000"/>
                  <a:pt x="50000" y="50000"/>
                </a:cubicBezTo>
                <a:cubicBezTo>
                  <a:pt x="70000" y="0"/>
                  <a:pt x="85000" y="100000"/>
                  <a:pt x="100000" y="50000"/>
                </a:cubicBezTo>
              </a:path>
            </a:pathLst>
          </a:custGeom>
          <a:noFill/>
          <a:ln w="11430">
            <a:solidFill>
              <a:srgbClr val="264653">
                <a:alpha val="4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2895600" y="4362450"/>
            <a:ext cx="952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0000" y="50000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9144000" y="3238500"/>
            <a:ext cx="800100" cy="762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59524" y="0"/>
                </a:moveTo>
                <a:cubicBezTo>
                  <a:pt x="23810" y="0"/>
                  <a:pt x="0" y="40000"/>
                  <a:pt x="23810" y="70000"/>
                </a:cubicBezTo>
                <a:cubicBezTo>
                  <a:pt x="47619" y="100000"/>
                  <a:pt x="95238" y="90000"/>
                  <a:pt x="100000" y="50000"/>
                </a:cubicBezTo>
                <a:cubicBezTo>
                  <a:pt x="69048" y="55000"/>
                  <a:pt x="52381" y="32500"/>
                  <a:pt x="59524" y="0"/>
                </a:cubicBezTo>
                <a:close/>
              </a:path>
            </a:pathLst>
          </a:custGeom>
          <a:solidFill>
            <a:srgbClr val="FEF6E8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333500" y="1028700"/>
            <a:ext cx="24227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4305300"/>
            <a:ext cx="139496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1143000" y="3238500"/>
            <a:ext cx="2800350" cy="2819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0408" y="13514"/>
                </a:moveTo>
                <a:cubicBezTo>
                  <a:pt x="51020" y="0"/>
                  <a:pt x="85034" y="13514"/>
                  <a:pt x="92517" y="40541"/>
                </a:cubicBezTo>
                <a:cubicBezTo>
                  <a:pt x="100000" y="67568"/>
                  <a:pt x="78231" y="91892"/>
                  <a:pt x="51020" y="95946"/>
                </a:cubicBezTo>
                <a:cubicBezTo>
                  <a:pt x="23810" y="100000"/>
                  <a:pt x="0" y="81081"/>
                  <a:pt x="680" y="55405"/>
                </a:cubicBezTo>
                <a:cubicBezTo>
                  <a:pt x="1361" y="40541"/>
                  <a:pt x="6803" y="23649"/>
                  <a:pt x="20408" y="13514"/>
                </a:cubicBezTo>
                <a:close/>
              </a:path>
            </a:pathLst>
          </a:custGeom>
          <a:solidFill>
            <a:srgbClr val="A78BFA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9334500" y="-400050"/>
            <a:ext cx="3048000" cy="32194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1250" y="592"/>
                </a:moveTo>
                <a:cubicBezTo>
                  <a:pt x="62500" y="6509"/>
                  <a:pt x="93750" y="30178"/>
                  <a:pt x="96875" y="56805"/>
                </a:cubicBezTo>
                <a:cubicBezTo>
                  <a:pt x="100000" y="83432"/>
                  <a:pt x="75000" y="100000"/>
                  <a:pt x="50000" y="95266"/>
                </a:cubicBezTo>
                <a:cubicBezTo>
                  <a:pt x="25000" y="90533"/>
                  <a:pt x="6250" y="77515"/>
                  <a:pt x="3125" y="58580"/>
                </a:cubicBezTo>
                <a:cubicBezTo>
                  <a:pt x="0" y="39645"/>
                  <a:pt x="9375" y="21893"/>
                  <a:pt x="18750" y="14793"/>
                </a:cubicBezTo>
                <a:cubicBezTo>
                  <a:pt x="23750" y="11243"/>
                  <a:pt x="26875" y="0"/>
                  <a:pt x="31250" y="592"/>
                </a:cubicBezTo>
                <a:close/>
              </a:path>
            </a:pathLst>
          </a:custGeom>
          <a:solidFill>
            <a:srgbClr val="E9C46A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9715500" y="5524500"/>
            <a:ext cx="22860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12500"/>
                </a:moveTo>
                <a:cubicBezTo>
                  <a:pt x="66667" y="0"/>
                  <a:pt x="100000" y="25000"/>
                  <a:pt x="100000" y="62500"/>
                </a:cubicBezTo>
                <a:cubicBezTo>
                  <a:pt x="100000" y="100000"/>
                  <a:pt x="66667" y="100000"/>
                  <a:pt x="33333" y="87500"/>
                </a:cubicBezTo>
                <a:cubicBezTo>
                  <a:pt x="0" y="75000"/>
                  <a:pt x="0" y="25000"/>
                  <a:pt x="33333" y="12500"/>
                </a:cubicBezTo>
                <a:close/>
              </a:path>
            </a:pathLst>
          </a:custGeom>
          <a:solidFill>
            <a:srgbClr val="F7B2A2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162550" y="1295400"/>
            <a:ext cx="190500" cy="190500"/>
          </a:xfrm>
          <a:prstGeom prst="ellipse">
            <a:avLst/>
          </a:prstGeom>
          <a:solidFill>
            <a:srgbClr val="E76F51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5162550" y="2228850"/>
            <a:ext cx="190500" cy="190500"/>
          </a:xfrm>
          <a:prstGeom prst="ellipse">
            <a:avLst/>
          </a:prstGeom>
          <a:solidFill>
            <a:srgbClr val="F4A261">
              <a:alpha val="6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62550" y="3162300"/>
            <a:ext cx="190500" cy="190500"/>
          </a:xfrm>
          <a:prstGeom prst="ellipse">
            <a:avLst/>
          </a:prstGeom>
          <a:solidFill>
            <a:srgbClr val="2A9D8F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5162550" y="4095750"/>
            <a:ext cx="190500" cy="190500"/>
          </a:xfrm>
          <a:prstGeom prst="ellipse">
            <a:avLst/>
          </a:prstGeom>
          <a:solidFill>
            <a:srgbClr val="A78BFA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5162550" y="5029200"/>
            <a:ext cx="190500" cy="190500"/>
          </a:xfrm>
          <a:prstGeom prst="ellipse">
            <a:avLst/>
          </a:prstGeom>
          <a:solidFill>
            <a:srgbClr val="E9C46A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914400" y="1790700"/>
            <a:ext cx="30861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7143"/>
                </a:moveTo>
                <a:cubicBezTo>
                  <a:pt x="32099" y="0"/>
                  <a:pt x="69136" y="100000"/>
                  <a:pt x="100000" y="28571"/>
                </a:cubicBezTo>
              </a:path>
            </a:pathLst>
          </a:custGeom>
          <a:noFill/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1714500" y="2762250"/>
            <a:ext cx="723900" cy="7810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316" y="12195"/>
                </a:moveTo>
                <a:cubicBezTo>
                  <a:pt x="65789" y="0"/>
                  <a:pt x="100000" y="24390"/>
                  <a:pt x="92105" y="60976"/>
                </a:cubicBezTo>
                <a:cubicBezTo>
                  <a:pt x="84211" y="97561"/>
                  <a:pt x="26316" y="100000"/>
                  <a:pt x="10526" y="70732"/>
                </a:cubicBezTo>
                <a:cubicBezTo>
                  <a:pt x="0" y="51220"/>
                  <a:pt x="5263" y="21951"/>
                  <a:pt x="26316" y="12195"/>
                </a:cubicBezTo>
                <a:close/>
              </a:path>
            </a:pathLst>
          </a:custGeom>
          <a:noFill/>
          <a:ln w="14288">
            <a:solidFill>
              <a:srgbClr val="264653">
                <a:alpha val="4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914400" y="3829050"/>
            <a:ext cx="2514600" cy="190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6667" y="10000"/>
                  <a:pt x="33333" y="100000"/>
                  <a:pt x="50000" y="50000"/>
                </a:cubicBezTo>
                <a:cubicBezTo>
                  <a:pt x="66667" y="0"/>
                  <a:pt x="81818" y="100000"/>
                  <a:pt x="100000" y="50000"/>
                </a:cubicBezTo>
              </a:path>
            </a:pathLst>
          </a:custGeom>
          <a:noFill/>
          <a:ln w="12382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914400" y="4229100"/>
            <a:ext cx="438150" cy="3238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7059"/>
                </a:moveTo>
                <a:cubicBezTo>
                  <a:pt x="30435" y="0"/>
                  <a:pt x="78261" y="0"/>
                  <a:pt x="100000" y="41176"/>
                </a:cubicBezTo>
                <a:cubicBezTo>
                  <a:pt x="73913" y="82353"/>
                  <a:pt x="30435" y="100000"/>
                  <a:pt x="0" y="47059"/>
                </a:cubicBezTo>
                <a:close/>
              </a:path>
            </a:pathLst>
          </a:custGeom>
          <a:noFill/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/>
          <p:cNvSpPr/>
          <p:nvPr/>
        </p:nvSpPr>
        <p:spPr>
          <a:xfrm>
            <a:off x="952500" y="4305300"/>
            <a:ext cx="400050" cy="76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333" y="50000"/>
                  <a:pt x="66667" y="0"/>
                  <a:pt x="100000" y="75000"/>
                </a:cubicBezTo>
              </a:path>
            </a:pathLst>
          </a:custGeom>
          <a:noFill/>
          <a:ln w="10478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4991100" y="1143000"/>
            <a:ext cx="114300" cy="438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0435"/>
                  <a:pt x="0" y="65217"/>
                  <a:pt x="66667" y="100000"/>
                </a:cubicBezTo>
              </a:path>
            </a:pathLst>
          </a:custGeom>
          <a:noFill/>
          <a:ln w="11430">
            <a:solidFill>
              <a:srgbClr val="2D1F1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914400" y="685800"/>
            <a:ext cx="108867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312664"/>
            <a:ext cx="4076551" cy="48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1028700"/>
            <a:ext cx="1404045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9300" y="1306711"/>
            <a:ext cx="4104084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9300" y="1727150"/>
            <a:ext cx="3094732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29300" y="2005161"/>
            <a:ext cx="3094732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29300" y="2425601"/>
            <a:ext cx="4001244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9300" y="2703612"/>
            <a:ext cx="4001244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29300" y="3124051"/>
            <a:ext cx="1366986" cy="228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9300" y="3402062"/>
            <a:ext cx="4598045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29300" y="3822502"/>
            <a:ext cx="3890516" cy="23991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29300" y="4100512"/>
            <a:ext cx="3890516" cy="1918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6267450"/>
            <a:ext cx="266938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38225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90712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114300" cy="23080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71700"/>
            <a:ext cx="26104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67325"/>
            <a:ext cx="23946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895475" y="2257425"/>
            <a:ext cx="85278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5400" y="2257425"/>
            <a:ext cx="64457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5475" y="5200650"/>
            <a:ext cx="44142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3386" y="5200650"/>
            <a:ext cx="56658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1" name="Oval 20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124575" y="2547640"/>
            <a:ext cx="52253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3" name="Oval 22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553075" y="2739628"/>
            <a:ext cx="4948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5" name="Oval 24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581775" y="2995761"/>
            <a:ext cx="3891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7" name="Oval 26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609975" y="2675632"/>
            <a:ext cx="4890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29" name="Oval 28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2924175" y="3187750"/>
            <a:ext cx="49455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1" name="Oval 30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4295775" y="3379738"/>
            <a:ext cx="450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3" name="Oval 32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5324475" y="4241602"/>
            <a:ext cx="5058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5" name="Oval 34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353175" y="4497586"/>
            <a:ext cx="3723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7" name="Oval 36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3152775" y="4753719"/>
            <a:ext cx="444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39" name="Oval 38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4067175" y="4945707"/>
            <a:ext cx="3500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1" name="Oval 40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391275" y="4945707"/>
            <a:ext cx="3225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5905" y="2028825"/>
            <a:ext cx="102364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90700" y="5657850"/>
            <a:ext cx="5715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10500" y="3322588"/>
            <a:ext cx="37719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10500" y="3598813"/>
            <a:ext cx="37719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3875038"/>
            <a:ext cx="37719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10500" y="4151263"/>
            <a:ext cx="37719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47750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26716"/>
            <a:ext cx="83820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717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30505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99085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19125" y="300037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6087" y="300037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7735" y="300037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5564" y="3000375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1077" y="3000375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361950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619125" y="362902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314" y="362902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98790" y="362902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40438" y="362902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7258" y="362902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24815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619125" y="425767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1349" y="425767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30292" y="425767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768" y="425767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7258" y="425767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876800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619125" y="4886325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2896" y="4886325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7826" y="4886325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19280" y="4886325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3588" y="4886325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2466975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432435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6181725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039100" y="5248275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609600" y="5629275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752475" y="5734050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2475" y="5886450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43950" y="2950369"/>
            <a:ext cx="2834878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Mix shifts ~33 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ppts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end-to-end — from 28% in SMB to 61% in enterprise — tracking IT-team self-sufficiency more closely than absolute spend.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43950" y="3937397"/>
            <a:ext cx="2734121" cy="460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Implementation plus managed services hold a combined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53%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of SMB wallets, and have moved less than 200 bps in three years.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43950" y="4941838"/>
            <a:ext cx="2651968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Mid-market buyers willing to fund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10–11%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of wallet on enablement pay 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1.4×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 xml:space="preserve"> the platform multiple of peers, on average.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47750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26716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3031629"/>
            <a:ext cx="930622" cy="138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8450" y="2842617"/>
            <a:ext cx="3350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7775" y="2842617"/>
            <a:ext cx="335012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77100" y="2842617"/>
            <a:ext cx="38978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6425" y="2842617"/>
            <a:ext cx="33501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57775" y="3429000"/>
            <a:ext cx="338286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057775" y="3429000"/>
            <a:ext cx="1218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0175" y="3429000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8450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57775" y="3991570"/>
            <a:ext cx="313730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96425" y="3991570"/>
            <a:ext cx="31373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57775" y="4554141"/>
            <a:ext cx="219373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384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29241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30099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309562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18135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50577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xfrm>
            <a:off x="51435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52292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53149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540067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727710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73628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744855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753427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762000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949642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9582150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9667875" y="5149751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9753600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9839325" y="5149751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8450" y="5660231"/>
            <a:ext cx="532209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5057775" y="5660231"/>
            <a:ext cx="532209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77100" y="5660231"/>
            <a:ext cx="552896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96425" y="5660231"/>
            <a:ext cx="522238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2950" y="6241852"/>
            <a:ext cx="1225748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838450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57775" y="6251377"/>
            <a:ext cx="304651" cy="11430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77100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96425" y="6251377"/>
            <a:ext cx="30465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897416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47750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276475"/>
            <a:ext cx="409575" cy="4953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013918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7375" y="2276475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7375" y="2628900"/>
            <a:ext cx="1981051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937272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433018"/>
            <a:ext cx="409575" cy="4953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452068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719661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167336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7375" y="3433018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7375" y="3785443"/>
            <a:ext cx="199027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953917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586436"/>
            <a:ext cx="409575" cy="4953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60548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87307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5320754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7375" y="4586436"/>
            <a:ext cx="479822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7375" y="4938861"/>
            <a:ext cx="1945928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5247233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739854"/>
            <a:ext cx="409575" cy="4953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758904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6045547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6477298"/>
            <a:ext cx="74676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7375" y="5739854"/>
            <a:ext cx="418356" cy="2952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6092279"/>
            <a:ext cx="2018109" cy="2541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400651"/>
            <a:ext cx="21050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754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47750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75" y="2314575"/>
            <a:ext cx="7086600" cy="2886075"/>
          </a:xfrm>
          <a:prstGeom prst="rect">
            <a:avLst/>
          </a:prstGeom>
          <a:solidFill>
            <a:srgbClr val="F7F5F2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827216" y="2486025"/>
            <a:ext cx="576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7630" y="2486025"/>
            <a:ext cx="54426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195" y="2486025"/>
            <a:ext cx="7009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359" y="2824162"/>
            <a:ext cx="22651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4814" y="3295650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814" y="3767138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4814" y="4238625"/>
            <a:ext cx="15106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5422" y="4662488"/>
            <a:ext cx="504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575" y="2314575"/>
            <a:ext cx="303415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95067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84797" y="3218706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97994" y="2959745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1191" y="2854672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4388" y="2854672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37584" y="2907209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0781" y="2922240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3978" y="2922240"/>
            <a:ext cx="81319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2475" y="2552700"/>
            <a:ext cx="3067050" cy="4296817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8372475" y="3051721"/>
            <a:ext cx="2808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56764" y="3051721"/>
            <a:ext cx="182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86775" y="326127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72475" y="346129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53639" y="346129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86775" y="367084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2475" y="3870871"/>
            <a:ext cx="27440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92768" y="3870871"/>
            <a:ext cx="2467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86775" y="408042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72475" y="428044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53639" y="428044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86775" y="448999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2475" y="4690021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53639" y="4690021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6775" y="489957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5099596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53639" y="5099596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86775" y="5309146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72475" y="5509171"/>
            <a:ext cx="28049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53639" y="5509171"/>
            <a:ext cx="185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86775" y="5718721"/>
            <a:ext cx="28765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72475" y="6004471"/>
            <a:ext cx="2808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56764" y="6004471"/>
            <a:ext cx="182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72475" y="2714625"/>
            <a:ext cx="3067050" cy="1846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6261646"/>
            <a:ext cx="30670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72475" y="6471196"/>
            <a:ext cx="3067050" cy="3868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7878961" y="338138"/>
            <a:ext cx="37034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923925"/>
            <a:ext cx="203061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3825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941016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57250" y="1945779"/>
            <a:ext cx="15893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990975"/>
            <a:ext cx="3100983" cy="51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977110"/>
            <a:ext cx="2599432" cy="3171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5769918"/>
            <a:ext cx="2073473" cy="31715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6550" y="914400"/>
            <a:ext cx="70358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550" y="1238250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2530525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3437186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9418" y="5828407"/>
            <a:ext cx="411659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24625"/>
            <a:ext cx="348540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62948" y="6524625"/>
            <a:ext cx="336024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4595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704850"/>
            <a:ext cx="10972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85825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1047750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26716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6923" y="2152650"/>
            <a:ext cx="453777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5589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5850" y="2630388"/>
            <a:ext cx="2095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4700" y="25732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324225" y="2573238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3381375" y="26018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3450" y="25875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2745" y="26018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31736" y="2601813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08282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" y="321141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4700" y="30971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3324225" y="3097113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3381375" y="312568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53450" y="311140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97827" y="3125688"/>
            <a:ext cx="40347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51232" y="3125688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35495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850" y="367813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4700" y="35638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3324225" y="3563838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3381375" y="35924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53450" y="35781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2745" y="35924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51232" y="359241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40162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5850" y="414486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4700" y="40305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xfrm>
            <a:off x="3324225" y="4030563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3381375" y="405913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53450" y="404485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725" y="4059138"/>
            <a:ext cx="4095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56739" y="4059138"/>
            <a:ext cx="5256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448300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5850" y="461158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14700" y="449728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3324225" y="4497288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3381375" y="452586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53450" y="451157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2745" y="452586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51232" y="452586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9600" y="494972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5850" y="507831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314700" y="49640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3324225" y="4964013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3381375" y="499258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53450" y="497830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2745" y="4992588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51232" y="4992588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9600" y="541645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5850" y="554503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4700" y="543073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3324225" y="5430738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3381375" y="545931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53450" y="544502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52745" y="5459313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51232" y="5459313"/>
            <a:ext cx="5311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600" y="58831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5850" y="6011763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314700" y="58974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3324225" y="5897463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/>
          <p:cNvSpPr txBox="1"/>
          <p:nvPr/>
        </p:nvSpPr>
        <p:spPr>
          <a:xfrm>
            <a:off x="3381375" y="5926038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53450" y="5911751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2745" y="5926038"/>
            <a:ext cx="3485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31736" y="5926038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49901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5850" y="6478488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314700" y="6364188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 79"/>
          <p:cNvSpPr/>
          <p:nvPr/>
        </p:nvSpPr>
        <p:spPr>
          <a:xfrm>
            <a:off x="3324225" y="6364188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3381375" y="6392763"/>
            <a:ext cx="11132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53450" y="6378476"/>
            <a:ext cx="8572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1703" y="6392763"/>
            <a:ext cx="3495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031736" y="6392763"/>
            <a:ext cx="5506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9600" y="6816626"/>
            <a:ext cx="342900" cy="413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14700" y="683091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Rectangle 86"/>
          <p:cNvSpPr/>
          <p:nvPr/>
        </p:nvSpPr>
        <p:spPr>
          <a:xfrm>
            <a:off x="3324225" y="6830913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TextBox 87"/>
          <p:cNvSpPr txBox="1"/>
          <p:nvPr/>
        </p:nvSpPr>
        <p:spPr>
          <a:xfrm>
            <a:off x="8553450" y="6845201"/>
            <a:ext cx="857250" cy="127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TextBox 95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90982" y="6524625"/>
            <a:ext cx="3914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23950"/>
            <a:ext cx="30910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115050"/>
            <a:ext cx="51905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315700" y="1905000"/>
            <a:ext cx="114300" cy="21100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066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77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04800" y="266700"/>
            <a:ext cx="12550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6" name="Rectangle 5"/>
          <p:cNvSpPr/>
          <p:nvPr/>
        </p:nvSpPr>
        <p:spPr>
          <a:xfrm>
            <a:off x="8330654" y="661988"/>
            <a:ext cx="2645271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1123950"/>
            <a:ext cx="43434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2800" y="1371600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800" y="3666083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4494758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4513808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7850" y="4979045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7850" y="6061174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4789438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9150" y="1009650"/>
            <a:ext cx="706176" cy="19050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7" name="Rectangle 6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45735" y="1009650"/>
            <a:ext cx="706176" cy="19050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438775"/>
            <a:ext cx="5185767" cy="9231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600" y="5438775"/>
            <a:ext cx="5254972" cy="92318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66524" y="6477000"/>
            <a:ext cx="81587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43000" y="5638800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763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33475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55590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00" y="457200"/>
            <a:ext cx="5086350" cy="29051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38600" y="533400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457200"/>
            <a:ext cx="2476500" cy="29051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8300" y="533400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400" y="3495675"/>
            <a:ext cx="2476500" cy="29051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03860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2250" y="3495675"/>
            <a:ext cx="2476500" cy="2905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4845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2100" y="3495675"/>
            <a:ext cx="2476500" cy="138588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58300" y="3571875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5014912"/>
            <a:ext cx="2476500" cy="13858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58300" y="5091112"/>
            <a:ext cx="254645" cy="142875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11277600" cy="5943600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9700" y="1238250"/>
            <a:ext cx="186704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9700" y="1447800"/>
            <a:ext cx="145896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143125"/>
            <a:ext cx="5708749" cy="287803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3653" y="4661595"/>
            <a:ext cx="1016347" cy="895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30594" y="5534025"/>
            <a:ext cx="119940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B1020"/>
              </a:gs>
              <a:gs pos="7500">
                <a:srgbClr val="0D1328"/>
              </a:gs>
              <a:gs pos="15000">
                <a:srgbClr val="101730"/>
              </a:gs>
              <a:gs pos="22500">
                <a:srgbClr val="121A38"/>
              </a:gs>
              <a:gs pos="30000">
                <a:srgbClr val="151D40"/>
              </a:gs>
              <a:gs pos="37500">
                <a:srgbClr val="172148"/>
              </a:gs>
              <a:gs pos="45000">
                <a:srgbClr val="1A2451"/>
              </a:gs>
              <a:gs pos="54167">
                <a:srgbClr val="1B2A59"/>
              </a:gs>
              <a:gs pos="63333">
                <a:srgbClr val="1C3161"/>
              </a:gs>
              <a:gs pos="72500">
                <a:srgbClr val="1D386A"/>
              </a:gs>
              <a:gs pos="81667">
                <a:srgbClr val="1D3F72"/>
              </a:gs>
              <a:gs pos="90833">
                <a:srgbClr val="1C467A"/>
              </a:gs>
              <a:gs pos="100000">
                <a:srgbClr val="1A4D82"/>
              </a:gs>
            </a:gsLst>
            <a:lin ang="2700000" scaled="0"/>
          </a:gradFill>
          <a:xfrm>
            <a:off x="0" y="0"/>
            <a:ext cx="13011150" cy="73152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47700" y="533400"/>
            <a:ext cx="10287000" cy="172789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EEF3FF"/>
                </a:solidFill>
                <a:latin typeface="Inter"/>
              </a:rPr>
              <a:t>Operationally, this quarter validated a deliberate “native-first, raster-fallback” strategy for complex slides.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7700" y="2527995"/>
            <a:ext cx="10858500" cy="61704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800" b="0" i="0" u="none">
                <a:solidFill>
                  <a:srgbClr val="EEF3FF"/>
                </a:solidFill>
                <a:latin typeface="Inter"/>
              </a:rPr>
              <a:t>We improved deterministic wrapping across long phrases, numerals (123,456,789), symbols (&amp; + / %), and punctuation-heavy snippets—without sacrificing editability in PowerPoint.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7700" y="3411736"/>
            <a:ext cx="3765500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66775" y="3611761"/>
            <a:ext cx="33273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Fidelity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6775" y="3859411"/>
            <a:ext cx="3327350" cy="134838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93.4% average SSIM across stress scenarios with multi-line title/lede structures.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22750" y="3411736"/>
            <a:ext cx="3765500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841825" y="3611761"/>
            <a:ext cx="33273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Editability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1825" y="3859411"/>
            <a:ext cx="3327350" cy="134838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88% of visible area emitted as native text/shape/table primitives.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7801" y="3411736"/>
            <a:ext cx="3765649" cy="3370064"/>
          </a:xfrm>
          <a:prstGeom prst="roundRect">
            <a:avLst/>
          </a:prstGeom>
          <a:solidFill>
            <a:srgbClr val="FFFFFF">
              <a:alpha val="8000"/>
            </a:srgbClr>
          </a:solidFill>
          <a:ln w="9525">
            <a:solidFill>
              <a:srgbClr val="FFFFFF"/>
            </a:solidFill>
          </a:ln>
          <a:effectLst>
            <a:outerShdw blurRad="266700" dist="114300" dir="5400000" algn="ctr" rotWithShape="0">
              <a:srgbClr val="040916">
                <a:alpha val="2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816876" y="3611761"/>
            <a:ext cx="332749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EEF3FF"/>
                </a:solidFill>
                <a:latin typeface="Inter"/>
              </a:rPr>
              <a:t>Latency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16876" y="3859411"/>
            <a:ext cx="3327499" cy="101128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EEF3FF"/>
                </a:solidFill>
                <a:latin typeface="Inter"/>
              </a:rPr>
              <a:t>1.7s median single-slide conversion at standard preview resolution.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