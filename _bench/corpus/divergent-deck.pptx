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 type="screen4x3"/>
  <p:notesSz cx="6858000" cy="9144000"/>
  <p:embeddedFontLst>
    <p:embeddedFont>
      <p:font typeface="Source Serif Pro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SF Pro Display" panose="020B0604020202020204" charset="0"/>
      <p:regular r:id="rIdSlidifyFont7"/>
      <p:bold r:id="rIdSlidifyFont8"/>
    </p:embeddedFont>
    <p:embeddedFont>
      <p:font typeface="SF Mono" panose="020B0609040504020204" charset="0"/>
      <p:regular r:id="rIdSlidifyFont9"/>
      <p:bold r:id="rIdSlidifyFont10"/>
    </p:embeddedFont>
    <p:embeddedFont>
      <p:font typeface="New York" panose="020B0604020202020204" charset="0"/>
      <p:regular r:id="rIdSlidifyFont11"/>
      <p:bold r:id="rIdSlidifyFont12"/>
      <p:boldItalic r:id="rIdSlidifyFont13"/>
    </p:embeddedFont>
    <p:embeddedFont>
      <p:font typeface="JetBrains Mono" panose="020B0609040504020204" charset="0"/>
      <p:regular r:id="rIdSlidifyFont14"/>
      <p:bold r:id="rIdSlidifyFont15"/>
    </p:embeddedFont>
    <p:embeddedFont>
      <p:font typeface="Tiempos Headline" panose="02040603050405020304" charset="0"/>
      <p:regular r:id="rIdSlidifyFont16"/>
      <p:bold r:id="rIdSlidifyFont17"/>
      <p:italic r:id="rIdSlidifyFont18"/>
      <p:boldItalic r:id="rIdSlidifyFont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5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68580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5725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0980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31616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838450"/>
            <a:ext cx="2055614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2903488"/>
            <a:ext cx="171450" cy="19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817614" y="2838450"/>
            <a:ext cx="158502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17614" y="2903488"/>
            <a:ext cx="171450" cy="190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Connector 11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lnTo>
                  <a:pt x="1181100" y="1885950"/>
                </a:lnTo>
                <a:lnTo>
                  <a:pt x="1771650" y="1790700"/>
                </a:lnTo>
                <a:lnTo>
                  <a:pt x="2362200" y="1714500"/>
                </a:lnTo>
                <a:lnTo>
                  <a:pt x="2952750" y="1543050"/>
                </a:lnTo>
                <a:lnTo>
                  <a:pt x="3543300" y="1371600"/>
                </a:lnTo>
                <a:lnTo>
                  <a:pt x="4133850" y="1181100"/>
                </a:lnTo>
                <a:lnTo>
                  <a:pt x="4724400" y="1009650"/>
                </a:lnTo>
                <a:lnTo>
                  <a:pt x="5314950" y="800100"/>
                </a:lnTo>
                <a:lnTo>
                  <a:pt x="5905500" y="438150"/>
                </a:lnTo>
                <a:lnTo>
                  <a:pt x="6496050" y="17145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lnTo>
                  <a:pt x="1181100" y="2038350"/>
                </a:lnTo>
                <a:lnTo>
                  <a:pt x="1771650" y="1962150"/>
                </a:lnTo>
                <a:lnTo>
                  <a:pt x="2362200" y="1847850"/>
                </a:lnTo>
                <a:lnTo>
                  <a:pt x="2952750" y="1733550"/>
                </a:lnTo>
                <a:lnTo>
                  <a:pt x="3543300" y="1600200"/>
                </a:lnTo>
                <a:lnTo>
                  <a:pt x="4133850" y="1447800"/>
                </a:lnTo>
                <a:lnTo>
                  <a:pt x="4724400" y="1276350"/>
                </a:lnTo>
                <a:lnTo>
                  <a:pt x="5314950" y="1066800"/>
                </a:lnTo>
                <a:lnTo>
                  <a:pt x="5905500" y="666750"/>
                </a:lnTo>
                <a:lnTo>
                  <a:pt x="6496050" y="30480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95338" y="3314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338" y="3886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338" y="4457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338" y="5029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338" y="5600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68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79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01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12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23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5350" y="3421380"/>
            <a:ext cx="115252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1A1A1A"/>
                </a:solidFill>
                <a:latin typeface="Inter"/>
              </a:rPr>
              <a:t>2021 · The crossover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5350" y="3562350"/>
            <a:ext cx="26717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Inter"/>
              </a:rPr>
              <a:t>CPI overtakes wage index for first time since 2008.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6688" y="329565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C41E3A"/>
                </a:solidFill>
                <a:latin typeface="Inter"/>
              </a:rPr>
              <a:t>+92 pts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86688" y="354330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E5F8C"/>
                </a:solidFill>
                <a:latin typeface="Inter"/>
              </a:rPr>
              <a:t>+98 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1752600"/>
            <a:ext cx="285750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204787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1100" y="25410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01100" y="303430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01100" y="352752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01100" y="40207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6486525"/>
            <a:ext cx="3547467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9346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938189"/>
            <a:ext cx="5524500" cy="39433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33400" y="2081064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2810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33574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39289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45004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4400" y="50719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066800" y="49385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485900" y="48814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905000" y="47861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324100" y="45956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743200" y="43670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162300" y="46718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81400" y="45575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000500" y="35098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419600" y="40813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38700" y="44623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57800" y="39289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668655" y="33269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3.0T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655" y="38984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2.0T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655" y="44699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1.0T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5041434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8477" y="4812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7577" y="475568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6677" y="46604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5777" y="4469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24877" y="42413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3977" y="45461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63077" y="4431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58602" y="33840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C41E3A"/>
                </a:solidFill>
                <a:latin typeface="Inter"/>
              </a:rPr>
              <a:t>3.13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7702" y="39555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2.78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6802" y="43365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1.38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15902" y="38031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1A"/>
                </a:solidFill>
                <a:latin typeface="Inter"/>
              </a:rPr>
              <a:t>1.83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84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057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630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03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57577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15100" y="1938189"/>
            <a:ext cx="5524500" cy="39433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6515100" y="2081064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5100" y="22810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96100" y="33669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96100" y="39384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896100" y="45099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896100" y="50814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200900" y="34240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lnTo>
                  <a:pt x="838200" y="1181100"/>
                </a:lnTo>
                <a:lnTo>
                  <a:pt x="1257300" y="990600"/>
                </a:lnTo>
                <a:lnTo>
                  <a:pt x="1676400" y="781050"/>
                </a:lnTo>
                <a:lnTo>
                  <a:pt x="2095500" y="1085850"/>
                </a:lnTo>
                <a:lnTo>
                  <a:pt x="2514600" y="971550"/>
                </a:lnTo>
                <a:lnTo>
                  <a:pt x="2933700" y="0"/>
                </a:lnTo>
                <a:lnTo>
                  <a:pt x="3352800" y="323850"/>
                </a:lnTo>
                <a:lnTo>
                  <a:pt x="3771900" y="1085850"/>
                </a:lnTo>
                <a:lnTo>
                  <a:pt x="4191000" y="93345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7172325" y="46718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7591425" y="46528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8010525" y="45766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8429625" y="43861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8848725" y="41765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9267825" y="44813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686925" y="43670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096500" y="33859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0525125" y="37193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10944225" y="44813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1353800" y="43194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Connector 62"/>
          <p:cNvCxnSpPr/>
          <p:nvPr/>
        </p:nvCxnSpPr>
        <p:spPr>
          <a:xfrm>
            <a:off x="6896100" y="43956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9563100" y="31764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697504" y="3336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97504" y="39079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44652" y="4479459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2750" y="5050959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87075" y="4269909"/>
            <a:ext cx="94297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1" i="0">
                <a:solidFill>
                  <a:srgbClr val="D4A017"/>
                </a:solidFill>
                <a:latin typeface="Inter"/>
              </a:rPr>
              <a:t>1983 baseline · 6.0%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96350" y="3062139"/>
            <a:ext cx="62865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2020 · 14.7%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01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74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447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020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15100" y="57672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24625"/>
            <a:ext cx="345236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5432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831479"/>
            <a:ext cx="148084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1889522"/>
            <a:ext cx="171450" cy="19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319040" y="1836241"/>
            <a:ext cx="140776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1605" y="1836241"/>
            <a:ext cx="14357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6849" y="1831479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2079129"/>
            <a:ext cx="361950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21648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23172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3900" y="2631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012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3900" y="3393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3900" y="37745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723900" y="2822079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lnTo>
                  <a:pt x="1104900" y="742950"/>
                </a:lnTo>
                <a:lnTo>
                  <a:pt x="1657350" y="400050"/>
                </a:lnTo>
                <a:lnTo>
                  <a:pt x="2209800" y="114300"/>
                </a:lnTo>
                <a:lnTo>
                  <a:pt x="2762250" y="0"/>
                </a:lnTo>
                <a:lnTo>
                  <a:pt x="3333750" y="5715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4029075" y="28506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2933700" y="2936379"/>
            <a:ext cx="0" cy="838200"/>
          </a:xfrm>
          <a:prstGeom prst="line">
            <a:avLst/>
          </a:prstGeom>
          <a:ln w="9525">
            <a:solidFill>
              <a:srgbClr val="000000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1020" y="26087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" y="37517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848749"/>
            <a:ext cx="37719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1A1A1A"/>
                </a:solidFill>
                <a:latin typeface="Inter"/>
              </a:rPr>
              <a:t>peak '22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1500" y="2079129"/>
            <a:ext cx="361950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4381500" y="21648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1500" y="23172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2631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572000" y="3012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72000" y="3393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572000" y="37745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eform 30"/>
          <p:cNvSpPr/>
          <p:nvPr/>
        </p:nvSpPr>
        <p:spPr>
          <a:xfrm>
            <a:off x="4572000" y="3069729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lnTo>
                  <a:pt x="1104900" y="438150"/>
                </a:lnTo>
                <a:lnTo>
                  <a:pt x="1657350" y="1905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7877175" y="30411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389120" y="26087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1030" y="37517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2079129"/>
            <a:ext cx="361950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8229600" y="21648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23172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20100" y="2631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20100" y="3012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20100" y="3393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20100" y="37745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8420100" y="3012579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lnTo>
                  <a:pt x="1104900" y="361950"/>
                </a:lnTo>
                <a:lnTo>
                  <a:pt x="1657350" y="0"/>
                </a:lnTo>
                <a:lnTo>
                  <a:pt x="2209800" y="114300"/>
                </a:lnTo>
                <a:lnTo>
                  <a:pt x="2762250" y="209550"/>
                </a:lnTo>
                <a:lnTo>
                  <a:pt x="3333750" y="26670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1725275" y="3250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8237220" y="26087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130" y="37517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4600" y="2905899"/>
            <a:ext cx="47148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A1A1A"/>
                </a:solidFill>
                <a:latin typeface="Inter"/>
              </a:rPr>
              <a:t>cooled '23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3400" y="4327029"/>
            <a:ext cx="361950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533400" y="44127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3400" y="45651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3900" y="4879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23900" y="5260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23900" y="5641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3900" y="60224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23900" y="5717679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lnTo>
                  <a:pt x="1104900" y="190500"/>
                </a:lnTo>
                <a:lnTo>
                  <a:pt x="1657350" y="95250"/>
                </a:lnTo>
                <a:lnTo>
                  <a:pt x="2209800" y="38100"/>
                </a:lnTo>
                <a:lnTo>
                  <a:pt x="2762250" y="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029075" y="56891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541020" y="48566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2930" y="59996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1500" y="4327029"/>
            <a:ext cx="361950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4381500" y="44127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1500" y="4565154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572000" y="4879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572000" y="5260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572000" y="5641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572000" y="60224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572000" y="5946279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lnTo>
                  <a:pt x="1104900" y="152400"/>
                </a:lnTo>
                <a:lnTo>
                  <a:pt x="1657350" y="9525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877175" y="5917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4389120" y="48566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31030" y="59996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86500" y="6106299"/>
            <a:ext cx="51863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E5F8C"/>
                </a:solidFill>
                <a:latin typeface="Inter"/>
              </a:rPr>
              <a:t>net decline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0" y="4327029"/>
            <a:ext cx="361950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/>
          <p:cNvSpPr txBox="1"/>
          <p:nvPr/>
        </p:nvSpPr>
        <p:spPr>
          <a:xfrm>
            <a:off x="8229600" y="44127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0" y="4565154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420100" y="4879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8420100" y="5260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8420100" y="5641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20100" y="60224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8420100" y="5793879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lnTo>
                  <a:pt x="1104900" y="171450"/>
                </a:lnTo>
                <a:lnTo>
                  <a:pt x="1657350" y="1143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1725275" y="57653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/>
          <p:cNvSpPr txBox="1"/>
          <p:nvPr/>
        </p:nvSpPr>
        <p:spPr>
          <a:xfrm>
            <a:off x="8237220" y="48566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79130" y="59996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33400" y="6524625"/>
            <a:ext cx="362694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531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4770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7911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3801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398576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57329"/>
            <a:ext cx="685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285929"/>
            <a:ext cx="685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0022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1932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0032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58132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696232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0027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lnTo>
                  <a:pt x="762000" y="114300"/>
                </a:lnTo>
                <a:lnTo>
                  <a:pt x="1143000" y="228600"/>
                </a:lnTo>
                <a:lnTo>
                  <a:pt x="1524000" y="361950"/>
                </a:lnTo>
                <a:lnTo>
                  <a:pt x="1905000" y="476250"/>
                </a:lnTo>
                <a:lnTo>
                  <a:pt x="2286000" y="552450"/>
                </a:lnTo>
                <a:lnTo>
                  <a:pt x="2667000" y="628650"/>
                </a:lnTo>
                <a:lnTo>
                  <a:pt x="3048000" y="685800"/>
                </a:lnTo>
                <a:lnTo>
                  <a:pt x="3429000" y="742950"/>
                </a:lnTo>
                <a:lnTo>
                  <a:pt x="3810000" y="800100"/>
                </a:lnTo>
                <a:lnTo>
                  <a:pt x="4191000" y="876300"/>
                </a:lnTo>
                <a:lnTo>
                  <a:pt x="4572000" y="933450"/>
                </a:lnTo>
                <a:lnTo>
                  <a:pt x="4953000" y="990600"/>
                </a:lnTo>
                <a:lnTo>
                  <a:pt x="5334000" y="1047750"/>
                </a:lnTo>
                <a:lnTo>
                  <a:pt x="5715000" y="1085850"/>
                </a:lnTo>
                <a:lnTo>
                  <a:pt x="6096000" y="1123950"/>
                </a:lnTo>
                <a:lnTo>
                  <a:pt x="6381750" y="114300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771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14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68597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694327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24150" y="5724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150" y="6105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8,000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150" y="6486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7,000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4150" y="6867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6,000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2882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1A1A1A"/>
                </a:solidFill>
                <a:latin typeface="Inter"/>
              </a:rPr>
              <a:t>2005 · 8,891 papers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2888" y="717187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2024 · 6,005 papers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7000" y="6486525"/>
            <a:ext cx="36230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UNC Hussman School / Northwestern Medill Local News Initiative ·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52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7150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52377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428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790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934200" y="27905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33400" y="34001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430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752600" y="34001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362200" y="34001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971800" y="34001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5814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800600" y="34001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3246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9342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33400" y="40097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1430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752600" y="40097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362200" y="40097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971800" y="40097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5814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191000" y="40097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48006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410200" y="40097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0198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629400" y="40097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239000" y="40097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533400" y="46193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1430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7526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362200" y="46193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29718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3581400" y="46193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191000" y="46193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8006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410200" y="46193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6019800" y="46193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6629400" y="46193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7239000" y="46193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143000" y="52289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752600" y="52289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2362200" y="52289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2971800" y="52289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581400" y="52289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191000" y="52289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4800600" y="52289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410200" y="52289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334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23622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29718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3581400" y="58385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191000" y="58385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006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410200" y="58385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752600" y="58385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742474" y="3011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43274" y="3011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24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WA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520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616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MT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712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8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04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WI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096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36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VT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432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520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NV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616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WY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712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SD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08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904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000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096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OH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192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PA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288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384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480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RI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CA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520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616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CO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712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08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04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KY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000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WV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096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VA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192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288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DE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384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480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520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AZ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616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712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KS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808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AR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904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TN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000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096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SC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92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DC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24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HI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712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OK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808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LA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904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MS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000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096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GA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192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FL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9616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TX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3400" y="6595765"/>
            <a:ext cx="8471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47578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168533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189488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210443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231398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2618780" y="6595765"/>
            <a:ext cx="8893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68120" y="6595765"/>
            <a:ext cx="8090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0" y="2352377"/>
            <a:ext cx="342900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26286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229600" y="2904827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/>
          <p:cNvSpPr txBox="1"/>
          <p:nvPr/>
        </p:nvSpPr>
        <p:spPr>
          <a:xfrm>
            <a:off x="8229600" y="29667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77250" y="29524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410700" y="29905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11125200" y="29667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229600" y="3162002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8229600" y="32239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77250" y="32096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410700" y="32477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9410700" y="32477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/>
          <p:cNvSpPr txBox="1"/>
          <p:nvPr/>
        </p:nvSpPr>
        <p:spPr>
          <a:xfrm>
            <a:off x="11125200" y="32239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229600" y="3419177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/>
          <p:cNvSpPr txBox="1"/>
          <p:nvPr/>
        </p:nvSpPr>
        <p:spPr>
          <a:xfrm>
            <a:off x="8229600" y="34810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77250" y="34668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410700" y="35049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9410700" y="35049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TextBox 135"/>
          <p:cNvSpPr txBox="1"/>
          <p:nvPr/>
        </p:nvSpPr>
        <p:spPr>
          <a:xfrm>
            <a:off x="11125200" y="34810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229600" y="3676352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TextBox 137"/>
          <p:cNvSpPr txBox="1"/>
          <p:nvPr/>
        </p:nvSpPr>
        <p:spPr>
          <a:xfrm>
            <a:off x="8229600" y="37382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77250" y="37239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410700" y="37620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9410700" y="37620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TextBox 141"/>
          <p:cNvSpPr txBox="1"/>
          <p:nvPr/>
        </p:nvSpPr>
        <p:spPr>
          <a:xfrm>
            <a:off x="11125200" y="37382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229600" y="3933527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TextBox 143"/>
          <p:cNvSpPr txBox="1"/>
          <p:nvPr/>
        </p:nvSpPr>
        <p:spPr>
          <a:xfrm>
            <a:off x="8229600" y="39954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77250" y="39811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410700" y="40192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9410700" y="40192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TextBox 147"/>
          <p:cNvSpPr txBox="1"/>
          <p:nvPr/>
        </p:nvSpPr>
        <p:spPr>
          <a:xfrm>
            <a:off x="11125200" y="39954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229600" y="4190702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TextBox 149"/>
          <p:cNvSpPr txBox="1"/>
          <p:nvPr/>
        </p:nvSpPr>
        <p:spPr>
          <a:xfrm>
            <a:off x="8229600" y="4252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77250" y="42383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9410700" y="4276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9410700" y="42764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TextBox 153"/>
          <p:cNvSpPr txBox="1"/>
          <p:nvPr/>
        </p:nvSpPr>
        <p:spPr>
          <a:xfrm>
            <a:off x="11125200" y="4252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8229600" y="4447877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extBox 155"/>
          <p:cNvSpPr txBox="1"/>
          <p:nvPr/>
        </p:nvSpPr>
        <p:spPr>
          <a:xfrm>
            <a:off x="8229600" y="45097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77250" y="44955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410700" y="45336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Rectangle 158"/>
          <p:cNvSpPr/>
          <p:nvPr/>
        </p:nvSpPr>
        <p:spPr>
          <a:xfrm>
            <a:off x="9410700" y="45336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/>
          <p:cNvSpPr txBox="1"/>
          <p:nvPr/>
        </p:nvSpPr>
        <p:spPr>
          <a:xfrm>
            <a:off x="11125200" y="45097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229600" y="4705052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8229600" y="47669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77250" y="47526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410700" y="47907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Rectangle 164"/>
          <p:cNvSpPr/>
          <p:nvPr/>
        </p:nvSpPr>
        <p:spPr>
          <a:xfrm>
            <a:off x="9410700" y="47907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/>
          <p:cNvSpPr txBox="1"/>
          <p:nvPr/>
        </p:nvSpPr>
        <p:spPr>
          <a:xfrm>
            <a:off x="11125200" y="47669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229600" y="4962227"/>
            <a:ext cx="34290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TextBox 167"/>
          <p:cNvSpPr txBox="1"/>
          <p:nvPr/>
        </p:nvSpPr>
        <p:spPr>
          <a:xfrm>
            <a:off x="8229600" y="50241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477250" y="50098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410700" y="50479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Rectangle 170"/>
          <p:cNvSpPr/>
          <p:nvPr/>
        </p:nvSpPr>
        <p:spPr>
          <a:xfrm>
            <a:off x="9410700" y="50479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/>
          <p:cNvSpPr txBox="1"/>
          <p:nvPr/>
        </p:nvSpPr>
        <p:spPr>
          <a:xfrm>
            <a:off x="11125200" y="50241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229600" y="5219402"/>
            <a:ext cx="3429000" cy="4095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TextBox 173"/>
          <p:cNvSpPr txBox="1"/>
          <p:nvPr/>
        </p:nvSpPr>
        <p:spPr>
          <a:xfrm>
            <a:off x="8229600" y="53575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477250" y="52670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410700" y="53813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Rectangle 176"/>
          <p:cNvSpPr/>
          <p:nvPr/>
        </p:nvSpPr>
        <p:spPr>
          <a:xfrm>
            <a:off x="9410700" y="53813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TextBox 177"/>
          <p:cNvSpPr txBox="1"/>
          <p:nvPr/>
        </p:nvSpPr>
        <p:spPr>
          <a:xfrm>
            <a:off x="11125200" y="53575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33400" y="6524625"/>
            <a:ext cx="436944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14282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7150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5617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52377"/>
            <a:ext cx="3429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52377"/>
            <a:ext cx="2469952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9152" y="2352377"/>
            <a:ext cx="1543645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4247" y="2352377"/>
            <a:ext cx="1543794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9491" y="2352377"/>
            <a:ext cx="1543794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4735" y="2352377"/>
            <a:ext cx="1080641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6826" y="2352377"/>
            <a:ext cx="1571774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2785170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750" y="2609552"/>
            <a:ext cx="2469952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047750" y="2695277"/>
            <a:ext cx="1120825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887563"/>
            <a:ext cx="1120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9152" y="2609552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247" y="2609552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9491" y="2609552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4735" y="2609552"/>
            <a:ext cx="1080641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361438" y="2766715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22" name="Up Arrow 21"/>
          <p:cNvSpPr/>
          <p:nvPr/>
        </p:nvSpPr>
        <p:spPr>
          <a:xfrm>
            <a:off x="9361438" y="2828627"/>
            <a:ext cx="95250" cy="66675"/>
          </a:xfrm>
          <a:prstGeom prst="up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0086826" y="2609552"/>
            <a:ext cx="1571774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0086826" y="2777133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lnTo>
                  <a:pt x="247650" y="95250"/>
                </a:lnTo>
                <a:lnTo>
                  <a:pt x="371475" y="57150"/>
                </a:lnTo>
                <a:lnTo>
                  <a:pt x="495300" y="38100"/>
                </a:lnTo>
                <a:lnTo>
                  <a:pt x="619125" y="1905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0925026" y="2753320"/>
            <a:ext cx="54947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" y="3286125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7750" y="3106638"/>
            <a:ext cx="2469952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1047750" y="3196233"/>
            <a:ext cx="1406128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" y="3388519"/>
            <a:ext cx="140612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9152" y="3106638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4247" y="310663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9491" y="310663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34735" y="3106638"/>
            <a:ext cx="1080641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9361438" y="3267670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9361438" y="3329583"/>
            <a:ext cx="95250" cy="66675"/>
          </a:xfrm>
          <a:prstGeom prst="down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0086826" y="3106638"/>
            <a:ext cx="1571774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10086826" y="3301860"/>
            <a:ext cx="699046" cy="87381"/>
          </a:xfrm>
          <a:custGeom>
            <a:avLst/>
            <a:gdLst/>
            <a:ahLst/>
            <a:cxnLst/>
            <a:rect l="l" t="t" r="r" b="b"/>
            <a:pathLst>
              <a:path w="699046" h="87381">
                <a:moveTo>
                  <a:pt x="0" y="0"/>
                </a:moveTo>
                <a:lnTo>
                  <a:pt x="113595" y="17476"/>
                </a:lnTo>
                <a:lnTo>
                  <a:pt x="227190" y="34952"/>
                </a:lnTo>
                <a:lnTo>
                  <a:pt x="340785" y="52428"/>
                </a:lnTo>
                <a:lnTo>
                  <a:pt x="454380" y="52428"/>
                </a:lnTo>
                <a:lnTo>
                  <a:pt x="567975" y="69904"/>
                </a:lnTo>
                <a:lnTo>
                  <a:pt x="699046" y="87381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10862072" y="3192363"/>
            <a:ext cx="796528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3400" y="3790950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7750" y="3611463"/>
            <a:ext cx="2469952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47750" y="3701058"/>
            <a:ext cx="1401217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750" y="3893344"/>
            <a:ext cx="140121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9152" y="3611463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247" y="3611463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9491" y="3611463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34735" y="3611463"/>
            <a:ext cx="1080641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361438" y="3772495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48" name="Up Arrow 47"/>
          <p:cNvSpPr/>
          <p:nvPr/>
        </p:nvSpPr>
        <p:spPr>
          <a:xfrm>
            <a:off x="9361438" y="3834408"/>
            <a:ext cx="95250" cy="66675"/>
          </a:xfrm>
          <a:prstGeom prst="up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10086826" y="3611463"/>
            <a:ext cx="1571774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Freeform 49"/>
          <p:cNvSpPr/>
          <p:nvPr/>
        </p:nvSpPr>
        <p:spPr>
          <a:xfrm>
            <a:off x="10086826" y="3792825"/>
            <a:ext cx="662881" cy="132576"/>
          </a:xfrm>
          <a:custGeom>
            <a:avLst/>
            <a:gdLst/>
            <a:ahLst/>
            <a:cxnLst/>
            <a:rect l="l" t="t" r="r" b="b"/>
            <a:pathLst>
              <a:path w="662881" h="132576">
                <a:moveTo>
                  <a:pt x="0" y="132576"/>
                </a:moveTo>
                <a:lnTo>
                  <a:pt x="107718" y="116004"/>
                </a:lnTo>
                <a:lnTo>
                  <a:pt x="215436" y="99432"/>
                </a:lnTo>
                <a:lnTo>
                  <a:pt x="323154" y="66288"/>
                </a:lnTo>
                <a:lnTo>
                  <a:pt x="430872" y="49716"/>
                </a:lnTo>
                <a:lnTo>
                  <a:pt x="538591" y="33144"/>
                </a:lnTo>
                <a:lnTo>
                  <a:pt x="662881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10825907" y="3697188"/>
            <a:ext cx="832693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400" y="4295775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7750" y="4116288"/>
            <a:ext cx="2469952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47750" y="4205883"/>
            <a:ext cx="1406128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4398169"/>
            <a:ext cx="140612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152" y="4116288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04247" y="411628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9491" y="411628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34735" y="4116288"/>
            <a:ext cx="1080641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370963" y="4277320"/>
            <a:ext cx="544413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70963" y="4363045"/>
            <a:ext cx="85725" cy="1905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086826" y="4116288"/>
            <a:ext cx="1571774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10086826" y="4355200"/>
            <a:ext cx="699046" cy="8738"/>
          </a:xfrm>
          <a:custGeom>
            <a:avLst/>
            <a:gdLst/>
            <a:ahLst/>
            <a:cxnLst/>
            <a:rect l="l" t="t" r="r" b="b"/>
            <a:pathLst>
              <a:path w="699046" h="8738">
                <a:moveTo>
                  <a:pt x="0" y="8738"/>
                </a:moveTo>
                <a:lnTo>
                  <a:pt x="113595" y="8738"/>
                </a:lnTo>
                <a:lnTo>
                  <a:pt x="227190" y="0"/>
                </a:lnTo>
                <a:lnTo>
                  <a:pt x="340785" y="0"/>
                </a:lnTo>
                <a:lnTo>
                  <a:pt x="454380" y="8738"/>
                </a:lnTo>
                <a:lnTo>
                  <a:pt x="567975" y="8738"/>
                </a:lnTo>
                <a:lnTo>
                  <a:pt x="699046" y="8738"/>
                </a:lnTo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0862072" y="4202013"/>
            <a:ext cx="796528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3400" y="4796730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47750" y="4621113"/>
            <a:ext cx="2469952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1047750" y="4706838"/>
            <a:ext cx="1406128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4899124"/>
            <a:ext cx="140612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9152" y="4621113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04247" y="4621113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9491" y="4621113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34735" y="4621113"/>
            <a:ext cx="1080641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/>
          <p:cNvSpPr txBox="1"/>
          <p:nvPr/>
        </p:nvSpPr>
        <p:spPr>
          <a:xfrm>
            <a:off x="9361438" y="4778276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9361438" y="4840188"/>
            <a:ext cx="95250" cy="66675"/>
          </a:xfrm>
          <a:prstGeom prst="down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0086826" y="4621113"/>
            <a:ext cx="1571774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Freeform 75"/>
          <p:cNvSpPr/>
          <p:nvPr/>
        </p:nvSpPr>
        <p:spPr>
          <a:xfrm>
            <a:off x="10086826" y="4788694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76200"/>
                </a:lnTo>
                <a:lnTo>
                  <a:pt x="619125" y="95250"/>
                </a:lnTo>
                <a:lnTo>
                  <a:pt x="762000" y="1143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/>
          <p:cNvSpPr txBox="1"/>
          <p:nvPr/>
        </p:nvSpPr>
        <p:spPr>
          <a:xfrm>
            <a:off x="10925026" y="4764881"/>
            <a:ext cx="56718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3400" y="5297686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47750" y="5118199"/>
            <a:ext cx="2469952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1047750" y="5207794"/>
            <a:ext cx="1406128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7750" y="5400080"/>
            <a:ext cx="140612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9152" y="5118199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04247" y="5118199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19491" y="5118199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34735" y="5118199"/>
            <a:ext cx="1080641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9361438" y="5279231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9361438" y="5341144"/>
            <a:ext cx="95250" cy="66675"/>
          </a:xfrm>
          <a:prstGeom prst="down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10086826" y="5118199"/>
            <a:ext cx="1571774" cy="5048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 88"/>
          <p:cNvSpPr/>
          <p:nvPr/>
        </p:nvSpPr>
        <p:spPr>
          <a:xfrm>
            <a:off x="10086826" y="5274859"/>
            <a:ext cx="727919" cy="145584"/>
          </a:xfrm>
          <a:custGeom>
            <a:avLst/>
            <a:gdLst/>
            <a:ahLst/>
            <a:cxnLst/>
            <a:rect l="l" t="t" r="r" b="b"/>
            <a:pathLst>
              <a:path w="727919" h="145584">
                <a:moveTo>
                  <a:pt x="0" y="0"/>
                </a:moveTo>
                <a:lnTo>
                  <a:pt x="118287" y="27297"/>
                </a:lnTo>
                <a:lnTo>
                  <a:pt x="236574" y="54594"/>
                </a:lnTo>
                <a:lnTo>
                  <a:pt x="354860" y="72792"/>
                </a:lnTo>
                <a:lnTo>
                  <a:pt x="473147" y="90990"/>
                </a:lnTo>
                <a:lnTo>
                  <a:pt x="591434" y="118287"/>
                </a:lnTo>
                <a:lnTo>
                  <a:pt x="727919" y="145584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10890945" y="5203924"/>
            <a:ext cx="767655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3400" y="5798641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47750" y="5623024"/>
            <a:ext cx="2469952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1047750" y="5708749"/>
            <a:ext cx="1406128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47750" y="5901035"/>
            <a:ext cx="140612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89152" y="5623024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04247" y="5623024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119491" y="5623024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834735" y="5623024"/>
            <a:ext cx="1080641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9361438" y="5780187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100" name="Down Arrow 99"/>
          <p:cNvSpPr/>
          <p:nvPr/>
        </p:nvSpPr>
        <p:spPr>
          <a:xfrm>
            <a:off x="9361438" y="5842099"/>
            <a:ext cx="95250" cy="66675"/>
          </a:xfrm>
          <a:prstGeom prst="down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10086826" y="5623024"/>
            <a:ext cx="1571774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 101"/>
          <p:cNvSpPr/>
          <p:nvPr/>
        </p:nvSpPr>
        <p:spPr>
          <a:xfrm>
            <a:off x="10086826" y="5771555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lnTo>
                  <a:pt x="247650" y="47625"/>
                </a:lnTo>
                <a:lnTo>
                  <a:pt x="371475" y="76200"/>
                </a:lnTo>
                <a:lnTo>
                  <a:pt x="495300" y="104775"/>
                </a:lnTo>
                <a:lnTo>
                  <a:pt x="619125" y="133350"/>
                </a:lnTo>
                <a:lnTo>
                  <a:pt x="762000" y="1619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10925026" y="5766792"/>
            <a:ext cx="52923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3400" y="6295727"/>
            <a:ext cx="12620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47750" y="6120110"/>
            <a:ext cx="2469952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TextBox 105"/>
          <p:cNvSpPr txBox="1"/>
          <p:nvPr/>
        </p:nvSpPr>
        <p:spPr>
          <a:xfrm>
            <a:off x="1047750" y="6205835"/>
            <a:ext cx="1406128" cy="3161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7750" y="6398121"/>
            <a:ext cx="140612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89152" y="6120110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04247" y="6120110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119491" y="6120110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834735" y="6120110"/>
            <a:ext cx="1080641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TextBox 111"/>
          <p:cNvSpPr txBox="1"/>
          <p:nvPr/>
        </p:nvSpPr>
        <p:spPr>
          <a:xfrm>
            <a:off x="9361438" y="6277273"/>
            <a:ext cx="553938" cy="1732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361438" y="6339185"/>
            <a:ext cx="95250" cy="66675"/>
          </a:xfrm>
          <a:prstGeom prst="down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10086826" y="6120110"/>
            <a:ext cx="1571774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Freeform 114"/>
          <p:cNvSpPr/>
          <p:nvPr/>
        </p:nvSpPr>
        <p:spPr>
          <a:xfrm>
            <a:off x="10086826" y="6306741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lnTo>
                  <a:pt x="247650" y="28575"/>
                </a:lnTo>
                <a:lnTo>
                  <a:pt x="371475" y="38100"/>
                </a:lnTo>
                <a:lnTo>
                  <a:pt x="495300" y="57150"/>
                </a:lnTo>
                <a:lnTo>
                  <a:pt x="619125" y="66675"/>
                </a:lnTo>
                <a:lnTo>
                  <a:pt x="762000" y="857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10925026" y="6263878"/>
            <a:ext cx="56718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33400" y="6792813"/>
            <a:ext cx="126206" cy="651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47750" y="6617196"/>
            <a:ext cx="2469952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/>
          <p:cNvSpPr txBox="1"/>
          <p:nvPr/>
        </p:nvSpPr>
        <p:spPr>
          <a:xfrm>
            <a:off x="1047750" y="6702921"/>
            <a:ext cx="1406128" cy="155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89152" y="6617196"/>
            <a:ext cx="1543645" cy="240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04247" y="6617196"/>
            <a:ext cx="1543794" cy="240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19491" y="6617196"/>
            <a:ext cx="1543794" cy="240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834735" y="6617196"/>
            <a:ext cx="1080641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TextBox 123"/>
          <p:cNvSpPr txBox="1"/>
          <p:nvPr/>
        </p:nvSpPr>
        <p:spPr>
          <a:xfrm>
            <a:off x="9361438" y="6774359"/>
            <a:ext cx="553938" cy="836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125" name="Down Arrow 124"/>
          <p:cNvSpPr/>
          <p:nvPr/>
        </p:nvSpPr>
        <p:spPr>
          <a:xfrm>
            <a:off x="9361438" y="6836271"/>
            <a:ext cx="95250" cy="66675"/>
          </a:xfrm>
          <a:prstGeom prst="downArrow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10086826" y="6617196"/>
            <a:ext cx="1571774" cy="4970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 126"/>
          <p:cNvSpPr/>
          <p:nvPr/>
        </p:nvSpPr>
        <p:spPr>
          <a:xfrm>
            <a:off x="10086826" y="6803827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lnTo>
                  <a:pt x="247650" y="19050"/>
                </a:lnTo>
                <a:lnTo>
                  <a:pt x="371475" y="38100"/>
                </a:lnTo>
                <a:lnTo>
                  <a:pt x="495300" y="47625"/>
                </a:lnTo>
                <a:lnTo>
                  <a:pt x="619125" y="57150"/>
                </a:lnTo>
                <a:lnTo>
                  <a:pt x="762000" y="762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/>
          <p:cNvSpPr txBox="1"/>
          <p:nvPr/>
        </p:nvSpPr>
        <p:spPr>
          <a:xfrm>
            <a:off x="10925026" y="6760964"/>
            <a:ext cx="567184" cy="97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33400" y="6524625"/>
            <a:ext cx="495166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752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4350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76325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47775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47800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889177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1514475"/>
            <a:ext cx="2286000" cy="7179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4806404"/>
            <a:ext cx="11125200" cy="14419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533400" y="4987379"/>
            <a:ext cx="1619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81250" y="4987379"/>
            <a:ext cx="2147888" cy="12610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562225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lnTo>
                  <a:pt x="419100" y="152400"/>
                </a:lnTo>
                <a:lnTo>
                  <a:pt x="628650" y="133350"/>
                </a:lnTo>
                <a:lnTo>
                  <a:pt x="838200" y="95250"/>
                </a:lnTo>
                <a:lnTo>
                  <a:pt x="1047750" y="57150"/>
                </a:lnTo>
                <a:lnTo>
                  <a:pt x="1257300" y="19050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lnTo>
                  <a:pt x="419100" y="190500"/>
                </a:lnTo>
                <a:lnTo>
                  <a:pt x="628650" y="161925"/>
                </a:lnTo>
                <a:lnTo>
                  <a:pt x="838200" y="123825"/>
                </a:lnTo>
                <a:lnTo>
                  <a:pt x="1047750" y="76200"/>
                </a:lnTo>
                <a:lnTo>
                  <a:pt x="1257300" y="28575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7738" y="4987379"/>
            <a:ext cx="2147888" cy="12610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938712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4225" y="4987379"/>
            <a:ext cx="2147888" cy="12610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7315200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lnTo>
                  <a:pt x="514350" y="190500"/>
                </a:lnTo>
                <a:lnTo>
                  <a:pt x="762000" y="95250"/>
                </a:lnTo>
                <a:lnTo>
                  <a:pt x="1019175" y="19050"/>
                </a:lnTo>
                <a:lnTo>
                  <a:pt x="1276350" y="0"/>
                </a:lnTo>
                <a:lnTo>
                  <a:pt x="1524000" y="1905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10712" y="4987379"/>
            <a:ext cx="2147888" cy="12610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9691688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lnTo>
                  <a:pt x="514350" y="95250"/>
                </a:lnTo>
                <a:lnTo>
                  <a:pt x="762000" y="133350"/>
                </a:lnTo>
                <a:lnTo>
                  <a:pt x="1019174" y="171450"/>
                </a:lnTo>
                <a:lnTo>
                  <a:pt x="1276350" y="209550"/>
                </a:lnTo>
                <a:lnTo>
                  <a:pt x="1524000" y="2286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3400" y="6486525"/>
            <a:ext cx="357931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638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7061597" cy="607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86500"/>
            <a:ext cx="12346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899" y="6286500"/>
            <a:ext cx="4761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2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16361"/>
            <a:ext cx="6626423" cy="3106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86500"/>
            <a:ext cx="1817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956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8014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522446" cy="6308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477000" y="2286000"/>
            <a:ext cx="4953000" cy="66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477000" y="2590800"/>
            <a:ext cx="583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42984" y="24574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952750"/>
            <a:ext cx="4953000" cy="66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77000" y="3257550"/>
            <a:ext cx="55468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6857" y="31242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77000" y="3619500"/>
            <a:ext cx="4953000" cy="66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477000" y="3924300"/>
            <a:ext cx="6290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2984" y="37909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7000" y="4286250"/>
            <a:ext cx="4953000" cy="66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77000" y="4591050"/>
            <a:ext cx="107215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6857" y="44577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0" y="5257800"/>
            <a:ext cx="90026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8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5290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0990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1103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0990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1103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6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0532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357467" cy="5119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lnTo>
                  <a:pt x="0" y="41910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lnTo>
                  <a:pt x="419100" y="371475"/>
                </a:lnTo>
                <a:lnTo>
                  <a:pt x="209550" y="495300"/>
                </a:lnTo>
                <a:lnTo>
                  <a:pt x="0" y="371475"/>
                </a:lnTo>
                <a:lnTo>
                  <a:pt x="0" y="123825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8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2016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5438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67325"/>
            <a:ext cx="156165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86400"/>
            <a:ext cx="156165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7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797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15655"/>
            <a:ext cx="8363992" cy="157728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4895850"/>
            <a:ext cx="3376166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1817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2266950"/>
            <a:ext cx="114300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000" y="2543175"/>
            <a:ext cx="11430000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000" y="3067050"/>
            <a:ext cx="11430000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1000" y="3590925"/>
            <a:ext cx="11430000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4114800"/>
            <a:ext cx="11430000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1000" y="4638675"/>
            <a:ext cx="11430000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1000" y="5162550"/>
            <a:ext cx="11430000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12338" y="819150"/>
            <a:ext cx="1198662" cy="6265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0439400" y="5486400"/>
            <a:ext cx="1371600" cy="9144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04965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06299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07632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08966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10299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11633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1296650" y="55435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14300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15633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04965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06299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07632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108966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110299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111633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112966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11430000" y="56769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115633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SCHEMATIC / INGEST-PIPELINE / V0.4.1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70914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22 OF 27 // SHEET 1/1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40888" y="790575"/>
            <a:ext cx="114300" cy="1143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503991" y="968573"/>
            <a:ext cx="114300" cy="114300"/>
          </a:xfrm>
          <a:prstGeom prst="rect">
            <a:avLst/>
          </a:prstGeom>
          <a:solidFill>
            <a:srgbClr val="FF5722"/>
          </a:solidFill>
          <a:ln w="9525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81000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5116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7141" y="6410325"/>
            <a:ext cx="42386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rev 0.4.1 // commit a8f12c9 // by platform-core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22 — SCHEMATIC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981075"/>
            <a:ext cx="11430000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0A0A0A"/>
                </a:solidFill>
                <a:latin typeface="Consolas"/>
              </a:rPr>
              <a:t>INGEST → NORMALIZE →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Connector 25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Connector 38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66750" y="2537460"/>
            <a:ext cx="6915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[01] INGEST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edge-rx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" y="3116580"/>
            <a:ext cx="1037272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tcp/443 // 8 nodes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qps 38.6K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432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[02] QUEUE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432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kfk-buf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432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part 24 // r=3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432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lag 1.18K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43250" y="3459480"/>
            <a:ext cx="46101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HOLD 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19750" y="2537460"/>
            <a:ext cx="88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5722"/>
                </a:solidFill>
                <a:latin typeface="Consolas"/>
              </a:rPr>
              <a:t>[03] NORMALIZE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19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197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parse + dedupe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19750" y="328803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19750" y="34594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67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[04] STORE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86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cold-tbl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6750" y="311658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parquet // s3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86750" y="3288030"/>
            <a:ext cx="69151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2.4 TB / day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8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19750" y="4442460"/>
            <a:ext cx="56578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[05] SINK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19750" y="4705350"/>
            <a:ext cx="838200" cy="238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Consolas"/>
              </a:rPr>
              <a:t>obs-sink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19750" y="500253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log + metrics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19750" y="51739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TAP 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908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67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34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67500" y="40005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tap/01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19250" y="470535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5722"/>
                </a:solidFill>
                <a:latin typeface="Consolas"/>
              </a:rPr>
              <a:t>hot/01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1000" y="5886450"/>
            <a:ext cx="1143000" cy="457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4191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334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477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7620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876300" y="59245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9906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1049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2192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3335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4191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5334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477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7620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8763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9906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11049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1219200" y="60388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13335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4191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34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6477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7620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8763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9906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11049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12192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13335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90525" y="202882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42925" y="2162175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2925" y="303847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245644" y="202882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398044" y="2162175"/>
            <a:ext cx="6939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8044" y="303847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253162" y="216217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53162" y="303847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8955881" y="202882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9108281" y="216217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8281" y="303847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90525" y="3352800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42925" y="3486150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925" y="4429125"/>
            <a:ext cx="2540794" cy="1047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42925" y="4429125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11673" y="4429125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TAP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245644" y="3352800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398044" y="3486150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98044" y="4362450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6100762" y="3352800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6253162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53162" y="4362450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8955881" y="3352800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9108281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08281" y="4362450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390525" y="467677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542925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2925" y="568642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3245644" y="467677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3398044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98044" y="568642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00762" y="467677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/>
          <p:cNvSpPr txBox="1"/>
          <p:nvPr/>
        </p:nvSpPr>
        <p:spPr>
          <a:xfrm>
            <a:off x="6253162" y="4810125"/>
            <a:ext cx="7570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53162" y="568642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8955881" y="4676775"/>
            <a:ext cx="2855119" cy="1323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9108281" y="48101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08281" y="5686425"/>
            <a:ext cx="2540794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170914" y="847130"/>
            <a:ext cx="1640086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87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104203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10553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106870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1082040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109537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10871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112204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113538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114871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11620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564957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0" y="1762125"/>
            <a:ext cx="4572000" cy="7608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972300" y="1990725"/>
            <a:ext cx="228600" cy="9525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39000" y="2522934"/>
            <a:ext cx="4572000" cy="7608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72300" y="2751534"/>
            <a:ext cx="228600" cy="9525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39000" y="3283744"/>
            <a:ext cx="4572000" cy="7608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72300" y="3512344"/>
            <a:ext cx="228600" cy="9525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39000" y="4044553"/>
            <a:ext cx="4572000" cy="76080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72300" y="4273153"/>
            <a:ext cx="228600" cy="9525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00050" y="1771650"/>
            <a:ext cx="6819900" cy="238125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974" y="2228850"/>
            <a:ext cx="3375571" cy="43633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390525" y="1914525"/>
            <a:ext cx="114109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0525" y="215265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025" y="21526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2684" y="2238375"/>
            <a:ext cx="676706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77525" y="22098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0525" y="247650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025" y="24765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62684" y="2562225"/>
            <a:ext cx="676706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7525" y="25336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525" y="280035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28003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38995" y="2886075"/>
            <a:ext cx="699075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0525" y="312420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025" y="31242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8121" y="3209925"/>
            <a:ext cx="68416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7525" y="3181350"/>
            <a:ext cx="566203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0525" y="344805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2025" y="34480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38995" y="3533775"/>
            <a:ext cx="699075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77525" y="35052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0525" y="377190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2025" y="37719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4432" y="3857625"/>
            <a:ext cx="706531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7525" y="38290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90525" y="409575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2025" y="40957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3558" y="4181475"/>
            <a:ext cx="691619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77525" y="41529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0525" y="441960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2025" y="44196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3558" y="4505325"/>
            <a:ext cx="691619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77525" y="44767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0525" y="474345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2025" y="47434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13558" y="4829175"/>
            <a:ext cx="691619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0525" y="506730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2025" y="50673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62684" y="5153025"/>
            <a:ext cx="676706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0525" y="5391150"/>
            <a:ext cx="11410950" cy="3238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2025" y="53911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88121" y="5476875"/>
            <a:ext cx="68416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2025" y="57150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13558" y="5800725"/>
            <a:ext cx="691619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................................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44708" y="847130"/>
            <a:ext cx="1766292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000" y="2181225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1000" y="2628900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" y="3076575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1000" y="3524250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000" y="3971925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1000" y="4419600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000" y="4867275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1000" y="5314950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1000" y="5762625"/>
            <a:ext cx="11430000" cy="4476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68000" y="838200"/>
            <a:ext cx="1143000" cy="571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07251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108585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109918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11125200" y="8953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112585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113919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115252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116586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107251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108585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109918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111252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1258550" y="10287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113919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115252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116586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7251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8585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9918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11252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12585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3919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525250" y="11620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65860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90525" y="1952625"/>
            <a:ext cx="5143500" cy="403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581025" y="2124075"/>
            <a:ext cx="21449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8" name="Rectangle 7"/>
          <p:cNvSpPr/>
          <p:nvPr/>
        </p:nvSpPr>
        <p:spPr>
          <a:xfrm>
            <a:off x="581025" y="2381250"/>
            <a:ext cx="4752975" cy="14097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68469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1010444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252418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494393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736368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978342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2220317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462292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2704267" y="2667000"/>
            <a:ext cx="171450" cy="1714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946241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188216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3430191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672165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3914140" y="2667000"/>
            <a:ext cx="171450" cy="1714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4156115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4398089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4640064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4882039" y="2667000"/>
            <a:ext cx="171450" cy="1714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723900" y="3038475"/>
            <a:ext cx="2856161" cy="466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900" y="3533775"/>
            <a:ext cx="114300" cy="114300"/>
          </a:xfrm>
          <a:prstGeom prst="rect">
            <a:avLst/>
          </a:prstGeom>
          <a:solidFill>
            <a:srgbClr val="FAFAF9"/>
          </a:solidFill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1695" y="3533775"/>
            <a:ext cx="114300" cy="114300"/>
          </a:xfrm>
          <a:prstGeom prst="rect">
            <a:avLst/>
          </a:prstGeom>
          <a:solidFill>
            <a:srgbClr val="0066FF"/>
          </a:solidFill>
          <a:ln w="9525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39491" y="3533775"/>
            <a:ext cx="114300" cy="1143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581025" y="3981450"/>
            <a:ext cx="252338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1025" y="4238625"/>
            <a:ext cx="4752975" cy="6858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787519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992267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19701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401762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606510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811258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2016006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2220754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425502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2630249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2834997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303974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3244493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3449241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3653988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3858736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4063484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4268232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472980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677728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534025" y="1952625"/>
            <a:ext cx="62674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34025" y="2190750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4025" y="2505075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534025" y="2819400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34025" y="3133725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534025" y="3448050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34025" y="3762375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534025" y="4076700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534025" y="4391025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34025" y="4705350"/>
            <a:ext cx="626745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extBox 101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612338" y="847130"/>
            <a:ext cx="1198662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TextBox 125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7527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7527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45452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5F8C">
                  <a:alpha val="45000"/>
                </a:srgbClr>
              </a:gs>
              <a:gs pos="16667">
                <a:srgbClr val="1E5F8C">
                  <a:alpha val="37500"/>
                </a:srgbClr>
              </a:gs>
              <a:gs pos="33333">
                <a:srgbClr val="1E5F8C">
                  <a:alpha val="30000"/>
                </a:srgbClr>
              </a:gs>
              <a:gs pos="50000">
                <a:srgbClr val="1E5F8C">
                  <a:alpha val="22500"/>
                </a:srgbClr>
              </a:gs>
              <a:gs pos="66667">
                <a:srgbClr val="1E5F8C">
                  <a:alpha val="15000"/>
                </a:srgbClr>
              </a:gs>
              <a:gs pos="83333">
                <a:srgbClr val="1E5F8C">
                  <a:alpha val="7500"/>
                </a:srgbClr>
              </a:gs>
              <a:gs pos="100000">
                <a:srgbClr val="1E5F8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45452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4582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7045821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0050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914400" y="428625"/>
            <a:ext cx="50839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7507" y="428625"/>
            <a:ext cx="5624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6629" y="428625"/>
            <a:ext cx="61272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6054" y="428625"/>
            <a:ext cx="44961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2364" y="428625"/>
            <a:ext cx="71735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6416" y="428625"/>
            <a:ext cx="32712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28102" y="342900"/>
            <a:ext cx="777041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0" name="Freeform 19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762000" y="1619250"/>
            <a:ext cx="2813149" cy="295275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xfrm>
            <a:off x="866775" y="1733550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8700" y="1695450"/>
            <a:ext cx="116428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8232" y="1695450"/>
            <a:ext cx="11440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2085975"/>
            <a:ext cx="9278838" cy="25902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4890195"/>
            <a:ext cx="5666036" cy="770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762000" y="6055221"/>
            <a:ext cx="1720900" cy="438150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16250" y="6045696"/>
            <a:ext cx="1070502" cy="4572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26018" y="64436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30818" y="6381750"/>
            <a:ext cx="75158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1E5F8C">
                  <a:alpha val="45000"/>
                </a:srgbClr>
              </a:gs>
              <a:gs pos="16667">
                <a:srgbClr val="1E5F8C">
                  <a:alpha val="37500"/>
                </a:srgbClr>
              </a:gs>
              <a:gs pos="33333">
                <a:srgbClr val="1E5F8C">
                  <a:alpha val="30000"/>
                </a:srgbClr>
              </a:gs>
              <a:gs pos="50000">
                <a:srgbClr val="1E5F8C">
                  <a:alpha val="22500"/>
                </a:srgbClr>
              </a:gs>
              <a:gs pos="66667">
                <a:srgbClr val="1E5F8C">
                  <a:alpha val="15000"/>
                </a:srgbClr>
              </a:gs>
              <a:gs pos="83333">
                <a:srgbClr val="1E5F8C">
                  <a:alpha val="7500"/>
                </a:srgbClr>
              </a:gs>
              <a:gs pos="100000">
                <a:srgbClr val="1E5F8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62000" y="762000"/>
            <a:ext cx="2584549" cy="295275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6775" y="876300"/>
            <a:ext cx="66675" cy="66675"/>
          </a:xfrm>
          <a:prstGeom prst="roundRect">
            <a:avLst/>
          </a:prstGeom>
          <a:solidFill>
            <a:srgbClr val="06B6D4"/>
          </a:solidFill>
          <a:ln>
            <a:noFill/>
          </a:ln>
          <a:effectLst>
            <a:outerShdw blurRad="95250" dist="0" dir="0" algn="ctr" rotWithShape="0">
              <a:srgbClr val="06B6D4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62000" y="1162050"/>
            <a:ext cx="6479084" cy="97437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67768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25366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762000" y="2857500"/>
            <a:ext cx="3403550" cy="131641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62000" y="2857500"/>
            <a:ext cx="3403550" cy="2925366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762000" y="2857500"/>
            <a:ext cx="3403550" cy="2925366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1038225" y="3176588"/>
            <a:ext cx="12363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6926" y="3133725"/>
            <a:ext cx="602252" cy="2286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8225" y="3409950"/>
            <a:ext cx="2562969" cy="1162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8225" y="4617244"/>
            <a:ext cx="2484239" cy="358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Across </a:t>
            </a:r>
            <a:r>
              <a:rPr sz="1050" b="1" i="0" u="none">
                <a:solidFill>
                  <a:srgbClr val="E4E4E7"/>
                </a:solidFill>
                <a:latin typeface="Inter"/>
              </a:rPr>
              <a:t>14,200 deployments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 in 31 regions. p95 latency steady at 47ms.</a:t>
            </a:r>
          </a:p>
        </p:txBody>
      </p:sp>
      <p:sp>
        <p:nvSpPr>
          <p:cNvPr id="26" name="Freeform 25"/>
          <p:cNvSpPr/>
          <p:nvPr/>
        </p:nvSpPr>
        <p:spPr>
          <a:xfrm>
            <a:off x="1038225" y="5220891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lnTo>
                  <a:pt x="457200" y="190500"/>
                </a:lnTo>
                <a:lnTo>
                  <a:pt x="685800" y="209550"/>
                </a:lnTo>
                <a:lnTo>
                  <a:pt x="914400" y="152400"/>
                </a:lnTo>
                <a:lnTo>
                  <a:pt x="1143000" y="133350"/>
                </a:lnTo>
                <a:lnTo>
                  <a:pt x="1371600" y="95250"/>
                </a:lnTo>
                <a:lnTo>
                  <a:pt x="1600200" y="114300"/>
                </a:lnTo>
                <a:lnTo>
                  <a:pt x="1828800" y="57150"/>
                </a:lnTo>
                <a:lnTo>
                  <a:pt x="2057400" y="7620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25366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94150" y="2857500"/>
            <a:ext cx="3403550" cy="131641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94150" y="2857500"/>
            <a:ext cx="3403550" cy="2925366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94150" y="2857500"/>
            <a:ext cx="3403550" cy="2925366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 32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70375" y="3176588"/>
            <a:ext cx="12852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2139" y="3133725"/>
            <a:ext cx="599126" cy="2286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0375" y="3409950"/>
            <a:ext cx="2568029" cy="1162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0375" y="4617244"/>
            <a:ext cx="2713286" cy="358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Including </a:t>
            </a:r>
            <a:r>
              <a:rPr sz="1050" b="1" i="0" u="none">
                <a:solidFill>
                  <a:srgbClr val="E4E4E7"/>
                </a:solidFill>
                <a:latin typeface="Inter"/>
              </a:rPr>
              <a:t>312 of the Forbes 2000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. Net dollar retention of 137% YoY.</a:t>
            </a:r>
          </a:p>
        </p:txBody>
      </p:sp>
      <p:sp>
        <p:nvSpPr>
          <p:cNvPr id="39" name="Freeform 38"/>
          <p:cNvSpPr/>
          <p:nvPr/>
        </p:nvSpPr>
        <p:spPr>
          <a:xfrm>
            <a:off x="4670375" y="5220891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lnTo>
                  <a:pt x="457200" y="228600"/>
                </a:lnTo>
                <a:lnTo>
                  <a:pt x="685800" y="190500"/>
                </a:lnTo>
                <a:lnTo>
                  <a:pt x="914400" y="171450"/>
                </a:lnTo>
                <a:lnTo>
                  <a:pt x="1143000" y="152400"/>
                </a:lnTo>
                <a:lnTo>
                  <a:pt x="1371600" y="114300"/>
                </a:lnTo>
                <a:lnTo>
                  <a:pt x="1600200" y="95250"/>
                </a:lnTo>
                <a:lnTo>
                  <a:pt x="1828800" y="76200"/>
                </a:lnTo>
                <a:lnTo>
                  <a:pt x="2057400" y="5715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25366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26301" y="2857500"/>
            <a:ext cx="3403699" cy="131641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8026301" y="2857500"/>
            <a:ext cx="3403699" cy="2925366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26301" y="2857500"/>
            <a:ext cx="3403699" cy="2925366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8302526" y="3176588"/>
            <a:ext cx="136668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71113" y="3133725"/>
            <a:ext cx="514629" cy="2286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3409950"/>
            <a:ext cx="1472505" cy="1162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526" y="4617244"/>
            <a:ext cx="2799011" cy="3589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Zero customer-impacting incidents on the data plane. </a:t>
            </a:r>
            <a:r>
              <a:rPr sz="1050" b="1" i="0" u="none">
                <a:solidFill>
                  <a:srgbClr val="E4E4E7"/>
                </a:solidFill>
                <a:latin typeface="Inter"/>
              </a:rPr>
              <a:t>RTO &lt; 60s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 globally.</a:t>
            </a:r>
          </a:p>
        </p:txBody>
      </p:sp>
      <p:sp>
        <p:nvSpPr>
          <p:cNvPr id="52" name="Freeform 51"/>
          <p:cNvSpPr/>
          <p:nvPr/>
        </p:nvSpPr>
        <p:spPr>
          <a:xfrm>
            <a:off x="8302526" y="5249466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lnTo>
                  <a:pt x="457200" y="19050"/>
                </a:lnTo>
                <a:lnTo>
                  <a:pt x="685800" y="9525"/>
                </a:lnTo>
                <a:lnTo>
                  <a:pt x="914400" y="0"/>
                </a:lnTo>
                <a:lnTo>
                  <a:pt x="1143000" y="9525"/>
                </a:lnTo>
                <a:lnTo>
                  <a:pt x="1371600" y="9525"/>
                </a:lnTo>
                <a:lnTo>
                  <a:pt x="1600200" y="19050"/>
                </a:lnTo>
                <a:lnTo>
                  <a:pt x="1828800" y="9525"/>
                </a:lnTo>
                <a:lnTo>
                  <a:pt x="2057400" y="0"/>
                </a:lnTo>
                <a:lnTo>
                  <a:pt x="2286000" y="9525"/>
                </a:lnTo>
                <a:lnTo>
                  <a:pt x="2514600" y="9525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762000" y="6362700"/>
            <a:ext cx="33859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54568" y="642461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78418" y="6362700"/>
            <a:ext cx="75158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883051" y="609600"/>
            <a:ext cx="2425898" cy="295275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7826" y="723900"/>
            <a:ext cx="66675" cy="66675"/>
          </a:xfrm>
          <a:prstGeom prst="roundRect">
            <a:avLst/>
          </a:prstGeom>
          <a:solidFill>
            <a:srgbClr val="C084FC"/>
          </a:solidFill>
          <a:ln>
            <a:noFill/>
          </a:ln>
          <a:effectLst>
            <a:outerShdw blurRad="95250" dist="0" dir="0" algn="ctr" rotWithShape="0">
              <a:srgbClr val="C084FC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709738" y="1000125"/>
            <a:ext cx="8772376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571625"/>
            <a:ext cx="53340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0702" y="2166938"/>
            <a:ext cx="2870597" cy="352425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708327" y="2214562"/>
            <a:ext cx="833735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675412" y="2271712"/>
            <a:ext cx="1541562" cy="142875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438823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47725" y="2809875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3057525"/>
            <a:ext cx="704999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874" y="3390900"/>
            <a:ext cx="5201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648075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3943350"/>
            <a:ext cx="777041" cy="4000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725" y="45148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475" y="4526459"/>
            <a:ext cx="17316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" y="47815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475" y="4793159"/>
            <a:ext cx="1718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725" y="50482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475" y="5050334"/>
            <a:ext cx="127888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" y="53149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475" y="5317034"/>
            <a:ext cx="1654373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725" y="55816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475" y="5583734"/>
            <a:ext cx="106040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35" name="Rectangle 34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05500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847725" y="6010275"/>
            <a:ext cx="29625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238923" y="2438400"/>
            <a:ext cx="3714006" cy="42100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27018" y="2333625"/>
            <a:ext cx="834279" cy="219075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2695575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7048" y="2943225"/>
            <a:ext cx="1057424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1621" y="3276600"/>
            <a:ext cx="71407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77048" y="3533775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48" name="TextBox 47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29050"/>
            <a:ext cx="1206912" cy="381000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7048" y="4381500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62798" y="4393109"/>
            <a:ext cx="199013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77048" y="4648200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62798" y="4659809"/>
            <a:ext cx="234493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7048" y="4914900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62798" y="4926509"/>
            <a:ext cx="196289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7048" y="5181600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62798" y="5183684"/>
            <a:ext cx="2145209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77048" y="5448300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62798" y="5450384"/>
            <a:ext cx="1374428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77048" y="5715000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62798" y="5717084"/>
            <a:ext cx="2226171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61" name="Rectangle 6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38850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4477048" y="6143625"/>
            <a:ext cx="32377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143429" y="2552700"/>
            <a:ext cx="3438971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381554" y="2809875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554" y="3057525"/>
            <a:ext cx="2153989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1554" y="3648075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1554" y="3943350"/>
            <a:ext cx="977131" cy="40005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81554" y="45148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67304" y="4526459"/>
            <a:ext cx="221992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81554" y="47815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7304" y="4793159"/>
            <a:ext cx="235446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81554" y="50482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67304" y="5050334"/>
            <a:ext cx="1881485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81554" y="53149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67304" y="5317034"/>
            <a:ext cx="172209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81554" y="5581650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67304" y="5583734"/>
            <a:ext cx="1810792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81" name="Rectangle 8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05500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/>
          <p:cNvSpPr txBox="1"/>
          <p:nvPr/>
        </p:nvSpPr>
        <p:spPr>
          <a:xfrm>
            <a:off x="8381554" y="6010275"/>
            <a:ext cx="296272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9600" y="6496050"/>
            <a:ext cx="353883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29888" y="65579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10853738" y="6496050"/>
            <a:ext cx="72866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2317403" cy="29527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4375" y="571500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838200"/>
            <a:ext cx="5206752" cy="8867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3900" y="1087041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410852" y="-552532"/>
            <a:ext cx="6934408" cy="69344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163166" y="-552532"/>
            <a:ext cx="6934408" cy="69344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410852" y="2914672"/>
            <a:ext cx="6934408" cy="69344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163166" y="2914672"/>
            <a:ext cx="6934408" cy="693440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953149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171700"/>
            <a:ext cx="4467523" cy="4953149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904875" y="2466975"/>
            <a:ext cx="3876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>Inference Edge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904875" y="2466975"/>
            <a:ext cx="266700" cy="26670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0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1000125" y="2543175"/>
            <a:ext cx="76200" cy="1143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100000" y="25000"/>
                </a:lnTo>
                <a:lnTo>
                  <a:pt x="100000" y="75000"/>
                </a:lnTo>
                <a:lnTo>
                  <a:pt x="50000" y="100000"/>
                </a:lnTo>
                <a:lnTo>
                  <a:pt x="0" y="75000"/>
                </a:lnTo>
                <a:lnTo>
                  <a:pt x="0" y="2500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904875" y="2876550"/>
            <a:ext cx="2852142" cy="1938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" y="4957316"/>
            <a:ext cx="3205758" cy="7739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" y="6100316"/>
            <a:ext cx="3509814" cy="498872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2171700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5467648" y="2390775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Observability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5467648" y="2390775"/>
            <a:ext cx="266700" cy="26670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0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5562898" y="2486025"/>
            <a:ext cx="76200" cy="7620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5586710" y="2509838"/>
            <a:ext cx="28575" cy="28575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720286" y="2790825"/>
            <a:ext cx="2643039" cy="1548705"/>
          </a:xfrm>
          <a:prstGeom prst="rect">
            <a:avLst/>
          </a:prstGeom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9463236" y="4206180"/>
            <a:ext cx="8591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20286" y="2390775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Evals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20286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0286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Block deploys when quality regresses. Score: </a:t>
            </a:r>
            <a:r>
              <a:rPr sz="975" b="1" i="0" u="none">
                <a:solidFill>
                  <a:srgbClr val="E4E4E7"/>
                </a:solidFill>
                <a:latin typeface="Inter"/>
              </a:rPr>
              <a:t>F1, BLEU, custom rubric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>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76854" y="4087118"/>
            <a:ext cx="29646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3236" y="3968055"/>
            <a:ext cx="85918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52" name="Rounded Rectangle 5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38214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4295775"/>
            <a:ext cx="3081189" cy="1071964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248573" y="4295775"/>
            <a:ext cx="3081189" cy="2382143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48573" y="4295775"/>
            <a:ext cx="3081189" cy="2382143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5467648" y="4514850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Caching</a:t>
            </a:r>
          </a:p>
        </p:txBody>
      </p:sp>
      <p:sp>
        <p:nvSpPr>
          <p:cNvPr id="57" name="Rounded Rectangle 56"/>
          <p:cNvSpPr/>
          <p:nvPr/>
        </p:nvSpPr>
        <p:spPr>
          <a:gradFill flip="none" rotWithShape="1">
            <a:gsLst>
              <a:gs pos="0">
                <a:srgbClr val="FBBF24"/>
              </a:gs>
              <a:gs pos="16667">
                <a:srgbClr val="FFA813"/>
              </a:gs>
              <a:gs pos="33333">
                <a:srgbClr val="FF912A"/>
              </a:gs>
              <a:gs pos="50000">
                <a:srgbClr val="FF7B47"/>
              </a:gs>
              <a:gs pos="66667">
                <a:srgbClr val="FF6663"/>
              </a:gs>
              <a:gs pos="83333">
                <a:srgbClr val="FC557F"/>
              </a:gs>
              <a:gs pos="100000">
                <a:srgbClr val="EC4899"/>
              </a:gs>
            </a:gsLst>
            <a:lin ang="2700000" scaled="0"/>
          </a:gradFill>
          <a:xfrm>
            <a:off x="5467648" y="4514850"/>
            <a:ext cx="266700" cy="26670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0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 57"/>
          <p:cNvSpPr/>
          <p:nvPr/>
        </p:nvSpPr>
        <p:spPr>
          <a:xfrm>
            <a:off x="5562898" y="4610100"/>
            <a:ext cx="7620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  <a:moveTo>
                  <a:pt x="0" y="50000"/>
                </a:moveTo>
                <a:lnTo>
                  <a:pt x="100000" y="50000"/>
                </a:lnTo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648" y="5492055"/>
            <a:ext cx="2352973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Up to </a:t>
            </a:r>
            <a:r>
              <a:rPr sz="975" b="1" i="0" u="none">
                <a:solidFill>
                  <a:srgbClr val="E4E4E7"/>
                </a:solidFill>
                <a:latin typeface="Inter"/>
              </a:rPr>
              <a:t>78% cost reduction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repeat prompts. Auto-invalidates on schema drift.</a:t>
            </a:r>
          </a:p>
        </p:txBody>
      </p:sp>
      <p:sp>
        <p:nvSpPr>
          <p:cNvPr id="61" name="Rounded Rectangle 6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215062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297364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369397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431161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492776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544270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564809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585347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606034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626572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440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4295775"/>
            <a:ext cx="3081189" cy="91980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8501211" y="4295775"/>
            <a:ext cx="3081189" cy="20440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8501211" y="4295775"/>
            <a:ext cx="3081189" cy="20440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8720286" y="4514850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Guardrails</a:t>
            </a:r>
          </a:p>
        </p:txBody>
      </p:sp>
      <p:sp>
        <p:nvSpPr>
          <p:cNvPr id="76" name="Rounded Rectangle 7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720286" y="4514850"/>
            <a:ext cx="266700" cy="26670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0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reeform 76"/>
          <p:cNvSpPr/>
          <p:nvPr/>
        </p:nvSpPr>
        <p:spPr>
          <a:xfrm>
            <a:off x="8806011" y="4600575"/>
            <a:ext cx="95250" cy="857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50000" y="0"/>
                </a:lnTo>
                <a:lnTo>
                  <a:pt x="100000" y="10000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20286" y="5492055"/>
            <a:ext cx="2358926" cy="328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Drop-in moderation. </a:t>
            </a:r>
            <a:r>
              <a:rPr sz="975" b="1" i="0" u="none">
                <a:solidFill>
                  <a:srgbClr val="E4E4E7"/>
                </a:solidFill>
                <a:latin typeface="Inter"/>
              </a:rPr>
              <a:t>SOC 2 + HIPAA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>-ready, per-tenant rules.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720286" y="5844480"/>
            <a:ext cx="356704" cy="2190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60669" y="5844480"/>
            <a:ext cx="583699" cy="2190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7134" y="5844480"/>
            <a:ext cx="647905" cy="2190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20286" y="6120705"/>
            <a:ext cx="674150" cy="2190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600" y="6496050"/>
            <a:ext cx="320918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29888" y="65579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10853738" y="6496050"/>
            <a:ext cx="72866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609600"/>
            <a:ext cx="3164235" cy="295275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4375" y="723900"/>
            <a:ext cx="66675" cy="66675"/>
          </a:xfrm>
          <a:prstGeom prst="roundRect">
            <a:avLst/>
          </a:prstGeom>
          <a:solidFill>
            <a:srgbClr val="EC4899"/>
          </a:solidFill>
          <a:ln>
            <a:noFill/>
          </a:ln>
          <a:effectLst>
            <a:outerShdw blurRad="95250" dist="0" dir="0" algn="ctr" rotWithShape="0">
              <a:srgbClr val="EC4899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990600"/>
            <a:ext cx="683002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54604" y="1126778"/>
            <a:ext cx="21277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54604" y="1336328"/>
            <a:ext cx="21277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3419475"/>
            <a:ext cx="3005882" cy="1125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4714726"/>
            <a:ext cx="792380" cy="20002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8170" y="4714726"/>
            <a:ext cx="630357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275" y="5453062"/>
            <a:ext cx="15074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8275" y="5624512"/>
            <a:ext cx="15074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467" y="5491162"/>
            <a:ext cx="443931" cy="2381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370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 32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125" y="3419475"/>
            <a:ext cx="2961531" cy="889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5125" y="4478536"/>
            <a:ext cx="768897" cy="20002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4253" y="4478536"/>
            <a:ext cx="682847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38" name="TextBox 37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5675" y="5453062"/>
            <a:ext cx="132903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5675" y="5624512"/>
            <a:ext cx="13290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40476" y="5491162"/>
            <a:ext cx="438201" cy="2381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64401" y="2552700"/>
            <a:ext cx="3517999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3419475"/>
            <a:ext cx="2971651" cy="889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4478536"/>
            <a:ext cx="830289" cy="20002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39114" y="4478536"/>
            <a:ext cx="706278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52" name="TextBox 51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076" y="5453062"/>
            <a:ext cx="82971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93076" y="5624512"/>
            <a:ext cx="82971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41534" y="5491162"/>
            <a:ext cx="461428" cy="2381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96050"/>
            <a:ext cx="25601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529888" y="65579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10853738" y="6496050"/>
            <a:ext cx="72866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2A1A5E"/>
              </a:gs>
              <a:gs pos="22000">
                <a:srgbClr val="1E1B4B"/>
              </a:gs>
              <a:gs pos="45000">
                <a:srgbClr val="14102E"/>
              </a:gs>
              <a:gs pos="70000">
                <a:srgbClr val="0A0820"/>
              </a:gs>
              <a:gs pos="90000">
                <a:srgbClr val="050510"/>
              </a:gs>
              <a:gs pos="100000">
                <a:srgbClr val="050510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Freeform 11"/>
          <p:cNvSpPr/>
          <p:nvPr/>
        </p:nvSpPr>
        <p:spPr>
          <a:xfrm>
            <a:off x="762000" y="5143500"/>
            <a:ext cx="10668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6786" y="0"/>
                  <a:pt x="71429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571500" y="5524500"/>
            <a:ext cx="11049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7586" y="0"/>
                  <a:pt x="72414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52500" y="4762500"/>
            <a:ext cx="10287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5926" y="0"/>
                  <a:pt x="72222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626025" y="914400"/>
            <a:ext cx="2939951" cy="2952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0800" y="1028700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11430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973044" y="990600"/>
            <a:ext cx="4500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v4.7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626" y="1524000"/>
            <a:ext cx="11512748" cy="21030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0102" y="3667125"/>
            <a:ext cx="4851648" cy="4899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095155" y="4438650"/>
            <a:ext cx="1528762" cy="485775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5757267" y="4438650"/>
            <a:ext cx="2339578" cy="485775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9155" y="5286375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6262688" y="5286375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7322641" y="5286375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2571750" y="6053138"/>
            <a:ext cx="91782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0073" y="5981700"/>
            <a:ext cx="673075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9539" y="5981700"/>
            <a:ext cx="641486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8525" y="5981700"/>
            <a:ext cx="558831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8447" y="5981700"/>
            <a:ext cx="685967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1096" y="5981700"/>
            <a:ext cx="723919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607" y="5981700"/>
            <a:ext cx="1283494" cy="2667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2332" y="6086475"/>
            <a:ext cx="57150" cy="57150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7620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876300" y="6472238"/>
            <a:ext cx="47208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06968" y="65579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10830818" y="6496050"/>
            <a:ext cx="75158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609600" y="943868"/>
            <a:ext cx="10972800" cy="5456932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467279" y="1305818"/>
            <a:ext cx="9115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1276" y="1305818"/>
            <a:ext cx="7712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4928" y="1305818"/>
            <a:ext cx="7274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09600"/>
            <a:ext cx="2893516" cy="2952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019175"/>
            <a:ext cx="6584752" cy="4199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67279" y="943868"/>
            <a:ext cx="911572" cy="3143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1276" y="943868"/>
            <a:ext cx="771227" cy="3143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4928" y="943868"/>
            <a:ext cx="727472" cy="3143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8629" y="2943225"/>
            <a:ext cx="102334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843" y="2276475"/>
            <a:ext cx="67538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6419" y="2276475"/>
            <a:ext cx="297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4269" y="2276475"/>
            <a:ext cx="297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907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48850" y="21907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5300" y="31051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4269" y="3190875"/>
            <a:ext cx="297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1051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9969" y="3190875"/>
            <a:ext cx="297656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5745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9538" y="4105275"/>
            <a:ext cx="52238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85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745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530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315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885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6327" y="5419725"/>
            <a:ext cx="6012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0073" y="5424488"/>
            <a:ext cx="17100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1704" y="5419725"/>
            <a:ext cx="107007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257925"/>
            <a:ext cx="24531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56181" y="6262688"/>
            <a:ext cx="2262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23900" y="5676900"/>
            <a:ext cx="838200" cy="838200"/>
          </a:xfrm>
          <a:prstGeom prst="ellipse">
            <a:avLst/>
          </a:prstGeom>
          <a:solidFill>
            <a:srgbClr val="F7B2A2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10972800" y="609600"/>
            <a:ext cx="533400" cy="533400"/>
          </a:xfrm>
          <a:prstGeom prst="ellipse">
            <a:avLst/>
          </a:pr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6724650" y="666750"/>
            <a:ext cx="5124450" cy="5467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2342" y="3833"/>
                </a:moveTo>
                <a:cubicBezTo>
                  <a:pt x="56506" y="0"/>
                  <a:pt x="88104" y="10453"/>
                  <a:pt x="94052" y="31707"/>
                </a:cubicBezTo>
                <a:cubicBezTo>
                  <a:pt x="100000" y="52962"/>
                  <a:pt x="88104" y="69686"/>
                  <a:pt x="74721" y="81882"/>
                </a:cubicBezTo>
                <a:cubicBezTo>
                  <a:pt x="61338" y="94077"/>
                  <a:pt x="39777" y="100000"/>
                  <a:pt x="21933" y="92334"/>
                </a:cubicBezTo>
                <a:cubicBezTo>
                  <a:pt x="4089" y="84669"/>
                  <a:pt x="0" y="63066"/>
                  <a:pt x="6320" y="45645"/>
                </a:cubicBezTo>
                <a:cubicBezTo>
                  <a:pt x="12639" y="28223"/>
                  <a:pt x="8178" y="7666"/>
                  <a:pt x="32342" y="3833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6457950" y="2400300"/>
            <a:ext cx="2590800" cy="2743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147" y="9722"/>
                </a:moveTo>
                <a:cubicBezTo>
                  <a:pt x="52206" y="0"/>
                  <a:pt x="83824" y="13194"/>
                  <a:pt x="91912" y="38889"/>
                </a:cubicBezTo>
                <a:cubicBezTo>
                  <a:pt x="100000" y="64583"/>
                  <a:pt x="83088" y="87500"/>
                  <a:pt x="59559" y="93750"/>
                </a:cubicBezTo>
                <a:cubicBezTo>
                  <a:pt x="36029" y="100000"/>
                  <a:pt x="10294" y="89583"/>
                  <a:pt x="5147" y="66667"/>
                </a:cubicBezTo>
                <a:cubicBezTo>
                  <a:pt x="0" y="43750"/>
                  <a:pt x="8088" y="19444"/>
                  <a:pt x="30147" y="9722"/>
                </a:cubicBezTo>
                <a:close/>
              </a:path>
            </a:pathLst>
          </a:custGeom>
          <a:solidFill>
            <a:srgbClr val="E9C46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8115300" y="1695450"/>
            <a:ext cx="3028950" cy="3771900"/>
          </a:xfrm>
          <a:prstGeom prst="roundRect">
            <a:avLst/>
          </a:prstGeom>
          <a:solidFill>
            <a:srgbClr val="FEF6E8"/>
          </a:solidFill>
          <a:ln w="9525">
            <a:solidFill>
              <a:srgbClr val="2D1F1F">
                <a:alpha val="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8267700" y="1847850"/>
            <a:ext cx="2724150" cy="2095500"/>
          </a:xfrm>
          <a:prstGeom prst="round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10172700" y="2114550"/>
            <a:ext cx="419100" cy="419100"/>
          </a:xfrm>
          <a:prstGeom prst="ellipse">
            <a:avLst/>
          </a:prstGeom>
          <a:solidFill>
            <a:srgbClr val="E9C46A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8267700" y="3238500"/>
            <a:ext cx="2724150" cy="704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7027"/>
                </a:moveTo>
                <a:cubicBezTo>
                  <a:pt x="25175" y="0"/>
                  <a:pt x="47552" y="54054"/>
                  <a:pt x="74126" y="27027"/>
                </a:cubicBezTo>
                <a:cubicBezTo>
                  <a:pt x="88112" y="13514"/>
                  <a:pt x="95105" y="43243"/>
                  <a:pt x="100000" y="54054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8267700" y="4248150"/>
            <a:ext cx="1352550" cy="0"/>
          </a:xfrm>
          <a:prstGeom prst="line">
            <a:avLst/>
          </a:prstGeom>
          <a:ln w="9525">
            <a:solidFill>
              <a:srgbClr val="2D1F1F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14400" y="3486150"/>
            <a:ext cx="36385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143"/>
                </a:moveTo>
                <a:cubicBezTo>
                  <a:pt x="32461" y="0"/>
                  <a:pt x="63874" y="100000"/>
                  <a:pt x="100000" y="28571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5657850" y="1790700"/>
            <a:ext cx="704850" cy="819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324" y="9302"/>
                </a:moveTo>
                <a:cubicBezTo>
                  <a:pt x="64865" y="0"/>
                  <a:pt x="100000" y="30233"/>
                  <a:pt x="86486" y="65116"/>
                </a:cubicBezTo>
                <a:cubicBezTo>
                  <a:pt x="72973" y="100000"/>
                  <a:pt x="8108" y="93023"/>
                  <a:pt x="2703" y="51163"/>
                </a:cubicBezTo>
                <a:cubicBezTo>
                  <a:pt x="0" y="34884"/>
                  <a:pt x="2703" y="16279"/>
                  <a:pt x="24324" y="9302"/>
                </a:cubicBezTo>
                <a:close/>
              </a:path>
            </a:pathLst>
          </a:custGeom>
          <a:noFill/>
          <a:ln w="14288">
            <a:solidFill>
              <a:srgbClr val="264653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14400" y="1047750"/>
            <a:ext cx="533400" cy="361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895"/>
                </a:moveTo>
                <a:cubicBezTo>
                  <a:pt x="28571" y="0"/>
                  <a:pt x="75000" y="0"/>
                  <a:pt x="100000" y="36842"/>
                </a:cubicBezTo>
                <a:cubicBezTo>
                  <a:pt x="75000" y="84211"/>
                  <a:pt x="35714" y="100000"/>
                  <a:pt x="0" y="57895"/>
                </a:cubicBezTo>
                <a:close/>
              </a:path>
            </a:pathLst>
          </a:custGeom>
          <a:noFill/>
          <a:ln w="1428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52500" y="1181100"/>
            <a:ext cx="4762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2000" y="50000"/>
                  <a:pt x="68000" y="0"/>
                  <a:pt x="100000" y="0"/>
                </a:cubicBezTo>
              </a:path>
            </a:pathLst>
          </a:custGeom>
          <a:noFill/>
          <a:ln w="1143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8267700" y="4453890"/>
            <a:ext cx="102155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2D1F1F"/>
                </a:solidFill>
                <a:latin typeface="Source Serif Pro"/>
              </a:rPr>
              <a:t>Morning, no.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7700" y="5059680"/>
            <a:ext cx="138303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7A6A6A"/>
                </a:solidFill>
                <a:latin typeface="Inter"/>
              </a:rPr>
              <a:t>Photographed at low 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85800"/>
            <a:ext cx="217720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76F51"/>
                </a:solidFill>
                <a:latin typeface="Inter"/>
              </a:rPr>
              <a:t>A field guide for the unhurried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728662"/>
            <a:ext cx="57150" cy="5715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914400" y="2205484"/>
            <a:ext cx="4417070" cy="21228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100" b="1" i="0" u="none">
                <a:solidFill>
                  <a:srgbClr val="2D1F1F"/>
                </a:solidFill>
                <a:latin typeface="Source Serif Pro"/>
              </a:rPr>
              <a:t xml:space="preserve">A softer cadence for the </a:t>
            </a:r>
            <a:r>
              <a:rPr sz="5100" b="0" i="1" u="none">
                <a:solidFill>
                  <a:srgbClr val="264653"/>
                </a:solidFill>
                <a:latin typeface="Source Serif Pro"/>
              </a:rPr>
              <a:t>way you work</a:t>
            </a:r>
            <a:r>
              <a:rPr sz="51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67225"/>
            <a:ext cx="4191000" cy="801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4A3A3A"/>
                </a:solidFill>
                <a:latin typeface="Inter"/>
              </a:rPr>
              <a:t>The companion deck for teams that prefer the long breath. Six chapters, one ritual, no urgency. Begin wherever the morning finds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1250"/>
            <a:ext cx="295528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Spring edition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Volume 04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Made slowly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>
                <a:alpha val="6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553200" y="1082040"/>
            <a:ext cx="775335" cy="1762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102" b="1" i="1">
                <a:solidFill>
                  <a:srgbClr val="E9C46A"/>
                </a:solidFill>
                <a:latin typeface="Source Serif Pro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762000"/>
            <a:ext cx="1605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Chapter Two · Field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544687"/>
            <a:ext cx="3564582" cy="11166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2D1F1F"/>
                </a:solidFill>
                <a:latin typeface="Source Serif Pro"/>
              </a:rPr>
              <a:t xml:space="preserve">The morning we </a:t>
            </a:r>
            <a:r>
              <a:rPr sz="4050" b="0" i="1" u="none">
                <a:solidFill>
                  <a:srgbClr val="E76F51"/>
                </a:solidFill>
                <a:latin typeface="Source Serif Pro"/>
              </a:rPr>
              <a:t>stopped rushing</a:t>
            </a:r>
            <a:r>
              <a:rPr sz="40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362325"/>
            <a:ext cx="4565154" cy="1016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3A2A2A"/>
                </a:solidFill>
                <a:latin typeface="Inter"/>
              </a:rPr>
              <a:t xml:space="preserve">It started, as most quiet revolutions do, with a small refusal. We let the kettle whistle a moment longer. We sat where the light was thin, and we noticed it. The day, unhurried, agreed to begin </a:t>
            </a:r>
            <a:r>
              <a:rPr sz="1275" b="0" i="0" u="none">
                <a:solidFill>
                  <a:srgbClr val="264653"/>
                </a:solidFill>
                <a:latin typeface="Inter"/>
              </a:rPr>
              <a:t>with us, not despite us</a:t>
            </a:r>
            <a:r>
              <a:rPr sz="1275" b="0" i="0" u="none">
                <a:solidFill>
                  <a:srgbClr val="3A2A2A"/>
                </a:solidFill>
                <a:latin typeface="Inter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2038350"/>
            <a:ext cx="4114800" cy="13985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50" b="0" i="0" u="none">
                <a:solidFill>
                  <a:srgbClr val="264653"/>
                </a:solidFill>
                <a:latin typeface="Source Serif Pro"/>
              </a:rPr>
              <a:t>The pace of the work changed the moment we stopped negotiating with the clock.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3269754"/>
            <a:ext cx="4114800" cy="167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A6A6A"/>
                </a:solidFill>
                <a:latin typeface="Inter"/>
              </a:rPr>
              <a:t>— from the foreword, page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" y="6191250"/>
            <a:ext cx="167282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Read in 6 minutes · with tea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285750" y="266700"/>
            <a:ext cx="5619750" cy="2305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85" y="13223"/>
                </a:moveTo>
                <a:cubicBezTo>
                  <a:pt x="32203" y="0"/>
                  <a:pt x="72881" y="9091"/>
                  <a:pt x="86441" y="46281"/>
                </a:cubicBezTo>
                <a:cubicBezTo>
                  <a:pt x="100000" y="83471"/>
                  <a:pt x="86441" y="100000"/>
                  <a:pt x="55932" y="94215"/>
                </a:cubicBezTo>
                <a:cubicBezTo>
                  <a:pt x="25424" y="88430"/>
                  <a:pt x="0" y="79339"/>
                  <a:pt x="5085" y="13223"/>
                </a:cubicBezTo>
                <a:close/>
              </a:path>
            </a:pathLst>
          </a:custGeom>
          <a:solidFill>
            <a:srgbClr val="A78BF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239250" y="5334000"/>
            <a:ext cx="3048000" cy="2000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375" y="9524"/>
                </a:moveTo>
                <a:cubicBezTo>
                  <a:pt x="65625" y="0"/>
                  <a:pt x="93750" y="19048"/>
                  <a:pt x="96875" y="57143"/>
                </a:cubicBezTo>
                <a:cubicBezTo>
                  <a:pt x="100000" y="95238"/>
                  <a:pt x="65625" y="100000"/>
                  <a:pt x="34375" y="90476"/>
                </a:cubicBezTo>
                <a:cubicBezTo>
                  <a:pt x="3125" y="80952"/>
                  <a:pt x="0" y="47619"/>
                  <a:pt x="6875" y="24762"/>
                </a:cubicBezTo>
                <a:cubicBezTo>
                  <a:pt x="10625" y="13333"/>
                  <a:pt x="21875" y="13333"/>
                  <a:pt x="34375" y="9524"/>
                </a:cubicBezTo>
                <a:close/>
              </a:path>
            </a:pathLst>
          </a:custGeom>
          <a:solidFill>
            <a:srgbClr val="E9C46A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933450" y="2609850"/>
            <a:ext cx="1104900" cy="1104900"/>
          </a:xfrm>
          <a:prstGeom prst="ellipse">
            <a:avLst/>
          </a:prstGeom>
          <a:solidFill>
            <a:srgbClr val="F7B2A2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981450" y="3486150"/>
            <a:ext cx="1104900" cy="1104900"/>
          </a:xfrm>
          <a:prstGeom prst="ellipse">
            <a:avLst/>
          </a:prstGeom>
          <a:solidFill>
            <a:srgbClr val="2A9D8F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029450" y="2609850"/>
            <a:ext cx="1104900" cy="1104900"/>
          </a:xfrm>
          <a:prstGeom prst="ellipse">
            <a:avLst/>
          </a:prstGeom>
          <a:solidFill>
            <a:srgbClr val="A78BFA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734550" y="3486150"/>
            <a:ext cx="1104900" cy="1104900"/>
          </a:xfrm>
          <a:prstGeom prst="ellipse">
            <a:avLst/>
          </a:prstGeom>
          <a:solidFill>
            <a:srgbClr val="F4A261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48000" y="2762250"/>
            <a:ext cx="1066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3077"/>
                </a:moveTo>
                <a:cubicBezTo>
                  <a:pt x="35714" y="0"/>
                  <a:pt x="53571" y="100000"/>
                  <a:pt x="100000" y="90769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4095750" y="3829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115050" y="2819400"/>
            <a:ext cx="1066800" cy="1295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82353"/>
                </a:moveTo>
                <a:cubicBezTo>
                  <a:pt x="42857" y="100000"/>
                  <a:pt x="60714" y="0"/>
                  <a:pt x="100000" y="16176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7162800" y="2971800"/>
            <a:ext cx="152400" cy="171450"/>
          </a:xfrm>
          <a:custGeom>
            <a:avLst/>
            <a:gdLst/>
            <a:ahLst/>
            <a:cxnLst/>
            <a:rect l="l" t="t" r="r" b="b"/>
            <a:pathLst>
              <a:path w="152400" h="171450">
                <a:moveTo>
                  <a:pt x="0" y="0"/>
                </a:moveTo>
                <a:lnTo>
                  <a:pt x="152400" y="57150"/>
                </a:lnTo>
                <a:lnTo>
                  <a:pt x="19050" y="17145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63050" y="2895600"/>
            <a:ext cx="876300" cy="10096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6981"/>
                </a:moveTo>
                <a:cubicBezTo>
                  <a:pt x="52174" y="0"/>
                  <a:pt x="63043" y="100000"/>
                  <a:pt x="100000" y="100000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020300" y="38481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14400" y="1790700"/>
            <a:ext cx="3638550" cy="1143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66667"/>
                </a:moveTo>
                <a:cubicBezTo>
                  <a:pt x="32461" y="0"/>
                  <a:pt x="69110" y="100000"/>
                  <a:pt x="100000" y="33333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106150" y="1009650"/>
            <a:ext cx="266700" cy="266700"/>
          </a:xfrm>
          <a:prstGeom prst="ellipse">
            <a:avLst/>
          </a:prstGeom>
          <a:noFill/>
          <a:ln w="1524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1239500" y="8001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239500" y="14097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62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966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85800"/>
            <a:ext cx="1250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314700"/>
            <a:ext cx="2286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571875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899446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4191000"/>
            <a:ext cx="2286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4448175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4775746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0400" y="3314700"/>
            <a:ext cx="2286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571875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0400" y="3899446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600" y="4191000"/>
            <a:ext cx="190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600" y="4448175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3600" y="4775746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267450"/>
            <a:ext cx="154200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-381000"/>
            <a:ext cx="33337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286" y="6250"/>
                </a:moveTo>
                <a:cubicBezTo>
                  <a:pt x="48571" y="0"/>
                  <a:pt x="88571" y="21875"/>
                  <a:pt x="94286" y="53125"/>
                </a:cubicBezTo>
                <a:cubicBezTo>
                  <a:pt x="100000" y="84375"/>
                  <a:pt x="71429" y="100000"/>
                  <a:pt x="42857" y="91875"/>
                </a:cubicBezTo>
                <a:cubicBezTo>
                  <a:pt x="14286" y="83750"/>
                  <a:pt x="0" y="62500"/>
                  <a:pt x="571" y="37500"/>
                </a:cubicBezTo>
                <a:cubicBezTo>
                  <a:pt x="1143" y="21875"/>
                  <a:pt x="0" y="9375"/>
                  <a:pt x="14286" y="6250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620250" y="4953000"/>
            <a:ext cx="3048000" cy="2286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125" y="8333"/>
                </a:moveTo>
                <a:cubicBezTo>
                  <a:pt x="56250" y="0"/>
                  <a:pt x="87500" y="16667"/>
                  <a:pt x="93750" y="50000"/>
                </a:cubicBezTo>
                <a:cubicBezTo>
                  <a:pt x="100000" y="83333"/>
                  <a:pt x="78125" y="100000"/>
                  <a:pt x="53125" y="100000"/>
                </a:cubicBezTo>
                <a:cubicBezTo>
                  <a:pt x="28125" y="100000"/>
                  <a:pt x="6250" y="83333"/>
                  <a:pt x="3125" y="58333"/>
                </a:cubicBezTo>
                <a:cubicBezTo>
                  <a:pt x="0" y="33333"/>
                  <a:pt x="9375" y="25000"/>
                  <a:pt x="18750" y="18333"/>
                </a:cubicBezTo>
                <a:cubicBezTo>
                  <a:pt x="23750" y="15000"/>
                  <a:pt x="25000" y="11667"/>
                  <a:pt x="28125" y="8333"/>
                </a:cubicBezTo>
                <a:close/>
              </a:path>
            </a:pathLst>
          </a:custGeom>
          <a:solidFill>
            <a:srgbClr val="A78BFA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5219700" y="5429250"/>
            <a:ext cx="1447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211" y="7692"/>
                </a:moveTo>
                <a:cubicBezTo>
                  <a:pt x="73684" y="0"/>
                  <a:pt x="100000" y="23077"/>
                  <a:pt x="97368" y="53846"/>
                </a:cubicBezTo>
                <a:cubicBezTo>
                  <a:pt x="94737" y="84615"/>
                  <a:pt x="60526" y="100000"/>
                  <a:pt x="31579" y="89231"/>
                </a:cubicBezTo>
                <a:cubicBezTo>
                  <a:pt x="2632" y="78462"/>
                  <a:pt x="0" y="41538"/>
                  <a:pt x="13158" y="20000"/>
                </a:cubicBezTo>
                <a:cubicBezTo>
                  <a:pt x="19737" y="10769"/>
                  <a:pt x="26316" y="9231"/>
                  <a:pt x="34211" y="7692"/>
                </a:cubicBezTo>
                <a:close/>
              </a:path>
            </a:pathLst>
          </a:custGeom>
          <a:solidFill>
            <a:srgbClr val="E9C46A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409700" y="4933950"/>
            <a:ext cx="419100" cy="419100"/>
          </a:xfrm>
          <a:prstGeom prst="ellipse">
            <a:avLst/>
          </a:prstGeom>
          <a:solidFill>
            <a:srgbClr val="2A9D8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91800" y="1924050"/>
            <a:ext cx="342900" cy="342900"/>
          </a:xfrm>
          <a:prstGeom prst="ellipse">
            <a:avLst/>
          </a:prstGeom>
          <a:solidFill>
            <a:srgbClr val="F4A261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5524500" y="11049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28571"/>
                </a:cubicBezTo>
              </a:path>
            </a:pathLst>
          </a:custGeom>
          <a:noFill/>
          <a:ln w="1524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457450" y="4686300"/>
            <a:ext cx="304800" cy="266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750" y="64286"/>
                </a:moveTo>
                <a:cubicBezTo>
                  <a:pt x="0" y="35714"/>
                  <a:pt x="31250" y="0"/>
                  <a:pt x="50000" y="28571"/>
                </a:cubicBezTo>
                <a:cubicBezTo>
                  <a:pt x="68750" y="0"/>
                  <a:pt x="100000" y="35714"/>
                  <a:pt x="81250" y="64286"/>
                </a:cubicBezTo>
                <a:cubicBezTo>
                  <a:pt x="68750" y="85714"/>
                  <a:pt x="50000" y="100000"/>
                  <a:pt x="50000" y="100000"/>
                </a:cubicBezTo>
                <a:cubicBezTo>
                  <a:pt x="50000" y="100000"/>
                  <a:pt x="31250" y="85714"/>
                  <a:pt x="18750" y="64286"/>
                </a:cubicBezTo>
                <a:close/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7296150" y="4648200"/>
            <a:ext cx="400050" cy="38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000"/>
                </a:moveTo>
                <a:cubicBezTo>
                  <a:pt x="28571" y="0"/>
                  <a:pt x="80952" y="0"/>
                  <a:pt x="100000" y="40000"/>
                </a:cubicBezTo>
                <a:cubicBezTo>
                  <a:pt x="76190" y="85000"/>
                  <a:pt x="28571" y="100000"/>
                  <a:pt x="0" y="45000"/>
                </a:cubicBezTo>
                <a:close/>
              </a:path>
            </a:pathLst>
          </a:custGeom>
          <a:noFill/>
          <a:ln w="1428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7334250" y="4743450"/>
            <a:ext cx="3619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6842" y="50000"/>
                  <a:pt x="73684" y="0"/>
                  <a:pt x="100000" y="75000"/>
                </a:cubicBezTo>
              </a:path>
            </a:pathLst>
          </a:custGeom>
          <a:noFill/>
          <a:ln w="1143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4572000" y="4038600"/>
            <a:ext cx="30480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0000"/>
                </a:moveTo>
                <a:cubicBezTo>
                  <a:pt x="18750" y="0"/>
                  <a:pt x="37500" y="100000"/>
                  <a:pt x="56250" y="50000"/>
                </a:cubicBezTo>
                <a:cubicBezTo>
                  <a:pt x="75000" y="0"/>
                  <a:pt x="875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0" y="914400"/>
            <a:ext cx="1219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533900"/>
            <a:ext cx="3390900" cy="1552426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52700" y="4838700"/>
            <a:ext cx="2857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2700" y="5057775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2700" y="5385346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4533900"/>
            <a:ext cx="3390900" cy="1552426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315200" y="4838700"/>
            <a:ext cx="2857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057775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385346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466850" cy="3333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5" b="1" i="1">
                <a:solidFill>
                  <a:srgbClr val="F4A261"/>
                </a:solidFill>
                <a:latin typeface="Source Serif Pro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53700" y="3829050"/>
            <a:ext cx="628650" cy="1428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2" b="1" i="1">
                <a:solidFill>
                  <a:srgbClr val="E76F51"/>
                </a:solidFill>
                <a:latin typeface="Source Serif Pro"/>
              </a:rPr>
              <a:t>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2000"/>
            <a:ext cx="122247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In their own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2676525"/>
            <a:ext cx="8059489" cy="95011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
      It's the first tool that </a:t>
            </a:r>
            <a:r>
              <a:rPr sz="3150" b="1" i="1" u="none">
                <a:solidFill>
                  <a:srgbClr val="E76F51"/>
                </a:solidFill>
                <a:latin typeface="Source Serif Pro"/>
              </a:rPr>
              <a:t>didn't ask me to hurry</a:t>
            </a:r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 — and somehow, that's exactly when the work got better.
 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953000"/>
            <a:ext cx="995511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2D1F1F"/>
                </a:solidFill>
                <a:latin typeface="Source Serif Pro"/>
              </a:rPr>
              <a:t>Rae Okonkwo</a:t>
            </a:r>
          </a:p>
        </p:txBody>
      </p:sp>
      <p:sp>
        <p:nvSpPr>
          <p:cNvPr id="16" name="Oval 15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3681561" y="4981575"/>
            <a:ext cx="27250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A6A6A"/>
                </a:solidFill>
                <a:latin typeface="Inter"/>
              </a:rPr>
              <a:t>Studio lead, Two Pines · using us since 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6267450"/>
            <a:ext cx="123735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Conversation no. 09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239000" y="1524000"/>
            <a:ext cx="4191000" cy="4191000"/>
          </a:xfrm>
          <a:prstGeom prst="ellipse">
            <a:avLst/>
          </a:prstGeom>
          <a:solidFill>
            <a:srgbClr val="F7B2A2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7620000" y="1905000"/>
            <a:ext cx="3714750" cy="3409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6154" y="0"/>
                </a:moveTo>
                <a:cubicBezTo>
                  <a:pt x="79487" y="0"/>
                  <a:pt x="100000" y="26816"/>
                  <a:pt x="97436" y="51397"/>
                </a:cubicBezTo>
                <a:cubicBezTo>
                  <a:pt x="94872" y="75978"/>
                  <a:pt x="71795" y="100000"/>
                  <a:pt x="46154" y="98324"/>
                </a:cubicBezTo>
                <a:cubicBezTo>
                  <a:pt x="20513" y="96648"/>
                  <a:pt x="0" y="75419"/>
                  <a:pt x="513" y="50279"/>
                </a:cubicBezTo>
                <a:cubicBezTo>
                  <a:pt x="1026" y="25140"/>
                  <a:pt x="17436" y="0"/>
                  <a:pt x="46154" y="0"/>
                </a:cubicBezTo>
                <a:close/>
              </a:path>
            </a:pathLst>
          </a:custGeom>
          <a:noFill/>
          <a:ln w="13335">
            <a:solidFill>
              <a:srgbClr val="E76F51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0" y="571500"/>
            <a:ext cx="2095500" cy="1866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7273" y="10204"/>
                </a:moveTo>
                <a:cubicBezTo>
                  <a:pt x="59091" y="0"/>
                  <a:pt x="90909" y="20408"/>
                  <a:pt x="95455" y="51020"/>
                </a:cubicBezTo>
                <a:cubicBezTo>
                  <a:pt x="100000" y="81633"/>
                  <a:pt x="72727" y="100000"/>
                  <a:pt x="45455" y="94898"/>
                </a:cubicBezTo>
                <a:cubicBezTo>
                  <a:pt x="18182" y="89796"/>
                  <a:pt x="0" y="69388"/>
                  <a:pt x="3636" y="42857"/>
                </a:cubicBezTo>
                <a:cubicBezTo>
                  <a:pt x="6364" y="25510"/>
                  <a:pt x="13636" y="14286"/>
                  <a:pt x="27273" y="10204"/>
                </a:cubicBezTo>
                <a:close/>
              </a:path>
            </a:pathLst>
          </a:cu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000250" y="4857750"/>
            <a:ext cx="190500" cy="190500"/>
          </a:xfrm>
          <a:prstGeom prst="ellipse">
            <a:avLst/>
          </a:pr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105650" y="5810250"/>
            <a:ext cx="266700" cy="266700"/>
          </a:xfrm>
          <a:prstGeom prst="ellipse">
            <a:avLst/>
          </a:prstGeom>
          <a:solidFill>
            <a:srgbClr val="E9C46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1049000" y="5905500"/>
            <a:ext cx="381000" cy="381000"/>
          </a:xfrm>
          <a:prstGeom prst="ellipse">
            <a:avLst/>
          </a:prstGeom>
          <a:solidFill>
            <a:srgbClr val="9C89B8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371600" y="3943350"/>
            <a:ext cx="30099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30380" y="0"/>
                  <a:pt x="68354" y="100000"/>
                  <a:pt x="100000" y="25000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333500" y="5600700"/>
            <a:ext cx="3810000" cy="2286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5000" y="16667"/>
                  <a:pt x="30000" y="100000"/>
                  <a:pt x="50000" y="50000"/>
                </a:cubicBezTo>
                <a:cubicBezTo>
                  <a:pt x="70000" y="0"/>
                  <a:pt x="850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895600" y="4362450"/>
            <a:ext cx="952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5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9144000" y="3238500"/>
            <a:ext cx="8001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524" y="0"/>
                </a:moveTo>
                <a:cubicBezTo>
                  <a:pt x="23810" y="0"/>
                  <a:pt x="0" y="40000"/>
                  <a:pt x="23810" y="70000"/>
                </a:cubicBezTo>
                <a:cubicBezTo>
                  <a:pt x="47619" y="100000"/>
                  <a:pt x="95238" y="90000"/>
                  <a:pt x="100000" y="50000"/>
                </a:cubicBezTo>
                <a:cubicBezTo>
                  <a:pt x="69048" y="55000"/>
                  <a:pt x="52381" y="32500"/>
                  <a:pt x="59524" y="0"/>
                </a:cubicBezTo>
                <a:close/>
              </a:path>
            </a:pathLst>
          </a:custGeom>
          <a:solidFill>
            <a:srgbClr val="FEF6E8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333500" y="1028700"/>
            <a:ext cx="24227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4305300"/>
            <a:ext cx="139496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43575"/>
            <a:ext cx="781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2345" y="5743575"/>
            <a:ext cx="123586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5414" y="5743575"/>
            <a:ext cx="92184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1143000" y="3238500"/>
            <a:ext cx="2800350" cy="2819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408" y="13514"/>
                </a:moveTo>
                <a:cubicBezTo>
                  <a:pt x="51020" y="0"/>
                  <a:pt x="85034" y="13514"/>
                  <a:pt x="92517" y="40541"/>
                </a:cubicBezTo>
                <a:cubicBezTo>
                  <a:pt x="100000" y="67568"/>
                  <a:pt x="78231" y="91892"/>
                  <a:pt x="51020" y="95946"/>
                </a:cubicBezTo>
                <a:cubicBezTo>
                  <a:pt x="23810" y="100000"/>
                  <a:pt x="0" y="81081"/>
                  <a:pt x="680" y="55405"/>
                </a:cubicBezTo>
                <a:cubicBezTo>
                  <a:pt x="1361" y="40541"/>
                  <a:pt x="6803" y="23649"/>
                  <a:pt x="20408" y="13514"/>
                </a:cubicBezTo>
                <a:close/>
              </a:path>
            </a:pathLst>
          </a:cu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334500" y="-400050"/>
            <a:ext cx="3048000" cy="3219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250" y="592"/>
                </a:moveTo>
                <a:cubicBezTo>
                  <a:pt x="62500" y="6509"/>
                  <a:pt x="93750" y="30178"/>
                  <a:pt x="96875" y="56805"/>
                </a:cubicBezTo>
                <a:cubicBezTo>
                  <a:pt x="100000" y="83432"/>
                  <a:pt x="75000" y="100000"/>
                  <a:pt x="50000" y="95266"/>
                </a:cubicBezTo>
                <a:cubicBezTo>
                  <a:pt x="25000" y="90533"/>
                  <a:pt x="6250" y="77515"/>
                  <a:pt x="3125" y="58580"/>
                </a:cubicBezTo>
                <a:cubicBezTo>
                  <a:pt x="0" y="39645"/>
                  <a:pt x="9375" y="21893"/>
                  <a:pt x="18750" y="14793"/>
                </a:cubicBezTo>
                <a:cubicBezTo>
                  <a:pt x="23750" y="11243"/>
                  <a:pt x="26875" y="0"/>
                  <a:pt x="31250" y="592"/>
                </a:cubicBezTo>
                <a:close/>
              </a:path>
            </a:pathLst>
          </a:custGeom>
          <a:solidFill>
            <a:srgbClr val="E9C46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9715500" y="5524500"/>
            <a:ext cx="22860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2500"/>
                </a:moveTo>
                <a:cubicBezTo>
                  <a:pt x="66667" y="0"/>
                  <a:pt x="100000" y="25000"/>
                  <a:pt x="100000" y="62500"/>
                </a:cubicBezTo>
                <a:cubicBezTo>
                  <a:pt x="100000" y="100000"/>
                  <a:pt x="66667" y="100000"/>
                  <a:pt x="33333" y="87500"/>
                </a:cubicBezTo>
                <a:cubicBezTo>
                  <a:pt x="0" y="75000"/>
                  <a:pt x="0" y="25000"/>
                  <a:pt x="33333" y="12500"/>
                </a:cubicBezTo>
                <a:close/>
              </a:path>
            </a:pathLst>
          </a:custGeom>
          <a:solidFill>
            <a:srgbClr val="F7B2A2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162550" y="1295400"/>
            <a:ext cx="190500" cy="190500"/>
          </a:xfrm>
          <a:prstGeom prst="ellipse">
            <a:avLst/>
          </a:prstGeom>
          <a:solidFill>
            <a:srgbClr val="E76F5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162550" y="2228850"/>
            <a:ext cx="190500" cy="190500"/>
          </a:xfrm>
          <a:prstGeom prst="ellipse">
            <a:avLst/>
          </a:prstGeom>
          <a:solidFill>
            <a:srgbClr val="F4A26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62550" y="3162300"/>
            <a:ext cx="190500" cy="190500"/>
          </a:xfrm>
          <a:prstGeom prst="ellipse">
            <a:avLst/>
          </a:pr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162550" y="4095750"/>
            <a:ext cx="190500" cy="190500"/>
          </a:xfrm>
          <a:prstGeom prst="ellipse">
            <a:avLst/>
          </a:prstGeom>
          <a:solidFill>
            <a:srgbClr val="A78BF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162550" y="5029200"/>
            <a:ext cx="190500" cy="190500"/>
          </a:xfrm>
          <a:prstGeom prst="ellipse">
            <a:avLst/>
          </a:prstGeom>
          <a:solidFill>
            <a:srgbClr val="E9C46A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914400" y="1790700"/>
            <a:ext cx="30861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143"/>
                </a:moveTo>
                <a:cubicBezTo>
                  <a:pt x="32099" y="0"/>
                  <a:pt x="69136" y="100000"/>
                  <a:pt x="100000" y="28571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714500" y="2762250"/>
            <a:ext cx="723900" cy="781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316" y="12195"/>
                </a:moveTo>
                <a:cubicBezTo>
                  <a:pt x="65789" y="0"/>
                  <a:pt x="100000" y="24390"/>
                  <a:pt x="92105" y="60976"/>
                </a:cubicBezTo>
                <a:cubicBezTo>
                  <a:pt x="84211" y="97561"/>
                  <a:pt x="26316" y="100000"/>
                  <a:pt x="10526" y="70732"/>
                </a:cubicBezTo>
                <a:cubicBezTo>
                  <a:pt x="0" y="51220"/>
                  <a:pt x="5263" y="21951"/>
                  <a:pt x="26316" y="12195"/>
                </a:cubicBezTo>
                <a:close/>
              </a:path>
            </a:pathLst>
          </a:custGeom>
          <a:noFill/>
          <a:ln w="14288">
            <a:solidFill>
              <a:srgbClr val="264653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4400" y="3829050"/>
            <a:ext cx="25146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6667" y="10000"/>
                  <a:pt x="33333" y="100000"/>
                  <a:pt x="50000" y="50000"/>
                </a:cubicBezTo>
                <a:cubicBezTo>
                  <a:pt x="66667" y="0"/>
                  <a:pt x="81818" y="100000"/>
                  <a:pt x="100000" y="50000"/>
                </a:cubicBezTo>
              </a:path>
            </a:pathLst>
          </a:custGeom>
          <a:noFill/>
          <a:ln w="12382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14400" y="4229100"/>
            <a:ext cx="438150" cy="323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7059"/>
                </a:moveTo>
                <a:cubicBezTo>
                  <a:pt x="30435" y="0"/>
                  <a:pt x="78261" y="0"/>
                  <a:pt x="100000" y="41176"/>
                </a:cubicBezTo>
                <a:cubicBezTo>
                  <a:pt x="73913" y="82353"/>
                  <a:pt x="30435" y="100000"/>
                  <a:pt x="0" y="47059"/>
                </a:cubicBezTo>
                <a:close/>
              </a:path>
            </a:pathLst>
          </a:custGeom>
          <a:noFill/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52500" y="4305300"/>
            <a:ext cx="4000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333" y="50000"/>
                  <a:pt x="66667" y="0"/>
                  <a:pt x="100000" y="75000"/>
                </a:cubicBezTo>
              </a:path>
            </a:pathLst>
          </a:custGeom>
          <a:noFill/>
          <a:ln w="1047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4991100" y="1143000"/>
            <a:ext cx="114300" cy="438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0435"/>
                  <a:pt x="0" y="65217"/>
                  <a:pt x="66667" y="100000"/>
                </a:cubicBezTo>
              </a:path>
            </a:pathLst>
          </a:custGeom>
          <a:noFill/>
          <a:ln w="11430">
            <a:solidFill>
              <a:srgbClr val="2D1F1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4400" y="685800"/>
            <a:ext cx="108867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312664"/>
            <a:ext cx="4076551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1028700"/>
            <a:ext cx="1404045" cy="228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1306711"/>
            <a:ext cx="4104084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0" y="1727150"/>
            <a:ext cx="3094732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9300" y="2005161"/>
            <a:ext cx="3094732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2425601"/>
            <a:ext cx="4001244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9300" y="2703612"/>
            <a:ext cx="4001244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9300" y="3124051"/>
            <a:ext cx="1366986" cy="228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9300" y="3402062"/>
            <a:ext cx="4598045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9300" y="3822502"/>
            <a:ext cx="3890516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9300" y="4100512"/>
            <a:ext cx="3890516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267450"/>
            <a:ext cx="266938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22860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228600"/>
            <a:ext cx="34109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0975" y="228600"/>
            <a:ext cx="2111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038225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90712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71700"/>
            <a:ext cx="114300" cy="2308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71700"/>
            <a:ext cx="261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67325"/>
            <a:ext cx="23946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895475" y="2257425"/>
            <a:ext cx="85278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5400" y="2257425"/>
            <a:ext cx="64457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5475" y="5200650"/>
            <a:ext cx="44142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3386" y="5200650"/>
            <a:ext cx="56658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4" name="Oval 23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124575" y="2547640"/>
            <a:ext cx="52253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6" name="Oval 25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553075" y="2739628"/>
            <a:ext cx="4948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8" name="Oval 27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581775" y="2995761"/>
            <a:ext cx="3891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30" name="Oval 29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609975" y="2675632"/>
            <a:ext cx="4890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2" name="Oval 31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924175" y="3187750"/>
            <a:ext cx="49455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4" name="Oval 33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295775" y="3379738"/>
            <a:ext cx="450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6" name="Oval 35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5324475" y="4241602"/>
            <a:ext cx="505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8" name="Oval 37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6353175" y="4497586"/>
            <a:ext cx="3723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40" name="Oval 39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3152775" y="4753719"/>
            <a:ext cx="444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2" name="Oval 41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067175" y="4945707"/>
            <a:ext cx="3500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4" name="Oval 43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6391275" y="4945707"/>
            <a:ext cx="3225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45905" y="2028825"/>
            <a:ext cx="102364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0700" y="5467350"/>
            <a:ext cx="47357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27825" y="5467350"/>
            <a:ext cx="37787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90700" y="5657850"/>
            <a:ext cx="5715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10500" y="2427238"/>
            <a:ext cx="37719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11258252" y="2493913"/>
            <a:ext cx="324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10500" y="2703463"/>
            <a:ext cx="37719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1258252" y="2770138"/>
            <a:ext cx="324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10500" y="2979688"/>
            <a:ext cx="37719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11321802" y="3046363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255913"/>
            <a:ext cx="3771900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810500" y="3322588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21802" y="3322588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21802" y="3322588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10500" y="3532138"/>
            <a:ext cx="3771900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7810500" y="3598813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21802" y="3598813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21802" y="3598813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10500" y="3808363"/>
            <a:ext cx="3771900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7810500" y="3875038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21802" y="3875038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21802" y="3875038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10500" y="4084588"/>
            <a:ext cx="3771900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70" name="TextBox 69"/>
          <p:cNvSpPr txBox="1"/>
          <p:nvPr/>
        </p:nvSpPr>
        <p:spPr>
          <a:xfrm>
            <a:off x="7810500" y="4151263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58252" y="4151263"/>
            <a:ext cx="324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58252" y="4151263"/>
            <a:ext cx="324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09600" y="6248400"/>
            <a:ext cx="109728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22860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228600"/>
            <a:ext cx="34109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05045" y="228600"/>
            <a:ext cx="2177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047750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6716"/>
            <a:ext cx="83820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717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30505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552700"/>
            <a:ext cx="977503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552700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758553" y="2552700"/>
            <a:ext cx="855315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58553" y="2552700"/>
            <a:ext cx="114300" cy="1143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785318" y="2552700"/>
            <a:ext cx="983159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5318" y="2552700"/>
            <a:ext cx="114300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39927" y="2552700"/>
            <a:ext cx="979587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9927" y="2552700"/>
            <a:ext cx="114300" cy="1143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090964" y="2552700"/>
            <a:ext cx="421630" cy="114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90964" y="2552700"/>
            <a:ext cx="114300" cy="1143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09600" y="2819400"/>
            <a:ext cx="13303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6337" y="2819400"/>
            <a:ext cx="91276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299085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19125" y="300037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6087" y="300037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7735" y="300037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5564" y="3000375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61077" y="3000375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448050"/>
            <a:ext cx="163160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8896" y="3448050"/>
            <a:ext cx="92020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361950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19125" y="362902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2314" y="362902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8790" y="362902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0438" y="3629025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7258" y="3629025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17167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0070" y="4076700"/>
            <a:ext cx="8090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24815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619125" y="425767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1349" y="425767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30292" y="425767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768" y="4257675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7258" y="4257675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705350"/>
            <a:ext cx="68490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0070" y="4705350"/>
            <a:ext cx="8090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487680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619125" y="488632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92896" y="488632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7826" y="488632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19280" y="4886325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13588" y="4886325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276850"/>
            <a:ext cx="7429500" cy="180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09600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583109" y="5324475"/>
            <a:ext cx="5298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66975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413992" y="5324475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4350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4271367" y="5324475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81725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6128742" y="5324475"/>
            <a:ext cx="10596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39100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7917284" y="5324475"/>
            <a:ext cx="24363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9600" y="5629275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752475" y="5734050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2475" y="5886450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20100" y="2409825"/>
            <a:ext cx="3162300" cy="3148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8420100" y="2419350"/>
            <a:ext cx="3162300" cy="11477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43950" y="2950369"/>
            <a:ext cx="2834878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Mix shifts ~33 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ppts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end-to-end — from 28% in SMB to 61% in enterprise — tracking IT-team self-sufficiency more closely than absolute spend.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20100" y="3567112"/>
            <a:ext cx="3162300" cy="100444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743950" y="3937397"/>
            <a:ext cx="2734121" cy="460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Implementation plus managed services hold a combined 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53%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of SMB wallets, and have moved less than 200 bps in three years.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20100" y="4571554"/>
            <a:ext cx="3162300" cy="9870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43950" y="4941838"/>
            <a:ext cx="2651968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Mid-market buyers willing to fund 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10–11%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of wallet on enablement pay 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1.4×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the platform multiple of peers, on average.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9600" y="6248400"/>
            <a:ext cx="109728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22860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228600"/>
            <a:ext cx="34109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7552" y="228600"/>
            <a:ext cx="21148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047750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6716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171700"/>
            <a:ext cx="10972800" cy="5470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718792"/>
            <a:ext cx="10972800" cy="5863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2718792"/>
            <a:ext cx="2095500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Time to first release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" y="3031629"/>
            <a:ext cx="930622" cy="138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8450" y="2842617"/>
            <a:ext cx="3350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7775" y="2842617"/>
            <a:ext cx="335012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2842617"/>
            <a:ext cx="38978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6425" y="2842617"/>
            <a:ext cx="3350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09600" y="3305175"/>
            <a:ext cx="2095500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Three-year run-rate cost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8450" y="3429000"/>
            <a:ext cx="182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7775" y="3429000"/>
            <a:ext cx="338286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3429000"/>
            <a:ext cx="3382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425" y="3429000"/>
            <a:ext cx="2774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3867745"/>
            <a:ext cx="10972800" cy="56257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609600" y="3867745"/>
            <a:ext cx="2095500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Revenue uplift, year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8450" y="3991570"/>
            <a:ext cx="3137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57775" y="3991570"/>
            <a:ext cx="313730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3991570"/>
            <a:ext cx="3137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6425" y="3991570"/>
            <a:ext cx="3137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09600" y="4430316"/>
            <a:ext cx="2095500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Talent retention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8450" y="4554141"/>
            <a:ext cx="21937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7775" y="4554141"/>
            <a:ext cx="219373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77100" y="4554141"/>
            <a:ext cx="4357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96425" y="4554141"/>
            <a:ext cx="21937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4992886"/>
            <a:ext cx="10972800" cy="56257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609600" y="4992886"/>
            <a:ext cx="2095500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Governance burden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5100" y="4992886"/>
            <a:ext cx="2219325" cy="55304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283845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292417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300990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309562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318135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5777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14350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22922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31495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40067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7143750" y="4992886"/>
            <a:ext cx="2219325" cy="55304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727710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736282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744855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753427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762000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949642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958215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966787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975360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983932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609600" y="5555456"/>
            <a:ext cx="2095500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Vendor lock-in risk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05100" y="5555456"/>
            <a:ext cx="2219325" cy="55304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2838450" y="5660231"/>
            <a:ext cx="532209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5057775" y="5660231"/>
            <a:ext cx="532209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143750" y="5555456"/>
            <a:ext cx="2219325" cy="55304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/>
          <p:cNvSpPr txBox="1"/>
          <p:nvPr/>
        </p:nvSpPr>
        <p:spPr>
          <a:xfrm>
            <a:off x="7277100" y="5660231"/>
            <a:ext cx="552896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96425" y="5660231"/>
            <a:ext cx="522238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9600" y="6118027"/>
            <a:ext cx="10972800" cy="4079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742950" y="6241852"/>
            <a:ext cx="1225748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38450" y="6251377"/>
            <a:ext cx="3046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57775" y="6251377"/>
            <a:ext cx="304651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77100" y="6251377"/>
            <a:ext cx="3046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96425" y="6251377"/>
            <a:ext cx="3046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9600" y="6315075"/>
            <a:ext cx="1097280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897416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22860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228600"/>
            <a:ext cx="34109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3823" y="228600"/>
            <a:ext cx="242857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047750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6716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114550"/>
            <a:ext cx="10972800" cy="1156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295525"/>
            <a:ext cx="762000" cy="823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676525"/>
            <a:ext cx="76200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13918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96400" y="2295525"/>
            <a:ext cx="2286000" cy="823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477375" y="2276475"/>
            <a:ext cx="418356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7375" y="2628900"/>
            <a:ext cx="1981051" cy="254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7375" y="2937272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271093"/>
            <a:ext cx="10972800" cy="11534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3452068"/>
            <a:ext cx="762000" cy="8200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3833068"/>
            <a:ext cx="76200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452068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719661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167336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96400" y="3452068"/>
            <a:ext cx="2286000" cy="8200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9477375" y="3433018"/>
            <a:ext cx="418356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3785443"/>
            <a:ext cx="19902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3953917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4424511"/>
            <a:ext cx="10972800" cy="115341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4605486"/>
            <a:ext cx="762000" cy="8200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4986486"/>
            <a:ext cx="76200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60548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487307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5320754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4605486"/>
            <a:ext cx="2286000" cy="8200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9477375" y="4586436"/>
            <a:ext cx="479822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7375" y="4938861"/>
            <a:ext cx="1945928" cy="254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7375" y="5247233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577929"/>
            <a:ext cx="10972800" cy="11565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609600" y="5758904"/>
            <a:ext cx="762000" cy="823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139904"/>
            <a:ext cx="76200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5758904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45547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00200" y="6477298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96400" y="5758904"/>
            <a:ext cx="2286000" cy="823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477375" y="5739854"/>
            <a:ext cx="418356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77375" y="6092279"/>
            <a:ext cx="2018109" cy="254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7375" y="6400651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9600" y="6734473"/>
            <a:ext cx="10972800" cy="11629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754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22860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228600"/>
            <a:ext cx="34109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9893" y="228600"/>
            <a:ext cx="22025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047750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6716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90575" y="2314575"/>
            <a:ext cx="303415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7216" y="2486025"/>
            <a:ext cx="576114" cy="123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27216" y="2495550"/>
            <a:ext cx="104775" cy="1047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517630" y="2486025"/>
            <a:ext cx="544264" cy="123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17630" y="2495550"/>
            <a:ext cx="104775" cy="104775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7176195" y="2486025"/>
            <a:ext cx="700980" cy="123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6195" y="2486025"/>
            <a:ext cx="123825" cy="123825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59359" y="2824162"/>
            <a:ext cx="22651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4814" y="3295650"/>
            <a:ext cx="15106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4814" y="3767138"/>
            <a:ext cx="15106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4814" y="4238625"/>
            <a:ext cx="15106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422" y="4662488"/>
            <a:ext cx="504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62075" y="2771775"/>
            <a:ext cx="6515100" cy="1885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371600" y="3395067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FY24 base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184797" y="3218706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84797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Volume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2997994" y="2959745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97994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Price &amp; mix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3811191" y="2854672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1191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Cost-out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4624388" y="2854672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4388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FX &amp; CPI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437584" y="2907209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37584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Reinvest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250781" y="2922240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50781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063978" y="2922240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63978" y="4965502"/>
            <a:ext cx="813197" cy="2351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FY27 plan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409825"/>
            <a:ext cx="3352800" cy="45656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2714625"/>
            <a:ext cx="2207865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72475" y="2994571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8372475" y="3051721"/>
            <a:ext cx="2808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256764" y="3051721"/>
            <a:ext cx="182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86775" y="326127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372475" y="3404146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/>
          <p:cNvSpPr txBox="1"/>
          <p:nvPr/>
        </p:nvSpPr>
        <p:spPr>
          <a:xfrm>
            <a:off x="8372475" y="3461296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53639" y="3461296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3670846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72475" y="3813721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8372475" y="3870871"/>
            <a:ext cx="27440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192768" y="3870871"/>
            <a:ext cx="2467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86775" y="408042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72475" y="4223296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8372475" y="4280446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53639" y="4280446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86775" y="4489996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372475" y="4632871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/>
          <p:cNvSpPr txBox="1"/>
          <p:nvPr/>
        </p:nvSpPr>
        <p:spPr>
          <a:xfrm>
            <a:off x="8372475" y="4690021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253639" y="4690021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86775" y="489957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72475" y="5042446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8372475" y="5099596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253639" y="5099596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486775" y="5309146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372475" y="5452021"/>
            <a:ext cx="3067050" cy="2381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8372475" y="5509171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253639" y="5509171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86775" y="571872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72475" y="5918746"/>
            <a:ext cx="306705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8372475" y="6004471"/>
            <a:ext cx="2808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256764" y="6004471"/>
            <a:ext cx="182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372475" y="6261646"/>
            <a:ext cx="23712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72475" y="6575971"/>
            <a:ext cx="2908846" cy="2735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09600" y="6248400"/>
            <a:ext cx="109728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0972800" cy="3143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76300" y="338138"/>
            <a:ext cx="1043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4686" y="338138"/>
            <a:ext cx="13604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8961" y="338138"/>
            <a:ext cx="37034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914400"/>
            <a:ext cx="3555950" cy="5334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923925"/>
            <a:ext cx="203061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23825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390650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941016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857250" y="1945779"/>
            <a:ext cx="15893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971925"/>
            <a:ext cx="3317825" cy="5575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377630"/>
            <a:ext cx="33178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58060"/>
            <a:ext cx="3317825" cy="3641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70438"/>
            <a:ext cx="33178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750868"/>
            <a:ext cx="3317825" cy="3641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963245"/>
            <a:ext cx="33178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550" y="914400"/>
            <a:ext cx="70358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6550" y="1238250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6550" y="2530525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6550" y="3294311"/>
            <a:ext cx="7035850" cy="10572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4546550" y="3437186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46550" y="3637211"/>
            <a:ext cx="3365450" cy="200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4546550" y="3675311"/>
            <a:ext cx="1266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40985" y="3675311"/>
            <a:ext cx="2710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16801" y="3637211"/>
            <a:ext cx="3365599" cy="200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8216801" y="3675311"/>
            <a:ext cx="9987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11384" y="3675311"/>
            <a:ext cx="2710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46550" y="3894386"/>
            <a:ext cx="3365450" cy="200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546550" y="3932486"/>
            <a:ext cx="10839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40985" y="3932486"/>
            <a:ext cx="2710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16801" y="3894386"/>
            <a:ext cx="3365599" cy="200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216801" y="3932486"/>
            <a:ext cx="101902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11384" y="3932486"/>
            <a:ext cx="2710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46550" y="4151561"/>
            <a:ext cx="3365450" cy="200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546550" y="4189661"/>
            <a:ext cx="9986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40985" y="4189661"/>
            <a:ext cx="2710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16801" y="4151561"/>
            <a:ext cx="3365599" cy="200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8216801" y="4189661"/>
            <a:ext cx="1077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11384" y="4189661"/>
            <a:ext cx="2710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46550" y="5542657"/>
            <a:ext cx="7035850" cy="70574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89418" y="5828407"/>
            <a:ext cx="411659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9600" y="641985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609600" y="6524625"/>
            <a:ext cx="348540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62948" y="6524625"/>
            <a:ext cx="336024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4309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228600"/>
            <a:ext cx="109728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228600"/>
            <a:ext cx="341099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18613" y="228600"/>
            <a:ext cx="196378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9600" y="1047750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826716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076450"/>
            <a:ext cx="10972800" cy="29676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6923" y="2152650"/>
            <a:ext cx="453777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373213"/>
            <a:ext cx="10972800" cy="581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255895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" y="2458938"/>
            <a:ext cx="20955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AI-grounded reporting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" y="2630388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4700" y="257323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324225" y="2573238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381375" y="260181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53450" y="258752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2745" y="260181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31736" y="2601813"/>
            <a:ext cx="550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2954238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09600" y="308282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" y="3039963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Cross-tenant data lineage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" y="321141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4700" y="309711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324225" y="3097113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381375" y="312568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3450" y="311140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97827" y="3125688"/>
            <a:ext cx="40347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51232" y="3125688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3420963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09600" y="354955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5850" y="3506688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Sub-second reactivity at scale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5850" y="367813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14700" y="356383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324225" y="3563838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3381375" y="359241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3450" y="357812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2745" y="359241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51232" y="3592413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887688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09600" y="40162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5850" y="3973413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In-region data planes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5850" y="414486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4700" y="40305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3324225" y="4030563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3381375" y="405913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53450" y="404485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91725" y="4059138"/>
            <a:ext cx="409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56739" y="4059138"/>
            <a:ext cx="5256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4354413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09600" y="448300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" y="4440138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Workflow-grade orchestration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5850" y="461158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14700" y="449728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324225" y="4497288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3381375" y="452586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53450" y="451157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2745" y="452586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51232" y="4525863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600" y="4821138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609600" y="494972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5850" y="4906863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Granular usage metering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5850" y="507831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314700" y="496401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3324225" y="4964013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/>
          <p:cNvSpPr txBox="1"/>
          <p:nvPr/>
        </p:nvSpPr>
        <p:spPr>
          <a:xfrm>
            <a:off x="3381375" y="499258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53450" y="497830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52745" y="4992588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51232" y="4992588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5287863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609600" y="541645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5850" y="5373588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Edge-deployable runtimes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554503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543073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5430738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545931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53450" y="544502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2745" y="545931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51232" y="5459313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9600" y="5754588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609600" y="58831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5850" y="5840313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Per-row access policies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5850" y="601176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314700" y="58974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3324225" y="5897463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381375" y="592603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53450" y="591175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52745" y="5926038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31736" y="5926038"/>
            <a:ext cx="550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09600" y="6221313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609600" y="634990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5850" y="6307038"/>
            <a:ext cx="2095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First-class observability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5850" y="647848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314700" y="636418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3324225" y="6364188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3381375" y="639276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53450" y="637847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051703" y="6392763"/>
            <a:ext cx="3495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31736" y="6392763"/>
            <a:ext cx="550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9600" y="6688038"/>
            <a:ext cx="10972800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/>
          <p:cNvSpPr txBox="1"/>
          <p:nvPr/>
        </p:nvSpPr>
        <p:spPr>
          <a:xfrm>
            <a:off x="609600" y="6816626"/>
            <a:ext cx="342900" cy="41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5850" y="6773763"/>
            <a:ext cx="2095500" cy="842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Configurable retention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314700" y="683091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324225" y="6830913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8553450" y="6845201"/>
            <a:ext cx="857250" cy="127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TextBox 121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61698" y="485775"/>
            <a:ext cx="5634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91861" y="485775"/>
            <a:ext cx="9507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275" y="485775"/>
            <a:ext cx="4731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23950"/>
            <a:ext cx="30910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115050"/>
            <a:ext cx="51905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1315700" y="1905000"/>
            <a:ext cx="114300" cy="21100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77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04800" y="266700"/>
            <a:ext cx="1255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" y="6335316"/>
            <a:ext cx="5693122" cy="266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  <a:r>
              <a:rPr sz="825" b="0" i="1" u="none">
                <a:solidFill>
                  <a:srgbClr val="FFFFFF"/>
                </a:solidFill>
                <a:latin typeface="Inter Display"/>
              </a:rPr>
              <a:t xml:space="preserve">
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30654" y="661988"/>
            <a:ext cx="2645271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8325" y="609600"/>
            <a:ext cx="3778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23950"/>
            <a:ext cx="43434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371600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66083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494758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2800" y="4513808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7850" y="4979045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6061174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62800" y="6659017"/>
            <a:ext cx="43434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7162800" y="6801892"/>
            <a:ext cx="1958280" cy="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78802" y="6801892"/>
            <a:ext cx="1327398" cy="561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76250"/>
            <a:ext cx="183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89438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47077" y="476250"/>
            <a:ext cx="1635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19050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19050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276850"/>
            <a:ext cx="5257800" cy="1115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827734" y="5643562"/>
            <a:ext cx="148203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CE6D8"/>
                </a:solidFill>
                <a:latin typeface="Tiempos Headline"/>
              </a:rPr>
              <a:t>350m above the Bay of Fundy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657" y="6027241"/>
            <a:ext cx="91023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CFC3A8"/>
                </a:solidFill>
                <a:latin typeface="Tiempos Headline"/>
              </a:rPr>
              <a:t>the breathing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419725"/>
            <a:ext cx="5257800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19725"/>
            <a:ext cx="5257800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5276850"/>
            <a:ext cx="5257800" cy="1115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5419725"/>
            <a:ext cx="5257800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6524" y="6477000"/>
            <a:ext cx="81587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1679" y="385762"/>
            <a:ext cx="17194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72465" y="385762"/>
            <a:ext cx="90993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143000" y="5638800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771650" y="5572125"/>
            <a:ext cx="1144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7886" y="5572125"/>
            <a:ext cx="163160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410325"/>
            <a:ext cx="250180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4024" y="6410325"/>
            <a:ext cx="223971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36362" y="6410325"/>
            <a:ext cx="4460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195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27336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133475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3055590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5800725"/>
            <a:ext cx="2733675" cy="6762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33400" y="5943600"/>
            <a:ext cx="203715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086475"/>
            <a:ext cx="165541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6229350"/>
            <a:ext cx="12878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6372225"/>
            <a:ext cx="189874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457200"/>
            <a:ext cx="5086350" cy="29051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38600" y="533400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3181350"/>
            <a:ext cx="49339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Reykjavik — The atrium, 6:14am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457200"/>
            <a:ext cx="2476500" cy="2905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58300" y="533400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3181350"/>
            <a:ext cx="23241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Lisbon — 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400" y="3495675"/>
            <a:ext cx="2476500" cy="29051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38600" y="3571875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6219825"/>
            <a:ext cx="23241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Bay of Fundy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0" y="3495675"/>
            <a:ext cx="2476500" cy="29051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48450" y="3571875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8450" y="6219825"/>
            <a:ext cx="23241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Texture, copper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3495675"/>
            <a:ext cx="2476500" cy="138588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58300" y="3571875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8300" y="4700588"/>
            <a:ext cx="23241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Hanoi — alley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5014912"/>
            <a:ext cx="2476500" cy="138588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258300" y="5091112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8300" y="6219825"/>
            <a:ext cx="23241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Object — the watch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1277600" cy="5943600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1453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9647" y="638175"/>
            <a:ext cx="117544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8054" y="638175"/>
            <a:ext cx="271194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238250"/>
            <a:ext cx="186704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1447800"/>
            <a:ext cx="145896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2143125"/>
            <a:ext cx="5708749" cy="28780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3653" y="4661595"/>
            <a:ext cx="1016347" cy="895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30594" y="5534025"/>
            <a:ext cx="119940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143625"/>
            <a:ext cx="222840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7050" y="6143625"/>
            <a:ext cx="23456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9229" y="6143625"/>
            <a:ext cx="260077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B1020"/>
              </a:gs>
              <a:gs pos="7500">
                <a:srgbClr val="0D1328"/>
              </a:gs>
              <a:gs pos="15000">
                <a:srgbClr val="101730"/>
              </a:gs>
              <a:gs pos="22500">
                <a:srgbClr val="121A38"/>
              </a:gs>
              <a:gs pos="30000">
                <a:srgbClr val="151D40"/>
              </a:gs>
              <a:gs pos="37500">
                <a:srgbClr val="172148"/>
              </a:gs>
              <a:gs pos="45000">
                <a:srgbClr val="1A2451"/>
              </a:gs>
              <a:gs pos="54167">
                <a:srgbClr val="1B2A59"/>
              </a:gs>
              <a:gs pos="63333">
                <a:srgbClr val="1C3161"/>
              </a:gs>
              <a:gs pos="72500">
                <a:srgbClr val="1D386A"/>
              </a:gs>
              <a:gs pos="81667">
                <a:srgbClr val="1D3F72"/>
              </a:gs>
              <a:gs pos="90833">
                <a:srgbClr val="1C467A"/>
              </a:gs>
              <a:gs pos="100000">
                <a:srgbClr val="1A4D82"/>
              </a:gs>
            </a:gsLst>
            <a:lin ang="2700000" scaled="0"/>
          </a:gradFill>
          <a:xfrm>
            <a:off x="0" y="0"/>
            <a:ext cx="13011150" cy="73152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7700" y="533400"/>
            <a:ext cx="10287000" cy="172789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EEF3FF"/>
                </a:solidFill>
                <a:latin typeface="Inter"/>
              </a:rPr>
              <a:t>Operationally, this quarter validated a deliberate “native-first, raster-fallback” strategy for complex slides.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2527995"/>
            <a:ext cx="10858500" cy="6170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EEF3FF"/>
                </a:solidFill>
                <a:latin typeface="Inter"/>
              </a:rPr>
              <a:t>We improved deterministic wrapping across long phrases, numerals (123,456,789), symbols (&amp; + / %), and punctuation-heavy snippets—without sacrificing editability in PowerPoint.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3411736"/>
            <a:ext cx="3765500" cy="3370064"/>
          </a:xfrm>
          <a:prstGeom prst="round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  <a:effectLst>
            <a:outerShdw blurRad="266700" dist="114300" dir="5400000" algn="ctr" rotWithShape="0">
              <a:srgbClr val="040916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66775" y="3611761"/>
            <a:ext cx="33273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EEF3FF"/>
                </a:solidFill>
                <a:latin typeface="Inter"/>
              </a:rPr>
              <a:t>Fidelity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859411"/>
            <a:ext cx="3327350" cy="134838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EEF3FF"/>
                </a:solidFill>
                <a:latin typeface="Inter"/>
              </a:rPr>
              <a:t>93.4% average SSIM across stress scenarios with multi-line title/lede structures.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22750" y="3411736"/>
            <a:ext cx="3765500" cy="3370064"/>
          </a:xfrm>
          <a:prstGeom prst="round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  <a:effectLst>
            <a:outerShdw blurRad="266700" dist="114300" dir="5400000" algn="ctr" rotWithShape="0">
              <a:srgbClr val="040916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841825" y="3611761"/>
            <a:ext cx="33273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EEF3FF"/>
                </a:solidFill>
                <a:latin typeface="Inter"/>
              </a:rPr>
              <a:t>Editability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1825" y="3859411"/>
            <a:ext cx="3327350" cy="134838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EEF3FF"/>
                </a:solidFill>
                <a:latin typeface="Inter"/>
              </a:rPr>
              <a:t>88% of visible area emitted as native text/shape/table primitives.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7801" y="3411736"/>
            <a:ext cx="3765649" cy="3370064"/>
          </a:xfrm>
          <a:prstGeom prst="round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  <a:effectLst>
            <a:outerShdw blurRad="266700" dist="114300" dir="5400000" algn="ctr" rotWithShape="0">
              <a:srgbClr val="040916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816876" y="3611761"/>
            <a:ext cx="332749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EEF3FF"/>
                </a:solidFill>
                <a:latin typeface="Inter"/>
              </a:rPr>
              <a:t>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16876" y="3859411"/>
            <a:ext cx="3327499" cy="101128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EEF3FF"/>
                </a:solidFill>
                <a:latin typeface="Inter"/>
              </a:rPr>
              <a:t>1.7s median single-slide conversion at standard preview resolution.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