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embeddedFontLst>
    <p:embeddedFont>
      <p:font typeface="Tiempos" panose="02040603050405020304" charset="0"/>
      <p:regular r:id="rIdSlidifyFont1"/>
    </p:embeddedFont>
    <p:embeddedFont>
      <p:font typeface="Georgia" panose="02040603050405020304" charset="0"/>
      <p:regular r:id="rIdSlidifyFont2"/>
      <p:bold r:id="rIdSlidifyFont3"/>
      <p:italic r:id="rIdSlidifyFont4"/>
    </p:embeddedFont>
    <p:embeddedFont>
      <p:font typeface="IBM Plex Mono" panose="020B0609040504020204" charset="0"/>
      <p:regular r:id="rIdSlidifyFont5"/>
      <p:bold r:id="rIdSlidifyFont6"/>
    </p:embeddedFont>
    <p:embeddedFont>
      <p:font typeface="Bebas Neue" panose="020B0604020202020204" charset="0"/>
      <p:regular r:id="rIdSlidifyFont7"/>
      <p:bold r:id="rIdSlidifyFont8"/>
    </p:embeddedFont>
    <p:embeddedFont>
      <p:font typeface="Playfair Display" panose="02040603050405020304" charset="0"/>
      <p:regular r:id="rIdSlidifyFont9"/>
      <p:bold r:id="rIdSlidifyFont10"/>
      <p:italic r:id="rIdSlidifyFont11"/>
    </p:embeddedFont>
    <p:embeddedFont>
      <p:font typeface="Helvetica Neue" panose="020B0604020202020204" charset="0"/>
      <p:regular r:id="rIdSlidifyFont12"/>
      <p:bold r:id="rIdSlidifyFont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Relationship Id="rIdSlidifyFont11" Type="http://schemas.openxmlformats.org/officeDocument/2006/relationships/font" Target="fonts/font11.fntdata"/><Relationship Id="rIdSlidifyFont12" Type="http://schemas.openxmlformats.org/officeDocument/2006/relationships/font" Target="fonts/font12.fntdata"/><Relationship Id="rIdSlidifyFont13" Type="http://schemas.openxmlformats.org/officeDocument/2006/relationships/font" Target="fonts/font1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90913"/>
              </a:gs>
              <a:gs pos="70000">
                <a:srgbClr val="080813"/>
              </a:gs>
              <a:gs pos="77500">
                <a:srgbClr val="070712"/>
              </a:gs>
              <a:gs pos="85000">
                <a:srgbClr val="060611"/>
              </a:gs>
              <a:gs pos="92500">
                <a:srgbClr val="060611"/>
              </a:gs>
              <a:gs pos="100000">
                <a:srgbClr val="050510"/>
              </a:gs>
            </a:gsLst>
            <a:path path="circle">
              <a:fillToRect l="80000" t="12000" r="20000" b="88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762000" y="762000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19200" y="833438"/>
            <a:ext cx="948035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 xml:space="preserve">
              slidify 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· v1.0</a:t>
            </a:r>
            <a:r>
              <a:rPr sz="1350" b="1" i="0" u="none">
                <a:solidFill>
                  <a:srgbClr val="F5F5F7"/>
                </a:solidFill>
                <a:latin typeface="Inter"/>
              </a:rPr>
              <a:t xml:space="preserve">
 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6794" y="819150"/>
            <a:ext cx="1066540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● shipping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811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Q2 2026 ·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04950"/>
            <a:ext cx="7537549" cy="2724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900" b="1" i="0" u="none">
                <a:solidFill>
                  <a:srgbClr val="F5F5F7"/>
                </a:solidFill>
                <a:latin typeface="Inter"/>
              </a:rPr>
              <a:t xml:space="preserve">A compiler for </a:t>
            </a:r>
            <a:r>
              <a:rPr sz="69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presentations</a:t>
            </a:r>
            <a:r>
              <a:rPr sz="6900" b="1" i="0" u="none">
                <a:solidFill>
                  <a:srgbClr val="F5F5F7"/>
                </a:solidFill>
                <a:latin typeface="Inter"/>
              </a:rPr>
              <a:t>, not a screenshot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448175"/>
            <a:ext cx="7429500" cy="628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D4D4D8"/>
                </a:solidFill>
                <a:latin typeface="Inter"/>
              </a:rPr>
              <a:t xml:space="preserve">Render in Chromium. Cluster into visual units. Translate gradients,
            shadows, and shapes natively. Edit the result in PowerPoint as if a
            human authored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419725"/>
            <a:ext cx="1141800" cy="457200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0A0A0F"/>
                </a:solidFill>
                <a:latin typeface="Inter"/>
              </a:rPr>
              <a:t>Get the CLI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1912" y="5419725"/>
            <a:ext cx="149825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Watch the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953125"/>
            <a:ext cx="21717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INTERNAL · For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3303" y="5953125"/>
            <a:ext cx="214669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 · 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33475"/>
            <a:ext cx="10668000" cy="619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Atelier-v2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3822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Atoms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2828925"/>
            <a:ext cx="19431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571875"/>
            <a:ext cx="1215219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▲ +94 vs Wave-2A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76237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Native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2375" y="2790825"/>
            <a:ext cx="866924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87</a:t>
            </a:r>
            <a:r>
              <a:rPr sz="24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2375" y="3571875"/>
            <a:ext cx="745331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▲ +29.4%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8652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828925"/>
            <a:ext cx="19431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571875"/>
            <a:ext cx="667159" cy="2286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codegen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445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21067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Escape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2790825"/>
            <a:ext cx="1320403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0.12</a:t>
            </a:r>
            <a:r>
              <a:rPr sz="24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675" y="3571875"/>
            <a:ext cx="719733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▼ −2.1pp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714875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Inter"/>
              </a:rPr>
              <a:t>SOURCE · slidify telemetry · last 28 days · n = 1,284 deck conversions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Why slidify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63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Three reasons it lands.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057400"/>
            <a:ext cx="3403550" cy="1737122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1038225" y="2333625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38225" y="2828925"/>
            <a:ext cx="2851100" cy="219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Native shapes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105150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87% of slide area emits as editable PPTX primitives. No screenshots in PowerPoint.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4150" y="2057400"/>
            <a:ext cx="3403550" cy="1737122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10B981"/>
              </a:gs>
              <a:gs pos="16667">
                <a:srgbClr val="26BD78"/>
              </a:gs>
              <a:gs pos="33333">
                <a:srgbClr val="39C16D"/>
              </a:gs>
              <a:gs pos="50000">
                <a:srgbClr val="4CC561"/>
              </a:gs>
              <a:gs pos="66667">
                <a:srgbClr val="5FC851"/>
              </a:gs>
              <a:gs pos="83333">
                <a:srgbClr val="71CA3C"/>
              </a:gs>
              <a:gs pos="100000">
                <a:srgbClr val="84CC16"/>
              </a:gs>
            </a:gsLst>
            <a:lin ang="2700000" scaled="0"/>
          </a:gradFill>
          <a:xfrm>
            <a:off x="4670375" y="2333625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670375" y="2828925"/>
            <a:ext cx="2851100" cy="219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Round-trippable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105150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Every shape carries a recipe id. Edits in PowerPoint flow back to JSX.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6301" y="2057400"/>
            <a:ext cx="3403699" cy="1737122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gradFill flip="none" rotWithShape="1">
            <a:gsLst>
              <a:gs pos="0">
                <a:srgbClr val="F59E0B"/>
              </a:gs>
              <a:gs pos="16667">
                <a:srgbClr val="F79000"/>
              </a:gs>
              <a:gs pos="33333">
                <a:srgbClr val="F88100"/>
              </a:gs>
              <a:gs pos="50000">
                <a:srgbClr val="F87315"/>
              </a:gs>
              <a:gs pos="66667">
                <a:srgbClr val="F66327"/>
              </a:gs>
              <a:gs pos="83333">
                <a:srgbClr val="F35436"/>
              </a:gs>
              <a:gs pos="100000">
                <a:srgbClr val="EF4444"/>
              </a:gs>
            </a:gsLst>
            <a:lin ang="2700000" scaled="0"/>
          </a:gradFill>
          <a:xfrm>
            <a:off x="8302526" y="2333625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302526" y="2828925"/>
            <a:ext cx="2851249" cy="219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LLM-friendly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6" y="3105150"/>
            <a:ext cx="2851249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A pre-flight checker tells the model exactly what will and won't convert.</a:t>
            </a:r>
          </a:p>
        </p:txBody>
      </p:sp>
      <p:sp>
        <p:nvSpPr>
          <p:cNvPr id="17" name="TextBox 16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8C8BFB"/>
              </a:gs>
              <a:gs pos="33333">
                <a:srgbClr val="978AFC"/>
              </a:gs>
              <a:gs pos="50000">
                <a:srgbClr val="A188FD"/>
              </a:gs>
              <a:gs pos="66667">
                <a:srgbClr val="AC87FE"/>
              </a:gs>
              <a:gs pos="83333">
                <a:srgbClr val="B685FD"/>
              </a:gs>
              <a:gs pos="100000">
                <a:srgbClr val="C084FC"/>
              </a:gs>
            </a:gsLst>
            <a:lin ang="2700000" scaled="0"/>
          </a:gradFill>
          <a:xfrm>
            <a:off x="7620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AK</a:t>
            </a:r>
          </a:p>
        </p:txBody>
      </p:sp>
      <p:sp>
        <p:nvSpPr>
          <p:cNvPr id="18" name="TextBox 17"/>
          <p:cNvSpPr txBox="1"/>
          <p:nvPr/>
        </p:nvSpPr>
        <p:spPr>
          <a:gradFill flip="none" rotWithShape="1">
            <a:gsLst>
              <a:gs pos="0">
                <a:srgbClr val="10B981"/>
              </a:gs>
              <a:gs pos="16667">
                <a:srgbClr val="26BD78"/>
              </a:gs>
              <a:gs pos="33333">
                <a:srgbClr val="39C16D"/>
              </a:gs>
              <a:gs pos="50000">
                <a:srgbClr val="4CC561"/>
              </a:gs>
              <a:gs pos="66667">
                <a:srgbClr val="5FC851"/>
              </a:gs>
              <a:gs pos="83333">
                <a:srgbClr val="71CA3C"/>
              </a:gs>
              <a:gs pos="100000">
                <a:srgbClr val="84CC16"/>
              </a:gs>
            </a:gsLst>
            <a:lin ang="2700000" scaled="0"/>
          </a:gradFill>
          <a:xfrm>
            <a:off x="9906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BM</a:t>
            </a:r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F59E0B"/>
              </a:gs>
              <a:gs pos="16667">
                <a:srgbClr val="F79000"/>
              </a:gs>
              <a:gs pos="33333">
                <a:srgbClr val="F88100"/>
              </a:gs>
              <a:gs pos="50000">
                <a:srgbClr val="F87315"/>
              </a:gs>
              <a:gs pos="66667">
                <a:srgbClr val="F66327"/>
              </a:gs>
              <a:gs pos="83333">
                <a:srgbClr val="F35436"/>
              </a:gs>
              <a:gs pos="100000">
                <a:srgbClr val="EF4444"/>
              </a:gs>
            </a:gsLst>
            <a:lin ang="2700000" scaled="0"/>
          </a:gradFill>
          <a:xfrm>
            <a:off x="12192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CR</a:t>
            </a:r>
          </a:p>
        </p:txBody>
      </p:sp>
      <p:sp>
        <p:nvSpPr>
          <p:cNvPr id="20" name="TextBox 19"/>
          <p:cNvSpPr txBox="1"/>
          <p:nvPr/>
        </p:nvSpPr>
        <p:spPr>
          <a:gradFill flip="none" rotWithShape="1">
            <a:gsLst>
              <a:gs pos="0">
                <a:srgbClr val="3B82F6"/>
              </a:gs>
              <a:gs pos="16667">
                <a:srgbClr val="238DF3"/>
              </a:gs>
              <a:gs pos="33333">
                <a:srgbClr val="0097EE"/>
              </a:gs>
              <a:gs pos="50000">
                <a:srgbClr val="00A0E8"/>
              </a:gs>
              <a:gs pos="66667">
                <a:srgbClr val="00A8E2"/>
              </a:gs>
              <a:gs pos="83333">
                <a:srgbClr val="00B0DB"/>
              </a:gs>
              <a:gs pos="100000">
                <a:srgbClr val="06B6D4"/>
              </a:gs>
            </a:gsLst>
            <a:lin ang="2700000" scaled="0"/>
          </a:gradFill>
          <a:xfrm>
            <a:off x="14478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DV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400" y="4404122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5F5F7"/>
                </a:solidFill>
                <a:latin typeface="Inter"/>
              </a:rPr>
              <a:t>+12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485084"/>
            <a:ext cx="297001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Built by 16 designers + engineers across 4 timezones.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78BFA"/>
                </a:solidFill>
                <a:latin typeface="Inter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63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3600" b="1" i="0" u="none">
                <a:solidFill>
                  <a:srgbClr val="F5F5F7"/>
                </a:solidFill>
                <a:latin typeface="Inter"/>
              </a:rPr>
              <a:t>One PPTX per pitch.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14500"/>
            <a:ext cx="10668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 i="0" u="none">
                <a:solidFill>
                  <a:srgbClr val="A1A1AA"/>
                </a:solidFill>
                <a:latin typeface="Inter"/>
              </a:rPr>
              <a:t>Free for hobby decks. Pay when you ship to a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2343150"/>
            <a:ext cx="3403550" cy="355282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6325" y="2657475"/>
            <a:ext cx="27749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Hobby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952750"/>
            <a:ext cx="27749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552825"/>
            <a:ext cx="27749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981450"/>
            <a:ext cx="93612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50 slides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238625"/>
            <a:ext cx="64011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4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4495800"/>
            <a:ext cx="115163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Watermark on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924425"/>
            <a:ext cx="1264741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Choose Hobby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000" y="2247900"/>
            <a:ext cx="2755850" cy="3324225"/>
          </a:xfrm>
          <a:prstGeom prst="rect">
            <a:avLst/>
          </a:prstGeom>
          <a:solidFill>
            <a:srgbClr val="16162A"/>
          </a:solidFill>
          <a:effectLst>
            <a:outerShdw blurRad="571500" dist="228600" dir="5400000" algn="ctr" rotWithShape="0">
              <a:srgbClr val="A78BFA">
                <a:alpha val="20000"/>
              </a:srgbClr>
            </a:out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718000" y="399097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000" y="424815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000" y="450532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000" y="476250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000" y="2247900"/>
            <a:ext cx="781348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000" y="2667000"/>
            <a:ext cx="27558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000" y="2962275"/>
            <a:ext cx="2755850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$29</a:t>
            </a:r>
            <a:r>
              <a:rPr sz="1350" b="1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000" y="3562350"/>
            <a:ext cx="27558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per editor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8975" y="3990975"/>
            <a:ext cx="8672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Unlimited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8975" y="4248150"/>
            <a:ext cx="119747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All templates &amp; atoms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8975" y="4505325"/>
            <a:ext cx="77078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No watermark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8975" y="4762500"/>
            <a:ext cx="88776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PPTX round-trip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000" y="5191125"/>
            <a:ext cx="1053257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Choose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0626" y="2657475"/>
            <a:ext cx="2775049" cy="2905125"/>
          </a:xfrm>
          <a:prstGeom prst="rect">
            <a:avLst/>
          </a:prstGeom>
          <a:solidFill>
            <a:srgbClr val="0E0E1A"/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40626" y="398145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6" y="423862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0626" y="449580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626" y="475297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0626" y="2657475"/>
            <a:ext cx="27750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0626" y="2952750"/>
            <a:ext cx="2775049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$79</a:t>
            </a:r>
            <a:r>
              <a:rPr sz="1350" b="1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626" y="3552825"/>
            <a:ext cx="27750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per editor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1601" y="3981450"/>
            <a:ext cx="9429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Everything in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1601" y="4238625"/>
            <a:ext cx="125253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Brand atoms.yaml 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1601" y="4495800"/>
            <a:ext cx="122515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Slack &amp; Figma plugins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1601" y="4752975"/>
            <a:ext cx="26164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SSO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0626" y="5181600"/>
            <a:ext cx="1188393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Choose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522163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Internal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38225"/>
            <a:ext cx="522163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5F5F7"/>
                </a:solidFill>
                <a:latin typeface="Inter"/>
              </a:rPr>
              <a:t>Conversion health, last 28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1353" y="762000"/>
            <a:ext cx="500900" cy="3048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●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8657" y="762000"/>
            <a:ext cx="832247" cy="3048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28d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2256" y="762000"/>
            <a:ext cx="997744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Export PPTX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81175"/>
            <a:ext cx="5219700" cy="256222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00125" y="2019300"/>
            <a:ext cx="47434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Native ratio progression</a:t>
            </a:r>
          </a:p>
        </p:txBody>
      </p:sp>
      <p:sp>
        <p:nvSpPr>
          <p:cNvPr id="10" name="Freeform 9"/>
          <p:cNvSpPr/>
          <p:nvPr/>
        </p:nvSpPr>
        <p:spPr>
          <a:xfrm>
            <a:off x="1000125" y="2600325"/>
            <a:ext cx="4743450" cy="1047750"/>
          </a:xfrm>
          <a:custGeom>
            <a:avLst/>
            <a:gdLst/>
            <a:ahLst/>
            <a:cxnLst/>
            <a:rect l="l" t="t" r="r" b="b"/>
            <a:pathLst>
              <a:path w="4743450" h="1047750">
                <a:moveTo>
                  <a:pt x="0" y="1047750"/>
                </a:moveTo>
                <a:lnTo>
                  <a:pt x="527050" y="933450"/>
                </a:lnTo>
                <a:lnTo>
                  <a:pt x="1054100" y="819150"/>
                </a:lnTo>
                <a:lnTo>
                  <a:pt x="1581150" y="704850"/>
                </a:lnTo>
                <a:lnTo>
                  <a:pt x="2108200" y="533400"/>
                </a:lnTo>
                <a:lnTo>
                  <a:pt x="2635250" y="400050"/>
                </a:lnTo>
                <a:lnTo>
                  <a:pt x="3162300" y="361950"/>
                </a:lnTo>
                <a:lnTo>
                  <a:pt x="3689350" y="209550"/>
                </a:lnTo>
                <a:lnTo>
                  <a:pt x="4216400" y="95250"/>
                </a:lnTo>
                <a:lnTo>
                  <a:pt x="4743450" y="0"/>
                </a:lnTo>
              </a:path>
            </a:pathLst>
          </a:custGeom>
          <a:noFill/>
          <a:ln w="285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000125" y="2600325"/>
            <a:ext cx="4743450" cy="1238250"/>
          </a:xfrm>
          <a:custGeom>
            <a:avLst/>
            <a:gdLst/>
            <a:ahLst/>
            <a:cxnLst/>
            <a:rect l="l" t="t" r="r" b="b"/>
            <a:pathLst>
              <a:path w="4743450" h="1238250">
                <a:moveTo>
                  <a:pt x="0" y="1047750"/>
                </a:moveTo>
                <a:lnTo>
                  <a:pt x="527050" y="933450"/>
                </a:lnTo>
                <a:lnTo>
                  <a:pt x="1054100" y="819150"/>
                </a:lnTo>
                <a:lnTo>
                  <a:pt x="1581150" y="704850"/>
                </a:lnTo>
                <a:lnTo>
                  <a:pt x="2108200" y="533400"/>
                </a:lnTo>
                <a:lnTo>
                  <a:pt x="2635250" y="400050"/>
                </a:lnTo>
                <a:lnTo>
                  <a:pt x="3162300" y="361950"/>
                </a:lnTo>
                <a:lnTo>
                  <a:pt x="3689350" y="209550"/>
                </a:lnTo>
                <a:lnTo>
                  <a:pt x="4216400" y="95250"/>
                </a:lnTo>
                <a:lnTo>
                  <a:pt x="4743450" y="0"/>
                </a:lnTo>
                <a:lnTo>
                  <a:pt x="4743450" y="1238250"/>
                </a:lnTo>
                <a:lnTo>
                  <a:pt x="0" y="1238250"/>
                </a:lnTo>
              </a:path>
            </a:pathLst>
          </a:custGeom>
          <a:solidFill>
            <a:srgbClr val="A78BF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695950" y="2552700"/>
            <a:ext cx="95250" cy="9525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0125" y="3990975"/>
            <a:ext cx="1805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8376" y="3990975"/>
            <a:ext cx="16311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065" y="3990975"/>
            <a:ext cx="1979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4729" y="3990975"/>
            <a:ext cx="16906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3038" y="3990975"/>
            <a:ext cx="18648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Aug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7093" y="3990975"/>
            <a:ext cx="18648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Sep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781175"/>
            <a:ext cx="5219700" cy="256222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448425" y="2019300"/>
            <a:ext cx="47434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Coverage by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2314575"/>
            <a:ext cx="77286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Tier-0 (atoms)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3927" y="2314575"/>
            <a:ext cx="2479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91%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8425" y="2533650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448425" y="2533650"/>
            <a:ext cx="4316462" cy="76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448425" y="2743200"/>
            <a:ext cx="88314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Tier-1 (patterns)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43927" y="2743200"/>
            <a:ext cx="2479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78%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8425" y="2962275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448425" y="2962275"/>
            <a:ext cx="3699867" cy="7620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448425" y="3171825"/>
            <a:ext cx="95875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Tier-2 (heuristics)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3927" y="3171825"/>
            <a:ext cx="2479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42%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8425" y="3390900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448425" y="3390900"/>
            <a:ext cx="1992213" cy="762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448425" y="3600450"/>
            <a:ext cx="67657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Tier-3 (LLM)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2835" y="3600450"/>
            <a:ext cx="17904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8425" y="3819525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6448425" y="3819525"/>
            <a:ext cx="379363" cy="76200"/>
          </a:xfrm>
          <a:prstGeom prst="round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62000" y="4572000"/>
            <a:ext cx="10668000" cy="706189"/>
          </a:xfrm>
          <a:prstGeom prst="roundRect">
            <a:avLst/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62025" y="4733925"/>
            <a:ext cx="102679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CD34D"/>
                </a:solidFill>
                <a:latin typeface="Inter"/>
              </a:rPr>
              <a:t>Heads up: bento-cell contrast bumped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025" y="4924425"/>
            <a:ext cx="10267950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DE68A"/>
                </a:solidFill>
                <a:latin typeface="Inter"/>
              </a:rPr>
              <a:t>surf.bento-cell now defaults to surface-3 (#16162a) so cards are visible against the surface-1 slide background. Re-render decks compiled before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382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The people who shipped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38300"/>
            <a:ext cx="10668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A1A1AA"/>
                </a:solidFill>
                <a:latin typeface="Inter"/>
              </a:rPr>
              <a:t>Six full-time + two design partners. Distributed across four timezones.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219075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8C8BFB"/>
              </a:gs>
              <a:gs pos="33333">
                <a:srgbClr val="978AFC"/>
              </a:gs>
              <a:gs pos="50000">
                <a:srgbClr val="A188FD"/>
              </a:gs>
              <a:gs pos="66667">
                <a:srgbClr val="AC87FE"/>
              </a:gs>
              <a:gs pos="83333">
                <a:srgbClr val="B685FD"/>
              </a:gs>
              <a:gs pos="100000">
                <a:srgbClr val="C084FC"/>
              </a:gs>
            </a:gsLst>
            <a:lin ang="2700000" scaled="0"/>
          </a:gradFill>
          <a:xfrm>
            <a:off x="962025" y="239077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7825" y="2466975"/>
            <a:ext cx="74324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Avery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7825" y="2705100"/>
            <a:ext cx="7432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IR &amp; compiler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500" y="219075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gradFill flip="none" rotWithShape="1">
            <a:gsLst>
              <a:gs pos="0">
                <a:srgbClr val="10B981"/>
              </a:gs>
              <a:gs pos="16667">
                <a:srgbClr val="26BD78"/>
              </a:gs>
              <a:gs pos="33333">
                <a:srgbClr val="39C16D"/>
              </a:gs>
              <a:gs pos="50000">
                <a:srgbClr val="4CC561"/>
              </a:gs>
              <a:gs pos="66667">
                <a:srgbClr val="5FC851"/>
              </a:gs>
              <a:gs pos="83333">
                <a:srgbClr val="71CA3C"/>
              </a:gs>
              <a:gs pos="100000">
                <a:srgbClr val="84CC16"/>
              </a:gs>
            </a:gsLst>
            <a:lin ang="2700000" scaled="0"/>
          </a:gradFill>
          <a:xfrm>
            <a:off x="4581525" y="239077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7325" y="2466975"/>
            <a:ext cx="536674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Bo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7325" y="2705100"/>
            <a:ext cx="53667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Primitives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075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gradFill flip="none" rotWithShape="1">
            <a:gsLst>
              <a:gs pos="0">
                <a:srgbClr val="F59E0B"/>
              </a:gs>
              <a:gs pos="16667">
                <a:srgbClr val="F79000"/>
              </a:gs>
              <a:gs pos="33333">
                <a:srgbClr val="F88100"/>
              </a:gs>
              <a:gs pos="50000">
                <a:srgbClr val="F87315"/>
              </a:gs>
              <a:gs pos="66667">
                <a:srgbClr val="F66327"/>
              </a:gs>
              <a:gs pos="83333">
                <a:srgbClr val="F35436"/>
              </a:gs>
              <a:gs pos="100000">
                <a:srgbClr val="EF4444"/>
              </a:gs>
            </a:gsLst>
            <a:lin ang="2700000" scaled="0"/>
          </a:gradFill>
          <a:xfrm>
            <a:off x="8201025" y="239077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6825" y="2466975"/>
            <a:ext cx="543074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Cyn 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6825" y="2705100"/>
            <a:ext cx="54307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331470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3B82F6"/>
              </a:gs>
              <a:gs pos="16667">
                <a:srgbClr val="238DF3"/>
              </a:gs>
              <a:gs pos="33333">
                <a:srgbClr val="0097EE"/>
              </a:gs>
              <a:gs pos="50000">
                <a:srgbClr val="00A0E8"/>
              </a:gs>
              <a:gs pos="66667">
                <a:srgbClr val="00A8E2"/>
              </a:gs>
              <a:gs pos="83333">
                <a:srgbClr val="00B0DB"/>
              </a:gs>
              <a:gs pos="100000">
                <a:srgbClr val="06B6D4"/>
              </a:gs>
            </a:gsLst>
            <a:lin ang="2700000" scaled="0"/>
          </a:gradFill>
          <a:xfrm>
            <a:off x="962025" y="351472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DV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3590925"/>
            <a:ext cx="53682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Dev 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7825" y="3829050"/>
            <a:ext cx="53682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Harvester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1500" y="331470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gradFill flip="none" rotWithShape="1">
            <a:gsLst>
              <a:gs pos="0">
                <a:srgbClr val="EC4899"/>
              </a:gs>
              <a:gs pos="16667">
                <a:srgbClr val="E454B1"/>
              </a:gs>
              <a:gs pos="33333">
                <a:srgbClr val="DA5FC7"/>
              </a:gs>
              <a:gs pos="50000">
                <a:srgbClr val="CF6BD9"/>
              </a:gs>
              <a:gs pos="66667">
                <a:srgbClr val="C276E7"/>
              </a:gs>
              <a:gs pos="83333">
                <a:srgbClr val="B580F2"/>
              </a:gs>
              <a:gs pos="100000">
                <a:srgbClr val="A78BFA"/>
              </a:gs>
            </a:gsLst>
            <a:lin ang="2700000" scaled="0"/>
          </a:gradFill>
          <a:xfrm>
            <a:off x="4581525" y="351472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7325" y="3590925"/>
            <a:ext cx="82599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Eli 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7325" y="3829050"/>
            <a:ext cx="82599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PPTX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31470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gradFill flip="none" rotWithShape="1">
            <a:gsLst>
              <a:gs pos="0">
                <a:srgbClr val="84CC16"/>
              </a:gs>
              <a:gs pos="16667">
                <a:srgbClr val="78CB2B"/>
              </a:gs>
              <a:gs pos="33333">
                <a:srgbClr val="6BCA39"/>
              </a:gs>
              <a:gs pos="50000">
                <a:srgbClr val="5DC944"/>
              </a:gs>
              <a:gs pos="66667">
                <a:srgbClr val="4DC84E"/>
              </a:gs>
              <a:gs pos="83333">
                <a:srgbClr val="3BC756"/>
              </a:gs>
              <a:gs pos="100000">
                <a:srgbClr val="22C55E"/>
              </a:gs>
            </a:gsLst>
            <a:lin ang="2700000" scaled="0"/>
          </a:gradFill>
          <a:xfrm>
            <a:off x="8201025" y="351472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FW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6825" y="3590925"/>
            <a:ext cx="81200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Fia 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6825" y="3829050"/>
            <a:ext cx="81200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Design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28750" y="2871341"/>
            <a:ext cx="9334500" cy="111531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600" b="0" i="0" u="none">
                <a:solidFill>
                  <a:srgbClr val="F5F5F7"/>
                </a:solidFill>
                <a:latin typeface="Tiempos"/>
              </a:rPr>
              <a:t xml:space="preserve">Slidify is the first tool that actually understands what designers
        mean by “editable.”</a:t>
            </a:r>
          </a:p>
        </p:txBody>
      </p:sp>
      <p:sp>
        <p:nvSpPr>
          <p:cNvPr id="4" name="TextBox 3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9987F7"/>
              </a:gs>
              <a:gs pos="33333">
                <a:srgbClr val="AF81F1"/>
              </a:gs>
              <a:gs pos="50000">
                <a:srgbClr val="C37CE8"/>
              </a:gs>
              <a:gs pos="66667">
                <a:srgbClr val="D678DA"/>
              </a:gs>
              <a:gs pos="83333">
                <a:srgbClr val="E674CA"/>
              </a:gs>
              <a:gs pos="100000">
                <a:srgbClr val="F472B6"/>
              </a:gs>
            </a:gsLst>
            <a:lin ang="2700000" scaled="0"/>
          </a:gradFill>
          <a:xfrm>
            <a:off x="4129534" y="4367659"/>
            <a:ext cx="440308" cy="4572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 u="none">
                <a:solidFill>
                  <a:srgbClr val="0A0A0F"/>
                </a:solidFill>
                <a:latin typeface="Inter"/>
              </a:rPr>
              <a:t>DV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0084" y="4429571"/>
            <a:ext cx="190678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Dev 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084" y="4620071"/>
            <a:ext cx="19067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Design partner, Anonymous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3570" y="4481959"/>
            <a:ext cx="1117941" cy="228600"/>
          </a:xfrm>
          <a:prstGeom prst="rect">
            <a:avLst/>
          </a:prstGeom>
          <a:solidFill>
            <a:srgbClr val="A78BFA">
              <a:alpha val="18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 u="none">
                <a:solidFill>
                  <a:srgbClr val="C4B5FD"/>
                </a:solidFill>
                <a:latin typeface="Inter"/>
              </a:rPr>
              <a:t>Verified customer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2026 plan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382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00125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3201" y="2243138"/>
            <a:ext cx="692497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✓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990" y="2762250"/>
            <a:ext cx="97080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Atoms.yaml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990" y="3067050"/>
            <a:ext cx="86007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Codegen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990" y="3371850"/>
            <a:ext cx="78551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M3 primitives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6625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714750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7826" y="2243138"/>
            <a:ext cx="692497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✓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1615" y="2762250"/>
            <a:ext cx="563314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Atelier-v2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1615" y="3067050"/>
            <a:ext cx="78551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Preset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1615" y="3371850"/>
            <a:ext cx="80783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Harvester 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0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429375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5000" y="2243138"/>
            <a:ext cx="590755" cy="2286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in 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6240" y="2762250"/>
            <a:ext cx="956072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PPTX round-trip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6240" y="3067050"/>
            <a:ext cx="911572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Reverse-import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6240" y="3371850"/>
            <a:ext cx="60052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Cookbook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5875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144000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9625" y="2243138"/>
            <a:ext cx="590755" cy="2286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in 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0865" y="2762250"/>
            <a:ext cx="80798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PDF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0865" y="3067050"/>
            <a:ext cx="80069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Keynote XML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0865" y="3371850"/>
            <a:ext cx="76348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Figma plugin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6621" y="4181475"/>
            <a:ext cx="1835497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Subscribe to changelog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4518" y="4181475"/>
            <a:ext cx="1303213" cy="381000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Join the waitlist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90913"/>
              </a:gs>
              <a:gs pos="70000">
                <a:srgbClr val="080813"/>
              </a:gs>
              <a:gs pos="77500">
                <a:srgbClr val="070712"/>
              </a:gs>
              <a:gs pos="85000">
                <a:srgbClr val="060611"/>
              </a:gs>
              <a:gs pos="92500">
                <a:srgbClr val="060611"/>
              </a:gs>
              <a:gs pos="100000">
                <a:srgbClr val="050510"/>
              </a:gs>
            </a:gsLst>
            <a:path path="circle">
              <a:fillToRect l="80000" t="12000" r="20000" b="88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1343025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78BFA"/>
                </a:solidFill>
                <a:latin typeface="Inter"/>
              </a:rPr>
              <a:t>Get the slidify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14500"/>
            <a:ext cx="10668000" cy="19431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6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Ready to compile your next deck?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29050"/>
            <a:ext cx="6858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1500" b="0" i="0" u="none">
                <a:solidFill>
                  <a:srgbClr val="D4D4D8"/>
                </a:solidFill>
                <a:latin typeface="Inter"/>
              </a:rPr>
              <a:t>One curl. One command. Native PPTX out the other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8483" y="4457700"/>
            <a:ext cx="2520739" cy="4572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curl -fsSL https://slidify.sh/install | 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3295" y="4457700"/>
            <a:ext cx="1332533" cy="457200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0A0A0F"/>
                </a:solidFill>
                <a:latin typeface="Inter"/>
              </a:rPr>
              <a:t>Read the docs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4299" y="5372100"/>
            <a:ext cx="14226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71717A"/>
                </a:solidFill>
                <a:latin typeface="Inter"/>
              </a:rPr>
              <a:t>github.com/slidify/slidify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5547" y="5372100"/>
            <a:ext cx="84891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71717A"/>
                </a:solidFill>
                <a:latin typeface="Inter"/>
              </a:rPr>
              <a:t>· @slidify_dev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063" y="5372100"/>
            <a:ext cx="67463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71717A"/>
                </a:solidFill>
                <a:latin typeface="Inter"/>
              </a:rPr>
              <a:t>· slidify.dev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8200" y="609600"/>
            <a:ext cx="10515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Inter"/>
              </a:rPr>
              <a:t>The Upshot · Housing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57250"/>
            <a:ext cx="8763000" cy="107989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11111"/>
                </a:solidFill>
                <a:latin typeface="Georgia"/>
              </a:rPr>
              <a:t>Rents fell in just six of the country's fifty largest metros.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013347"/>
            <a:ext cx="7239000" cy="501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52525B"/>
                </a:solidFill>
                <a:latin typeface="Inter"/>
              </a:rPr>
              <a:t xml:space="preserve">Year-over-year change in median asking rent for a two-bedroom apartment,
        2024 → 2025. Bars below zero mark cities where renters caught a break.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858095"/>
            <a:ext cx="10515600" cy="2857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4286845"/>
            <a:ext cx="10515600" cy="9525"/>
          </a:xfrm>
          <a:prstGeom prst="rect">
            <a:avLst/>
          </a:prstGeom>
          <a:solidFill>
            <a:srgbClr val="111111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20585" y="4182070"/>
            <a:ext cx="133835" cy="114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30897" y="4124920"/>
            <a:ext cx="133835" cy="1714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41209" y="4086820"/>
            <a:ext cx="133835" cy="209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51521" y="4029670"/>
            <a:ext cx="133835" cy="266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061833" y="3972520"/>
            <a:ext cx="133835" cy="3238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72145" y="3915370"/>
            <a:ext cx="133835" cy="381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82457" y="3858220"/>
            <a:ext cx="133835" cy="4381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692769" y="3782020"/>
            <a:ext cx="133835" cy="514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03081" y="3705820"/>
            <a:ext cx="133835" cy="590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113393" y="3610570"/>
            <a:ext cx="133835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23705" y="3534370"/>
            <a:ext cx="133835" cy="762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34017" y="3458170"/>
            <a:ext cx="133835" cy="838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744329" y="3401020"/>
            <a:ext cx="133835" cy="895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954641" y="3610570"/>
            <a:ext cx="133835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164953" y="3667720"/>
            <a:ext cx="133835" cy="6286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375265" y="3743920"/>
            <a:ext cx="133835" cy="5524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585577" y="3820120"/>
            <a:ext cx="133835" cy="4762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95889" y="3877270"/>
            <a:ext cx="133835" cy="419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006201" y="3934420"/>
            <a:ext cx="133835" cy="3619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216513" y="3991570"/>
            <a:ext cx="133835" cy="304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426825" y="4029670"/>
            <a:ext cx="133835" cy="266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637137" y="4086820"/>
            <a:ext cx="133835" cy="209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847449" y="4124920"/>
            <a:ext cx="133835" cy="1714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057761" y="4163020"/>
            <a:ext cx="133835" cy="133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268073" y="4201120"/>
            <a:ext cx="133835" cy="952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478385" y="4220170"/>
            <a:ext cx="133835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688697" y="4296370"/>
            <a:ext cx="133835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899009" y="4296370"/>
            <a:ext cx="133835" cy="114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109321" y="4296370"/>
            <a:ext cx="133835" cy="1714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319633" y="4296370"/>
            <a:ext cx="133835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7529945" y="4296370"/>
            <a:ext cx="133835" cy="304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740257" y="4296370"/>
            <a:ext cx="133835" cy="4191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 39"/>
          <p:cNvCxnSpPr/>
          <p:nvPr/>
        </p:nvCxnSpPr>
        <p:spPr>
          <a:xfrm flipH="1">
            <a:off x="9824258" y="4829770"/>
            <a:ext cx="477982" cy="32385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273665" y="4801195"/>
            <a:ext cx="57150" cy="5715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8077200" y="5123259"/>
            <a:ext cx="2426345" cy="329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 u="none">
                <a:solidFill>
                  <a:srgbClr val="111111"/>
                </a:solidFill>
                <a:latin typeface="Georgia"/>
              </a:rPr>
              <a:t xml:space="preserve">
          Austin posted the steepest drop, −4.4%,</a:t>
            </a:r>
          </a:p>
          <a:p>
            <a:pPr algn="l"/>
            <a:r>
              <a:rPr sz="1050" b="0" i="1" u="none">
                <a:solidFill>
                  <a:srgbClr val="111111"/>
                </a:solidFill>
                <a:latin typeface="Georgia"/>
              </a:rPr>
              <a:t xml:space="preserve">
          after two straight years of double-digit gains.
  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5944195"/>
            <a:ext cx="282550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Source: Zillow Observed Rent Index, Jan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9859" y="5944195"/>
            <a:ext cx="29539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Note: Metros ordered by 12-month change. n=50.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342900"/>
            <a:ext cx="11277600" cy="676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342900"/>
            <a:ext cx="1889820" cy="52417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0A0A0A"/>
                </a:solidFill>
                <a:latin typeface="Bebas Neue"/>
              </a:rPr>
              <a:t>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5984" y="714673"/>
            <a:ext cx="171881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0A0A0A"/>
                </a:solidFill>
                <a:latin typeface="Playfair Display"/>
              </a:rPr>
              <a:t>Issue No. 04 · Spring 2026 · $14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FFFFFF">
                  <a:alpha val="12000"/>
                </a:srgbClr>
              </a:gs>
              <a:gs pos="9167">
                <a:srgbClr val="FFFFFF">
                  <a:alpha val="10000"/>
                </a:srgbClr>
              </a:gs>
              <a:gs pos="18333">
                <a:srgbClr val="FFFFFF">
                  <a:alpha val="8000"/>
                </a:srgbClr>
              </a:gs>
              <a:gs pos="27500">
                <a:srgbClr val="FFFFFF">
                  <a:alpha val="6000"/>
                </a:srgbClr>
              </a:gs>
              <a:gs pos="36667">
                <a:srgbClr val="FFFFFF">
                  <a:alpha val="4000"/>
                </a:srgbClr>
              </a:gs>
              <a:gs pos="45833">
                <a:srgbClr val="FFFFFF">
                  <a:alpha val="2000"/>
                </a:srgbClr>
              </a:gs>
              <a:gs pos="5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30000" t="35000" r="70000" b="65000"/>
            </a:path>
          </a:gradFill>
          <a:xfrm>
            <a:off x="6800850" y="1257300"/>
            <a:ext cx="4914900" cy="49149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29450" y="5254228"/>
            <a:ext cx="3201144" cy="7161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Bebas Neue"/>
              </a:rPr>
              <a:t>A NEW</a:t>
            </a:r>
          </a:p>
          <a:p>
            <a:pPr algn="l"/>
            <a:r>
              <a:rPr sz="2700" b="0" i="0" u="none">
                <a:solidFill>
                  <a:srgbClr val="FFFFFF"/>
                </a:solidFill>
                <a:latin typeface="Bebas Neue"/>
              </a:rPr>
              <a:t>EDITORIAL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9250"/>
            <a:ext cx="6477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0A0A0A"/>
                </a:solidFill>
                <a:latin typeface="Playfair Display"/>
              </a:rPr>
              <a:t>The cover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24025"/>
            <a:ext cx="8873728" cy="49062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800" b="1" i="0" u="none">
                <a:solidFill>
                  <a:srgbClr val="0A0A0A"/>
                </a:solidFill>
                <a:latin typeface="Bebas Neue"/>
              </a:rPr>
              <a:t xml:space="preserve">
          DESIGNED</a:t>
            </a:r>
          </a:p>
          <a:p>
            <a:pPr algn="l"/>
            <a:r>
              <a:rPr sz="13800" b="1" i="0" u="none">
                <a:solidFill>
                  <a:srgbClr val="0A0A0A"/>
                </a:solidFill>
                <a:latin typeface="Bebas Neue"/>
              </a:rPr>
              <a:t>FOR</a:t>
            </a:r>
          </a:p>
          <a:p>
            <a:pPr algn="l"/>
            <a:r>
              <a:rPr sz="13800" b="1" i="0" u="none">
                <a:solidFill>
                  <a:srgbClr val="FFFFFF"/>
                </a:solidFill>
                <a:latin typeface="Bebas Neue"/>
              </a:rPr>
              <a:t>EDITORS</a:t>
            </a:r>
            <a:r>
              <a:rPr sz="13800" b="1" i="0" u="none">
                <a:solidFill>
                  <a:srgbClr val="0A0A0A"/>
                </a:solidFill>
                <a:latin typeface="Bebas Neue"/>
              </a:rPr>
              <a:t xml:space="preserve">
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42720"/>
            <a:ext cx="11277600" cy="358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7200" y="6207472"/>
            <a:ext cx="10227171" cy="193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0A0A0A"/>
                </a:solidFill>
                <a:latin typeface="Playfair Display"/>
              </a:rPr>
              <a:t xml:space="preserve">Inside: how slidify rewrote the rules of editable presentations,
          why every shape matters, and the case for typographic restraint.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9171" y="6195120"/>
            <a:ext cx="745629" cy="20568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0A0A0A"/>
                </a:solidFill>
                <a:latin typeface="Bebas Neue"/>
              </a:rPr>
              <a:t>PP / 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E11D48">
                  <a:alpha val="30000"/>
                </a:srgbClr>
              </a:gs>
              <a:gs pos="10000">
                <a:srgbClr val="E11D48">
                  <a:alpha val="25000"/>
                </a:srgbClr>
              </a:gs>
              <a:gs pos="20000">
                <a:srgbClr val="E11D48">
                  <a:alpha val="20000"/>
                </a:srgbClr>
              </a:gs>
              <a:gs pos="30000">
                <a:srgbClr val="E11D48">
                  <a:alpha val="15000"/>
                </a:srgbClr>
              </a:gs>
              <a:gs pos="40000">
                <a:srgbClr val="E11D48">
                  <a:alpha val="10000"/>
                </a:srgbClr>
              </a:gs>
              <a:gs pos="50000">
                <a:srgbClr val="E11D48">
                  <a:alpha val="5000"/>
                </a:srgbClr>
              </a:gs>
              <a:gs pos="60000">
                <a:srgbClr val="E11D48">
                  <a:alpha val="0"/>
                </a:srgbClr>
              </a:gs>
              <a:gs pos="100000">
                <a:srgbClr val="E11D48">
                  <a:alpha val="0"/>
                </a:srgbClr>
              </a:gs>
            </a:gsLst>
            <a:path path="circle">
              <a:fillToRect l="30000" t="30000" r="70000" b="70000"/>
            </a:path>
          </a:gradFill>
          <a:xfrm>
            <a:off x="0" y="0"/>
            <a:ext cx="5833021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304800"/>
            <a:ext cx="2468463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ayfair Display"/>
              </a:rPr>
              <a:t>Photograph by — Studio Anonymous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4520208"/>
            <a:ext cx="5411837" cy="20166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100" b="0" i="0" u="none">
                <a:solidFill>
                  <a:srgbClr val="FFFFFF"/>
                </a:solidFill>
                <a:latin typeface="Bebas Neue"/>
              </a:rPr>
              <a:t>EDITORIAL</a:t>
            </a:r>
          </a:p>
          <a:p>
            <a:pPr algn="l"/>
            <a:r>
              <a:rPr sz="8100" b="0" i="0" u="none">
                <a:solidFill>
                  <a:srgbClr val="FFFFFF"/>
                </a:solidFill>
                <a:latin typeface="Bebas Neue"/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6534150"/>
            <a:ext cx="6096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85620" y="609600"/>
            <a:ext cx="527298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Playfair Display"/>
              </a:rPr>
              <a:t>Pages 24 —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620" y="866775"/>
            <a:ext cx="4821138" cy="1560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0A0A0A"/>
                </a:solidFill>
                <a:latin typeface="Bebas Neue"/>
              </a:rPr>
              <a:t>A QUIET REVOLUTION</a:t>
            </a:r>
          </a:p>
          <a:p>
            <a:pPr algn="l"/>
            <a:r>
              <a:rPr sz="4200" b="1" i="0" u="none">
                <a:solidFill>
                  <a:srgbClr val="0A0A0A"/>
                </a:solidFill>
                <a:latin typeface="Bebas Neue"/>
              </a:rPr>
              <a:t>IN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5620" y="2601962"/>
            <a:ext cx="457200" cy="19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385620" y="2849612"/>
            <a:ext cx="672852" cy="77033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200" b="0" i="0" u="none">
                <a:solidFill>
                  <a:srgbClr val="E11D48"/>
                </a:solidFill>
                <a:latin typeface="Bebas Neue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620" y="2849612"/>
            <a:ext cx="672852" cy="77033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200" b="0" i="0" u="none">
                <a:solidFill>
                  <a:srgbClr val="E11D48"/>
                </a:solidFill>
                <a:latin typeface="Bebas Neue"/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5620" y="4834682"/>
            <a:ext cx="62239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Playfair Display"/>
              </a:rPr>
              <a:t>A. KAPLAN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2819" y="4834682"/>
            <a:ext cx="5652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F3F46"/>
                </a:solidFill>
                <a:latin typeface="Playfair Display"/>
              </a:rPr>
              <a:t>4,200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2868" y="4834682"/>
            <a:ext cx="83805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F3F46"/>
                </a:solidFill>
                <a:latin typeface="Playfair Display"/>
              </a:rPr>
              <a:t>continued page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0" y="457200"/>
            <a:ext cx="11125200" cy="626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3548658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DOC · 2026.04.21 · REV-C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38175"/>
            <a:ext cx="3548658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SLIDIFY-EXEC // SPEC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8514" y="457200"/>
            <a:ext cx="1640086" cy="167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737373"/>
                </a:solidFill>
                <a:latin typeface="Consolas"/>
              </a:rPr>
              <a:t>part : SDX-V2-EXEC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8514" y="624780"/>
            <a:ext cx="1640086" cy="167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737373"/>
                </a:solidFill>
                <a:latin typeface="Consolas"/>
              </a:rPr>
              <a:t>maint: pixelpitch.dev/spec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9099" y="811411"/>
            <a:ext cx="100950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737373"/>
                </a:solidFill>
                <a:latin typeface="Consolas"/>
              </a:rPr>
              <a:t xml:space="preserve">cls  : </a:t>
            </a:r>
            <a:r>
              <a:rPr sz="825" b="0" i="0" u="none">
                <a:solidFill>
                  <a:srgbClr val="22D3EE"/>
                </a:solidFill>
                <a:latin typeface="Consolas"/>
              </a:rP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350466"/>
            <a:ext cx="562778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2D3EE"/>
                </a:solidFill>
                <a:latin typeface="Consolas"/>
              </a:rPr>
              <a:t>§ 01 · NOMINAL VALUES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69541"/>
          <a:ext cx="5627787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929"/>
                <a:gridCol w="1875929"/>
                <a:gridCol w="1875929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MASS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1.84 kg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± 0.02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MAX TORQUE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240 Nm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@ 4200 rpm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DRIVETRAIN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DUAL-AXIS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tier-0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THERMAL BAND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−40 → 95°C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rated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CYCLE LIFE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12,500 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MTBF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ENERGY DRAW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18.4 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nominal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PROTOCOL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rs-485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9600/8N1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275" y="4360366"/>
            <a:ext cx="5229969" cy="310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CC15"/>
                </a:solidFill>
                <a:latin typeface="Consolas"/>
              </a:rPr>
              <a:t>NOTE</a:t>
            </a:r>
            <a:r>
              <a:rPr sz="900" b="0" i="0" u="none">
                <a:solidFill>
                  <a:srgbClr val="737373"/>
                </a:solidFill>
                <a:latin typeface="Consolas"/>
              </a:rPr>
              <a:t xml:space="preserve"> · Values are derived from a
            full-load 28-day soak. Re-validate on stack rotation.
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187" y="1350466"/>
            <a:ext cx="511641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2D3EE"/>
                </a:solidFill>
                <a:latin typeface="Consolas"/>
              </a:rPr>
              <a:t>§ 02 · DIMENSIONED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7393" y="2331541"/>
            <a:ext cx="2286000" cy="1524000"/>
          </a:xfrm>
          <a:prstGeom prst="rect">
            <a:avLst/>
          </a:prstGeom>
          <a:noFill/>
          <a:ln w="14288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338393" y="2712541"/>
            <a:ext cx="1524000" cy="762000"/>
          </a:xfrm>
          <a:prstGeom prst="rect">
            <a:avLst/>
          </a:prstGeom>
          <a:noFill/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281243" y="3036391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9805243" y="3036391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16"/>
          <p:cNvCxnSpPr/>
          <p:nvPr/>
        </p:nvCxnSpPr>
        <p:spPr>
          <a:xfrm>
            <a:off x="7957393" y="2141041"/>
            <a:ext cx="2286000" cy="0"/>
          </a:xfrm>
          <a:prstGeom prst="line">
            <a:avLst/>
          </a:prstGeom>
          <a:ln w="76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7393" y="2093416"/>
            <a:ext cx="0" cy="9525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3393" y="2093416"/>
            <a:ext cx="0" cy="9525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33893" y="2331541"/>
            <a:ext cx="0" cy="1524000"/>
          </a:xfrm>
          <a:prstGeom prst="line">
            <a:avLst/>
          </a:prstGeom>
          <a:ln w="76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86268" y="2331541"/>
            <a:ext cx="95250" cy="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86268" y="3855541"/>
            <a:ext cx="95250" cy="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27515" y="1981021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E5E5E5"/>
                </a:solidFill>
                <a:latin typeface="Consolas"/>
              </a:rPr>
              <a:t>240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6768" y="3047821"/>
            <a:ext cx="172879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>
                <a:solidFill>
                  <a:srgbClr val="E5E5E5"/>
                </a:solidFill>
                <a:latin typeface="Consolas"/>
              </a:rPr>
              <a:t>160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4131" y="4160341"/>
            <a:ext cx="115252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737373"/>
                </a:solidFill>
                <a:latin typeface="Consolas"/>
              </a:rPr>
              <a:t>FIG-A · TOP VIEW · 1:2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105102"/>
            <a:ext cx="111252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33400" y="5209877"/>
            <a:ext cx="2830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PIXELPITCH ENG · INTERNAL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0175" y="5209877"/>
            <a:ext cx="9684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SHEET 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247650"/>
            <a:ext cx="4462314" cy="27275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1" i="0" u="none">
                <a:solidFill>
                  <a:srgbClr val="0A0A0A"/>
                </a:solidFill>
                <a:latin typeface="Helvetica Neue"/>
              </a:rPr>
              <a:t>MANI</a:t>
            </a:r>
          </a:p>
          <a:p>
            <a:pPr algn="l"/>
            <a:r>
              <a:rPr sz="11100" b="1" i="0" u="none">
                <a:solidFill>
                  <a:srgbClr val="0A0A0A"/>
                </a:solidFill>
                <a:latin typeface="Helvetica Neue"/>
              </a:rPr>
              <a:t>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38929" y="2010966"/>
            <a:ext cx="997376" cy="238125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FEF200"/>
                </a:solidFill>
                <a:latin typeface="Consolas"/>
              </a:rPr>
              <a:t>v0.1 · APR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1100" y="2382441"/>
            <a:ext cx="2857500" cy="38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0A0A0A"/>
                </a:solidFill>
                <a:latin typeface="Helvetica Neue"/>
              </a:rPr>
              <a:t xml:space="preserve">Four tenets we will not negotiate.
            Pin this above your desk.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997696"/>
            <a:ext cx="11125200" cy="34170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3400" y="2997696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3188196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3188196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Helvetica Neue"/>
              </a:rPr>
              <a:t>EVERY SHAPE IS EDITABLE.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101" y="3188196"/>
            <a:ext cx="546735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Helvetica Neue"/>
              </a:rPr>
              <a:t>The PPTX you ship is the artifact someone else will edit. No rasters, no apologies.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847207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33400" y="4037707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4037707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Helvetica Neue"/>
              </a:rPr>
              <a:t>TYPE IS A FIRST-CLASS CITIZEN.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101" y="4037707"/>
            <a:ext cx="54673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Helvetica Neue"/>
              </a:rPr>
              <a:t>Glyphs survive the export with their tracking, leading, and weight intact. We do not flatten.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696718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33400" y="4887218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4887218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Helvetica Neue"/>
              </a:rPr>
              <a:t>GRADIENTS ARE NATIVE.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101" y="4887218"/>
            <a:ext cx="546735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Helvetica Neue"/>
              </a:rPr>
              <a:t>Linear and radial fills emit 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1481" y="4906268"/>
            <a:ext cx="2668191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Helvetica Neue"/>
              </a:rPr>
              <a:t>. PowerPoint colour-pickers stay accurate.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5546229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33400" y="5736729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1200" y="5736729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Helvetica Neue"/>
              </a:rPr>
              <a:t>LLM-LEGIBLE BY CONSTRUCTION.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101" y="5736729"/>
            <a:ext cx="54673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Helvetica Neue"/>
              </a:rPr>
              <a:t>A pre-flight checker tells the model what works before the conversion runs. No surprises.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586240"/>
            <a:ext cx="196661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SLIDIFY · OPEN MANIFESTO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6397" y="6586240"/>
            <a:ext cx="262220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SIGN AT pixelpitch.dev/manifesto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8200" y="609600"/>
            <a:ext cx="10515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Inter"/>
              </a:rPr>
              <a:t>How we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57250"/>
            <a:ext cx="10515600" cy="53994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11111"/>
                </a:solidFill>
                <a:latin typeface="Georgia"/>
              </a:rPr>
              <a:t>Editable, not photographable.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454348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52525B"/>
                </a:solidFill>
                <a:latin typeface="Inter"/>
              </a:rPr>
              <a:t>The standard HTML→slide tool flattens design intent. Slidify preserves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025848"/>
            <a:ext cx="5143500" cy="38647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14425" y="2340173"/>
            <a:ext cx="496421" cy="190500"/>
          </a:xfrm>
          <a:prstGeom prst="rect">
            <a:avLst/>
          </a:prstGeom>
          <a:solidFill>
            <a:srgbClr val="6B7280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2664023"/>
            <a:ext cx="459105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11111"/>
                </a:solidFill>
                <a:latin typeface="Georgia"/>
              </a:rPr>
              <a:t>The screenshot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54548"/>
            <a:ext cx="4591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The status quo since 2014.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4425" y="3349823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14425" y="3464123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6B7280"/>
                </a:solidFill>
                <a:latin typeface="Inter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8275" y="3464123"/>
            <a:ext cx="169158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Slides ship as screenshots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4425" y="3795117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14425" y="3909417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6B7280"/>
                </a:solidFill>
                <a:latin typeface="Inter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275" y="3909417"/>
            <a:ext cx="1683841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Gradients flatten on export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4425" y="4240411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14425" y="4354711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6B7280"/>
                </a:solidFill>
                <a:latin typeface="Inter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8275" y="4354711"/>
            <a:ext cx="1846659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Type loses tracking + leading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4425" y="4685705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14425" y="4800005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6B7280"/>
                </a:solidFill>
                <a:latin typeface="Inter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8275" y="4800005"/>
            <a:ext cx="1802755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No round-trip back to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4425" y="5130998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114425" y="5245298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6B7280"/>
                </a:solidFill>
                <a:latin typeface="Inter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8275" y="5245298"/>
            <a:ext cx="188208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LLM has to guess what works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300" y="2025848"/>
            <a:ext cx="5143500" cy="38647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86525" y="2340173"/>
            <a:ext cx="356653" cy="190500"/>
          </a:xfrm>
          <a:prstGeom prst="rect">
            <a:avLst/>
          </a:prstGeom>
          <a:solidFill>
            <a:srgbClr val="B91C1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2664023"/>
            <a:ext cx="459105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11111"/>
                </a:solidFill>
                <a:latin typeface="Georgia"/>
              </a:rPr>
              <a:t>Slidify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3054548"/>
            <a:ext cx="4591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What you get when shapes are first-class.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6525" y="3349823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486525" y="3464123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0375" y="3464123"/>
            <a:ext cx="1890117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Every shape is editable PPTX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6525" y="3795117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486525" y="3909417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0375" y="3909417"/>
            <a:ext cx="1040457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Native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5073" y="3928467"/>
            <a:ext cx="595759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on export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86525" y="4240411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486525" y="4354711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0375" y="4354711"/>
            <a:ext cx="2096393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Glyph metrics survive end-to-end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6525" y="4685705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486525" y="4800005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0375" y="4800005"/>
            <a:ext cx="1897856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Edits in PPTX trace to recipes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86525" y="5130998"/>
            <a:ext cx="4591050" cy="445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486525" y="5245298"/>
            <a:ext cx="19050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0375" y="5245298"/>
            <a:ext cx="2016770" cy="20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11111"/>
                </a:solidFill>
                <a:latin typeface="Inter"/>
              </a:rPr>
              <a:t>`slidify check` blocks bad HTML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6119217"/>
            <a:ext cx="10515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Comparison table compiled Apr 2026 — verified against 12 production decks.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FFECC4">
                  <a:alpha val="30000"/>
                </a:srgbClr>
              </a:gs>
              <a:gs pos="10000">
                <a:srgbClr val="FFECC4">
                  <a:alpha val="25000"/>
                </a:srgbClr>
              </a:gs>
              <a:gs pos="20000">
                <a:srgbClr val="FFECC4">
                  <a:alpha val="20000"/>
                </a:srgbClr>
              </a:gs>
              <a:gs pos="30000">
                <a:srgbClr val="FFECC4">
                  <a:alpha val="15000"/>
                </a:srgbClr>
              </a:gs>
              <a:gs pos="40000">
                <a:srgbClr val="FFECC4">
                  <a:alpha val="10000"/>
                </a:srgbClr>
              </a:gs>
              <a:gs pos="50000">
                <a:srgbClr val="FFECC4">
                  <a:alpha val="5000"/>
                </a:srgbClr>
              </a:gs>
              <a:gs pos="60000">
                <a:srgbClr val="FFECC4">
                  <a:alpha val="0"/>
                </a:srgbClr>
              </a:gs>
              <a:gs pos="100000">
                <a:srgbClr val="FFECC4">
                  <a:alpha val="0"/>
                </a:srgbClr>
              </a:gs>
            </a:gsLst>
            <a:path path="circle">
              <a:fillToRect l="30000" t="30000" r="70000" b="7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333500" y="1524000"/>
            <a:ext cx="3429000" cy="4191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6000" y="1028700"/>
            <a:ext cx="1524000" cy="17526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286500" y="3619500"/>
            <a:ext cx="4572000" cy="2286000"/>
          </a:xfrm>
          <a:prstGeom prst="ellipse">
            <a:avLst/>
          </a:prstGeom>
          <a:solidFill>
            <a:srgbClr val="FF7A5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944588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ECC4"/>
                </a:solidFill>
                <a:latin typeface="Inter"/>
              </a:rPr>
              <a:t xml:space="preserve">
        Photo essay · part iii</a:t>
            </a:r>
          </a:p>
          <a:p>
            <a:pPr algn="l"/>
            <a:r>
              <a:rPr sz="975" b="1" i="1" u="none">
                <a:solidFill>
                  <a:srgbClr val="FFD9A0"/>
                </a:solidFill>
                <a:latin typeface="Inter"/>
              </a:rPr>
              <a:t xml:space="preserve">
          Light over the editing room</a:t>
            </a:r>
            <a:r>
              <a:rPr sz="975" b="1" i="0" u="none">
                <a:solidFill>
                  <a:srgbClr val="FFECC4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942975"/>
            <a:ext cx="5162401" cy="256088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650" b="0" i="1" u="none">
                <a:solidFill>
                  <a:srgbClr val="FFECC4"/>
                </a:solidFill>
                <a:latin typeface="Playfair Display"/>
              </a:rPr>
              <a:t xml:space="preserve">
          The slides we ship are</a:t>
            </a:r>
          </a:p>
          <a:p>
            <a:pPr algn="l"/>
            <a:r>
              <a:rPr sz="4650" b="0" i="1" u="none">
                <a:solidFill>
                  <a:srgbClr val="0D1F3C"/>
                </a:solidFill>
                <a:latin typeface="Playfair Display"/>
              </a:rPr>
              <a:t xml:space="preserve">
            an act of editing,</a:t>
            </a:r>
          </a:p>
          <a:p>
            <a:pPr algn="l"/>
            <a:r>
              <a:rPr sz="4650" b="0" i="1" u="none">
                <a:solidFill>
                  <a:srgbClr val="FFECC4"/>
                </a:solidFill>
                <a:latin typeface="Playfair Display"/>
              </a:rPr>
              <a:t xml:space="preserve">
          not an accident</a:t>
            </a:r>
          </a:p>
          <a:p>
            <a:pPr algn="l"/>
            <a:r>
              <a:rPr sz="4650" b="0" i="1" u="none">
                <a:solidFill>
                  <a:srgbClr val="FFECC4"/>
                </a:solidFill>
                <a:latin typeface="Playfair Display"/>
              </a:rPr>
              <a:t xml:space="preserve">of capture.
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808214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FD9A0"/>
                </a:solidFill>
                <a:latin typeface="Inter"/>
              </a:rPr>
              <a:t xml:space="preserve">Slidify treats every shape as a curated object. The export is
          the artifact, not a flattened souvenir of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96025"/>
            <a:ext cx="11277600" cy="2571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7200" y="6438900"/>
            <a:ext cx="227632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ECC4"/>
                </a:solidFill>
                <a:latin typeface="Inter"/>
              </a:rPr>
              <a:t>Pitch Quarterly ·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0650" y="6438900"/>
            <a:ext cx="10541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ECC4"/>
                </a:solidFill>
                <a:latin typeface="Inter"/>
              </a:rPr>
              <a:t>Plate 16 of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108204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3054102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Slidify et al. · §4 — Conversion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8328" y="457200"/>
            <a:ext cx="1787872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Preprint, draft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08204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11111"/>
                </a:solidFill>
                <a:latin typeface="Georgia"/>
              </a:rPr>
              <a:t>Figure 4 — Native-area ratio across the four-tier matcher.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8725"/>
            <a:ext cx="83820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 xml:space="preserve">Each bar shows the median fraction of slide area emitted as native
        PPTX primitives, by matcher tier. n = 1284 conversions over a 28-day
        window. Whiskers indicate the inter-quartile range.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32372"/>
            <a:ext cx="10820400" cy="3181350"/>
          </a:xfrm>
          <a:prstGeom prst="rect">
            <a:avLst/>
          </a:prstGeom>
          <a:solidFill>
            <a:srgbClr val="FBFA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 8"/>
          <p:cNvCxnSpPr/>
          <p:nvPr/>
        </p:nvCxnSpPr>
        <p:spPr>
          <a:xfrm>
            <a:off x="3086100" y="2260997"/>
            <a:ext cx="0" cy="20955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86100" y="4356497"/>
            <a:ext cx="62484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48000" y="4356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3975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8000" y="3594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48000" y="3213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48000" y="2832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48000" y="2451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19500" y="2641997"/>
            <a:ext cx="762000" cy="1714500"/>
          </a:xfrm>
          <a:prstGeom prst="rect">
            <a:avLst/>
          </a:prstGeom>
          <a:solidFill>
            <a:srgbClr val="DCDAD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 17"/>
          <p:cNvCxnSpPr/>
          <p:nvPr/>
        </p:nvCxnSpPr>
        <p:spPr>
          <a:xfrm>
            <a:off x="4000500" y="2432447"/>
            <a:ext cx="0" cy="4191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48250" y="2794397"/>
            <a:ext cx="762000" cy="1562100"/>
          </a:xfrm>
          <a:prstGeom prst="rect">
            <a:avLst/>
          </a:prstGeom>
          <a:solidFill>
            <a:srgbClr val="BABAB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5429250" y="2546747"/>
            <a:ext cx="0" cy="4953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77000" y="3232547"/>
            <a:ext cx="762000" cy="1123950"/>
          </a:xfrm>
          <a:prstGeom prst="rect">
            <a:avLst/>
          </a:prstGeom>
          <a:solidFill>
            <a:srgbClr val="9A9A9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 21"/>
          <p:cNvCxnSpPr/>
          <p:nvPr/>
        </p:nvCxnSpPr>
        <p:spPr>
          <a:xfrm>
            <a:off x="6858000" y="3061097"/>
            <a:ext cx="0" cy="3429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905750" y="4051697"/>
            <a:ext cx="762000" cy="304800"/>
          </a:xfrm>
          <a:prstGeom prst="rect">
            <a:avLst/>
          </a:prstGeom>
          <a:solidFill>
            <a:srgbClr val="7A7A7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 23"/>
          <p:cNvCxnSpPr/>
          <p:nvPr/>
        </p:nvCxnSpPr>
        <p:spPr>
          <a:xfrm>
            <a:off x="8286750" y="3937397"/>
            <a:ext cx="0" cy="2286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76550" y="4318397"/>
            <a:ext cx="76200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7975" y="3937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7975" y="3556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7975" y="3175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7975" y="2794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5588" y="2413397"/>
            <a:ext cx="157162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762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637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512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387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6100" y="2127647"/>
            <a:ext cx="1204913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2525B"/>
                </a:solidFill>
                <a:latin typeface="Consolas"/>
              </a:rPr>
              <a:t>native area, % of slide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66122"/>
            <a:ext cx="1061144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Georgia"/>
              </a:rPr>
              <a:t>Figure 4.</a:t>
            </a:r>
            <a:r>
              <a:rPr sz="975" b="0" i="0" u="none">
                <a:solidFill>
                  <a:srgbClr val="111111"/>
                </a:solidFill>
                <a:latin typeface="Georgia"/>
              </a:rPr>
              <a:t xml:space="preserve"> Tier-0 (atoms) carries the conversion. The
        long tail at tier-3 (LLM oracle) is a 3.2% residual; the bulk lands
        through tier-0 and tier-1 patterns. Trend is consistent across the
        seven shipped theme presets </a:t>
            </a:r>
            <a:r>
              <a:rPr sz="975" b="0" i="0" u="none">
                <a:solidFill>
                  <a:srgbClr val="52525B"/>
                </a:solidFill>
                <a:latin typeface="Georgia"/>
              </a:rPr>
              <a:t>[a]</a:t>
            </a:r>
            <a:r>
              <a:rPr sz="975" b="0" i="0" u="none">
                <a:solidFill>
                  <a:srgbClr val="111111"/>
                </a:solidFill>
                <a:latin typeface="Georgia"/>
              </a:rPr>
              <a:t xml:space="preserve">.
    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577036"/>
            <a:ext cx="470907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 xml:space="preserve">
        [a] vercel-dark, linear-light, stripe, paper, retro, brutalist, editorial</a:t>
            </a:r>
          </a:p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 xml:space="preserve">
        [b] Source data archived at pixelpitch.dev/figures/04 — DOI 10.0000/slidify.4
 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609600"/>
            <a:ext cx="10820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2D3EE"/>
                </a:solidFill>
                <a:latin typeface="Consolas"/>
              </a:rPr>
              <a:t>§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6775"/>
            <a:ext cx="10820400" cy="4857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300" b="1" i="0" u="none">
                <a:solidFill>
                  <a:srgbClr val="E5E5E5"/>
                </a:solidFill>
                <a:latin typeface="Consolas"/>
              </a:rPr>
              <a:t>Thirty-six years of slide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8750"/>
            <a:ext cx="78105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37373"/>
                </a:solidFill>
                <a:latin typeface="Consolas"/>
              </a:rPr>
              <a:t xml:space="preserve">Every era added one capability the previous one couldn't survive.
        Slidify is the era where editability stops being lossy.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32447"/>
            <a:ext cx="108204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4295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5750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97205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8660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20115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315700" y="2375297"/>
            <a:ext cx="133350" cy="13335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42950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1990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PowerPoint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184922"/>
            <a:ext cx="16890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First true WYSIWYG slide editor on Mac.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6300" y="2699147"/>
            <a:ext cx="1689199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6300" y="2984897"/>
            <a:ext cx="168919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Keynote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6300" y="3184922"/>
            <a:ext cx="1689199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Apple's response: gradients, drop shadows, smooth typography.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9800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9800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Reveal.js / Prezi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800" y="3184922"/>
            <a:ext cx="1689050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HTML eats the slide format. Editing returns to designers.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150" y="2699147"/>
            <a:ext cx="1689199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150" y="2984897"/>
            <a:ext cx="168919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Figma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150" y="3184922"/>
            <a:ext cx="1689199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Web-native canvas. Real-time collaboration, but exports flatten.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6649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6649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LLM-authored decks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6649" y="3184922"/>
            <a:ext cx="1689050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Models can author HTML — but conversion to PPTX is still lossy.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0000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22D3EE"/>
                </a:solidFill>
                <a:latin typeface="Consolas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0000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slidify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0000" y="3184922"/>
            <a:ext cx="1689050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Native shapes round-trip: design intent survives the export.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937397"/>
            <a:ext cx="238378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SOURCE · pixelpitch.dev/timeline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0845" y="3937397"/>
            <a:ext cx="14153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FIG-T · 36-YR SLICE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68816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835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42900" y="142875"/>
            <a:ext cx="3933081" cy="15513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300" b="1" i="0" u="none">
                <a:solidFill>
                  <a:srgbClr val="0A0A0A"/>
                </a:solidFill>
                <a:latin typeface="Helvetica Neue"/>
              </a:rPr>
              <a:t xml:space="preserve">
          BY THE</a:t>
            </a:r>
          </a:p>
          <a:p>
            <a:pPr algn="l"/>
            <a:r>
              <a:rPr sz="6300" b="1" i="0" u="none">
                <a:solidFill>
                  <a:srgbClr val="0A0A0A"/>
                </a:solidFill>
                <a:latin typeface="Helvetica Neue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28349" y="1331119"/>
            <a:ext cx="172075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0A0A0A"/>
                </a:solidFill>
                <a:latin typeface="Consolas"/>
              </a:rPr>
              <a:t xml:space="preserve">
          internal · q1 2026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>N = 1,284 conversions</a:t>
            </a:r>
            <a:r>
              <a:rPr sz="825" b="0" i="0" u="none">
                <a:solidFill>
                  <a:srgbClr val="0A0A0A"/>
                </a:solidFill>
                <a:latin typeface="Consolas"/>
              </a:rPr>
              <a:t xml:space="preserve">
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83569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6700" y="1940719"/>
            <a:ext cx="2568029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Helvetica Neue"/>
              </a:rPr>
              <a:t>87</a:t>
            </a:r>
            <a:r>
              <a:rPr sz="6000" b="1" i="0" u="none">
                <a:solidFill>
                  <a:srgbClr val="0A0A0A"/>
                </a:solidFill>
                <a:latin typeface="Helvetica Neue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" y="3864769"/>
            <a:ext cx="304800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</a:rPr>
              <a:t>of slide area emits as editable PPTX primitives.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1883569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0800" y="1940719"/>
            <a:ext cx="4004370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Helvetica Neue"/>
              </a:rPr>
              <a:t>0.12</a:t>
            </a:r>
            <a:r>
              <a:rPr sz="6000" b="1" i="0" u="none">
                <a:solidFill>
                  <a:srgbClr val="0A0A0A"/>
                </a:solidFill>
                <a:latin typeface="Helvetica Neue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64769"/>
            <a:ext cx="304800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</a:rPr>
              <a:t>average drift per slide vs. the source HTML.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580930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6700" y="4599980"/>
            <a:ext cx="2949922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Helvetica Neue"/>
              </a:rPr>
              <a:t>155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6524030"/>
            <a:ext cx="3048000" cy="205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</a:rPr>
              <a:t>atomic recipes shipped in atoms.yaml.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4580930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00800" y="4599980"/>
            <a:ext cx="2314277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Helvetica Neue"/>
              </a:rPr>
              <a:t>28</a:t>
            </a:r>
            <a:r>
              <a:rPr sz="6000" b="1" i="0" u="none">
                <a:solidFill>
                  <a:srgbClr val="0A0A0A"/>
                </a:solidFill>
                <a:latin typeface="Helvetica Neue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524030"/>
            <a:ext cx="3048000" cy="333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</a:rPr>
              <a:t>median end-to-end conversion for a 12-slide deck.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1066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Inter"/>
              </a:rPr>
              <a:t>Bench ·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1050"/>
            <a:ext cx="10668000" cy="4799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Georgia"/>
              </a:rPr>
              <a:t>Native-area ratio, six tools compared.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18171"/>
            <a:ext cx="7239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52525B"/>
                </a:solidFill>
                <a:latin typeface="Inter"/>
              </a:rPr>
              <a:t xml:space="preserve">Higher is better — fraction of slide area that survives the export
        as editable PPTX primitives. Identical input deck, all defaults.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051596"/>
            <a:ext cx="10668000" cy="3524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2061121"/>
            <a:ext cx="10668000" cy="3095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2061121"/>
            <a:ext cx="457200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061121"/>
            <a:ext cx="2859584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784" y="2061121"/>
            <a:ext cx="2577852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636" y="2061121"/>
            <a:ext cx="4011364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0" y="2061121"/>
            <a:ext cx="762000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52525B"/>
                </a:solidFill>
                <a:latin typeface="Consolas"/>
              </a:rPr>
              <a:t>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2370683"/>
            <a:ext cx="10668000" cy="533400"/>
          </a:xfrm>
          <a:prstGeom prst="rect">
            <a:avLst/>
          </a:prstGeom>
          <a:solidFill>
            <a:srgbClr val="B91C1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62000" y="23706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B91C1C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3706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slidify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149" y="2584996"/>
            <a:ext cx="511026" cy="142875"/>
          </a:xfrm>
          <a:prstGeom prst="rect">
            <a:avLst/>
          </a:prstGeom>
          <a:solidFill>
            <a:srgbClr val="B91C1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leader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784" y="23706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Native PPTX shapes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0936" y="25897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770936" y="2589758"/>
            <a:ext cx="1661071" cy="9525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668000" y="23706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0.872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29040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62000" y="29040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29040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PitchCompiler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784" y="29040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Hybrid raster+native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70936" y="31231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770936" y="3123158"/>
            <a:ext cx="1487686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0668000" y="29040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0.781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34374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62000" y="34374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34374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DeckRender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784" y="34374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Native + screenshot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70936" y="36565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6770936" y="3656558"/>
            <a:ext cx="1245840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0668000" y="34374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0.654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39708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62000" y="39708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9200" y="39708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HTML2Slides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784" y="39708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Mostly screenshot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70936" y="41899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6770936" y="4189958"/>
            <a:ext cx="975271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0668000" y="39708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0.512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45042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62000" y="45042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200" y="45042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Tailwind→PPTX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8784" y="45042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All raster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70936" y="47233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770936" y="4723358"/>
            <a:ext cx="777180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0668000" y="45042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0.408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2000" y="50376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762000" y="50376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9200" y="50376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PaperPress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78784" y="50376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Image only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70936" y="52567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6770936" y="5256758"/>
            <a:ext cx="563761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0668000" y="50376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0.296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" y="5747296"/>
            <a:ext cx="403592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method: identical 12-slide deck, public benchmark, n = 50 trials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3570" y="5747296"/>
            <a:ext cx="239643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raw: pixelpitch.dev/bench/q1-2026.json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762000" y="762000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19200" y="833438"/>
            <a:ext cx="4954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slidify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149" y="847725"/>
            <a:ext cx="851571" cy="1714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v1.0 · ICONS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3450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9448218" y="862012"/>
            <a:ext cx="115454" cy="1428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68567" y="100000"/>
                </a:moveTo>
                <a:lnTo>
                  <a:pt x="68567" y="80000"/>
                </a:lnTo>
                <a:cubicBezTo>
                  <a:pt x="69428" y="73739"/>
                  <a:pt x="67204" y="67449"/>
                  <a:pt x="62380" y="62500"/>
                </a:cubicBezTo>
                <a:cubicBezTo>
                  <a:pt x="80942" y="62500"/>
                  <a:pt x="99505" y="52500"/>
                  <a:pt x="99505" y="35000"/>
                </a:cubicBezTo>
                <a:cubicBezTo>
                  <a:pt x="100000" y="28750"/>
                  <a:pt x="97834" y="22600"/>
                  <a:pt x="93317" y="17500"/>
                </a:cubicBezTo>
                <a:cubicBezTo>
                  <a:pt x="95050" y="11750"/>
                  <a:pt x="95050" y="5750"/>
                  <a:pt x="93317" y="0"/>
                </a:cubicBezTo>
                <a:cubicBezTo>
                  <a:pt x="93317" y="0"/>
                  <a:pt x="87130" y="0"/>
                  <a:pt x="74755" y="7500"/>
                </a:cubicBezTo>
                <a:cubicBezTo>
                  <a:pt x="58420" y="5000"/>
                  <a:pt x="41590" y="5000"/>
                  <a:pt x="25255" y="7500"/>
                </a:cubicBezTo>
                <a:cubicBezTo>
                  <a:pt x="12879" y="0"/>
                  <a:pt x="6692" y="0"/>
                  <a:pt x="6692" y="0"/>
                </a:cubicBezTo>
                <a:cubicBezTo>
                  <a:pt x="4836" y="5750"/>
                  <a:pt x="4836" y="11750"/>
                  <a:pt x="6692" y="17500"/>
                </a:cubicBezTo>
                <a:cubicBezTo>
                  <a:pt x="2188" y="22578"/>
                  <a:pt x="0" y="28765"/>
                  <a:pt x="504" y="35000"/>
                </a:cubicBezTo>
                <a:cubicBezTo>
                  <a:pt x="504" y="52500"/>
                  <a:pt x="19067" y="62500"/>
                  <a:pt x="37630" y="62500"/>
                </a:cubicBezTo>
                <a:cubicBezTo>
                  <a:pt x="35216" y="64950"/>
                  <a:pt x="33422" y="67750"/>
                  <a:pt x="32370" y="70750"/>
                </a:cubicBezTo>
                <a:cubicBezTo>
                  <a:pt x="31318" y="73750"/>
                  <a:pt x="31009" y="76900"/>
                  <a:pt x="31442" y="80000"/>
                </a:cubicBezTo>
                <a:lnTo>
                  <a:pt x="31442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9434512" y="962025"/>
            <a:ext cx="50006" cy="285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cubicBezTo>
                  <a:pt x="35571" y="100000"/>
                  <a:pt x="28571" y="0"/>
                  <a:pt x="0" y="0"/>
                </a:cubicBez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977265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848850" y="838200"/>
            <a:ext cx="190500" cy="190500"/>
          </a:xfrm>
          <a:prstGeom prst="ellipse">
            <a:avLst/>
          </a:pr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 10"/>
          <p:cNvCxnSpPr/>
          <p:nvPr/>
        </p:nvCxnSpPr>
        <p:spPr>
          <a:xfrm>
            <a:off x="9872662" y="933450"/>
            <a:ext cx="142876" cy="0"/>
          </a:xfrm>
          <a:prstGeom prst="line">
            <a:avLst/>
          </a:prstGeom>
          <a:ln w="1905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9915525" y="862012"/>
            <a:ext cx="57150" cy="1428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81258" y="13688"/>
                  <a:pt x="99035" y="31465"/>
                  <a:pt x="100000" y="50000"/>
                </a:cubicBezTo>
                <a:cubicBezTo>
                  <a:pt x="99035" y="68535"/>
                  <a:pt x="81258" y="86312"/>
                  <a:pt x="50000" y="100000"/>
                </a:cubicBezTo>
                <a:cubicBezTo>
                  <a:pt x="18742" y="86312"/>
                  <a:pt x="965" y="68535"/>
                  <a:pt x="0" y="50000"/>
                </a:cubicBezTo>
                <a:cubicBezTo>
                  <a:pt x="965" y="31465"/>
                  <a:pt x="18742" y="13688"/>
                  <a:pt x="50000" y="0"/>
                </a:cubicBezTo>
                <a:close/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021080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10310823" y="862011"/>
            <a:ext cx="142879" cy="14287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10417969" y="869156"/>
            <a:ext cx="42862" cy="285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10425112" y="862012"/>
            <a:ext cx="28575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10303669" y="969169"/>
            <a:ext cx="42862" cy="142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10317956" y="954881"/>
            <a:ext cx="14288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064895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10770394" y="954881"/>
            <a:ext cx="100012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100000" y="66667"/>
                </a:lnTo>
                <a:cubicBezTo>
                  <a:pt x="100000" y="30094"/>
                  <a:pt x="87102" y="0"/>
                  <a:pt x="71429" y="0"/>
                </a:cubicBezTo>
                <a:lnTo>
                  <a:pt x="28571" y="0"/>
                </a:lnTo>
                <a:cubicBezTo>
                  <a:pt x="12898" y="0"/>
                  <a:pt x="0" y="30094"/>
                  <a:pt x="0" y="66667"/>
                </a:cubicBezTo>
                <a:lnTo>
                  <a:pt x="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0782300" y="859631"/>
            <a:ext cx="76200" cy="76200"/>
          </a:xfrm>
          <a:prstGeom prst="ellipse">
            <a:avLst/>
          </a:pr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108710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11222831" y="897731"/>
            <a:ext cx="71438" cy="714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11222831" y="897731"/>
            <a:ext cx="71438" cy="714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15621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Feature grid · powered by lucide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18383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Six reasons icons matter.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2705100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000125" y="2943225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1166014" y="3098208"/>
            <a:ext cx="201623" cy="22343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908" y="59947"/>
                </a:moveTo>
                <a:cubicBezTo>
                  <a:pt x="3783" y="59954"/>
                  <a:pt x="1835" y="58850"/>
                  <a:pt x="917" y="57120"/>
                </a:cubicBezTo>
                <a:cubicBezTo>
                  <a:pt x="0" y="55390"/>
                  <a:pt x="270" y="53330"/>
                  <a:pt x="1609" y="51840"/>
                </a:cubicBezTo>
                <a:lnTo>
                  <a:pt x="56173" y="1110"/>
                </a:lnTo>
                <a:cubicBezTo>
                  <a:pt x="57013" y="236"/>
                  <a:pt x="58424" y="0"/>
                  <a:pt x="59556" y="546"/>
                </a:cubicBezTo>
                <a:cubicBezTo>
                  <a:pt x="60687" y="1092"/>
                  <a:pt x="61253" y="2282"/>
                  <a:pt x="60913" y="3398"/>
                </a:cubicBezTo>
                <a:lnTo>
                  <a:pt x="50331" y="33339"/>
                </a:lnTo>
                <a:cubicBezTo>
                  <a:pt x="49698" y="34867"/>
                  <a:pt x="49937" y="36583"/>
                  <a:pt x="50971" y="37921"/>
                </a:cubicBezTo>
                <a:cubicBezTo>
                  <a:pt x="52004" y="39260"/>
                  <a:pt x="53703" y="40058"/>
                  <a:pt x="55512" y="40053"/>
                </a:cubicBezTo>
                <a:lnTo>
                  <a:pt x="94092" y="40053"/>
                </a:lnTo>
                <a:cubicBezTo>
                  <a:pt x="96217" y="40046"/>
                  <a:pt x="98165" y="41150"/>
                  <a:pt x="99083" y="42880"/>
                </a:cubicBezTo>
                <a:cubicBezTo>
                  <a:pt x="100000" y="44610"/>
                  <a:pt x="99730" y="46670"/>
                  <a:pt x="98391" y="48160"/>
                </a:cubicBezTo>
                <a:lnTo>
                  <a:pt x="43827" y="98890"/>
                </a:lnTo>
                <a:cubicBezTo>
                  <a:pt x="42987" y="99764"/>
                  <a:pt x="41576" y="100000"/>
                  <a:pt x="40444" y="99454"/>
                </a:cubicBezTo>
                <a:cubicBezTo>
                  <a:pt x="39313" y="98908"/>
                  <a:pt x="38747" y="97718"/>
                  <a:pt x="39087" y="96602"/>
                </a:cubicBezTo>
                <a:lnTo>
                  <a:pt x="49669" y="66661"/>
                </a:lnTo>
                <a:cubicBezTo>
                  <a:pt x="50302" y="65133"/>
                  <a:pt x="50063" y="63417"/>
                  <a:pt x="49029" y="62079"/>
                </a:cubicBezTo>
                <a:cubicBezTo>
                  <a:pt x="47996" y="60740"/>
                  <a:pt x="46297" y="59942"/>
                  <a:pt x="44488" y="59947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000125" y="3648075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Sub-second compile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25" y="3905250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Median 280 ms / slide on a 12-deck batch.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5100" y="2705100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613225" y="2943225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4791025" y="3097774"/>
            <a:ext cx="177800" cy="22354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5141"/>
                </a:moveTo>
                <a:cubicBezTo>
                  <a:pt x="100000" y="79997"/>
                  <a:pt x="78125" y="92425"/>
                  <a:pt x="52125" y="99633"/>
                </a:cubicBezTo>
                <a:cubicBezTo>
                  <a:pt x="50764" y="100000"/>
                  <a:pt x="49284" y="99982"/>
                  <a:pt x="47938" y="99583"/>
                </a:cubicBezTo>
                <a:cubicBezTo>
                  <a:pt x="21875" y="92425"/>
                  <a:pt x="0" y="79997"/>
                  <a:pt x="0" y="55141"/>
                </a:cubicBezTo>
                <a:lnTo>
                  <a:pt x="0" y="20343"/>
                </a:lnTo>
                <a:cubicBezTo>
                  <a:pt x="0" y="17616"/>
                  <a:pt x="2821" y="15372"/>
                  <a:pt x="6250" y="15372"/>
                </a:cubicBezTo>
                <a:cubicBezTo>
                  <a:pt x="18750" y="15372"/>
                  <a:pt x="34375" y="9407"/>
                  <a:pt x="45250" y="1851"/>
                </a:cubicBezTo>
                <a:cubicBezTo>
                  <a:pt x="47974" y="0"/>
                  <a:pt x="52026" y="0"/>
                  <a:pt x="54750" y="1851"/>
                </a:cubicBezTo>
                <a:cubicBezTo>
                  <a:pt x="65688" y="9457"/>
                  <a:pt x="81250" y="15372"/>
                  <a:pt x="93750" y="15372"/>
                </a:cubicBezTo>
                <a:cubicBezTo>
                  <a:pt x="97179" y="15372"/>
                  <a:pt x="100000" y="17616"/>
                  <a:pt x="100000" y="20343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613225" y="3648075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PPTX-safe by default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3225" y="3905250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Every shape carries a recipe id; no rasters.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88201" y="2705100"/>
            <a:ext cx="3441799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8226326" y="2943225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8381901" y="3154362"/>
            <a:ext cx="222250" cy="111126"/>
          </a:xfrm>
          <a:custGeom>
            <a:avLst/>
            <a:gdLst/>
            <a:ahLst/>
            <a:cxnLst/>
            <a:rect l="l" t="t" r="r" b="b"/>
            <a:pathLst>
              <a:path w="222250" h="111126">
                <a:moveTo>
                  <a:pt x="222250" y="0"/>
                </a:moveTo>
                <a:lnTo>
                  <a:pt x="127794" y="94457"/>
                </a:lnTo>
                <a:lnTo>
                  <a:pt x="72231" y="38894"/>
                </a:lnTo>
                <a:lnTo>
                  <a:pt x="0" y="111126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8537476" y="3154362"/>
            <a:ext cx="66675" cy="66676"/>
          </a:xfrm>
          <a:custGeom>
            <a:avLst/>
            <a:gdLst/>
            <a:ahLst/>
            <a:cxnLst/>
            <a:rect l="l" t="t" r="r" b="b"/>
            <a:pathLst>
              <a:path w="66675" h="66676">
                <a:moveTo>
                  <a:pt x="0" y="0"/>
                </a:moveTo>
                <a:lnTo>
                  <a:pt x="66675" y="0"/>
                </a:lnTo>
                <a:lnTo>
                  <a:pt x="66675" y="66676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26326" y="3648075"/>
            <a:ext cx="29655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Native_ratio 87%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6326" y="3905250"/>
            <a:ext cx="2965549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Up from 58% in the v0.1 baseline.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507706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1000125" y="4745831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1155717" y="4901403"/>
            <a:ext cx="222256" cy="22225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1325721" y="4912519"/>
            <a:ext cx="60007" cy="444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1333500" y="4904740"/>
            <a:ext cx="44450" cy="6000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1147921" y="5068094"/>
            <a:ext cx="60008" cy="22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1166812" y="5049202"/>
            <a:ext cx="22225" cy="6000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000125" y="5450681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LLM-friendly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125" y="5707856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`slidify check` blocks bad HTML pre-convert.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75100" y="4507706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4613225" y="4745831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4784675" y="4917281"/>
            <a:ext cx="190500" cy="190500"/>
          </a:xfrm>
          <a:prstGeom prst="ellipse">
            <a:avLst/>
          </a:pr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 54"/>
          <p:cNvCxnSpPr/>
          <p:nvPr/>
        </p:nvCxnSpPr>
        <p:spPr>
          <a:xfrm>
            <a:off x="4768800" y="5012531"/>
            <a:ext cx="222250" cy="0"/>
          </a:xfrm>
          <a:prstGeom prst="line">
            <a:avLst/>
          </a:prstGeom>
          <a:ln w="1714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4835475" y="4901406"/>
            <a:ext cx="88900" cy="222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81258" y="13688"/>
                  <a:pt x="99035" y="31465"/>
                  <a:pt x="100000" y="50000"/>
                </a:cubicBezTo>
                <a:cubicBezTo>
                  <a:pt x="99035" y="68535"/>
                  <a:pt x="81258" y="86312"/>
                  <a:pt x="50000" y="100000"/>
                </a:cubicBezTo>
                <a:cubicBezTo>
                  <a:pt x="18742" y="86312"/>
                  <a:pt x="965" y="68535"/>
                  <a:pt x="0" y="50000"/>
                </a:cubicBezTo>
                <a:cubicBezTo>
                  <a:pt x="965" y="31465"/>
                  <a:pt x="18742" y="13688"/>
                  <a:pt x="50000" y="0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613225" y="5450681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Six theme registers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3225" y="5707856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Vercel-dark, paper, magazine, brutalist…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88201" y="4507706"/>
            <a:ext cx="3441799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8226326" y="4745831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>
            <a:off x="8387457" y="5054609"/>
            <a:ext cx="63452" cy="6349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5026" y="12488"/>
                </a:moveTo>
                <a:cubicBezTo>
                  <a:pt x="8757" y="34541"/>
                  <a:pt x="0" y="100000"/>
                  <a:pt x="0" y="100000"/>
                </a:cubicBezTo>
                <a:cubicBezTo>
                  <a:pt x="0" y="100000"/>
                  <a:pt x="65499" y="91249"/>
                  <a:pt x="87566" y="64995"/>
                </a:cubicBezTo>
                <a:cubicBezTo>
                  <a:pt x="100000" y="50293"/>
                  <a:pt x="99825" y="27715"/>
                  <a:pt x="85989" y="14063"/>
                </a:cubicBezTo>
                <a:cubicBezTo>
                  <a:pt x="71963" y="683"/>
                  <a:pt x="49853" y="0"/>
                  <a:pt x="35026" y="12488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8448576" y="4912519"/>
            <a:ext cx="133350" cy="1333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3333" y="100000"/>
                </a:moveTo>
                <a:cubicBezTo>
                  <a:pt x="66667" y="88333"/>
                  <a:pt x="96667" y="53333"/>
                  <a:pt x="100000" y="0"/>
                </a:cubicBezTo>
                <a:cubicBezTo>
                  <a:pt x="46667" y="3333"/>
                  <a:pt x="11667" y="33333"/>
                  <a:pt x="0" y="66667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8404126" y="4956080"/>
            <a:ext cx="77788" cy="564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71429" y="100000"/>
                </a:moveTo>
                <a:lnTo>
                  <a:pt x="0" y="100000"/>
                </a:lnTo>
                <a:cubicBezTo>
                  <a:pt x="0" y="100000"/>
                  <a:pt x="7857" y="40354"/>
                  <a:pt x="28571" y="21260"/>
                </a:cubicBezTo>
                <a:cubicBezTo>
                  <a:pt x="51714" y="0"/>
                  <a:pt x="100000" y="21260"/>
                  <a:pt x="100000" y="21260"/>
                </a:cubicBez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8493026" y="5023644"/>
            <a:ext cx="56451" cy="777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28571"/>
                </a:moveTo>
                <a:lnTo>
                  <a:pt x="0" y="100000"/>
                </a:lnTo>
                <a:cubicBezTo>
                  <a:pt x="0" y="100000"/>
                  <a:pt x="59646" y="92143"/>
                  <a:pt x="78740" y="71429"/>
                </a:cubicBezTo>
                <a:cubicBezTo>
                  <a:pt x="100000" y="48286"/>
                  <a:pt x="78740" y="0"/>
                  <a:pt x="78740" y="0"/>
                </a:cubicBez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8226326" y="5450681"/>
            <a:ext cx="29655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Round-trippable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6326" y="5707856"/>
            <a:ext cx="2965549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Edits in PPT trace back to recipe ids.</a:t>
            </a:r>
          </a:p>
        </p:txBody>
      </p:sp>
      <p:sp>
        <p:nvSpPr>
          <p:cNvPr id="67" name="Freeform 66"/>
          <p:cNvSpPr/>
          <p:nvPr/>
        </p:nvSpPr>
        <p:spPr>
          <a:xfrm>
            <a:off x="787400" y="6481762"/>
            <a:ext cx="101600" cy="69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228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1009650" y="6448425"/>
            <a:ext cx="344447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All icons inline-SVG · stroke-2 · 24×24 viewBox · ISC-licensed.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1450" y="228600"/>
            <a:ext cx="1933575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28600" y="228600"/>
            <a:ext cx="285750" cy="28575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13868" y="307637"/>
            <a:ext cx="115213" cy="12767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908" y="59947"/>
                </a:moveTo>
                <a:cubicBezTo>
                  <a:pt x="3783" y="59954"/>
                  <a:pt x="1835" y="58850"/>
                  <a:pt x="917" y="57120"/>
                </a:cubicBezTo>
                <a:cubicBezTo>
                  <a:pt x="0" y="55390"/>
                  <a:pt x="270" y="53330"/>
                  <a:pt x="1609" y="51840"/>
                </a:cubicBezTo>
                <a:lnTo>
                  <a:pt x="56173" y="1110"/>
                </a:lnTo>
                <a:cubicBezTo>
                  <a:pt x="57013" y="236"/>
                  <a:pt x="58424" y="0"/>
                  <a:pt x="59556" y="546"/>
                </a:cubicBezTo>
                <a:cubicBezTo>
                  <a:pt x="60687" y="1092"/>
                  <a:pt x="61253" y="2282"/>
                  <a:pt x="60913" y="3398"/>
                </a:cubicBezTo>
                <a:lnTo>
                  <a:pt x="50331" y="33339"/>
                </a:lnTo>
                <a:cubicBezTo>
                  <a:pt x="49698" y="34867"/>
                  <a:pt x="49937" y="36583"/>
                  <a:pt x="50971" y="37921"/>
                </a:cubicBezTo>
                <a:cubicBezTo>
                  <a:pt x="52004" y="39260"/>
                  <a:pt x="53703" y="40058"/>
                  <a:pt x="55512" y="40053"/>
                </a:cubicBezTo>
                <a:lnTo>
                  <a:pt x="94092" y="40053"/>
                </a:lnTo>
                <a:cubicBezTo>
                  <a:pt x="96217" y="40046"/>
                  <a:pt x="98165" y="41150"/>
                  <a:pt x="99083" y="42880"/>
                </a:cubicBezTo>
                <a:cubicBezTo>
                  <a:pt x="100000" y="44610"/>
                  <a:pt x="99730" y="46670"/>
                  <a:pt x="98391" y="48160"/>
                </a:cubicBezTo>
                <a:lnTo>
                  <a:pt x="43827" y="98890"/>
                </a:lnTo>
                <a:cubicBezTo>
                  <a:pt x="42987" y="99764"/>
                  <a:pt x="41576" y="100000"/>
                  <a:pt x="40444" y="99454"/>
                </a:cubicBezTo>
                <a:cubicBezTo>
                  <a:pt x="39313" y="98908"/>
                  <a:pt x="38747" y="97718"/>
                  <a:pt x="39087" y="96602"/>
                </a:cubicBezTo>
                <a:lnTo>
                  <a:pt x="49669" y="66661"/>
                </a:lnTo>
                <a:cubicBezTo>
                  <a:pt x="50302" y="65133"/>
                  <a:pt x="50063" y="63417"/>
                  <a:pt x="49029" y="62079"/>
                </a:cubicBezTo>
                <a:cubicBezTo>
                  <a:pt x="47996" y="60740"/>
                  <a:pt x="46297" y="59942"/>
                  <a:pt x="44488" y="59947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285750"/>
            <a:ext cx="982117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Georgia"/>
              </a:rPr>
              <a:t>Pitch ·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450" y="828675"/>
            <a:ext cx="1933575" cy="361950"/>
          </a:xfrm>
          <a:prstGeom prst="round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 8"/>
          <p:cNvCxnSpPr/>
          <p:nvPr/>
        </p:nvCxnSpPr>
        <p:spPr>
          <a:xfrm flipV="1">
            <a:off x="390525" y="995362"/>
            <a:ext cx="0" cy="71438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33388" y="952500"/>
            <a:ext cx="0" cy="11430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7662" y="1038225"/>
            <a:ext cx="0" cy="28575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0550" y="933450"/>
            <a:ext cx="59308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Inter"/>
              </a:rP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1450" y="122872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319088" y="1373981"/>
            <a:ext cx="142874" cy="71438"/>
          </a:xfrm>
          <a:custGeom>
            <a:avLst/>
            <a:gdLst/>
            <a:ahLst/>
            <a:cxnLst/>
            <a:rect l="l" t="t" r="r" b="b"/>
            <a:pathLst>
              <a:path w="142874" h="71438">
                <a:moveTo>
                  <a:pt x="142874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419100" y="1373981"/>
            <a:ext cx="42862" cy="42863"/>
          </a:xfrm>
          <a:custGeom>
            <a:avLst/>
            <a:gdLst/>
            <a:ahLst/>
            <a:cxnLst/>
            <a:rect l="l" t="t" r="r" b="b"/>
            <a:pathLst>
              <a:path w="42862" h="42863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90550" y="1333500"/>
            <a:ext cx="41017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450" y="162877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340519" y="1831181"/>
            <a:ext cx="100012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100000" y="66667"/>
                </a:lnTo>
                <a:cubicBezTo>
                  <a:pt x="100000" y="30094"/>
                  <a:pt x="87102" y="0"/>
                  <a:pt x="71429" y="0"/>
                </a:cubicBezTo>
                <a:lnTo>
                  <a:pt x="28571" y="0"/>
                </a:lnTo>
                <a:cubicBezTo>
                  <a:pt x="12898" y="0"/>
                  <a:pt x="0" y="30094"/>
                  <a:pt x="0" y="66667"/>
                </a:cubicBezTo>
                <a:lnTo>
                  <a:pt x="0" y="100000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52425" y="1735931"/>
            <a:ext cx="76200" cy="7620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90550" y="1733550"/>
            <a:ext cx="55617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Audience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450" y="202882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95275" y="2114550"/>
            <a:ext cx="190500" cy="19050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 22"/>
          <p:cNvCxnSpPr/>
          <p:nvPr/>
        </p:nvCxnSpPr>
        <p:spPr>
          <a:xfrm>
            <a:off x="319088" y="2209800"/>
            <a:ext cx="142874" cy="0"/>
          </a:xfrm>
          <a:prstGeom prst="line">
            <a:avLst/>
          </a:prstGeom>
          <a:ln w="19050">
            <a:solidFill>
              <a:srgbClr val="525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361950" y="2138362"/>
            <a:ext cx="57150" cy="1428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81258" y="13688"/>
                  <a:pt x="99035" y="31465"/>
                  <a:pt x="100000" y="50000"/>
                </a:cubicBezTo>
                <a:cubicBezTo>
                  <a:pt x="99035" y="68535"/>
                  <a:pt x="81258" y="86312"/>
                  <a:pt x="50000" y="100000"/>
                </a:cubicBezTo>
                <a:cubicBezTo>
                  <a:pt x="18742" y="86312"/>
                  <a:pt x="965" y="68535"/>
                  <a:pt x="0" y="50000"/>
                </a:cubicBezTo>
                <a:cubicBezTo>
                  <a:pt x="965" y="31465"/>
                  <a:pt x="18742" y="13688"/>
                  <a:pt x="50000" y="0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90550" y="2133600"/>
            <a:ext cx="659904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Geography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1450" y="242887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333375" y="2537753"/>
            <a:ext cx="114300" cy="14370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5141"/>
                </a:moveTo>
                <a:cubicBezTo>
                  <a:pt x="100000" y="79997"/>
                  <a:pt x="78125" y="92425"/>
                  <a:pt x="52125" y="99633"/>
                </a:cubicBezTo>
                <a:cubicBezTo>
                  <a:pt x="50764" y="100000"/>
                  <a:pt x="49284" y="99982"/>
                  <a:pt x="47938" y="99583"/>
                </a:cubicBezTo>
                <a:cubicBezTo>
                  <a:pt x="21875" y="92425"/>
                  <a:pt x="0" y="79997"/>
                  <a:pt x="0" y="55141"/>
                </a:cubicBezTo>
                <a:lnTo>
                  <a:pt x="0" y="20343"/>
                </a:lnTo>
                <a:cubicBezTo>
                  <a:pt x="0" y="17616"/>
                  <a:pt x="2821" y="15372"/>
                  <a:pt x="6250" y="15372"/>
                </a:cubicBezTo>
                <a:cubicBezTo>
                  <a:pt x="18750" y="15372"/>
                  <a:pt x="34375" y="9407"/>
                  <a:pt x="45250" y="1851"/>
                </a:cubicBezTo>
                <a:cubicBezTo>
                  <a:pt x="47974" y="0"/>
                  <a:pt x="52026" y="0"/>
                  <a:pt x="54750" y="1851"/>
                </a:cubicBezTo>
                <a:cubicBezTo>
                  <a:pt x="65688" y="9457"/>
                  <a:pt x="81250" y="15372"/>
                  <a:pt x="93750" y="15372"/>
                </a:cubicBezTo>
                <a:cubicBezTo>
                  <a:pt x="97179" y="15372"/>
                  <a:pt x="100000" y="17616"/>
                  <a:pt x="100000" y="20343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90550" y="2533650"/>
            <a:ext cx="72628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Permissions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1450" y="282892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326231" y="3002756"/>
            <a:ext cx="128588" cy="78581"/>
          </a:xfrm>
          <a:prstGeom prst="roundRect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354806" y="2938462"/>
            <a:ext cx="71438" cy="6429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55556"/>
                </a:lnTo>
                <a:cubicBezTo>
                  <a:pt x="0" y="25079"/>
                  <a:pt x="22571" y="0"/>
                  <a:pt x="50000" y="0"/>
                </a:cubicBezTo>
                <a:cubicBezTo>
                  <a:pt x="77429" y="0"/>
                  <a:pt x="100000" y="25079"/>
                  <a:pt x="100000" y="55556"/>
                </a:cubicBez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90550" y="2933700"/>
            <a:ext cx="72628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Permissions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450" y="3514725"/>
            <a:ext cx="1933575" cy="826591"/>
          </a:xfrm>
          <a:prstGeom prst="roundRect">
            <a:avLst/>
          </a:prstGeom>
          <a:solidFill>
            <a:srgbClr val="F7F5E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325446" y="3668711"/>
            <a:ext cx="111128" cy="1111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408781" y="3674269"/>
            <a:ext cx="33338" cy="22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414338" y="3668712"/>
            <a:ext cx="22225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319881" y="3752056"/>
            <a:ext cx="33338" cy="1111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330994" y="3740944"/>
            <a:ext cx="11112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23875" y="3667125"/>
            <a:ext cx="5493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Pro tip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4325" y="3876675"/>
            <a:ext cx="1179761" cy="298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11111"/>
                </a:solidFill>
                <a:latin typeface="Inter"/>
              </a:rPr>
              <a:t xml:space="preserve">Press </a:t>
            </a:r>
            <a:r>
              <a:rPr sz="900" b="0" i="0" u="none">
                <a:solidFill>
                  <a:srgbClr val="111111"/>
                </a:solidFill>
                <a:latin typeface="Consolas"/>
              </a:rPr>
              <a:t>⌘K</a:t>
            </a:r>
            <a:r>
              <a:rPr sz="900" b="0" i="0" u="none">
                <a:solidFill>
                  <a:srgbClr val="111111"/>
                </a:solidFill>
                <a:latin typeface="Inter"/>
              </a:rPr>
              <a:t xml:space="preserve"> to open the
            command palette.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7000" y="304800"/>
            <a:ext cx="2732484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11111"/>
                </a:solidFill>
                <a:latin typeface="Georgia"/>
              </a:rPr>
              <a:t>Conversion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7000" y="647700"/>
            <a:ext cx="273248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Last 28 days · all decks · production environment.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44857" y="304800"/>
            <a:ext cx="878681" cy="314325"/>
          </a:xfrm>
          <a:prstGeom prst="roundRect">
            <a:avLst/>
          </a:prstGeom>
          <a:noFill/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10179794" y="423069"/>
            <a:ext cx="111125" cy="777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0" y="50000"/>
                  <a:pt x="15000" y="0"/>
                  <a:pt x="50000" y="0"/>
                </a:cubicBezTo>
                <a:cubicBezTo>
                  <a:pt x="85000" y="0"/>
                  <a:pt x="100000" y="50000"/>
                  <a:pt x="100000" y="50000"/>
                </a:cubicBezTo>
                <a:cubicBezTo>
                  <a:pt x="100000" y="50000"/>
                  <a:pt x="85000" y="100000"/>
                  <a:pt x="50000" y="100000"/>
                </a:cubicBezTo>
                <a:cubicBezTo>
                  <a:pt x="15000" y="100000"/>
                  <a:pt x="0" y="50000"/>
                  <a:pt x="0" y="50000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206782" y="433388"/>
            <a:ext cx="57150" cy="5715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0359182" y="390525"/>
            <a:ext cx="44053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11111"/>
                </a:solidFill>
                <a:latin typeface="Inter"/>
              </a:rPr>
              <a:t>Preview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99738" y="304800"/>
            <a:ext cx="811262" cy="314325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11152932" y="434181"/>
            <a:ext cx="55563" cy="5556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11152932" y="434181"/>
            <a:ext cx="55563" cy="5556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304538" y="390525"/>
            <a:ext cx="3921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Export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67000" y="1019175"/>
            <a:ext cx="2959001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2867025" y="1219200"/>
            <a:ext cx="381000" cy="381000"/>
          </a:xfrm>
          <a:prstGeom prst="roundRect">
            <a:avLst/>
          </a:prstGeom>
          <a:solidFill>
            <a:srgbClr val="B91C1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onnector 52"/>
          <p:cNvCxnSpPr/>
          <p:nvPr/>
        </p:nvCxnSpPr>
        <p:spPr>
          <a:xfrm flipV="1">
            <a:off x="3057525" y="1393825"/>
            <a:ext cx="0" cy="79375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05150" y="1346200"/>
            <a:ext cx="0" cy="12700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009900" y="1441450"/>
            <a:ext cx="0" cy="3175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4874667" y="1258094"/>
            <a:ext cx="111125" cy="55562"/>
          </a:xfrm>
          <a:custGeom>
            <a:avLst/>
            <a:gdLst/>
            <a:ahLst/>
            <a:cxnLst/>
            <a:rect l="l" t="t" r="r" b="b"/>
            <a:pathLst>
              <a:path w="111125" h="55562">
                <a:moveTo>
                  <a:pt x="111125" y="0"/>
                </a:moveTo>
                <a:lnTo>
                  <a:pt x="63897" y="47228"/>
                </a:lnTo>
                <a:lnTo>
                  <a:pt x="36115" y="19447"/>
                </a:lnTo>
                <a:lnTo>
                  <a:pt x="0" y="55562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/>
          <p:cNvSpPr/>
          <p:nvPr/>
        </p:nvSpPr>
        <p:spPr>
          <a:xfrm>
            <a:off x="4952454" y="1258094"/>
            <a:ext cx="33338" cy="33337"/>
          </a:xfrm>
          <a:custGeom>
            <a:avLst/>
            <a:gdLst/>
            <a:ahLst/>
            <a:cxnLst/>
            <a:rect l="l" t="t" r="r" b="b"/>
            <a:pathLst>
              <a:path w="33338" h="33337">
                <a:moveTo>
                  <a:pt x="0" y="0"/>
                </a:moveTo>
                <a:lnTo>
                  <a:pt x="33338" y="0"/>
                </a:lnTo>
                <a:lnTo>
                  <a:pt x="33338" y="33337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035004" y="1219200"/>
            <a:ext cx="39097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+18.2%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67025" y="1771650"/>
            <a:ext cx="2558951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Georgia"/>
              </a:rPr>
              <a:t>1,284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67025" y="2209800"/>
            <a:ext cx="255895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Decks rendered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59351" y="1019175"/>
            <a:ext cx="29591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5959376" y="1219200"/>
            <a:ext cx="381000" cy="381000"/>
          </a:xfrm>
          <a:prstGeom prst="roundRect">
            <a:avLst/>
          </a:prstGeom>
          <a:solidFill>
            <a:srgbClr val="B91C1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6070501" y="1370012"/>
            <a:ext cx="158750" cy="79376"/>
          </a:xfrm>
          <a:custGeom>
            <a:avLst/>
            <a:gdLst/>
            <a:ahLst/>
            <a:cxnLst/>
            <a:rect l="l" t="t" r="r" b="b"/>
            <a:pathLst>
              <a:path w="158750" h="79376">
                <a:moveTo>
                  <a:pt x="158750" y="0"/>
                </a:moveTo>
                <a:lnTo>
                  <a:pt x="91281" y="67469"/>
                </a:lnTo>
                <a:lnTo>
                  <a:pt x="51594" y="27782"/>
                </a:lnTo>
                <a:lnTo>
                  <a:pt x="0" y="79376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6181626" y="1370012"/>
            <a:ext cx="47625" cy="47626"/>
          </a:xfrm>
          <a:custGeom>
            <a:avLst/>
            <a:gdLst/>
            <a:ahLst/>
            <a:cxnLst/>
            <a:rect l="l" t="t" r="r" b="b"/>
            <a:pathLst>
              <a:path w="47625" h="47626">
                <a:moveTo>
                  <a:pt x="0" y="0"/>
                </a:moveTo>
                <a:lnTo>
                  <a:pt x="47625" y="0"/>
                </a:lnTo>
                <a:lnTo>
                  <a:pt x="47625" y="47626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7992765" y="1258094"/>
            <a:ext cx="111125" cy="55562"/>
          </a:xfrm>
          <a:custGeom>
            <a:avLst/>
            <a:gdLst/>
            <a:ahLst/>
            <a:cxnLst/>
            <a:rect l="l" t="t" r="r" b="b"/>
            <a:pathLst>
              <a:path w="111125" h="55562">
                <a:moveTo>
                  <a:pt x="111125" y="0"/>
                </a:moveTo>
                <a:lnTo>
                  <a:pt x="63897" y="47228"/>
                </a:lnTo>
                <a:lnTo>
                  <a:pt x="36115" y="19447"/>
                </a:lnTo>
                <a:lnTo>
                  <a:pt x="0" y="55562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>
            <a:off x="8070552" y="1258094"/>
            <a:ext cx="33338" cy="33337"/>
          </a:xfrm>
          <a:custGeom>
            <a:avLst/>
            <a:gdLst/>
            <a:ahLst/>
            <a:cxnLst/>
            <a:rect l="l" t="t" r="r" b="b"/>
            <a:pathLst>
              <a:path w="33338" h="33337">
                <a:moveTo>
                  <a:pt x="0" y="0"/>
                </a:moveTo>
                <a:lnTo>
                  <a:pt x="33338" y="0"/>
                </a:lnTo>
                <a:lnTo>
                  <a:pt x="33338" y="33337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8153102" y="1219200"/>
            <a:ext cx="3653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+4.1pp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59376" y="1771650"/>
            <a:ext cx="2559100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Georgia"/>
              </a:rPr>
              <a:t>87%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59376" y="2209800"/>
            <a:ext cx="2559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Native ratio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51850" y="1019175"/>
            <a:ext cx="2959001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9051875" y="1219200"/>
            <a:ext cx="381000" cy="381000"/>
          </a:xfrm>
          <a:prstGeom prst="roundRect">
            <a:avLst/>
          </a:prstGeom>
          <a:solidFill>
            <a:srgbClr val="B91C1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9178875" y="1329592"/>
            <a:ext cx="127000" cy="15967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5141"/>
                </a:moveTo>
                <a:cubicBezTo>
                  <a:pt x="100000" y="79997"/>
                  <a:pt x="78125" y="92425"/>
                  <a:pt x="52125" y="99633"/>
                </a:cubicBezTo>
                <a:cubicBezTo>
                  <a:pt x="50764" y="100000"/>
                  <a:pt x="49284" y="99982"/>
                  <a:pt x="47938" y="99583"/>
                </a:cubicBezTo>
                <a:cubicBezTo>
                  <a:pt x="21875" y="92425"/>
                  <a:pt x="0" y="79997"/>
                  <a:pt x="0" y="55141"/>
                </a:cubicBezTo>
                <a:lnTo>
                  <a:pt x="0" y="20343"/>
                </a:lnTo>
                <a:cubicBezTo>
                  <a:pt x="0" y="17616"/>
                  <a:pt x="2821" y="15372"/>
                  <a:pt x="6250" y="15372"/>
                </a:cubicBezTo>
                <a:cubicBezTo>
                  <a:pt x="18750" y="15372"/>
                  <a:pt x="34375" y="9407"/>
                  <a:pt x="45250" y="1851"/>
                </a:cubicBezTo>
                <a:cubicBezTo>
                  <a:pt x="47974" y="0"/>
                  <a:pt x="52026" y="0"/>
                  <a:pt x="54750" y="1851"/>
                </a:cubicBezTo>
                <a:cubicBezTo>
                  <a:pt x="65688" y="9457"/>
                  <a:pt x="81250" y="15372"/>
                  <a:pt x="93750" y="15372"/>
                </a:cubicBezTo>
                <a:cubicBezTo>
                  <a:pt x="97179" y="15372"/>
                  <a:pt x="100000" y="17616"/>
                  <a:pt x="100000" y="20343"/>
                </a:cubicBezTo>
                <a:close/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/>
          <p:cNvSpPr/>
          <p:nvPr/>
        </p:nvSpPr>
        <p:spPr>
          <a:xfrm>
            <a:off x="11101784" y="1269206"/>
            <a:ext cx="77788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lnTo>
                  <a:pt x="100000" y="5000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11140678" y="1246981"/>
            <a:ext cx="38894" cy="777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1245453" y="1219200"/>
            <a:ext cx="3653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−2.1pp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1875" y="1771650"/>
            <a:ext cx="2558951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Georgia"/>
              </a:rPr>
              <a:t>0.12%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1875" y="2209800"/>
            <a:ext cx="255895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Drift incidents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67000" y="2714625"/>
            <a:ext cx="9144000" cy="7905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/>
          <p:cNvSpPr/>
          <p:nvPr/>
        </p:nvSpPr>
        <p:spPr>
          <a:xfrm>
            <a:off x="2873375" y="2933700"/>
            <a:ext cx="101600" cy="69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3076575" y="2900362"/>
            <a:ext cx="9842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Inter"/>
              </a:rPr>
              <a:t>All checks green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88452" y="2909888"/>
            <a:ext cx="44157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12s ago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47975" y="3181350"/>
            <a:ext cx="85769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self-contained</a:t>
            </a:r>
          </a:p>
        </p:txBody>
      </p:sp>
      <p:sp>
        <p:nvSpPr>
          <p:cNvPr id="83" name="Freeform 82"/>
          <p:cNvSpPr/>
          <p:nvPr/>
        </p:nvSpPr>
        <p:spPr>
          <a:xfrm>
            <a:off x="2867025" y="32099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3877121" y="3181350"/>
            <a:ext cx="806648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no risky CSS</a:t>
            </a:r>
          </a:p>
        </p:txBody>
      </p:sp>
      <p:sp>
        <p:nvSpPr>
          <p:cNvPr id="85" name="Freeform 84"/>
          <p:cNvSpPr/>
          <p:nvPr/>
        </p:nvSpPr>
        <p:spPr>
          <a:xfrm>
            <a:off x="3896171" y="32099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4855220" y="3181350"/>
            <a:ext cx="698897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 warnings</a:t>
            </a:r>
          </a:p>
        </p:txBody>
      </p:sp>
      <p:sp>
        <p:nvSpPr>
          <p:cNvPr id="87" name="Freeform 86"/>
          <p:cNvSpPr/>
          <p:nvPr/>
        </p:nvSpPr>
        <p:spPr>
          <a:xfrm>
            <a:off x="4874270" y="32099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5725567" y="3181350"/>
            <a:ext cx="1054745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21 / 21 atoms hint</a:t>
            </a:r>
          </a:p>
        </p:txBody>
      </p:sp>
      <p:sp>
        <p:nvSpPr>
          <p:cNvPr id="89" name="Freeform 88"/>
          <p:cNvSpPr/>
          <p:nvPr/>
        </p:nvSpPr>
        <p:spPr>
          <a:xfrm>
            <a:off x="5744617" y="32099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111111"/>
      </a:accent2>
      <a:accent3>
        <a:srgbClr val="52525B"/>
      </a:accent3>
      <a:accent4>
        <a:srgbClr val="D4D4D8"/>
      </a:accent4>
      <a:accent5>
        <a:srgbClr val="E5E5E5"/>
      </a:accent5>
      <a:accent6>
        <a:srgbClr val="A1A1A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