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000" y="5419725"/>
            <a:ext cx="132561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2201912" y="5419725"/>
            <a:ext cx="1498253" cy="4572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4533900"/>
            <a:ext cx="10668000" cy="95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6325" y="4924425"/>
            <a:ext cx="1264741" cy="3810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Cambria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54518" y="4181475"/>
            <a:ext cx="1475482" cy="3810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8483" y="4457700"/>
            <a:ext cx="2900511" cy="457200"/>
          </a:xfrm>
          <a:prstGeom prst="round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833295" y="4457700"/>
            <a:ext cx="1540222" cy="457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457200"/>
            <a:ext cx="10972800" cy="753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49735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Comparison · field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47700"/>
            <a:ext cx="4973538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96202" y="746820"/>
            <a:ext cx="1486198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  n = 12 decks</a:t>
            </a:r>
          </a:p>
          <a:p>
            <a:pPr algn="r"/>
            <a:r>
              <a:rPr sz="800" b="0" i="0" u="none">
                <a:solidFill>
                  <a:srgbClr val="B91C1C"/>
                </a:solidFill>
                <a:latin typeface="Consolas"/>
              </a:rPr>
              <a:t>verified · apr 2026</a:t>
            </a:r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11111">
                  <a:alpha val="3000"/>
                </a:srgbClr>
              </a:gs>
              <a:gs pos="10000">
                <a:srgbClr val="111111">
                  <a:alpha val="2500"/>
                </a:srgbClr>
              </a:gs>
              <a:gs pos="20000">
                <a:srgbClr val="111111">
                  <a:alpha val="2000"/>
                </a:srgbClr>
              </a:gs>
              <a:gs pos="30000">
                <a:srgbClr val="111111">
                  <a:alpha val="1500"/>
                </a:srgbClr>
              </a:gs>
              <a:gs pos="40000">
                <a:srgbClr val="111111">
                  <a:alpha val="1000"/>
                </a:srgbClr>
              </a:gs>
              <a:gs pos="50000">
                <a:srgbClr val="111111">
                  <a:alpha val="500"/>
                </a:srgbClr>
              </a:gs>
              <a:gs pos="60000">
                <a:srgbClr val="111111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 scaled="0"/>
          </a:gradFill>
          <a:xfrm>
            <a:off x="0" y="1619250"/>
            <a:ext cx="6339780" cy="44767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9B9B9B"/>
                </a:solidFill>
                <a:latin typeface="Georgia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2123" y="2076450"/>
            <a:ext cx="484733" cy="161925"/>
          </a:xfrm>
          <a:prstGeom prst="rect">
            <a:avLst/>
          </a:prstGeom>
          <a:solidFill>
            <a:srgbClr val="9B9B9B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2123" y="2314575"/>
            <a:ext cx="2010073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5A5A5A"/>
                </a:solidFill>
                <a:latin typeface="Georgia"/>
              </a:rPr>
              <a:t>The screenshot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0454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128367"/>
            <a:ext cx="17479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47573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599557"/>
            <a:ext cx="17399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94692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4070747"/>
            <a:ext cx="1908125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1811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4541937"/>
            <a:ext cx="1862882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889302"/>
            <a:ext cx="5377755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0960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9B9B9B"/>
                </a:solidFill>
                <a:latin typeface="Inter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5013127"/>
            <a:ext cx="1944886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7A7A7A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2680" y="1962150"/>
            <a:ext cx="1902023" cy="85189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B91C1C"/>
                </a:solidFill>
                <a:latin typeface="Georgia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5204" y="2076450"/>
            <a:ext cx="328166" cy="16192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5204" y="2314575"/>
            <a:ext cx="670768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Slidify.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680" y="300454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682680" y="312836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5580" y="3128367"/>
            <a:ext cx="195322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82680" y="347573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682680" y="359955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5580" y="3599557"/>
            <a:ext cx="189577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Native &lt;a:gradFill&gt; on export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680" y="394692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82680" y="407074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5580" y="4070747"/>
            <a:ext cx="2166193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82680" y="441811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682680" y="454193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5580" y="4541937"/>
            <a:ext cx="1961108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82680" y="4889302"/>
            <a:ext cx="4899720" cy="471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682680" y="5013127"/>
            <a:ext cx="17145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5580" y="5013127"/>
            <a:ext cx="2084040" cy="2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62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48425"/>
            <a:ext cx="11174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Bench · Q1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3161" y="6448425"/>
            <a:ext cx="26817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91C1C"/>
                </a:solidFill>
                <a:latin typeface="Consolas"/>
              </a:rPr>
              <a:t>— editable, every export, every 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0906" y="6448425"/>
            <a:ext cx="52149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15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48190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Settings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676525"/>
            <a:ext cx="9144000" cy="6762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8575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8241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8336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0670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0670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0670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0670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22 / 22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0956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ounded Rectangle 89"/>
          <p:cNvSpPr/>
          <p:nvPr/>
        </p:nvSpPr>
        <p:spPr>
          <a:xfrm>
            <a:off x="2667000" y="3486150"/>
            <a:ext cx="5406330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Freeform 90"/>
          <p:cNvSpPr/>
          <p:nvPr/>
        </p:nvSpPr>
        <p:spPr>
          <a:xfrm>
            <a:off x="2859088" y="3710781"/>
            <a:ext cx="111124" cy="55563"/>
          </a:xfrm>
          <a:custGeom>
            <a:avLst/>
            <a:gdLst/>
            <a:ahLst/>
            <a:cxnLst/>
            <a:rect l="l" t="t" r="r" b="b"/>
            <a:pathLst>
              <a:path w="111124" h="55563">
                <a:moveTo>
                  <a:pt x="111124" y="0"/>
                </a:moveTo>
                <a:lnTo>
                  <a:pt x="63896" y="47228"/>
                </a:lnTo>
                <a:lnTo>
                  <a:pt x="36115" y="19447"/>
                </a:lnTo>
                <a:lnTo>
                  <a:pt x="0" y="55563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/>
          <p:cNvSpPr/>
          <p:nvPr/>
        </p:nvSpPr>
        <p:spPr>
          <a:xfrm>
            <a:off x="2936875" y="3710781"/>
            <a:ext cx="33337" cy="33338"/>
          </a:xfrm>
          <a:custGeom>
            <a:avLst/>
            <a:gdLst/>
            <a:ahLst/>
            <a:cxnLst/>
            <a:rect l="l" t="t" r="r" b="b"/>
            <a:pathLst>
              <a:path w="33337" h="33338">
                <a:moveTo>
                  <a:pt x="0" y="0"/>
                </a:moveTo>
                <a:lnTo>
                  <a:pt x="33337" y="0"/>
                </a:lnTo>
                <a:lnTo>
                  <a:pt x="33337" y="33338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057525" y="3667125"/>
            <a:ext cx="15762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Native ratio · last 12 weeks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44817" y="3681412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+4.1 pp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179415" y="41338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9415" y="43434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179415" y="45529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79415" y="476250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179415" y="4972050"/>
            <a:ext cx="4381500" cy="0"/>
          </a:xfrm>
          <a:prstGeom prst="line">
            <a:avLst/>
          </a:prstGeom>
          <a:ln w="9525">
            <a:solidFill>
              <a:srgbClr val="111111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3179415" y="4152900"/>
            <a:ext cx="4381500" cy="1028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2222"/>
                </a:moveTo>
                <a:lnTo>
                  <a:pt x="8261" y="68519"/>
                </a:lnTo>
                <a:lnTo>
                  <a:pt x="16522" y="64815"/>
                </a:lnTo>
                <a:lnTo>
                  <a:pt x="24783" y="57407"/>
                </a:lnTo>
                <a:lnTo>
                  <a:pt x="33043" y="51852"/>
                </a:lnTo>
                <a:lnTo>
                  <a:pt x="41304" y="46296"/>
                </a:lnTo>
                <a:lnTo>
                  <a:pt x="49565" y="38889"/>
                </a:lnTo>
                <a:lnTo>
                  <a:pt x="57826" y="35185"/>
                </a:lnTo>
                <a:lnTo>
                  <a:pt x="66087" y="25926"/>
                </a:lnTo>
                <a:lnTo>
                  <a:pt x="74348" y="20370"/>
                </a:lnTo>
                <a:lnTo>
                  <a:pt x="82609" y="14815"/>
                </a:lnTo>
                <a:lnTo>
                  <a:pt x="90870" y="7407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B91C1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 100"/>
          <p:cNvSpPr/>
          <p:nvPr/>
        </p:nvSpPr>
        <p:spPr>
          <a:xfrm>
            <a:off x="3179415" y="4152900"/>
            <a:ext cx="4381500" cy="742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8261" y="94872"/>
                </a:lnTo>
                <a:lnTo>
                  <a:pt x="16522" y="89744"/>
                </a:lnTo>
                <a:lnTo>
                  <a:pt x="24783" y="79487"/>
                </a:lnTo>
                <a:lnTo>
                  <a:pt x="33043" y="71795"/>
                </a:lnTo>
                <a:lnTo>
                  <a:pt x="41304" y="64103"/>
                </a:lnTo>
                <a:lnTo>
                  <a:pt x="49565" y="53846"/>
                </a:lnTo>
                <a:lnTo>
                  <a:pt x="57826" y="48718"/>
                </a:lnTo>
                <a:lnTo>
                  <a:pt x="66087" y="35897"/>
                </a:lnTo>
                <a:lnTo>
                  <a:pt x="74348" y="28205"/>
                </a:lnTo>
                <a:lnTo>
                  <a:pt x="82609" y="20513"/>
                </a:lnTo>
                <a:lnTo>
                  <a:pt x="90870" y="10256"/>
                </a:ln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7522815" y="4114800"/>
            <a:ext cx="76200" cy="762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7475190" y="4067175"/>
            <a:ext cx="171450" cy="1714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/>
          <p:cNvSpPr txBox="1"/>
          <p:nvPr/>
        </p:nvSpPr>
        <p:spPr>
          <a:xfrm>
            <a:off x="2847975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11414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75003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38442" y="5276850"/>
            <a:ext cx="35391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Wk 26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206680" y="3486150"/>
            <a:ext cx="3604171" cy="20764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 108"/>
          <p:cNvSpPr/>
          <p:nvPr/>
        </p:nvSpPr>
        <p:spPr>
          <a:xfrm>
            <a:off x="8398776" y="3682999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 109"/>
          <p:cNvSpPr/>
          <p:nvPr/>
        </p:nvSpPr>
        <p:spPr>
          <a:xfrm>
            <a:off x="8482112" y="3688556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 110"/>
          <p:cNvSpPr/>
          <p:nvPr/>
        </p:nvSpPr>
        <p:spPr>
          <a:xfrm>
            <a:off x="8487668" y="3683000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 111"/>
          <p:cNvSpPr/>
          <p:nvPr/>
        </p:nvSpPr>
        <p:spPr>
          <a:xfrm>
            <a:off x="8393212" y="3766344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 112"/>
          <p:cNvSpPr/>
          <p:nvPr/>
        </p:nvSpPr>
        <p:spPr>
          <a:xfrm>
            <a:off x="8404324" y="3755231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97205" y="3667125"/>
            <a:ext cx="87406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Recent activity</a:t>
            </a:r>
          </a:p>
        </p:txBody>
      </p:sp>
      <p:sp>
        <p:nvSpPr>
          <p:cNvPr id="115" name="Freeform 114"/>
          <p:cNvSpPr/>
          <p:nvPr/>
        </p:nvSpPr>
        <p:spPr>
          <a:xfrm>
            <a:off x="8406705" y="395287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8597205" y="3924300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Atlas-vol-iii compiled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597205" y="4057650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12 frames · 814 KB · 2 m ago</a:t>
            </a:r>
          </a:p>
        </p:txBody>
      </p:sp>
      <p:sp>
        <p:nvSpPr>
          <p:cNvPr id="118" name="Freeform 117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18"/>
          <p:cNvSpPr/>
          <p:nvPr/>
        </p:nvSpPr>
        <p:spPr>
          <a:xfrm>
            <a:off x="8420993" y="4291012"/>
            <a:ext cx="47625" cy="476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8597205" y="4257675"/>
            <a:ext cx="176569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LLM corpus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97205" y="4391025"/>
            <a:ext cx="17656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22 slides · 285 KB · 6 m ago</a:t>
            </a:r>
          </a:p>
        </p:txBody>
      </p:sp>
      <p:sp>
        <p:nvSpPr>
          <p:cNvPr id="122" name="Freeform 121"/>
          <p:cNvSpPr/>
          <p:nvPr/>
        </p:nvSpPr>
        <p:spPr>
          <a:xfrm>
            <a:off x="8397180" y="4614862"/>
            <a:ext cx="95250" cy="666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416230" y="4619625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8597205" y="4591050"/>
            <a:ext cx="132769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11111"/>
                </a:solidFill>
                <a:latin typeface="Inter"/>
              </a:rPr>
              <a:t>Bench preview rendered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97205" y="4724400"/>
            <a:ext cx="132769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34 PNGs · 14 m ago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237827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Impact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609600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>Issue No. 04 · Spring 2026 · $14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19200"/>
            <a:ext cx="65532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0A0A0A"/>
                </a:solidFill>
                <a:latin typeface="Cambria"/>
              </a:rPr>
              <a:t>The cover story · pp. 24 —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90650"/>
            <a:ext cx="6553200" cy="42594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0A0A0A"/>
                </a:solidFill>
                <a:latin typeface="Impact"/>
              </a:rPr>
              <a:t>A FIELD GUIDE TO THE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46327"/>
            <a:ext cx="3831431" cy="851892"/>
          </a:xfrm>
          <a:prstGeom prst="rect">
            <a:avLst/>
          </a:prstGeom>
          <a:solidFill>
            <a:srgbClr val="0A0A0A"/>
          </a:solidFill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solidFill>
                  <a:srgbClr val="E11D48"/>
                </a:solidFill>
                <a:latin typeface="Impact"/>
              </a:rPr>
              <a:t>EDITED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50111"/>
            <a:ext cx="111323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ambria"/>
              </a:rPr>
              <a:t>By the editors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4709" y="5650111"/>
            <a:ext cx="8758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A0A0A"/>
                </a:solidFill>
                <a:latin typeface="Cambria"/>
              </a:rPr>
              <a:t>a quiet revolution</a:t>
            </a:r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FFFFF">
                  <a:alpha val="16000"/>
                </a:srgbClr>
              </a:gs>
              <a:gs pos="30000">
                <a:srgbClr val="FFFFFF">
                  <a:alpha val="4000"/>
                </a:srgbClr>
              </a:gs>
              <a:gs pos="60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6000" t="38000" r="64000" b="62000"/>
            </a:path>
          </a:gradFill>
          <a:xfrm>
            <a:off x="7334250" y="914400"/>
            <a:ext cx="4857750" cy="519291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286875" y="2070199"/>
            <a:ext cx="952500" cy="11811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8062912" y="4190940"/>
            <a:ext cx="3400425" cy="320611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39394"/>
                </a:lnTo>
                <a:cubicBezTo>
                  <a:pt x="0" y="9091"/>
                  <a:pt x="21429" y="0"/>
                  <a:pt x="50000" y="0"/>
                </a:cubicBezTo>
                <a:cubicBezTo>
                  <a:pt x="78571" y="0"/>
                  <a:pt x="100000" y="9091"/>
                  <a:pt x="100000" y="39394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2850" y="5324475"/>
            <a:ext cx="2690515" cy="57715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A NEW</a:t>
            </a:r>
          </a:p>
          <a:p>
            <a:pPr algn="l"/>
            <a:r>
              <a:rPr sz="2250" b="0" i="0" u="none">
                <a:solidFill>
                  <a:srgbClr val="FFFFFF"/>
                </a:solidFill>
                <a:latin typeface="Impact"/>
              </a:rPr>
              <a:t>EDITORIAL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7200" y="5905500"/>
            <a:ext cx="1143000" cy="84117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A0A0A"/>
                </a:solidFill>
                <a:latin typeface="Impact"/>
              </a:rPr>
              <a:t>PP /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905500"/>
            <a:ext cx="7239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Cambria"/>
              </a:rPr>
              <a:t xml:space="preserve">Inside — how slidify rewrote the rules of editable presentations,
          why every shape matters, and the case for typographic restraint.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Cambria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Impact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Cambria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Impact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Impact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Cambria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Cambria"/>
              </a:rPr>
              <a:t>continued page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Arial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Arial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Linear and radial fills emit as &lt;a:gradFill&gt;. PowerPoint colour-pickers stay accurate.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Arial"/>
              </a:rPr>
              <a:t>LLM-LEGIBLE BY CONSTRUCTION.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Arial"/>
              </a:rPr>
              <a:t>A pre-flight checker tells the model what works before the conversion runs. No surprises.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Arial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Arial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Arial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Arial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4577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4429125"/>
            <a:ext cx="12192000" cy="19050"/>
          </a:xfrm>
          <a:prstGeom prst="rect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619750" y="5114925"/>
            <a:ext cx="4953000" cy="571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6191250" y="5391150"/>
            <a:ext cx="3810000" cy="3810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762750" y="5662612"/>
            <a:ext cx="2667000" cy="28575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934075"/>
            <a:ext cx="1714500" cy="19050"/>
          </a:xfrm>
          <a:prstGeom prst="ellipse">
            <a:avLst/>
          </a:prstGeom>
          <a:solidFill>
            <a:srgbClr val="FF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0" y="4038600"/>
            <a:ext cx="12192000" cy="409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46512"/>
                </a:lnTo>
                <a:quadBezTo>
                  <a:pt x="9375" y="18605"/>
                  <a:pt x="18750" y="41860"/>
                </a:quadBezTo>
                <a:quadBezTo>
                  <a:pt x="28125" y="65116"/>
                  <a:pt x="37500" y="32558"/>
                </a:quadBezTo>
                <a:quadBezTo>
                  <a:pt x="46875" y="0"/>
                  <a:pt x="56250" y="37209"/>
                </a:quadBezTo>
                <a:quadBezTo>
                  <a:pt x="65625" y="69767"/>
                  <a:pt x="75000" y="41860"/>
                </a:quadBezTo>
                <a:quadBezTo>
                  <a:pt x="84375" y="18605"/>
                  <a:pt x="93750" y="51163"/>
                </a:quadBezTo>
                <a:lnTo>
                  <a:pt x="100000" y="46512"/>
                </a:lnTo>
                <a:lnTo>
                  <a:pt x="100000" y="100000"/>
                </a:lnTo>
                <a:close/>
              </a:path>
            </a:pathLst>
          </a:cu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285875" y="1762125"/>
            <a:ext cx="32385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2047875" y="3467100"/>
            <a:ext cx="1838325" cy="3390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26966"/>
                </a:lnTo>
                <a:cubicBezTo>
                  <a:pt x="0" y="12921"/>
                  <a:pt x="15544" y="2247"/>
                  <a:pt x="41451" y="562"/>
                </a:cubicBezTo>
                <a:cubicBezTo>
                  <a:pt x="46632" y="0"/>
                  <a:pt x="54404" y="0"/>
                  <a:pt x="59585" y="562"/>
                </a:cubicBezTo>
                <a:cubicBezTo>
                  <a:pt x="85492" y="2247"/>
                  <a:pt x="100000" y="12921"/>
                  <a:pt x="100000" y="26966"/>
                </a:cubicBezTo>
                <a:lnTo>
                  <a:pt x="100000" y="10000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2552700" y="2419350"/>
            <a:ext cx="838200" cy="1066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3286125" y="2952750"/>
            <a:ext cx="333375" cy="14287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429" y="0"/>
                </a:moveTo>
                <a:quadBezTo>
                  <a:pt x="14286" y="26667"/>
                  <a:pt x="0" y="46667"/>
                </a:quadBezTo>
                <a:quadBezTo>
                  <a:pt x="42857" y="66667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3857625" y="4381500"/>
            <a:ext cx="66675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71429" y="30769"/>
                  <a:pt x="100000" y="100000"/>
                </a:quadBezTo>
              </a:path>
            </a:pathLst>
          </a:custGeom>
          <a:noFill/>
          <a:ln w="19050">
            <a:solidFill>
              <a:srgbClr val="FF9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62000" y="552450"/>
            <a:ext cx="1831479" cy="449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Photo essay</a:t>
            </a:r>
          </a:p>
          <a:p>
            <a:pPr algn="l"/>
            <a:r>
              <a:rPr sz="825" b="1" i="0" u="none">
                <a:solidFill>
                  <a:srgbClr val="FF9A6C"/>
                </a:solidFill>
                <a:latin typeface="Inter"/>
              </a:rPr>
              <a:t>part iii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    · light over the editing room</a:t>
            </a:r>
            <a:r>
              <a:rPr sz="82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0300" y="476250"/>
            <a:ext cx="1562100" cy="2842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  Plate 16 of 24</a:t>
            </a:r>
          </a:p>
          <a:p>
            <a:pPr algn="r"/>
            <a:r>
              <a:rPr sz="800" b="0" i="0" u="none">
                <a:solidFill>
                  <a:srgbClr val="FF9A6C"/>
                </a:solidFill>
                <a:latin typeface="Consolas"/>
              </a:rPr>
              <a:t>Pitch · spring 2026</a:t>
            </a:r>
            <a:r>
              <a:rPr sz="800" b="0" i="0" u="none">
                <a:solidFill>
                  <a:srgbClr val="FFECC4"/>
                </a:solidFill>
                <a:latin typeface="Consolas"/>
              </a:rPr>
              <a:t xml:space="preserve">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1323975"/>
            <a:ext cx="4496246" cy="22377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The slides we ship are</a:t>
            </a:r>
          </a:p>
          <a:p>
            <a:pPr algn="l"/>
            <a:r>
              <a:rPr sz="4050" b="0" i="1" u="none">
                <a:solidFill>
                  <a:srgbClr val="FFECC4"/>
                </a:solidFill>
                <a:latin typeface="Cambria"/>
              </a:rPr>
              <a:t>an act of editing,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
          not an accident</a:t>
            </a:r>
          </a:p>
          <a:p>
            <a:pPr algn="l"/>
            <a:r>
              <a:rPr sz="4050" b="0" i="1" u="none">
                <a:solidFill>
                  <a:srgbClr val="0D1F3C"/>
                </a:solidFill>
                <a:latin typeface="Cambria"/>
              </a:rPr>
              <a:t xml:space="preserve">of capture.
  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3860006"/>
            <a:ext cx="4572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0D1F3C"/>
                </a:solidFill>
                <a:latin typeface="Inter"/>
              </a:rPr>
              <a:t xml:space="preserve">Slidify treats every shape as a curated object.
          The export is the artifact — not a flattened
          souvenir of 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6296025"/>
            <a:ext cx="109728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6438900"/>
            <a:ext cx="18112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Studio Atlas · plate xvi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4059" y="6438900"/>
            <a:ext cx="14626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9A6C"/>
                </a:solidFill>
                <a:latin typeface="Inter"/>
              </a:rPr>
              <a:t>— captured in navy &amp; apricot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29962" y="6438900"/>
            <a:ext cx="4524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16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111111"/>
      </a:accent2>
      <a:accent3>
        <a:srgbClr val="52525B"/>
      </a:accent3>
      <a:accent4>
        <a:srgbClr val="D4D4D8"/>
      </a:accent4>
      <a:accent5>
        <a:srgbClr val="E5E5E5"/>
      </a:accent5>
      <a:accent6>
        <a:srgbClr val="A1A1AA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