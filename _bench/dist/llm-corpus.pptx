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embeddedFontLst>
    <p:embeddedFont>
      <p:font typeface="Tiempos" panose="02040603050405020304" charset="0"/>
      <p:regular r:id="rIdSlidifyFont1"/>
    </p:embeddedFont>
    <p:embeddedFont>
      <p:font typeface="Georgia" panose="02040603050405020304" charset="0"/>
      <p:regular r:id="rIdSlidifyFont2"/>
      <p:bold r:id="rIdSlidifyFont3"/>
      <p:italic r:id="rIdSlidifyFont4"/>
    </p:embeddedFont>
    <p:embeddedFont>
      <p:font typeface="IBM Plex Mono" panose="020B0609040504020204" charset="0"/>
      <p:regular r:id="rIdSlidifyFont5"/>
      <p:bold r:id="rIdSlidifyFont6"/>
    </p:embeddedFont>
    <p:embeddedFont>
      <p:font typeface="Bebas Neue" panose="020B0604020202020204" charset="0"/>
      <p:regular r:id="rIdSlidifyFont7"/>
      <p:bold r:id="rIdSlidifyFont8"/>
    </p:embeddedFont>
    <p:embeddedFont>
      <p:font typeface="Playfair Display" panose="02040603050405020304" charset="0"/>
      <p:regular r:id="rIdSlidifyFont9"/>
      <p:bold r:id="rIdSlidifyFont10"/>
      <p:italic r:id="rIdSlidifyFont11"/>
    </p:embeddedFont>
    <p:embeddedFont>
      <p:font typeface="Helvetica Neue" panose="020B0604020202020204" charset="0"/>
      <p:regular r:id="rIdSlidifyFont12"/>
      <p:bold r:id="rIdSlidifyFont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948035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  slidify 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06794" y="819150"/>
            <a:ext cx="1066540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shipping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81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504950"/>
            <a:ext cx="7537549" cy="2724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900" b="1" i="0" u="none">
                <a:solidFill>
                  <a:srgbClr val="F5F5F7"/>
                </a:solidFill>
                <a:latin typeface="Inter"/>
              </a:rPr>
              <a:t xml:space="preserve">A compiler for </a:t>
            </a:r>
            <a:r>
              <a:rPr sz="69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presentations</a:t>
            </a:r>
            <a:r>
              <a:rPr sz="69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48175"/>
            <a:ext cx="7429500" cy="628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 xml:space="preserve">Render in Chromium. Cluster into visual units. Translate gradients,
            shadows, and shapes natively. Edit the result in PowerPoint as if a
            human authored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419725"/>
            <a:ext cx="1141800" cy="45720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0A0A0F"/>
                </a:solidFill>
                <a:latin typeface="Inter"/>
              </a:rPr>
              <a:t>Get the CLI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1912" y="5419725"/>
            <a:ext cx="149825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Watch the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5953125"/>
            <a:ext cx="21717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3303" y="5953125"/>
            <a:ext cx="214669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33475"/>
            <a:ext cx="10668000" cy="619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Atelier-v2 telemetry.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382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Atoms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155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571875"/>
            <a:ext cx="1215219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+94 vs Wave-2A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61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7623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Native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2375" y="2790825"/>
            <a:ext cx="866924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2375" y="3571875"/>
            <a:ext cx="745331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3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865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5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525" y="3571875"/>
            <a:ext cx="66715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codegen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44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92106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Escape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0675" y="2790825"/>
            <a:ext cx="1320403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0.12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0675" y="3571875"/>
            <a:ext cx="719733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▼ −2.1pp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71487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SOURCE · slidify telemetry · last 28 days · n = 1,284 deck conversions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Why slidify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Three reasons it lands.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103822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Native shapes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87% of slide area emits as editable PPTX primitives. No screenshots in PowerPoint.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415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67037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67037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037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Every shape carries a recipe id. Edits in PowerPoint flow back to JSX.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6301" y="2057400"/>
            <a:ext cx="3403699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302526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302526" y="2828925"/>
            <a:ext cx="2851249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526" y="3105150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 pre-flight checker tells the model exactly what will and won't convert.</a:t>
            </a:r>
          </a:p>
        </p:txBody>
      </p:sp>
      <p:sp>
        <p:nvSpPr>
          <p:cNvPr id="17" name="TextBox 1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7620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9906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12192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14478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6400" y="4404122"/>
            <a:ext cx="304800" cy="30480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5F5F7"/>
                </a:solidFill>
                <a:latin typeface="Inter"/>
              </a:rPr>
              <a:t>+12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485084"/>
            <a:ext cx="297001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Built by 16 designers + engineers across 4 timezones.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>One PPTX per pitch.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7145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 i="0" u="none">
                <a:solidFill>
                  <a:srgbClr val="A1A1AA"/>
                </a:solidFill>
                <a:latin typeface="Inter"/>
              </a:rPr>
              <a:t>Free for hobby decks. Pay when you ship to a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343150"/>
            <a:ext cx="3403550" cy="35528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76325" y="265747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Hobby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2952750"/>
            <a:ext cx="27749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" y="355282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forever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3981450"/>
            <a:ext cx="93612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300" y="4238625"/>
            <a:ext cx="64011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4 templates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4495800"/>
            <a:ext cx="115163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Watermark on export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325" y="4924425"/>
            <a:ext cx="1264741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Choose Hobby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000" y="2247900"/>
            <a:ext cx="2755850" cy="3324225"/>
          </a:xfrm>
          <a:prstGeom prst="rect">
            <a:avLst/>
          </a:prstGeom>
          <a:solidFill>
            <a:srgbClr val="16162A"/>
          </a:solidFill>
          <a:effectLst>
            <a:outerShdw blurRad="571500" dist="228600" dir="5400000" algn="ctr" rotWithShape="0">
              <a:srgbClr val="A78BFA">
                <a:alpha val="20000"/>
              </a:srgbClr>
            </a:out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718000" y="3990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000" y="42481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8000" y="45053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000" y="47625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8000" y="2247900"/>
            <a:ext cx="781348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000" y="266700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000" y="2962275"/>
            <a:ext cx="2755850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000" y="356235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8975" y="3990975"/>
            <a:ext cx="8672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Unlimited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8975" y="4248150"/>
            <a:ext cx="11974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All templates &amp; atoms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8975" y="4505325"/>
            <a:ext cx="77078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No watermark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8975" y="4762500"/>
            <a:ext cx="88776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000" y="5191125"/>
            <a:ext cx="105325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Choose Pro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0626" y="2657475"/>
            <a:ext cx="2775049" cy="2905125"/>
          </a:xfrm>
          <a:prstGeom prst="rect">
            <a:avLst/>
          </a:prstGeom>
          <a:solidFill>
            <a:srgbClr val="0E0E1A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8340626" y="39814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0626" y="42386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0626" y="44958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40626" y="4752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0626" y="265747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0626" y="2952750"/>
            <a:ext cx="2775049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$79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26" y="355282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1601" y="3981450"/>
            <a:ext cx="9429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Everything in Pro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1601" y="4238625"/>
            <a:ext cx="12525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Brand atoms.yaml 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1601" y="4495800"/>
            <a:ext cx="122515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Slack &amp; Figma plugins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1601" y="4752975"/>
            <a:ext cx="2616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0626" y="5181600"/>
            <a:ext cx="1188393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Choose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522163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Internal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522163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Conversion health, last 28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21353" y="762000"/>
            <a:ext cx="500900" cy="3048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98657" y="762000"/>
            <a:ext cx="832247" cy="3048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28d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2256" y="762000"/>
            <a:ext cx="997744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Export PPTX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0001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ratio progression</a:t>
            </a:r>
          </a:p>
        </p:txBody>
      </p:sp>
      <p:sp>
        <p:nvSpPr>
          <p:cNvPr id="10" name="Freeform 9"/>
          <p:cNvSpPr/>
          <p:nvPr/>
        </p:nvSpPr>
        <p:spPr>
          <a:xfrm>
            <a:off x="1000125" y="2600325"/>
            <a:ext cx="4743450" cy="1047750"/>
          </a:xfrm>
          <a:custGeom>
            <a:avLst/>
            <a:gdLst/>
            <a:ahLst/>
            <a:cxnLst/>
            <a:rect l="l" t="t" r="r" b="b"/>
            <a:pathLst>
              <a:path w="4743450" h="10477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</a:path>
            </a:pathLst>
          </a:custGeom>
          <a:noFill/>
          <a:ln w="2857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00125" y="2600325"/>
            <a:ext cx="4743450" cy="1238250"/>
          </a:xfrm>
          <a:custGeom>
            <a:avLst/>
            <a:gdLst/>
            <a:ahLst/>
            <a:cxnLst/>
            <a:rect l="l" t="t" r="r" b="b"/>
            <a:pathLst>
              <a:path w="4743450" h="12382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  <a:lnTo>
                  <a:pt x="4743450" y="1238250"/>
                </a:lnTo>
                <a:lnTo>
                  <a:pt x="0" y="1238250"/>
                </a:lnTo>
              </a:path>
            </a:pathLst>
          </a:custGeom>
          <a:solidFill>
            <a:srgbClr val="A78BFA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5695950" y="2552700"/>
            <a:ext cx="95250" cy="9525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0125" y="3990975"/>
            <a:ext cx="1805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8376" y="3990975"/>
            <a:ext cx="1631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065" y="3990975"/>
            <a:ext cx="197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4729" y="3990975"/>
            <a:ext cx="16906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Jun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3038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Aug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7093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Sep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4484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Coverage by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8425" y="2314575"/>
            <a:ext cx="77286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Tier-0 (atoms)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3927" y="231457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91%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8425" y="253365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6448425" y="2533650"/>
            <a:ext cx="4316462" cy="76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448425" y="2743200"/>
            <a:ext cx="88314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Tier-1 (patterns)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3927" y="2743200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78%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8425" y="296227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6448425" y="2962275"/>
            <a:ext cx="3699867" cy="76200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448425" y="3171825"/>
            <a:ext cx="9587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Tier-2 (heuristics)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3927" y="317182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42%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8425" y="339090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6448425" y="3390900"/>
            <a:ext cx="1992213" cy="762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448425" y="3600450"/>
            <a:ext cx="676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Tier-3 (LLM)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12835" y="3600450"/>
            <a:ext cx="1790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8%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8425" y="381952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6448425" y="3819525"/>
            <a:ext cx="379363" cy="76200"/>
          </a:xfrm>
          <a:prstGeom prst="round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762000" y="4572000"/>
            <a:ext cx="10668000" cy="706189"/>
          </a:xfrm>
          <a:prstGeom prst="roundRect">
            <a:avLst/>
          </a:prstGeom>
          <a:solidFill>
            <a:srgbClr val="F59E0B">
              <a:alpha val="8000"/>
            </a:srgbClr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962025" y="4733925"/>
            <a:ext cx="102679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Heads up: bento-cell contrast bumped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025" y="4924425"/>
            <a:ext cx="10267950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DE68A"/>
                </a:solidFill>
                <a:latin typeface="Inter"/>
              </a:rPr>
              <a:t>surf.bento-cell now defaults to surface-3 (#16162a) so cards are visible against the surface-1 slide background. Re-render decks compiled before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The people who shipped this.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6383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A1A1AA"/>
                </a:solidFill>
                <a:latin typeface="Inter"/>
              </a:rPr>
              <a:t>Six full-time + two design partners. Distributed across four timezones.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962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7825" y="2466975"/>
            <a:ext cx="743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Avery 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7825" y="2705100"/>
            <a:ext cx="7432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IR &amp; compiler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5815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7325" y="2466975"/>
            <a:ext cx="5366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Bo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7325" y="2705100"/>
            <a:ext cx="5366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Primitives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201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6825" y="2466975"/>
            <a:ext cx="5430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Cyn 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6825" y="2705100"/>
            <a:ext cx="5430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962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25" y="3590925"/>
            <a:ext cx="53682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7825" y="3829050"/>
            <a:ext cx="5368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Harvester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15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6667">
                <a:srgbClr val="E454B1"/>
              </a:gs>
              <a:gs pos="33333">
                <a:srgbClr val="DA5FC7"/>
              </a:gs>
              <a:gs pos="50000">
                <a:srgbClr val="CF6BD9"/>
              </a:gs>
              <a:gs pos="66667">
                <a:srgbClr val="C276E7"/>
              </a:gs>
              <a:gs pos="83333">
                <a:srgbClr val="B580F2"/>
              </a:gs>
              <a:gs pos="100000">
                <a:srgbClr val="A78BFA"/>
              </a:gs>
            </a:gsLst>
            <a:lin ang="2700000" scaled="0"/>
          </a:gradFill>
          <a:xfrm>
            <a:off x="45815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7325" y="3590925"/>
            <a:ext cx="82599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Eli 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7325" y="3829050"/>
            <a:ext cx="8259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PPTX backend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gradFill flip="none" rotWithShape="1">
            <a:gsLst>
              <a:gs pos="0">
                <a:srgbClr val="84CC16"/>
              </a:gs>
              <a:gs pos="16667">
                <a:srgbClr val="78CB2B"/>
              </a:gs>
              <a:gs pos="33333">
                <a:srgbClr val="6BCA39"/>
              </a:gs>
              <a:gs pos="50000">
                <a:srgbClr val="5DC944"/>
              </a:gs>
              <a:gs pos="66667">
                <a:srgbClr val="4DC84E"/>
              </a:gs>
              <a:gs pos="83333">
                <a:srgbClr val="3BC756"/>
              </a:gs>
              <a:gs pos="100000">
                <a:srgbClr val="22C55E"/>
              </a:gs>
            </a:gsLst>
            <a:lin ang="2700000" scaled="0"/>
          </a:gradFill>
          <a:xfrm>
            <a:off x="8201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FW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6825" y="3590925"/>
            <a:ext cx="81200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Fia 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6825" y="3829050"/>
            <a:ext cx="81200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8750" y="2871341"/>
            <a:ext cx="9334500" cy="111531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600" b="0" i="0" u="none">
                <a:solidFill>
                  <a:srgbClr val="F5F5F7"/>
                </a:solidFill>
                <a:latin typeface="Tiempos"/>
              </a:rPr>
              <a:t xml:space="preserve">Slidify is the first tool that actually understands what designers
        mean by “editable.”</a:t>
            </a:r>
          </a:p>
        </p:txBody>
      </p:sp>
      <p:sp>
        <p:nvSpPr>
          <p:cNvPr id="4" name="TextBox 3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9987F7"/>
              </a:gs>
              <a:gs pos="33333">
                <a:srgbClr val="AF81F1"/>
              </a:gs>
              <a:gs pos="50000">
                <a:srgbClr val="C37CE8"/>
              </a:gs>
              <a:gs pos="66667">
                <a:srgbClr val="D678DA"/>
              </a:gs>
              <a:gs pos="83333">
                <a:srgbClr val="E674CA"/>
              </a:gs>
              <a:gs pos="100000">
                <a:srgbClr val="F472B6"/>
              </a:gs>
            </a:gsLst>
            <a:lin ang="2700000" scaled="0"/>
          </a:gradFill>
          <a:xfrm>
            <a:off x="4129534" y="4367659"/>
            <a:ext cx="440308" cy="4572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0084" y="4429571"/>
            <a:ext cx="190678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084" y="4620071"/>
            <a:ext cx="19067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partner, Anonymous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3570" y="4481959"/>
            <a:ext cx="1117941" cy="228600"/>
          </a:xfrm>
          <a:prstGeom prst="rect">
            <a:avLst/>
          </a:prstGeom>
          <a:solidFill>
            <a:srgbClr val="A78BFA">
              <a:alpha val="1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u="none">
                <a:solidFill>
                  <a:srgbClr val="C4B5FD"/>
                </a:solidFill>
                <a:latin typeface="Inter"/>
              </a:rPr>
              <a:t>Verified customer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2026 plan of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Roadmap.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0012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3201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990" y="2762250"/>
            <a:ext cx="97080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Atoms.yaml 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6990" y="3067050"/>
            <a:ext cx="86007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Codegen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6990" y="33718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M3 primitives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662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71475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7826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1615" y="2762250"/>
            <a:ext cx="56331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Atelier-v2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1615" y="30670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Preset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1615" y="3371850"/>
            <a:ext cx="8078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Harvester GA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42937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5000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6240" y="2762250"/>
            <a:ext cx="9560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6240" y="3067050"/>
            <a:ext cx="9115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Reverse-import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6240" y="3371850"/>
            <a:ext cx="6005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Cookbook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0587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4400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9625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0865" y="2762250"/>
            <a:ext cx="8079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PDF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0865" y="3067050"/>
            <a:ext cx="8006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Keynote XML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0865" y="3371850"/>
            <a:ext cx="763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Figma plugin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6621" y="4181475"/>
            <a:ext cx="183549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Subscribe to changelog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54518" y="4181475"/>
            <a:ext cx="1303213" cy="38100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Join the waitlist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4954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149" y="847725"/>
            <a:ext cx="851571" cy="1714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v1.0 · ICONS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345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9448218" y="862012"/>
            <a:ext cx="115454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68567" y="100000"/>
                </a:moveTo>
                <a:lnTo>
                  <a:pt x="68567" y="80000"/>
                </a:lnTo>
                <a:cubicBezTo>
                  <a:pt x="69428" y="73739"/>
                  <a:pt x="67204" y="67449"/>
                  <a:pt x="62380" y="62500"/>
                </a:cubicBezTo>
                <a:cubicBezTo>
                  <a:pt x="80942" y="62500"/>
                  <a:pt x="99505" y="52500"/>
                  <a:pt x="99505" y="35000"/>
                </a:cubicBezTo>
                <a:cubicBezTo>
                  <a:pt x="100000" y="28750"/>
                  <a:pt x="97834" y="22600"/>
                  <a:pt x="93317" y="17500"/>
                </a:cubicBezTo>
                <a:cubicBezTo>
                  <a:pt x="95050" y="11750"/>
                  <a:pt x="95050" y="5750"/>
                  <a:pt x="93317" y="0"/>
                </a:cubicBezTo>
                <a:cubicBezTo>
                  <a:pt x="93317" y="0"/>
                  <a:pt x="87130" y="0"/>
                  <a:pt x="74755" y="7500"/>
                </a:cubicBezTo>
                <a:cubicBezTo>
                  <a:pt x="58420" y="5000"/>
                  <a:pt x="41590" y="5000"/>
                  <a:pt x="25255" y="7500"/>
                </a:cubicBezTo>
                <a:cubicBezTo>
                  <a:pt x="12879" y="0"/>
                  <a:pt x="6692" y="0"/>
                  <a:pt x="6692" y="0"/>
                </a:cubicBezTo>
                <a:cubicBezTo>
                  <a:pt x="4836" y="5750"/>
                  <a:pt x="4836" y="11750"/>
                  <a:pt x="6692" y="17500"/>
                </a:cubicBezTo>
                <a:cubicBezTo>
                  <a:pt x="2188" y="22578"/>
                  <a:pt x="0" y="28765"/>
                  <a:pt x="504" y="35000"/>
                </a:cubicBezTo>
                <a:cubicBezTo>
                  <a:pt x="504" y="52500"/>
                  <a:pt x="19067" y="62500"/>
                  <a:pt x="37630" y="62500"/>
                </a:cubicBezTo>
                <a:cubicBezTo>
                  <a:pt x="35216" y="64950"/>
                  <a:pt x="33422" y="67750"/>
                  <a:pt x="32370" y="70750"/>
                </a:cubicBezTo>
                <a:cubicBezTo>
                  <a:pt x="31318" y="73750"/>
                  <a:pt x="31009" y="76900"/>
                  <a:pt x="31442" y="80000"/>
                </a:cubicBezTo>
                <a:lnTo>
                  <a:pt x="31442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9434512" y="962025"/>
            <a:ext cx="50006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cubicBezTo>
                  <a:pt x="35571" y="100000"/>
                  <a:pt x="28571" y="0"/>
                  <a:pt x="0" y="0"/>
                </a:cubicBez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97726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48850" y="838200"/>
            <a:ext cx="190500" cy="1905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9872662" y="933450"/>
            <a:ext cx="142876" cy="0"/>
          </a:xfrm>
          <a:prstGeom prst="line">
            <a:avLst/>
          </a:prstGeom>
          <a:ln w="1905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9915525" y="86201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102108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10310823" y="862011"/>
            <a:ext cx="142879" cy="142879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10417969" y="869156"/>
            <a:ext cx="42862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425112" y="862012"/>
            <a:ext cx="28575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/>
          <p:cNvSpPr/>
          <p:nvPr/>
        </p:nvSpPr>
        <p:spPr>
          <a:xfrm>
            <a:off x="10303669" y="969169"/>
            <a:ext cx="42862" cy="142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10317956" y="954881"/>
            <a:ext cx="14288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106489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10770394" y="9548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10782300" y="859631"/>
            <a:ext cx="76200" cy="762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110871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762000" y="1562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Feature grid · powered by lucide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838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Six reasons icons matter.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10001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 28"/>
          <p:cNvSpPr/>
          <p:nvPr/>
        </p:nvSpPr>
        <p:spPr>
          <a:xfrm>
            <a:off x="1166014" y="3098208"/>
            <a:ext cx="201623" cy="22343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0001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Sub-second compile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1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Median 280 ms / slide on a 12-deck batch.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51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6132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4791025" y="3097774"/>
            <a:ext cx="177800" cy="22354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6132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PPTX-safe by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32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Every shape carries a recipe id; no rasters.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88201" y="2705100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8226326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 38"/>
          <p:cNvSpPr/>
          <p:nvPr/>
        </p:nvSpPr>
        <p:spPr>
          <a:xfrm>
            <a:off x="8381901" y="3154362"/>
            <a:ext cx="222250" cy="111126"/>
          </a:xfrm>
          <a:custGeom>
            <a:avLst/>
            <a:gdLst/>
            <a:ahLst/>
            <a:cxnLst/>
            <a:rect l="l" t="t" r="r" b="b"/>
            <a:pathLst>
              <a:path w="222250" h="111126">
                <a:moveTo>
                  <a:pt x="222250" y="0"/>
                </a:moveTo>
                <a:lnTo>
                  <a:pt x="127794" y="94457"/>
                </a:lnTo>
                <a:lnTo>
                  <a:pt x="72231" y="38894"/>
                </a:lnTo>
                <a:lnTo>
                  <a:pt x="0" y="11112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537476" y="3154362"/>
            <a:ext cx="66675" cy="66676"/>
          </a:xfrm>
          <a:custGeom>
            <a:avLst/>
            <a:gdLst/>
            <a:ahLst/>
            <a:cxnLst/>
            <a:rect l="l" t="t" r="r" b="b"/>
            <a:pathLst>
              <a:path w="66675" h="66676">
                <a:moveTo>
                  <a:pt x="0" y="0"/>
                </a:moveTo>
                <a:lnTo>
                  <a:pt x="66675" y="0"/>
                </a:lnTo>
                <a:lnTo>
                  <a:pt x="66675" y="6667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26326" y="3648075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Native_ratio 87%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6326" y="3905250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Up from 58% in the v0.1 baseline.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20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xfrm>
            <a:off x="10001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155717" y="4901403"/>
            <a:ext cx="222256" cy="2222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325721" y="4912519"/>
            <a:ext cx="60007" cy="444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/>
          <p:cNvSpPr/>
          <p:nvPr/>
        </p:nvSpPr>
        <p:spPr>
          <a:xfrm>
            <a:off x="1333500" y="4904740"/>
            <a:ext cx="44450" cy="6000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47921" y="5068094"/>
            <a:ext cx="6000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66812" y="5049202"/>
            <a:ext cx="22225" cy="6000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0001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01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`slidify check` blocks bad HTML pre-convert.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751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46132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4784675" y="4917281"/>
            <a:ext cx="190500" cy="190500"/>
          </a:xfrm>
          <a:prstGeom prst="ellipse">
            <a:avLst/>
          </a:pr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Connector 54"/>
          <p:cNvCxnSpPr/>
          <p:nvPr/>
        </p:nvCxnSpPr>
        <p:spPr>
          <a:xfrm>
            <a:off x="4768800" y="5012531"/>
            <a:ext cx="222250" cy="0"/>
          </a:xfrm>
          <a:prstGeom prst="line">
            <a:avLst/>
          </a:prstGeom>
          <a:ln w="1714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35475" y="4901406"/>
            <a:ext cx="88900" cy="222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46132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Six theme registers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132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Vercel-dark, paper, magazine, brutalist…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88201" y="4507706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8226326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 60"/>
          <p:cNvSpPr/>
          <p:nvPr/>
        </p:nvSpPr>
        <p:spPr>
          <a:xfrm>
            <a:off x="8387457" y="5054609"/>
            <a:ext cx="63452" cy="6349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5026" y="12488"/>
                </a:moveTo>
                <a:cubicBezTo>
                  <a:pt x="8757" y="34541"/>
                  <a:pt x="0" y="100000"/>
                  <a:pt x="0" y="100000"/>
                </a:cubicBezTo>
                <a:cubicBezTo>
                  <a:pt x="0" y="100000"/>
                  <a:pt x="65499" y="91249"/>
                  <a:pt x="87566" y="64995"/>
                </a:cubicBezTo>
                <a:cubicBezTo>
                  <a:pt x="100000" y="50293"/>
                  <a:pt x="99825" y="27715"/>
                  <a:pt x="85989" y="14063"/>
                </a:cubicBezTo>
                <a:cubicBezTo>
                  <a:pt x="71963" y="683"/>
                  <a:pt x="49853" y="0"/>
                  <a:pt x="35026" y="12488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 61"/>
          <p:cNvSpPr/>
          <p:nvPr/>
        </p:nvSpPr>
        <p:spPr>
          <a:xfrm>
            <a:off x="8448576" y="4912519"/>
            <a:ext cx="13335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100000"/>
                </a:moveTo>
                <a:cubicBezTo>
                  <a:pt x="66667" y="88333"/>
                  <a:pt x="96667" y="53333"/>
                  <a:pt x="100000" y="0"/>
                </a:cubicBezTo>
                <a:cubicBezTo>
                  <a:pt x="46667" y="3333"/>
                  <a:pt x="11667" y="33333"/>
                  <a:pt x="0" y="6666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8404126" y="4956080"/>
            <a:ext cx="77788" cy="5645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71429" y="100000"/>
                </a:moveTo>
                <a:lnTo>
                  <a:pt x="0" y="100000"/>
                </a:lnTo>
                <a:cubicBezTo>
                  <a:pt x="0" y="100000"/>
                  <a:pt x="7857" y="40354"/>
                  <a:pt x="28571" y="21260"/>
                </a:cubicBezTo>
                <a:cubicBezTo>
                  <a:pt x="51714" y="0"/>
                  <a:pt x="100000" y="21260"/>
                  <a:pt x="100000" y="2126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8493026" y="5023644"/>
            <a:ext cx="56451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8571"/>
                </a:moveTo>
                <a:lnTo>
                  <a:pt x="0" y="100000"/>
                </a:lnTo>
                <a:cubicBezTo>
                  <a:pt x="0" y="100000"/>
                  <a:pt x="59646" y="92143"/>
                  <a:pt x="78740" y="71429"/>
                </a:cubicBezTo>
                <a:cubicBezTo>
                  <a:pt x="100000" y="48286"/>
                  <a:pt x="78740" y="0"/>
                  <a:pt x="78740" y="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8226326" y="5450681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6326" y="5707856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Edits in PPT trace back to recipe ids.</a:t>
            </a:r>
          </a:p>
        </p:txBody>
      </p:sp>
      <p:sp>
        <p:nvSpPr>
          <p:cNvPr id="67" name="Freeform 66"/>
          <p:cNvSpPr/>
          <p:nvPr/>
        </p:nvSpPr>
        <p:spPr>
          <a:xfrm>
            <a:off x="787400" y="6481762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228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09650" y="6448425"/>
            <a:ext cx="344447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All icons inline-SVG · stroke-2 · 24×24 viewBox · ISC-licensed.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134302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the slidify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714500"/>
            <a:ext cx="10668000" cy="1943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Ready to compile your next deck?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829050"/>
            <a:ext cx="6858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1500" b="0" i="0" u="none">
                <a:solidFill>
                  <a:srgbClr val="D4D4D8"/>
                </a:solidFill>
                <a:latin typeface="Inter"/>
              </a:rPr>
              <a:t>One curl. One command. Native PPTX out the other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8483" y="4457700"/>
            <a:ext cx="2520739" cy="4572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curl -fsSL https://slidify.sh/install | 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33295" y="4457700"/>
            <a:ext cx="1332533" cy="45720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0A0A0F"/>
                </a:solidFill>
                <a:latin typeface="Inter"/>
              </a:rPr>
              <a:t>Read the docs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4299" y="5372100"/>
            <a:ext cx="14226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github.com/slidify/slidify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5547" y="5372100"/>
            <a:ext cx="84891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@slidify_dev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3063" y="5372100"/>
            <a:ext cx="6746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slidify.dev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38200" y="609600"/>
            <a:ext cx="10515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The Upshot · Housing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857250"/>
            <a:ext cx="8763000" cy="10798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11111"/>
                </a:solidFill>
                <a:latin typeface="Georgia"/>
              </a:rPr>
              <a:t>Rents fell in just six of the country's fifty largest metros.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013347"/>
            <a:ext cx="7239000" cy="501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52525B"/>
                </a:solidFill>
                <a:latin typeface="Inter"/>
              </a:rPr>
              <a:t xml:space="preserve">Year-over-year change in median asking rent for a two-bedroom apartment,
        2024 → 2025. Bars below zero mark cities where renters caught a break.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2858095"/>
            <a:ext cx="10515600" cy="2857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838200" y="4286845"/>
            <a:ext cx="10515600" cy="9525"/>
          </a:xfrm>
          <a:prstGeom prst="rect">
            <a:avLst/>
          </a:prstGeom>
          <a:solidFill>
            <a:srgbClr val="111111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220585" y="4182070"/>
            <a:ext cx="133835" cy="1143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30897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41209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51521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061833" y="3972520"/>
            <a:ext cx="133835" cy="3238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272145" y="3915370"/>
            <a:ext cx="133835" cy="381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482457" y="3858220"/>
            <a:ext cx="133835" cy="4381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692769" y="3782020"/>
            <a:ext cx="133835" cy="514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903081" y="3705820"/>
            <a:ext cx="133835" cy="590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13393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323705" y="3534370"/>
            <a:ext cx="133835" cy="762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534017" y="3458170"/>
            <a:ext cx="133835" cy="838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744329" y="3401020"/>
            <a:ext cx="133835" cy="895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3954641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164953" y="3667720"/>
            <a:ext cx="133835" cy="6286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375265" y="3743920"/>
            <a:ext cx="133835" cy="552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4585577" y="3820120"/>
            <a:ext cx="133835" cy="476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4795889" y="3877270"/>
            <a:ext cx="133835" cy="4191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006201" y="3934420"/>
            <a:ext cx="133835" cy="3619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216513" y="3991570"/>
            <a:ext cx="133835" cy="30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426825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637137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847449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057761" y="4163020"/>
            <a:ext cx="133835" cy="133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6268073" y="4201120"/>
            <a:ext cx="133835" cy="95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6478385" y="4220170"/>
            <a:ext cx="133835" cy="76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6688697" y="4296370"/>
            <a:ext cx="133835" cy="571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6899009" y="4296370"/>
            <a:ext cx="133835" cy="1143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7109321" y="4296370"/>
            <a:ext cx="133835" cy="1714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7319633" y="4296370"/>
            <a:ext cx="133835" cy="2286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7529945" y="4296370"/>
            <a:ext cx="133835" cy="304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7740257" y="4296370"/>
            <a:ext cx="133835" cy="4191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Connector 39"/>
          <p:cNvCxnSpPr/>
          <p:nvPr/>
        </p:nvCxnSpPr>
        <p:spPr>
          <a:xfrm flipH="1">
            <a:off x="9824258" y="4829770"/>
            <a:ext cx="477982" cy="32385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273665" y="4801195"/>
            <a:ext cx="57150" cy="571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8077200" y="5123259"/>
            <a:ext cx="2426345" cy="3295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Austin posted the steepest drop, −4.4%,</a:t>
            </a:r>
          </a:p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after two straight years of double-digit gains.
      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5944195"/>
            <a:ext cx="282550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Source: Zillow Observed Rent Index, Jan 2025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9859" y="5944195"/>
            <a:ext cx="2953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Note: Metros ordered by 12-month change. n=50.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457200"/>
            <a:ext cx="10972800" cy="753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49735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Comparison · field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47700"/>
            <a:ext cx="4973538" cy="4199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111111"/>
                </a:solidFill>
                <a:latin typeface="Georgia"/>
              </a:rPr>
              <a:t>Editable, not photographable.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96202" y="746820"/>
            <a:ext cx="1486198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  n = 12 decks</a:t>
            </a:r>
          </a:p>
          <a:p>
            <a:pPr algn="r"/>
            <a:r>
              <a:rPr sz="800" b="0" i="0" u="none">
                <a:solidFill>
                  <a:srgbClr val="B91C1C"/>
                </a:solidFill>
                <a:latin typeface="Consolas"/>
              </a:rPr>
              <a:t>verified · apr 2026</a:t>
            </a:r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11111">
                  <a:alpha val="3000"/>
                </a:srgbClr>
              </a:gs>
              <a:gs pos="10000">
                <a:srgbClr val="111111">
                  <a:alpha val="2500"/>
                </a:srgbClr>
              </a:gs>
              <a:gs pos="20000">
                <a:srgbClr val="111111">
                  <a:alpha val="2000"/>
                </a:srgbClr>
              </a:gs>
              <a:gs pos="30000">
                <a:srgbClr val="111111">
                  <a:alpha val="1500"/>
                </a:srgbClr>
              </a:gs>
              <a:gs pos="40000">
                <a:srgbClr val="111111">
                  <a:alpha val="1000"/>
                </a:srgbClr>
              </a:gs>
              <a:gs pos="50000">
                <a:srgbClr val="111111">
                  <a:alpha val="500"/>
                </a:srgbClr>
              </a:gs>
              <a:gs pos="60000">
                <a:srgbClr val="111111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 scaled="0"/>
          </a:gradFill>
          <a:xfrm>
            <a:off x="0" y="1619250"/>
            <a:ext cx="6339780" cy="44767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960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9B9B9B"/>
                </a:solidFill>
                <a:latin typeface="Georgia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2123" y="2076450"/>
            <a:ext cx="484733" cy="161925"/>
          </a:xfrm>
          <a:prstGeom prst="rect">
            <a:avLst/>
          </a:prstGeom>
          <a:solidFill>
            <a:srgbClr val="9B9B9B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2123" y="2314575"/>
            <a:ext cx="2010073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5A5A5A"/>
                </a:solidFill>
                <a:latin typeface="Georgia"/>
              </a:rPr>
              <a:t>The screenshot tools.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0454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128367"/>
            <a:ext cx="17479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Slides ship as screenshots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47573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599557"/>
            <a:ext cx="17399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Gradients flatten on export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94692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4070747"/>
            <a:ext cx="1908125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Type loses tracking + leading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1811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500" y="4541937"/>
            <a:ext cx="1862882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No round-trip back to source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488930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60960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" y="5013127"/>
            <a:ext cx="19448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LLM has to guess what 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268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B91C1C"/>
                </a:solidFill>
                <a:latin typeface="Georgia"/>
              </a:rPr>
              <a:t>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204" y="2076450"/>
            <a:ext cx="328166" cy="16192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5204" y="2314575"/>
            <a:ext cx="670768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Slidify.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680" y="300454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668268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5580" y="3128367"/>
            <a:ext cx="195322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Every shape is editable PPTX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82680" y="347573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68268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5580" y="3599557"/>
            <a:ext cx="189577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Native &lt;a:gradFill&gt; on export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82680" y="394692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668268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5580" y="4070747"/>
            <a:ext cx="216619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Glyph metrics survive end-to-end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82680" y="441811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668268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5580" y="4541937"/>
            <a:ext cx="1961108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Edits in PPTX trace to recipes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82680" y="488930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68268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5580" y="5013127"/>
            <a:ext cx="208404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`slidify check` blocks bad HTML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48425"/>
            <a:ext cx="11174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Bench · Q1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53161" y="6448425"/>
            <a:ext cx="26817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91C1C"/>
                </a:solidFill>
                <a:latin typeface="Consolas"/>
              </a:rPr>
              <a:t>— editable, every export, every time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60906" y="6448425"/>
            <a:ext cx="52149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15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108204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30541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Slidify et al. · §4 — Conversion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8328" y="457200"/>
            <a:ext cx="17878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Preprint, draft Apr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19150"/>
            <a:ext cx="10820400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11111"/>
                </a:solidFill>
                <a:latin typeface="Georgia"/>
              </a:rPr>
              <a:t>Figure 4 — Native-area ratio across the four-tier matcher.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28725"/>
            <a:ext cx="83820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 xml:space="preserve">Each bar shows the median fraction of slide area emitted as native
        PPTX primitives, by matcher tier. n = 1284 conversions over a 28-day
        window. Whiskers indicate the inter-quartile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32372"/>
            <a:ext cx="10820400" cy="3181350"/>
          </a:xfrm>
          <a:prstGeom prst="rect">
            <a:avLst/>
          </a:prstGeom>
          <a:solidFill>
            <a:srgbClr val="FBFAF6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>
            <a:off x="3086100" y="2260997"/>
            <a:ext cx="0" cy="20955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86100" y="4356497"/>
            <a:ext cx="62484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48000" y="4356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48000" y="3975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48000" y="3594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48000" y="3213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48000" y="2832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48000" y="2451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19500" y="2641997"/>
            <a:ext cx="762000" cy="1714500"/>
          </a:xfrm>
          <a:prstGeom prst="rect">
            <a:avLst/>
          </a:prstGeom>
          <a:solidFill>
            <a:srgbClr val="DCDAD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4000500" y="2432447"/>
            <a:ext cx="0" cy="4191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048250" y="2794397"/>
            <a:ext cx="762000" cy="1562100"/>
          </a:xfrm>
          <a:prstGeom prst="rect">
            <a:avLst/>
          </a:prstGeom>
          <a:solidFill>
            <a:srgbClr val="BABAB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5429250" y="2546747"/>
            <a:ext cx="0" cy="4953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77000" y="3232547"/>
            <a:ext cx="762000" cy="1123950"/>
          </a:xfrm>
          <a:prstGeom prst="rect">
            <a:avLst/>
          </a:prstGeom>
          <a:solidFill>
            <a:srgbClr val="9A9A9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>
            <a:off x="6858000" y="3061097"/>
            <a:ext cx="0" cy="3429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905750" y="4051697"/>
            <a:ext cx="762000" cy="304800"/>
          </a:xfrm>
          <a:prstGeom prst="rect">
            <a:avLst/>
          </a:prstGeom>
          <a:solidFill>
            <a:srgbClr val="7A7A7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 23"/>
          <p:cNvCxnSpPr/>
          <p:nvPr/>
        </p:nvCxnSpPr>
        <p:spPr>
          <a:xfrm>
            <a:off x="8286750" y="3937397"/>
            <a:ext cx="0" cy="2286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876550" y="4318397"/>
            <a:ext cx="76200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7975" y="3937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47975" y="3556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7975" y="3175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47975" y="2794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5588" y="2413397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76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63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51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38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6100" y="2127647"/>
            <a:ext cx="120491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52525B"/>
                </a:solidFill>
                <a:latin typeface="Consolas"/>
              </a:rPr>
              <a:t>native area, % of slide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166122"/>
            <a:ext cx="1061144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Georgia"/>
              </a:rPr>
              <a:t>Figure 4.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 Tier-0 (atoms) carries the conversion. The
        long tail at tier-3 (LLM oracle) is a 3.2% residual; the bulk lands
        through tier-0 and tier-1 patterns. Trend is consistent across the
        seven shipped theme presets </a:t>
            </a:r>
            <a:r>
              <a:rPr sz="975" b="0" i="0" u="none">
                <a:solidFill>
                  <a:srgbClr val="52525B"/>
                </a:solidFill>
                <a:latin typeface="Georgia"/>
              </a:rPr>
              <a:t>[a]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.
     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577036"/>
            <a:ext cx="470907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[a] vercel-dark, linear-light, stripe, paper, retro, brutalist, editorial</a:t>
            </a:r>
          </a:p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[b] Source data archived at pixelpitch.dev/figures/04 — DOI 10.0000/slidify.4
    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533400"/>
            <a:ext cx="1066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Bench · Q1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81050"/>
            <a:ext cx="10668000" cy="4799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111111"/>
                </a:solidFill>
                <a:latin typeface="Georgia"/>
              </a:rPr>
              <a:t>Native-area ratio, six tools compared.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318171"/>
            <a:ext cx="7239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52525B"/>
                </a:solidFill>
                <a:latin typeface="Inter"/>
              </a:rPr>
              <a:t xml:space="preserve">Higher is better — fraction of slide area that survives the export
        as editable PPTX primitives. Identical input deck, all defaults.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051596"/>
            <a:ext cx="10668000" cy="3524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62000" y="2061121"/>
            <a:ext cx="10668000" cy="30956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2061121"/>
            <a:ext cx="4572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061121"/>
            <a:ext cx="285958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784" y="2061121"/>
            <a:ext cx="2577852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636" y="2061121"/>
            <a:ext cx="401136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0" y="2061121"/>
            <a:ext cx="7620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52525B"/>
                </a:solidFill>
                <a:latin typeface="Consolas"/>
              </a:rPr>
              <a:t>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2370683"/>
            <a:ext cx="10668000" cy="533400"/>
          </a:xfrm>
          <a:prstGeom prst="rect">
            <a:avLst/>
          </a:prstGeom>
          <a:solidFill>
            <a:srgbClr val="B91C1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62000" y="2370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B91C1C"/>
                </a:solidFill>
                <a:latin typeface="Georg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2370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slidify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149" y="2584996"/>
            <a:ext cx="511026" cy="14287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leader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8784" y="2370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PPTX shapes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70936" y="2589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770936" y="2589758"/>
            <a:ext cx="1661071" cy="952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0668000" y="2370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0.872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29040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62000" y="29040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29040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PitchCompiler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784" y="29040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Hybrid raster+native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70936" y="31231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770936" y="3123158"/>
            <a:ext cx="1487686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0668000" y="29040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0.781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000" y="34374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62000" y="34374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9200" y="34374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DeckRender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8784" y="34374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+ screenshot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70936" y="36565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6770936" y="3656558"/>
            <a:ext cx="124584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10668000" y="34374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0.654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39708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762000" y="39708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9200" y="39708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HTML2Slides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8784" y="39708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Mostly screenshot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70936" y="41899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xfrm>
            <a:off x="6770936" y="4189958"/>
            <a:ext cx="97527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10668000" y="39708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0.512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0" y="45042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762000" y="45042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9200" y="45042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Tailwind→PPTX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78784" y="45042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All raster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70936" y="47233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6770936" y="4723358"/>
            <a:ext cx="77718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10668000" y="45042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0.408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2000" y="50376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762000" y="5037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9200" y="5037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PaperPress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78784" y="5037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Image only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770936" y="5256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6770936" y="5256758"/>
            <a:ext cx="56376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0668000" y="5037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0.296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2000" y="5747296"/>
            <a:ext cx="403592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method: identical 12-slide deck, public benchmark, n = 50 trials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3570" y="5747296"/>
            <a:ext cx="239643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raw: pixelpitch.dev/bench/q1-2026.json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171450" y="228600"/>
            <a:ext cx="1933575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28600" y="228600"/>
            <a:ext cx="285750" cy="2857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313868" y="307637"/>
            <a:ext cx="115213" cy="12767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85750"/>
            <a:ext cx="982117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111111"/>
                </a:solidFill>
                <a:latin typeface="Georgia"/>
              </a:rPr>
              <a:t>Pitch · Console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1450" y="828675"/>
            <a:ext cx="1933575" cy="361950"/>
          </a:xfrm>
          <a:prstGeom prst="round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 flipV="1">
            <a:off x="390525" y="995362"/>
            <a:ext cx="0" cy="71438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33388" y="952500"/>
            <a:ext cx="0" cy="1143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47662" y="1038225"/>
            <a:ext cx="0" cy="285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0550" y="933450"/>
            <a:ext cx="5930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B91C1C"/>
                </a:solidFill>
                <a:latin typeface="Inter"/>
              </a:rPr>
              <a:t>Overview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450" y="12287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319088" y="1373981"/>
            <a:ext cx="142874" cy="71438"/>
          </a:xfrm>
          <a:custGeom>
            <a:avLst/>
            <a:gdLst/>
            <a:ahLst/>
            <a:cxnLst/>
            <a:rect l="l" t="t" r="r" b="b"/>
            <a:pathLst>
              <a:path w="142874" h="71438">
                <a:moveTo>
                  <a:pt x="142874" y="0"/>
                </a:moveTo>
                <a:lnTo>
                  <a:pt x="82153" y="60722"/>
                </a:lnTo>
                <a:lnTo>
                  <a:pt x="46434" y="25003"/>
                </a:lnTo>
                <a:lnTo>
                  <a:pt x="0" y="71438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419100" y="1373981"/>
            <a:ext cx="42862" cy="42863"/>
          </a:xfrm>
          <a:custGeom>
            <a:avLst/>
            <a:gdLst/>
            <a:ahLst/>
            <a:cxnLst/>
            <a:rect l="l" t="t" r="r" b="b"/>
            <a:pathLst>
              <a:path w="42862" h="42863">
                <a:moveTo>
                  <a:pt x="0" y="0"/>
                </a:moveTo>
                <a:lnTo>
                  <a:pt x="42862" y="0"/>
                </a:lnTo>
                <a:lnTo>
                  <a:pt x="42862" y="42863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90550" y="1333500"/>
            <a:ext cx="41017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Trends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1450" y="16287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40519" y="18311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352425" y="1735931"/>
            <a:ext cx="76200" cy="762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90550" y="1733550"/>
            <a:ext cx="5561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Audience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1450" y="20288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295275" y="2114550"/>
            <a:ext cx="190500" cy="1905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Connector 22"/>
          <p:cNvCxnSpPr/>
          <p:nvPr/>
        </p:nvCxnSpPr>
        <p:spPr>
          <a:xfrm>
            <a:off x="319088" y="2209800"/>
            <a:ext cx="142874" cy="0"/>
          </a:xfrm>
          <a:prstGeom prst="line">
            <a:avLst/>
          </a:prstGeom>
          <a:ln w="19050">
            <a:solidFill>
              <a:srgbClr val="525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361950" y="213836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90550" y="2133600"/>
            <a:ext cx="65990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Geography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1450" y="24288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26"/>
          <p:cNvSpPr/>
          <p:nvPr/>
        </p:nvSpPr>
        <p:spPr>
          <a:xfrm>
            <a:off x="333375" y="2537753"/>
            <a:ext cx="114300" cy="1437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90550" y="2533650"/>
            <a:ext cx="7262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Permissions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71450" y="28289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/>
          <p:cNvSpPr/>
          <p:nvPr/>
        </p:nvSpPr>
        <p:spPr>
          <a:xfrm>
            <a:off x="326231" y="3002756"/>
            <a:ext cx="128588" cy="78581"/>
          </a:xfrm>
          <a:prstGeom prst="roundRect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354806" y="2938462"/>
            <a:ext cx="71438" cy="6429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55556"/>
                </a:lnTo>
                <a:cubicBezTo>
                  <a:pt x="0" y="25079"/>
                  <a:pt x="22571" y="0"/>
                  <a:pt x="50000" y="0"/>
                </a:cubicBezTo>
                <a:cubicBezTo>
                  <a:pt x="77429" y="0"/>
                  <a:pt x="100000" y="25079"/>
                  <a:pt x="100000" y="55556"/>
                </a:cubicBez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590550" y="2933700"/>
            <a:ext cx="48190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Settings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1450" y="3514725"/>
            <a:ext cx="1933575" cy="826591"/>
          </a:xfrm>
          <a:prstGeom prst="roundRect">
            <a:avLst/>
          </a:prstGeom>
          <a:solidFill>
            <a:srgbClr val="F7F5E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325446" y="3668711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08781" y="3674269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 35"/>
          <p:cNvSpPr/>
          <p:nvPr/>
        </p:nvSpPr>
        <p:spPr>
          <a:xfrm>
            <a:off x="414338" y="3668712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/>
          <p:cNvSpPr/>
          <p:nvPr/>
        </p:nvSpPr>
        <p:spPr>
          <a:xfrm>
            <a:off x="319881" y="3752056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 37"/>
          <p:cNvSpPr/>
          <p:nvPr/>
        </p:nvSpPr>
        <p:spPr>
          <a:xfrm>
            <a:off x="330994" y="3740944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23875" y="3667125"/>
            <a:ext cx="5493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Pro tip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4325" y="3876675"/>
            <a:ext cx="1179761" cy="298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Press </a:t>
            </a:r>
            <a:r>
              <a:rPr sz="900" b="0" i="0" u="none">
                <a:solidFill>
                  <a:srgbClr val="111111"/>
                </a:solidFill>
                <a:latin typeface="Consolas"/>
              </a:rPr>
              <a:t>⌘K</a:t>
            </a:r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 to open the
            command palette.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304800"/>
            <a:ext cx="2732484" cy="304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11111"/>
                </a:solidFill>
                <a:latin typeface="Georgia"/>
              </a:rPr>
              <a:t>Conversion overview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67000" y="647700"/>
            <a:ext cx="273248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Last 28 days · all decks · production environment.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44857" y="304800"/>
            <a:ext cx="878681" cy="314325"/>
          </a:xfrm>
          <a:prstGeom prst="roundRect">
            <a:avLst/>
          </a:prstGeom>
          <a:noFill/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>
            <a:off x="10179794" y="423069"/>
            <a:ext cx="111125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0206782" y="433388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10359182" y="390525"/>
            <a:ext cx="4405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11111"/>
                </a:solidFill>
                <a:latin typeface="Inter"/>
              </a:rPr>
              <a:t>Preview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99738" y="304800"/>
            <a:ext cx="811262" cy="314325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1304538" y="390525"/>
            <a:ext cx="3921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Export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6700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286702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Connector 52"/>
          <p:cNvCxnSpPr/>
          <p:nvPr/>
        </p:nvCxnSpPr>
        <p:spPr>
          <a:xfrm flipV="1">
            <a:off x="3057525" y="1393825"/>
            <a:ext cx="0" cy="793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105150" y="1346200"/>
            <a:ext cx="0" cy="1270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009900" y="1441450"/>
            <a:ext cx="0" cy="3175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74667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 56"/>
          <p:cNvSpPr/>
          <p:nvPr/>
        </p:nvSpPr>
        <p:spPr>
          <a:xfrm>
            <a:off x="4952454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5035004" y="1219200"/>
            <a:ext cx="39097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+18.2%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6702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1,284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6702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Decks rendered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759351" y="1019175"/>
            <a:ext cx="295915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5959376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6070501" y="1370012"/>
            <a:ext cx="158750" cy="79376"/>
          </a:xfrm>
          <a:custGeom>
            <a:avLst/>
            <a:gdLst/>
            <a:ahLst/>
            <a:cxnLst/>
            <a:rect l="l" t="t" r="r" b="b"/>
            <a:pathLst>
              <a:path w="158750" h="79376">
                <a:moveTo>
                  <a:pt x="158750" y="0"/>
                </a:moveTo>
                <a:lnTo>
                  <a:pt x="91281" y="67469"/>
                </a:lnTo>
                <a:lnTo>
                  <a:pt x="51594" y="27782"/>
                </a:lnTo>
                <a:lnTo>
                  <a:pt x="0" y="7937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6181626" y="1370012"/>
            <a:ext cx="47625" cy="47626"/>
          </a:xfrm>
          <a:custGeom>
            <a:avLst/>
            <a:gdLst/>
            <a:ahLst/>
            <a:cxnLst/>
            <a:rect l="l" t="t" r="r" b="b"/>
            <a:pathLst>
              <a:path w="47625" h="47626">
                <a:moveTo>
                  <a:pt x="0" y="0"/>
                </a:moveTo>
                <a:lnTo>
                  <a:pt x="47625" y="0"/>
                </a:lnTo>
                <a:lnTo>
                  <a:pt x="47625" y="4762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/>
          <p:cNvSpPr/>
          <p:nvPr/>
        </p:nvSpPr>
        <p:spPr>
          <a:xfrm>
            <a:off x="7992765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/>
          <p:cNvSpPr/>
          <p:nvPr/>
        </p:nvSpPr>
        <p:spPr>
          <a:xfrm>
            <a:off x="8070552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8153102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+4.1pp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59376" y="1771650"/>
            <a:ext cx="2559100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87%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59376" y="2209800"/>
            <a:ext cx="2559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Native ratio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85185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905187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 71"/>
          <p:cNvSpPr/>
          <p:nvPr/>
        </p:nvSpPr>
        <p:spPr>
          <a:xfrm>
            <a:off x="9178875" y="1329592"/>
            <a:ext cx="127000" cy="15967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 72"/>
          <p:cNvSpPr/>
          <p:nvPr/>
        </p:nvSpPr>
        <p:spPr>
          <a:xfrm>
            <a:off x="11101784" y="1269206"/>
            <a:ext cx="77788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 73"/>
          <p:cNvSpPr/>
          <p:nvPr/>
        </p:nvSpPr>
        <p:spPr>
          <a:xfrm>
            <a:off x="11140678" y="1246981"/>
            <a:ext cx="38894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50000"/>
                </a:lnTo>
                <a:lnTo>
                  <a:pt x="0" y="10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1245453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−2.1pp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5187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0.12%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5187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Drift incidents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67000" y="2676525"/>
            <a:ext cx="9144000" cy="6762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 78"/>
          <p:cNvSpPr/>
          <p:nvPr/>
        </p:nvSpPr>
        <p:spPr>
          <a:xfrm>
            <a:off x="2873375" y="2857500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/>
          <p:cNvSpPr txBox="1"/>
          <p:nvPr/>
        </p:nvSpPr>
        <p:spPr>
          <a:xfrm>
            <a:off x="3076575" y="2824162"/>
            <a:ext cx="9842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All checks green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8452" y="2833688"/>
            <a:ext cx="44157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12s ago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47975" y="3067050"/>
            <a:ext cx="857696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self-contained</a:t>
            </a:r>
          </a:p>
        </p:txBody>
      </p:sp>
      <p:sp>
        <p:nvSpPr>
          <p:cNvPr id="83" name="Freeform 82"/>
          <p:cNvSpPr/>
          <p:nvPr/>
        </p:nvSpPr>
        <p:spPr>
          <a:xfrm>
            <a:off x="2867025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3877121" y="3067050"/>
            <a:ext cx="806648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no risky CSS</a:t>
            </a:r>
          </a:p>
        </p:txBody>
      </p:sp>
      <p:sp>
        <p:nvSpPr>
          <p:cNvPr id="85" name="Freeform 84"/>
          <p:cNvSpPr/>
          <p:nvPr/>
        </p:nvSpPr>
        <p:spPr>
          <a:xfrm>
            <a:off x="3896171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/>
          <p:cNvSpPr txBox="1"/>
          <p:nvPr/>
        </p:nvSpPr>
        <p:spPr>
          <a:xfrm>
            <a:off x="4855220" y="3067050"/>
            <a:ext cx="698897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 warnings</a:t>
            </a:r>
          </a:p>
        </p:txBody>
      </p:sp>
      <p:sp>
        <p:nvSpPr>
          <p:cNvPr id="87" name="Freeform 86"/>
          <p:cNvSpPr/>
          <p:nvPr/>
        </p:nvSpPr>
        <p:spPr>
          <a:xfrm>
            <a:off x="4874270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5725567" y="3067050"/>
            <a:ext cx="1054745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22 / 22 atoms hint</a:t>
            </a:r>
          </a:p>
        </p:txBody>
      </p:sp>
      <p:sp>
        <p:nvSpPr>
          <p:cNvPr id="89" name="Freeform 88"/>
          <p:cNvSpPr/>
          <p:nvPr/>
        </p:nvSpPr>
        <p:spPr>
          <a:xfrm>
            <a:off x="5744617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ounded Rectangle 89"/>
          <p:cNvSpPr/>
          <p:nvPr/>
        </p:nvSpPr>
        <p:spPr>
          <a:xfrm>
            <a:off x="2667000" y="3486150"/>
            <a:ext cx="5406330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Freeform 90"/>
          <p:cNvSpPr/>
          <p:nvPr/>
        </p:nvSpPr>
        <p:spPr>
          <a:xfrm>
            <a:off x="2859088" y="3710781"/>
            <a:ext cx="111124" cy="55563"/>
          </a:xfrm>
          <a:custGeom>
            <a:avLst/>
            <a:gdLst/>
            <a:ahLst/>
            <a:cxnLst/>
            <a:rect l="l" t="t" r="r" b="b"/>
            <a:pathLst>
              <a:path w="111124" h="55563">
                <a:moveTo>
                  <a:pt x="111124" y="0"/>
                </a:moveTo>
                <a:lnTo>
                  <a:pt x="63896" y="47228"/>
                </a:lnTo>
                <a:lnTo>
                  <a:pt x="36115" y="19447"/>
                </a:lnTo>
                <a:lnTo>
                  <a:pt x="0" y="55563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 91"/>
          <p:cNvSpPr/>
          <p:nvPr/>
        </p:nvSpPr>
        <p:spPr>
          <a:xfrm>
            <a:off x="2936875" y="3710781"/>
            <a:ext cx="33337" cy="33338"/>
          </a:xfrm>
          <a:custGeom>
            <a:avLst/>
            <a:gdLst/>
            <a:ahLst/>
            <a:cxnLst/>
            <a:rect l="l" t="t" r="r" b="b"/>
            <a:pathLst>
              <a:path w="33337" h="33338">
                <a:moveTo>
                  <a:pt x="0" y="0"/>
                </a:moveTo>
                <a:lnTo>
                  <a:pt x="33337" y="0"/>
                </a:lnTo>
                <a:lnTo>
                  <a:pt x="33337" y="33338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3057525" y="3667125"/>
            <a:ext cx="15762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Native ratio · last 12 weeks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44817" y="3681412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+4.1 pp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179415" y="41338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179415" y="43434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179415" y="45529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179415" y="47625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179415" y="49720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3179415" y="4152900"/>
            <a:ext cx="4381500" cy="10287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72222"/>
                </a:moveTo>
                <a:lnTo>
                  <a:pt x="8261" y="68519"/>
                </a:lnTo>
                <a:lnTo>
                  <a:pt x="16522" y="64815"/>
                </a:lnTo>
                <a:lnTo>
                  <a:pt x="24783" y="57407"/>
                </a:lnTo>
                <a:lnTo>
                  <a:pt x="33043" y="51852"/>
                </a:lnTo>
                <a:lnTo>
                  <a:pt x="41304" y="46296"/>
                </a:lnTo>
                <a:lnTo>
                  <a:pt x="49565" y="38889"/>
                </a:lnTo>
                <a:lnTo>
                  <a:pt x="57826" y="35185"/>
                </a:lnTo>
                <a:lnTo>
                  <a:pt x="66087" y="25926"/>
                </a:lnTo>
                <a:lnTo>
                  <a:pt x="74348" y="20370"/>
                </a:lnTo>
                <a:lnTo>
                  <a:pt x="82609" y="14815"/>
                </a:lnTo>
                <a:lnTo>
                  <a:pt x="90870" y="7407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B91C1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Freeform 100"/>
          <p:cNvSpPr/>
          <p:nvPr/>
        </p:nvSpPr>
        <p:spPr>
          <a:xfrm>
            <a:off x="3179415" y="4152900"/>
            <a:ext cx="4381500" cy="742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8261" y="94872"/>
                </a:lnTo>
                <a:lnTo>
                  <a:pt x="16522" y="89744"/>
                </a:lnTo>
                <a:lnTo>
                  <a:pt x="24783" y="79487"/>
                </a:lnTo>
                <a:lnTo>
                  <a:pt x="33043" y="71795"/>
                </a:lnTo>
                <a:lnTo>
                  <a:pt x="41304" y="64103"/>
                </a:lnTo>
                <a:lnTo>
                  <a:pt x="49565" y="53846"/>
                </a:lnTo>
                <a:lnTo>
                  <a:pt x="57826" y="48718"/>
                </a:lnTo>
                <a:lnTo>
                  <a:pt x="66087" y="35897"/>
                </a:lnTo>
                <a:lnTo>
                  <a:pt x="74348" y="28205"/>
                </a:lnTo>
                <a:lnTo>
                  <a:pt x="82609" y="20513"/>
                </a:lnTo>
                <a:lnTo>
                  <a:pt x="90870" y="10256"/>
                </a:ln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7522815" y="4114800"/>
            <a:ext cx="76200" cy="7620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7475190" y="4067175"/>
            <a:ext cx="171450" cy="1714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/>
          <p:cNvSpPr txBox="1"/>
          <p:nvPr/>
        </p:nvSpPr>
        <p:spPr>
          <a:xfrm>
            <a:off x="2847975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411414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975003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538442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26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206680" y="3486150"/>
            <a:ext cx="3604171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 108"/>
          <p:cNvSpPr/>
          <p:nvPr/>
        </p:nvSpPr>
        <p:spPr>
          <a:xfrm>
            <a:off x="8398776" y="3682999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 109"/>
          <p:cNvSpPr/>
          <p:nvPr/>
        </p:nvSpPr>
        <p:spPr>
          <a:xfrm>
            <a:off x="8482112" y="3688556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 110"/>
          <p:cNvSpPr/>
          <p:nvPr/>
        </p:nvSpPr>
        <p:spPr>
          <a:xfrm>
            <a:off x="8487668" y="3683000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 111"/>
          <p:cNvSpPr/>
          <p:nvPr/>
        </p:nvSpPr>
        <p:spPr>
          <a:xfrm>
            <a:off x="8393212" y="3766344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Freeform 112"/>
          <p:cNvSpPr/>
          <p:nvPr/>
        </p:nvSpPr>
        <p:spPr>
          <a:xfrm>
            <a:off x="8404324" y="3755231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/>
          <p:cNvSpPr txBox="1"/>
          <p:nvPr/>
        </p:nvSpPr>
        <p:spPr>
          <a:xfrm>
            <a:off x="8597205" y="3667125"/>
            <a:ext cx="87406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Recent activity</a:t>
            </a:r>
          </a:p>
        </p:txBody>
      </p:sp>
      <p:sp>
        <p:nvSpPr>
          <p:cNvPr id="115" name="Freeform 114"/>
          <p:cNvSpPr/>
          <p:nvPr/>
        </p:nvSpPr>
        <p:spPr>
          <a:xfrm>
            <a:off x="8406705" y="395287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/>
          <p:cNvSpPr txBox="1"/>
          <p:nvPr/>
        </p:nvSpPr>
        <p:spPr>
          <a:xfrm>
            <a:off x="8597205" y="3924300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Atlas-vol-iii compiled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597205" y="4057650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12 frames · 814 KB · 2 m ago</a:t>
            </a:r>
          </a:p>
        </p:txBody>
      </p:sp>
      <p:sp>
        <p:nvSpPr>
          <p:cNvPr id="118" name="Freeform 117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 118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extBox 119"/>
          <p:cNvSpPr txBox="1"/>
          <p:nvPr/>
        </p:nvSpPr>
        <p:spPr>
          <a:xfrm>
            <a:off x="8597205" y="4257675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LLM corpus build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97205" y="4391025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22 slides · 285 KB · 6 m ago</a:t>
            </a:r>
          </a:p>
        </p:txBody>
      </p:sp>
      <p:sp>
        <p:nvSpPr>
          <p:cNvPr id="122" name="Freeform 121"/>
          <p:cNvSpPr/>
          <p:nvPr/>
        </p:nvSpPr>
        <p:spPr>
          <a:xfrm>
            <a:off x="8397180" y="4614862"/>
            <a:ext cx="95250" cy="666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416230" y="4619625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8597205" y="4591050"/>
            <a:ext cx="132769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Bench preview rendered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97205" y="4724400"/>
            <a:ext cx="132769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34 PNGs · 14 m ago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237827"/>
            <a:ext cx="1889820" cy="52417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0A0A0A"/>
                </a:solidFill>
                <a:latin typeface="Bebas Neue"/>
              </a:rPr>
              <a:t>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5984" y="609600"/>
            <a:ext cx="171881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Playfair Display"/>
              </a:rPr>
              <a:t>Issue No. 04 · Spring 2026 · $14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19200"/>
            <a:ext cx="65532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0A0A0A"/>
                </a:solidFill>
                <a:latin typeface="Playfair Display"/>
              </a:rPr>
              <a:t>The cover story · pp. 24 —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90650"/>
            <a:ext cx="6553200" cy="425946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0A0A0A"/>
                </a:solidFill>
                <a:latin typeface="Bebas Neue"/>
              </a:rPr>
              <a:t>A FIELD GUIDE TO THE 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46327"/>
            <a:ext cx="3831431" cy="851892"/>
          </a:xfrm>
          <a:prstGeom prst="rect">
            <a:avLst/>
          </a:prstGeom>
          <a:solidFill>
            <a:srgbClr val="0A0A0A"/>
          </a:solidFill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E11D48"/>
                </a:solidFill>
                <a:latin typeface="Bebas Neue"/>
              </a:rPr>
              <a:t>EDITED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50111"/>
            <a:ext cx="111323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Playfair Display"/>
              </a:rPr>
              <a:t>By the editors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4709" y="5650111"/>
            <a:ext cx="87585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A0A0A"/>
                </a:solidFill>
                <a:latin typeface="Playfair Display"/>
              </a:rPr>
              <a:t>a quiet revolution</a:t>
            </a:r>
          </a:p>
        </p:txBody>
      </p:sp>
      <p:sp>
        <p:nvSpPr>
          <p:cNvPr id="11" name="Rectangle 10"/>
          <p:cNvSpPr/>
          <p:nvPr/>
        </p:nvSpPr>
        <p:spPr>
          <a:gradFill flip="none" rotWithShape="1">
            <a:gsLst>
              <a:gs pos="0">
                <a:srgbClr val="FFFFFF">
                  <a:alpha val="16000"/>
                </a:srgbClr>
              </a:gs>
              <a:gs pos="30000">
                <a:srgbClr val="FFFFFF">
                  <a:alpha val="4000"/>
                </a:srgbClr>
              </a:gs>
              <a:gs pos="60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36000" t="38000" r="64000" b="62000"/>
            </a:path>
          </a:gradFill>
          <a:xfrm>
            <a:off x="7334250" y="914400"/>
            <a:ext cx="4857750" cy="519291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286875" y="2070199"/>
            <a:ext cx="952500" cy="11811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8062912" y="4190940"/>
            <a:ext cx="3400425" cy="320611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39394"/>
                </a:lnTo>
                <a:cubicBezTo>
                  <a:pt x="0" y="9091"/>
                  <a:pt x="21429" y="0"/>
                  <a:pt x="50000" y="0"/>
                </a:cubicBezTo>
                <a:cubicBezTo>
                  <a:pt x="78571" y="0"/>
                  <a:pt x="100000" y="9091"/>
                  <a:pt x="100000" y="39394"/>
                </a:cubicBezTo>
                <a:lnTo>
                  <a:pt x="100000" y="10000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562850" y="5324475"/>
            <a:ext cx="2690515" cy="57715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FFFFFF"/>
                </a:solidFill>
                <a:latin typeface="Bebas Neue"/>
              </a:rPr>
              <a:t>A NEW</a:t>
            </a:r>
          </a:p>
          <a:p>
            <a:pPr algn="l"/>
            <a:r>
              <a:rPr sz="2250" b="0" i="0" u="none">
                <a:solidFill>
                  <a:srgbClr val="FFFFFF"/>
                </a:solidFill>
                <a:latin typeface="Bebas Neue"/>
              </a:rPr>
              <a:t>EDITORIAL 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57200" y="5905500"/>
            <a:ext cx="1143000" cy="84117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A0A0A"/>
                </a:solidFill>
                <a:latin typeface="Bebas Neue"/>
              </a:rPr>
              <a:t>PP / 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905500"/>
            <a:ext cx="7239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Playfair Display"/>
              </a:rPr>
              <a:t xml:space="preserve">Inside — how slidify rewrote the rules of editable presentations,
          why every shape matters, and the case for typographic restraint.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E11D48">
                  <a:alpha val="30000"/>
                </a:srgbClr>
              </a:gs>
              <a:gs pos="10000">
                <a:srgbClr val="E11D48">
                  <a:alpha val="25000"/>
                </a:srgbClr>
              </a:gs>
              <a:gs pos="20000">
                <a:srgbClr val="E11D48">
                  <a:alpha val="20000"/>
                </a:srgbClr>
              </a:gs>
              <a:gs pos="30000">
                <a:srgbClr val="E11D48">
                  <a:alpha val="15000"/>
                </a:srgbClr>
              </a:gs>
              <a:gs pos="40000">
                <a:srgbClr val="E11D48">
                  <a:alpha val="10000"/>
                </a:srgbClr>
              </a:gs>
              <a:gs pos="50000">
                <a:srgbClr val="E11D48">
                  <a:alpha val="5000"/>
                </a:srgbClr>
              </a:gs>
              <a:gs pos="60000">
                <a:srgbClr val="E11D48">
                  <a:alpha val="0"/>
                </a:srgbClr>
              </a:gs>
              <a:gs pos="100000">
                <a:srgbClr val="E11D48">
                  <a:alpha val="0"/>
                </a:srgbClr>
              </a:gs>
            </a:gsLst>
            <a:path path="circle">
              <a:fillToRect l="30000" t="30000" r="70000" b="70000"/>
            </a:path>
          </a:gradFill>
          <a:xfrm>
            <a:off x="0" y="0"/>
            <a:ext cx="5833021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04800" y="304800"/>
            <a:ext cx="246846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Playfair Display"/>
              </a:rPr>
              <a:t>Photograph by — Studio Anonymous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4520208"/>
            <a:ext cx="5411837" cy="20166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100" b="0" i="0" u="none">
                <a:solidFill>
                  <a:srgbClr val="FFFFFF"/>
                </a:solidFill>
                <a:latin typeface="Bebas Neue"/>
              </a:rPr>
              <a:t>EDITORIAL</a:t>
            </a:r>
          </a:p>
          <a:p>
            <a:pPr algn="l"/>
            <a:r>
              <a:rPr sz="8100" b="0" i="0" u="none">
                <a:solidFill>
                  <a:srgbClr val="FFFFFF"/>
                </a:solidFill>
                <a:latin typeface="Bebas Neue"/>
              </a:rP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6534150"/>
            <a:ext cx="609600" cy="1905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85620" y="609600"/>
            <a:ext cx="52729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11D48"/>
                </a:solidFill>
                <a:latin typeface="Playfair Display"/>
              </a:rPr>
              <a:t>Pages 24 —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5620" y="866775"/>
            <a:ext cx="4821138" cy="15600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0A0A0A"/>
                </a:solidFill>
                <a:latin typeface="Bebas Neue"/>
              </a:rPr>
              <a:t>A QUIET REVOLUTION</a:t>
            </a:r>
          </a:p>
          <a:p>
            <a:pPr algn="l"/>
            <a:r>
              <a:rPr sz="4200" b="1" i="0" u="none">
                <a:solidFill>
                  <a:srgbClr val="0A0A0A"/>
                </a:solidFill>
                <a:latin typeface="Bebas Neue"/>
              </a:rPr>
              <a:t>IN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5620" y="2601962"/>
            <a:ext cx="457200" cy="19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Bebas Neue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Bebas Neue"/>
              </a:rPr>
              <a:t>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5620" y="4834682"/>
            <a:ext cx="6223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A"/>
                </a:solidFill>
                <a:latin typeface="Playfair Display"/>
              </a:rPr>
              <a:t>A. KAPLAN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2819" y="4834682"/>
            <a:ext cx="5652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Playfair Display"/>
              </a:rPr>
              <a:t>4,200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2868" y="4834682"/>
            <a:ext cx="8380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Playfair Display"/>
              </a:rPr>
              <a:t>continued page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247650"/>
            <a:ext cx="4462314" cy="2727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1" i="0" u="none">
                <a:solidFill>
                  <a:srgbClr val="0A0A0A"/>
                </a:solidFill>
                <a:latin typeface="Helvetica Neue"/>
              </a:rPr>
              <a:t>MANI</a:t>
            </a:r>
          </a:p>
          <a:p>
            <a:pPr algn="l"/>
            <a:r>
              <a:rPr sz="11100" b="1" i="0" u="none">
                <a:solidFill>
                  <a:srgbClr val="0A0A0A"/>
                </a:solidFill>
                <a:latin typeface="Helvetica Neue"/>
              </a:rPr>
              <a:t>FESTO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38929" y="2010966"/>
            <a:ext cx="997376" cy="2381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FEF200"/>
                </a:solidFill>
                <a:latin typeface="Consolas"/>
              </a:rPr>
              <a:t>v0.1 · APR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01100" y="2382441"/>
            <a:ext cx="2857500" cy="38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0A0A0A"/>
                </a:solidFill>
                <a:latin typeface="Helvetica Neue"/>
              </a:rPr>
              <a:t xml:space="preserve">Four tenets we will not negotiate.
            Pin this above your desk.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97696"/>
            <a:ext cx="11125200" cy="34170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3400" y="2997696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33400" y="3188196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200" y="3188196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EVERY SHAPE IS EDITABLE.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101" y="3188196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The PPTX you ship is the artifact someone else will edit. No rasters, no apologies.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847207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33400" y="4037707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1200" y="4037707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TYPE IS A FIRST-CLASS CITIZEN.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101" y="4037707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Glyphs survive the export with their tracking, leading, and weight intact. We do not flatten.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696718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33400" y="4887218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1200" y="4887218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GRADIENTS ARE NATIVE.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1101" y="4887218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Linear and radial fills emit as &lt;a:gradFill&gt;. PowerPoint colour-pickers stay accurate.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5546229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33400" y="5736729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1200" y="5736729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LLM-LEGIBLE BY CONSTRUCTION.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101" y="5736729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A pre-flight checker tells the model what works before the conversion runs. No surprises.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6586240"/>
            <a:ext cx="196661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SLIDIFY · OPEN MANIFESTO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6397" y="6586240"/>
            <a:ext cx="262220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SIGN AT pixelpitch.dev/manifesto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68816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835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42900" y="142875"/>
            <a:ext cx="3933081" cy="15513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300" b="1" i="0" u="none">
                <a:solidFill>
                  <a:srgbClr val="0A0A0A"/>
                </a:solidFill>
                <a:latin typeface="Helvetica Neue"/>
              </a:rPr>
              <a:t xml:space="preserve">
          BY THE</a:t>
            </a:r>
          </a:p>
          <a:p>
            <a:pPr algn="l"/>
            <a:r>
              <a:rPr sz="6300" b="1" i="0" u="none">
                <a:solidFill>
                  <a:srgbClr val="0A0A0A"/>
                </a:solidFill>
                <a:latin typeface="Helvetica Neue"/>
              </a:rPr>
              <a:t>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28349" y="1331119"/>
            <a:ext cx="172075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  internal · q1 2026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N = 1,284 conversions</a:t>
            </a:r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66700" y="1940719"/>
            <a:ext cx="2568029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87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of slide area emits as editable PPTX primitives.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00800" y="1940719"/>
            <a:ext cx="4004370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0.12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average drift per slide vs. the source HTML.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6700" y="4599980"/>
            <a:ext cx="2949922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155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" y="6524030"/>
            <a:ext cx="3048000" cy="205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atomic recipes shipped in atoms.yaml.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400800" y="4599980"/>
            <a:ext cx="2314277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28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524030"/>
            <a:ext cx="3048000" cy="333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median end-to-end conversion for a 12-slide deck.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457200"/>
            <a:ext cx="11125200" cy="62656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457200"/>
            <a:ext cx="354865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DOC · 2026.04.21 · REV-C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38175"/>
            <a:ext cx="3548658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SLIDIFY-EXEC // SPEC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18514" y="45720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part : SDX-V2-EXEC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18514" y="62478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maint: pixelpitch.dev/spec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49099" y="811411"/>
            <a:ext cx="100950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 xml:space="preserve">cls  : </a:t>
            </a:r>
            <a:r>
              <a:rPr sz="825" b="0" i="0" u="none">
                <a:solidFill>
                  <a:srgbClr val="22D3EE"/>
                </a:solidFill>
                <a:latin typeface="Consolas"/>
              </a:rPr>
              <a:t>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350466"/>
            <a:ext cx="562778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01 · NOMINAL VALUES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69541"/>
          <a:ext cx="5627787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5929"/>
                <a:gridCol w="1875929"/>
                <a:gridCol w="1875929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1.84 kg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± 0.02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MAX TORQUE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240 Nm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@ 4200 rpm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DRIVETRAIN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DUAL-AXIS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tier-0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THERMAL BAND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−40 → 95°C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rated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CYCLE LIFE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12,500 h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MTBF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ENERGY DRAW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18.4 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nominal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PROTOCOL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rs-485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9600/8N1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76275" y="4360366"/>
            <a:ext cx="5229969" cy="3104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CC15"/>
                </a:solidFill>
                <a:latin typeface="Consolas"/>
              </a:rPr>
              <a:t>NOTE</a:t>
            </a:r>
            <a:r>
              <a:rPr sz="900" b="0" i="0" u="none">
                <a:solidFill>
                  <a:srgbClr val="737373"/>
                </a:solidFill>
                <a:latin typeface="Consolas"/>
              </a:rPr>
              <a:t xml:space="preserve"> · Values are derived from a
            full-load 28-day soak. Re-validate on stack rotation.
      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2187" y="1350466"/>
            <a:ext cx="511641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02 · DIMENSIONED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7393" y="2331541"/>
            <a:ext cx="2286000" cy="1524000"/>
          </a:xfrm>
          <a:prstGeom prst="rect">
            <a:avLst/>
          </a:prstGeom>
          <a:noFill/>
          <a:ln w="14288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8338393" y="2712541"/>
            <a:ext cx="1524000" cy="762000"/>
          </a:xfrm>
          <a:prstGeom prst="rect">
            <a:avLst/>
          </a:prstGeom>
          <a:noFill/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281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9805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 16"/>
          <p:cNvCxnSpPr/>
          <p:nvPr/>
        </p:nvCxnSpPr>
        <p:spPr>
          <a:xfrm>
            <a:off x="7957393" y="2141041"/>
            <a:ext cx="2286000" cy="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7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43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433893" y="2331541"/>
            <a:ext cx="0" cy="152400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86268" y="2331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386268" y="3855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927515" y="1981021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E5E5E5"/>
                </a:solidFill>
                <a:latin typeface="Consolas"/>
              </a:rPr>
              <a:t>240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6768" y="3047821"/>
            <a:ext cx="172879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E5E5E5"/>
                </a:solidFill>
                <a:latin typeface="Consolas"/>
              </a:rPr>
              <a:t>160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4131" y="4160341"/>
            <a:ext cx="11525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37373"/>
                </a:solidFill>
                <a:latin typeface="Consolas"/>
              </a:rPr>
              <a:t>FIG-A · TOP VIEW · 1:2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105102"/>
            <a:ext cx="111252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533400" y="5209877"/>
            <a:ext cx="2830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PIXELPITCH ENG · INTERNAL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0175" y="5209877"/>
            <a:ext cx="9684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SHEET 13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609600"/>
            <a:ext cx="10820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6775"/>
            <a:ext cx="10820400" cy="48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E5E5E5"/>
                </a:solidFill>
                <a:latin typeface="Consolas"/>
              </a:rPr>
              <a:t>Thirty-six years of slide software.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8750"/>
            <a:ext cx="78105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37373"/>
                </a:solidFill>
                <a:latin typeface="Consolas"/>
              </a:rPr>
              <a:t xml:space="preserve">Every era added one capability the previous one couldn't survive.
        Slidify is the era where editability stops being lossy.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32447"/>
            <a:ext cx="10820400" cy="19050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429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28575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9720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0866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2011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1315700" y="2375297"/>
            <a:ext cx="133350" cy="133350"/>
          </a:xfrm>
          <a:prstGeom prst="ellipse">
            <a:avLst/>
          </a:prstGeom>
          <a:solidFill>
            <a:srgbClr val="22D3EE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4295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1990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PowerPoint 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184922"/>
            <a:ext cx="16890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First true WYSIWYG slide editor on Mac.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630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630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Keynote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630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Apple's response: gradients, drop shadows, smooth typography.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98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98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Reveal.js / Prezi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8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HTML eats the slide format. Editing returns to designers.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15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15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Figma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15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Web-native canvas. Real-time collaboration, but exports flatten.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6649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6649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LLM-authored decks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649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Models can author HTML — but conversion to PPTX is still lossy.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00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22D3EE"/>
                </a:solidFill>
                <a:latin typeface="Consolas"/>
              </a:rPr>
              <a:t>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00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slidify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00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Native shapes round-trip: design intent survives the export.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937397"/>
            <a:ext cx="238378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SOURCE · pixelpitch.dev/timeline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90845" y="3937397"/>
            <a:ext cx="1415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FIG-T · 36-YR SLICE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4577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4429125"/>
            <a:ext cx="12192000" cy="19050"/>
          </a:xfrm>
          <a:prstGeom prst="rect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4448175"/>
            <a:ext cx="12192000" cy="24098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619750" y="5114925"/>
            <a:ext cx="4953000" cy="571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6191250" y="5391150"/>
            <a:ext cx="3810000" cy="3810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762750" y="5662612"/>
            <a:ext cx="2667000" cy="28575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934075"/>
            <a:ext cx="1714500" cy="190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0" y="4038600"/>
            <a:ext cx="12192000" cy="409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46512"/>
                </a:lnTo>
                <a:quadBezTo>
                  <a:pt x="9375" y="18605"/>
                  <a:pt x="18750" y="41860"/>
                </a:quadBezTo>
                <a:quadBezTo>
                  <a:pt x="28125" y="65116"/>
                  <a:pt x="37500" y="32558"/>
                </a:quadBezTo>
                <a:quadBezTo>
                  <a:pt x="46875" y="0"/>
                  <a:pt x="56250" y="37209"/>
                </a:quadBezTo>
                <a:quadBezTo>
                  <a:pt x="65625" y="69767"/>
                  <a:pt x="75000" y="41860"/>
                </a:quadBezTo>
                <a:quadBezTo>
                  <a:pt x="84375" y="18605"/>
                  <a:pt x="93750" y="51163"/>
                </a:quadBezTo>
                <a:lnTo>
                  <a:pt x="100000" y="46512"/>
                </a:lnTo>
                <a:lnTo>
                  <a:pt x="100000" y="100000"/>
                </a:lnTo>
                <a:close/>
              </a:path>
            </a:pathLst>
          </a:cu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285875" y="1762125"/>
            <a:ext cx="3238500" cy="4191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2047875" y="3467100"/>
            <a:ext cx="1838325" cy="33909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26966"/>
                </a:lnTo>
                <a:cubicBezTo>
                  <a:pt x="0" y="12921"/>
                  <a:pt x="15544" y="2247"/>
                  <a:pt x="41451" y="562"/>
                </a:cubicBezTo>
                <a:cubicBezTo>
                  <a:pt x="46632" y="0"/>
                  <a:pt x="54404" y="0"/>
                  <a:pt x="59585" y="562"/>
                </a:cubicBezTo>
                <a:cubicBezTo>
                  <a:pt x="85492" y="2247"/>
                  <a:pt x="100000" y="12921"/>
                  <a:pt x="100000" y="26966"/>
                </a:cubicBezTo>
                <a:lnTo>
                  <a:pt x="100000" y="10000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2552700" y="2419350"/>
            <a:ext cx="838200" cy="10668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3286125" y="2952750"/>
            <a:ext cx="333375" cy="14287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1429" y="0"/>
                </a:moveTo>
                <a:quadBezTo>
                  <a:pt x="14286" y="26667"/>
                  <a:pt x="0" y="46667"/>
                </a:quadBezTo>
                <a:quadBezTo>
                  <a:pt x="42857" y="66667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3857625" y="4381500"/>
            <a:ext cx="66675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71429" y="30769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762000" y="552450"/>
            <a:ext cx="1831479" cy="449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Photo essay</a:t>
            </a:r>
          </a:p>
          <a:p>
            <a:pPr algn="l"/>
            <a:r>
              <a:rPr sz="825" b="1" i="0" u="none">
                <a:solidFill>
                  <a:srgbClr val="FF9A6C"/>
                </a:solidFill>
                <a:latin typeface="Inter"/>
              </a:rPr>
              <a:t>part iii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  · light over the editing room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20300" y="476250"/>
            <a:ext cx="1562100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  Plate 16 of 24</a:t>
            </a:r>
          </a:p>
          <a:p>
            <a:pPr algn="r"/>
            <a:r>
              <a:rPr sz="800" b="0" i="0" u="none">
                <a:solidFill>
                  <a:srgbClr val="FF9A6C"/>
                </a:solidFill>
                <a:latin typeface="Consolas"/>
              </a:rPr>
              <a:t>Pitch · spring 2026</a:t>
            </a:r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1323975"/>
            <a:ext cx="4496246" cy="22377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0" i="1" u="none">
                <a:solidFill>
                  <a:srgbClr val="0D1F3C"/>
                </a:solidFill>
                <a:latin typeface="Playfair Display"/>
              </a:rPr>
              <a:t xml:space="preserve">
          The slides we ship are</a:t>
            </a:r>
          </a:p>
          <a:p>
            <a:pPr algn="l"/>
            <a:r>
              <a:rPr sz="4050" b="0" i="1" u="none">
                <a:solidFill>
                  <a:srgbClr val="FFECC4"/>
                </a:solidFill>
                <a:latin typeface="Playfair Display"/>
              </a:rPr>
              <a:t>an act of editing,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Playfair Display"/>
              </a:rPr>
              <a:t xml:space="preserve">
          not an accident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Playfair Display"/>
              </a:rPr>
              <a:t xml:space="preserve">of capture.
     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3860006"/>
            <a:ext cx="4572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0D1F3C"/>
                </a:solidFill>
                <a:latin typeface="Inter"/>
              </a:rPr>
              <a:t xml:space="preserve">Slidify treats every shape as a curated object.
          The export is the artifact — not a flattened
          souvenir of 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6296025"/>
            <a:ext cx="109728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09600" y="6438900"/>
            <a:ext cx="18112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Studio Atlas · plate xvi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4059" y="6438900"/>
            <a:ext cx="14626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9A6C"/>
                </a:solidFill>
                <a:latin typeface="Inter"/>
              </a:rPr>
              <a:t>— captured in navy &amp; apricot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29962" y="6438900"/>
            <a:ext cx="4524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16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111111"/>
      </a:accent2>
      <a:accent3>
        <a:srgbClr val="52525B"/>
      </a:accent3>
      <a:accent4>
        <a:srgbClr val="D4D4D8"/>
      </a:accent4>
      <a:accent5>
        <a:srgbClr val="E5E5E5"/>
      </a:accent5>
      <a:accent6>
        <a:srgbClr val="A1A1AA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