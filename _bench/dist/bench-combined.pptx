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vnd.openxmlformats-officedocument.obfuscatedFont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2000" cy="6858000" type="screen4x3"/>
  <p:notesSz cx="6858000" cy="9144000"/>
  <p:embeddedFontLst>
    <p:embeddedFont>
      <p:font typeface="Tiempos" panose="02040603050405020304" charset="0"/>
      <p:regular r:id="rIdSlidifyFont1"/>
    </p:embeddedFont>
    <p:embeddedFont>
      <p:font typeface="Georgia" panose="02040603050405020304" charset="0"/>
      <p:regular r:id="rIdSlidifyFont2"/>
      <p:bold r:id="rIdSlidifyFont3"/>
      <p:italic r:id="rIdSlidifyFont4"/>
    </p:embeddedFont>
    <p:embeddedFont>
      <p:font typeface="IBM Plex Mono" panose="020B0609040504020204" charset="0"/>
      <p:regular r:id="rIdSlidifyFont5"/>
      <p:bold r:id="rIdSlidifyFont6"/>
    </p:embeddedFont>
    <p:embeddedFont>
      <p:font typeface="Bebas Neue" panose="020B0604020202020204" charset="0"/>
      <p:regular r:id="rIdSlidifyFont7"/>
      <p:bold r:id="rIdSlidifyFont8"/>
    </p:embeddedFont>
    <p:embeddedFont>
      <p:font typeface="Playfair Display" panose="02040603050405020304" charset="0"/>
      <p:regular r:id="rIdSlidifyFont9"/>
      <p:bold r:id="rIdSlidifyFont10"/>
      <p:italic r:id="rIdSlidifyFont11"/>
    </p:embeddedFont>
    <p:embeddedFont>
      <p:font typeface="Helvetica Neue" panose="020B0604020202020204" charset="0"/>
      <p:regular r:id="rIdSlidifyFont12"/>
      <p:bold r:id="rIdSlidifyFont13"/>
    </p:embeddedFont>
    <p:embeddedFont>
      <p:font typeface="JetBrains Mono" panose="020B0609040504020204" charset="0"/>
      <p:regular r:id="rIdSlidifyFont14"/>
      <p:italic r:id="rIdSlidifyFont15"/>
    </p:embeddedFont>
    <p:embeddedFont>
      <p:font typeface="Spectral" panose="020B0604020202020204" charset="0"/>
      <p:regular r:id="rIdSlidifyFont16"/>
      <p:bold r:id="rIdSlidifyFont17"/>
      <p:italic r:id="rIdSlidifyFont18"/>
    </p:embeddedFont>
    <p:embeddedFont>
      <p:font typeface="Inter Tight" panose="020B0604020202020204" charset="0"/>
      <p:regular r:id="rIdSlidifyFont19"/>
      <p:bold r:id="rIdSlidifyFont2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SlidifyFont1" Type="http://schemas.openxmlformats.org/officeDocument/2006/relationships/font" Target="fonts/font1.fntdata"/><Relationship Id="rIdSlidifyFont2" Type="http://schemas.openxmlformats.org/officeDocument/2006/relationships/font" Target="fonts/font2.fntdata"/><Relationship Id="rIdSlidifyFont3" Type="http://schemas.openxmlformats.org/officeDocument/2006/relationships/font" Target="fonts/font3.fntdata"/><Relationship Id="rIdSlidifyFont4" Type="http://schemas.openxmlformats.org/officeDocument/2006/relationships/font" Target="fonts/font4.fntdata"/><Relationship Id="rIdSlidifyFont5" Type="http://schemas.openxmlformats.org/officeDocument/2006/relationships/font" Target="fonts/font5.fntdata"/><Relationship Id="rIdSlidifyFont6" Type="http://schemas.openxmlformats.org/officeDocument/2006/relationships/font" Target="fonts/font6.fntdata"/><Relationship Id="rIdSlidifyFont7" Type="http://schemas.openxmlformats.org/officeDocument/2006/relationships/font" Target="fonts/font7.fntdata"/><Relationship Id="rIdSlidifyFont8" Type="http://schemas.openxmlformats.org/officeDocument/2006/relationships/font" Target="fonts/font8.fntdata"/><Relationship Id="rIdSlidifyFont9" Type="http://schemas.openxmlformats.org/officeDocument/2006/relationships/font" Target="fonts/font9.fntdata"/><Relationship Id="rIdSlidifyFont10" Type="http://schemas.openxmlformats.org/officeDocument/2006/relationships/font" Target="fonts/font10.fntdata"/><Relationship Id="rIdSlidifyFont11" Type="http://schemas.openxmlformats.org/officeDocument/2006/relationships/font" Target="fonts/font11.fntdata"/><Relationship Id="rIdSlidifyFont12" Type="http://schemas.openxmlformats.org/officeDocument/2006/relationships/font" Target="fonts/font12.fntdata"/><Relationship Id="rIdSlidifyFont13" Type="http://schemas.openxmlformats.org/officeDocument/2006/relationships/font" Target="fonts/font13.fntdata"/><Relationship Id="rIdSlidifyFont14" Type="http://schemas.openxmlformats.org/officeDocument/2006/relationships/font" Target="fonts/font14.fntdata"/><Relationship Id="rIdSlidifyFont15" Type="http://schemas.openxmlformats.org/officeDocument/2006/relationships/font" Target="fonts/font15.fntdata"/><Relationship Id="rIdSlidifyFont16" Type="http://schemas.openxmlformats.org/officeDocument/2006/relationships/font" Target="fonts/font16.fntdata"/><Relationship Id="rIdSlidifyFont17" Type="http://schemas.openxmlformats.org/officeDocument/2006/relationships/font" Target="fonts/font17.fntdata"/><Relationship Id="rIdSlidifyFont18" Type="http://schemas.openxmlformats.org/officeDocument/2006/relationships/font" Target="fonts/font18.fntdata"/><Relationship Id="rIdSlidifyFont19" Type="http://schemas.openxmlformats.org/officeDocument/2006/relationships/font" Target="fonts/font19.fntdata"/><Relationship Id="rIdSlidifyFont20" Type="http://schemas.openxmlformats.org/officeDocument/2006/relationships/font" Target="fonts/font20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gif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9167">
                <a:srgbClr val="1B1841"/>
              </a:gs>
              <a:gs pos="18333">
                <a:srgbClr val="171538"/>
              </a:gs>
              <a:gs pos="27500">
                <a:srgbClr val="14132E"/>
              </a:gs>
              <a:gs pos="36667">
                <a:srgbClr val="101025"/>
              </a:gs>
              <a:gs pos="45833">
                <a:srgbClr val="0D0D1C"/>
              </a:gs>
              <a:gs pos="55000">
                <a:srgbClr val="0A0A14"/>
              </a:gs>
              <a:gs pos="62500">
                <a:srgbClr val="090913"/>
              </a:gs>
              <a:gs pos="70000">
                <a:srgbClr val="080813"/>
              </a:gs>
              <a:gs pos="77500">
                <a:srgbClr val="070712"/>
              </a:gs>
              <a:gs pos="85000">
                <a:srgbClr val="060611"/>
              </a:gs>
              <a:gs pos="92500">
                <a:srgbClr val="060611"/>
              </a:gs>
              <a:gs pos="100000">
                <a:srgbClr val="050510"/>
              </a:gs>
            </a:gsLst>
            <a:path path="circle">
              <a:fillToRect l="80000" t="12000" r="20000" b="88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B80F3"/>
              </a:gs>
              <a:gs pos="66667">
                <a:srgbClr val="D57CE9"/>
              </a:gs>
              <a:gs pos="75000">
                <a:srgbClr val="DE79DD"/>
              </a:gs>
              <a:gs pos="83333">
                <a:srgbClr val="E776D1"/>
              </a:gs>
              <a:gs pos="91667">
                <a:srgbClr val="EE74C4"/>
              </a:gs>
              <a:gs pos="100000">
                <a:srgbClr val="F472B6"/>
              </a:gs>
            </a:gsLst>
            <a:lin ang="2700000" scaled="0"/>
          </a:gradFill>
          <a:xfrm>
            <a:off x="762000" y="762000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219200" y="833438"/>
            <a:ext cx="948035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 xml:space="preserve">
              slidify </a:t>
            </a:r>
            <a:r>
              <a:rPr sz="1350" b="0" i="0" u="none">
                <a:solidFill>
                  <a:srgbClr val="A1A1AA"/>
                </a:solidFill>
                <a:latin typeface="Inter"/>
              </a:rPr>
              <a:t>· v1.0</a:t>
            </a:r>
            <a:r>
              <a:rPr sz="1350" b="1" i="0" u="none">
                <a:solidFill>
                  <a:srgbClr val="F5F5F7"/>
                </a:solidFill>
                <a:latin typeface="Inter"/>
              </a:rPr>
              <a:t xml:space="preserve">
          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06794" y="819150"/>
            <a:ext cx="1066540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● shipping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811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Q2 2026 · Investor Update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504950"/>
            <a:ext cx="7537549" cy="2724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900" b="1" i="0" u="none">
                <a:solidFill>
                  <a:srgbClr val="F5F5F7"/>
                </a:solidFill>
                <a:latin typeface="Inter"/>
              </a:rPr>
              <a:t xml:space="preserve">A compiler for </a:t>
            </a:r>
            <a:r>
              <a:rPr sz="69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presentations</a:t>
            </a:r>
            <a:r>
              <a:rPr sz="6900" b="1" i="0" u="none">
                <a:solidFill>
                  <a:srgbClr val="F5F5F7"/>
                </a:solidFill>
                <a:latin typeface="Inter"/>
              </a:rPr>
              <a:t>, not a screenshot tool.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448175"/>
            <a:ext cx="7429500" cy="6286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D4D4D8"/>
                </a:solidFill>
                <a:latin typeface="Inter"/>
              </a:rPr>
              <a:t xml:space="preserve">Render in Chromium. Cluster into visual units. Translate gradients,
            shadows, and shapes natively. Edit the result in PowerPoint as if a
            human authored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5419725"/>
            <a:ext cx="1141800" cy="457200"/>
          </a:xfrm>
          <a:prstGeom prst="rect">
            <a:avLst/>
          </a:prstGeom>
          <a:solidFill>
            <a:srgbClr val="A78BFA"/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 u="none">
                <a:solidFill>
                  <a:srgbClr val="0A0A0F"/>
                </a:solidFill>
                <a:latin typeface="Inter"/>
              </a:rPr>
              <a:t>Get the CLI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01912" y="5419725"/>
            <a:ext cx="149825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 u="none">
                <a:solidFill>
                  <a:srgbClr val="F5F5F7"/>
                </a:solidFill>
                <a:latin typeface="Inter"/>
              </a:rPr>
              <a:t>Watch the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5953125"/>
            <a:ext cx="21717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INTERNAL · For discussion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3303" y="5953125"/>
            <a:ext cx="214669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52525B"/>
                </a:solidFill>
                <a:latin typeface="Inter"/>
              </a:rPr>
              <a:t>PIXELPITCH LABS · 01 /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133475"/>
            <a:ext cx="10668000" cy="6191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Atelier-v2 telemetry.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286000"/>
            <a:ext cx="2495550" cy="179070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038225" y="2562225"/>
            <a:ext cx="1943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Atoms shipped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8225" y="2828925"/>
            <a:ext cx="19431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F5F5F7"/>
                </a:solidFill>
                <a:latin typeface="Inter"/>
              </a:rPr>
              <a:t>155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8225" y="3571875"/>
            <a:ext cx="1215219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▲ +94 vs Wave-2A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6150" y="2286000"/>
            <a:ext cx="2495550" cy="179070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3762375" y="2562225"/>
            <a:ext cx="1943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Native ratio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62375" y="2790825"/>
            <a:ext cx="866924" cy="6858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F5F5F7"/>
                </a:solidFill>
                <a:latin typeface="Inter"/>
              </a:rPr>
              <a:t>87</a:t>
            </a:r>
            <a:r>
              <a:rPr sz="24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62375" y="3571875"/>
            <a:ext cx="745331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▲ +29.4%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0300" y="2286000"/>
            <a:ext cx="2495550" cy="179070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6486525" y="2562225"/>
            <a:ext cx="1943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Recipes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6525" y="2828925"/>
            <a:ext cx="19431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F5F5F7"/>
                </a:solidFill>
                <a:latin typeface="Inter"/>
              </a:rPr>
              <a:t>95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6525" y="3571875"/>
            <a:ext cx="667159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codegen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34450" y="2286000"/>
            <a:ext cx="2495550" cy="179070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9210675" y="2562225"/>
            <a:ext cx="1943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Escape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0675" y="2790825"/>
            <a:ext cx="1320403" cy="6858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F5F5F7"/>
                </a:solidFill>
                <a:latin typeface="Inter"/>
              </a:rPr>
              <a:t>0.12</a:t>
            </a:r>
            <a:r>
              <a:rPr sz="24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0675" y="3571875"/>
            <a:ext cx="719733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▼ −2.1pp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4714875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71717A"/>
                </a:solidFill>
                <a:latin typeface="Inter"/>
              </a:rPr>
              <a:t>SOURCE · slidify telemetry · last 28 days · n = 1,284 deck conversions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Why slidify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763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Three reasons it lands.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057400"/>
            <a:ext cx="3403550" cy="1737122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B80F3"/>
              </a:gs>
              <a:gs pos="66667">
                <a:srgbClr val="D57CE9"/>
              </a:gs>
              <a:gs pos="75000">
                <a:srgbClr val="DE79DD"/>
              </a:gs>
              <a:gs pos="83333">
                <a:srgbClr val="E776D1"/>
              </a:gs>
              <a:gs pos="91667">
                <a:srgbClr val="EE74C4"/>
              </a:gs>
              <a:gs pos="100000">
                <a:srgbClr val="F472B6"/>
              </a:gs>
            </a:gsLst>
            <a:lin ang="2700000" scaled="0"/>
          </a:gradFill>
          <a:xfrm>
            <a:off x="1038225" y="2333625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038225" y="2828925"/>
            <a:ext cx="2851100" cy="219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F5F5F7"/>
                </a:solidFill>
                <a:latin typeface="Inter"/>
              </a:rPr>
              <a:t>Native shapes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8225" y="3105150"/>
            <a:ext cx="28511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87% of slide area emits as editable PPTX primitives. No screenshots in PowerPoint.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4150" y="2057400"/>
            <a:ext cx="3403550" cy="1737122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gradFill flip="none" rotWithShape="1">
            <a:gsLst>
              <a:gs pos="0">
                <a:srgbClr val="10B981"/>
              </a:gs>
              <a:gs pos="16667">
                <a:srgbClr val="26BD78"/>
              </a:gs>
              <a:gs pos="33333">
                <a:srgbClr val="39C16D"/>
              </a:gs>
              <a:gs pos="50000">
                <a:srgbClr val="4CC561"/>
              </a:gs>
              <a:gs pos="66667">
                <a:srgbClr val="5FC851"/>
              </a:gs>
              <a:gs pos="83333">
                <a:srgbClr val="71CA3C"/>
              </a:gs>
              <a:gs pos="100000">
                <a:srgbClr val="84CC16"/>
              </a:gs>
            </a:gsLst>
            <a:lin ang="2700000" scaled="0"/>
          </a:gradFill>
          <a:xfrm>
            <a:off x="4670375" y="2333625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4670375" y="2828925"/>
            <a:ext cx="2851100" cy="219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F5F5F7"/>
                </a:solidFill>
                <a:latin typeface="Inter"/>
              </a:rPr>
              <a:t>Round-trippable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0375" y="3105150"/>
            <a:ext cx="28511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Every shape carries a recipe id. Edits in PowerPoint flow back to JSX.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6301" y="2057400"/>
            <a:ext cx="3403699" cy="1737122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/>
          <p:cNvSpPr/>
          <p:nvPr/>
        </p:nvSpPr>
        <p:spPr>
          <a:gradFill flip="none" rotWithShape="1">
            <a:gsLst>
              <a:gs pos="0">
                <a:srgbClr val="F59E0B"/>
              </a:gs>
              <a:gs pos="16667">
                <a:srgbClr val="F79000"/>
              </a:gs>
              <a:gs pos="33333">
                <a:srgbClr val="F88100"/>
              </a:gs>
              <a:gs pos="50000">
                <a:srgbClr val="F87315"/>
              </a:gs>
              <a:gs pos="66667">
                <a:srgbClr val="F66327"/>
              </a:gs>
              <a:gs pos="83333">
                <a:srgbClr val="F35436"/>
              </a:gs>
              <a:gs pos="100000">
                <a:srgbClr val="EF4444"/>
              </a:gs>
            </a:gsLst>
            <a:lin ang="2700000" scaled="0"/>
          </a:gradFill>
          <a:xfrm>
            <a:off x="8302526" y="2333625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8302526" y="2828925"/>
            <a:ext cx="2851249" cy="219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F5F5F7"/>
                </a:solidFill>
                <a:latin typeface="Inter"/>
              </a:rPr>
              <a:t>LLM-friendly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526" y="3105150"/>
            <a:ext cx="2851249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A pre-flight checker tells the model exactly what will and won't convert.</a:t>
            </a:r>
          </a:p>
        </p:txBody>
      </p:sp>
      <p:sp>
        <p:nvSpPr>
          <p:cNvPr id="17" name="TextBox 16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2700000" scaled="0"/>
          </a:gradFill>
          <a:xfrm>
            <a:off x="762000" y="4404122"/>
            <a:ext cx="304800" cy="3048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AK</a:t>
            </a:r>
          </a:p>
        </p:txBody>
      </p:sp>
      <p:sp>
        <p:nvSpPr>
          <p:cNvPr id="18" name="TextBox 17"/>
          <p:cNvSpPr txBox="1"/>
          <p:nvPr/>
        </p:nvSpPr>
        <p:spPr>
          <a:gradFill flip="none" rotWithShape="1">
            <a:gsLst>
              <a:gs pos="0">
                <a:srgbClr val="10B981"/>
              </a:gs>
              <a:gs pos="16667">
                <a:srgbClr val="26BD78"/>
              </a:gs>
              <a:gs pos="33333">
                <a:srgbClr val="39C16D"/>
              </a:gs>
              <a:gs pos="50000">
                <a:srgbClr val="4CC561"/>
              </a:gs>
              <a:gs pos="66667">
                <a:srgbClr val="5FC851"/>
              </a:gs>
              <a:gs pos="83333">
                <a:srgbClr val="71CA3C"/>
              </a:gs>
              <a:gs pos="100000">
                <a:srgbClr val="84CC16"/>
              </a:gs>
            </a:gsLst>
            <a:lin ang="2700000" scaled="0"/>
          </a:gradFill>
          <a:xfrm>
            <a:off x="990600" y="4404122"/>
            <a:ext cx="304800" cy="3048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BM</a:t>
            </a:r>
          </a:p>
        </p:txBody>
      </p:sp>
      <p:sp>
        <p:nvSpPr>
          <p:cNvPr id="19" name="TextBox 18"/>
          <p:cNvSpPr txBox="1"/>
          <p:nvPr/>
        </p:nvSpPr>
        <p:spPr>
          <a:gradFill flip="none" rotWithShape="1">
            <a:gsLst>
              <a:gs pos="0">
                <a:srgbClr val="F59E0B"/>
              </a:gs>
              <a:gs pos="16667">
                <a:srgbClr val="F79000"/>
              </a:gs>
              <a:gs pos="33333">
                <a:srgbClr val="F88100"/>
              </a:gs>
              <a:gs pos="50000">
                <a:srgbClr val="F87315"/>
              </a:gs>
              <a:gs pos="66667">
                <a:srgbClr val="F66327"/>
              </a:gs>
              <a:gs pos="83333">
                <a:srgbClr val="F35436"/>
              </a:gs>
              <a:gs pos="100000">
                <a:srgbClr val="EF4444"/>
              </a:gs>
            </a:gsLst>
            <a:lin ang="2700000" scaled="0"/>
          </a:gradFill>
          <a:xfrm>
            <a:off x="1219200" y="4404122"/>
            <a:ext cx="304800" cy="3048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CR</a:t>
            </a:r>
          </a:p>
        </p:txBody>
      </p:sp>
      <p:sp>
        <p:nvSpPr>
          <p:cNvPr id="20" name="TextBox 19"/>
          <p:cNvSpPr txBox="1"/>
          <p:nvPr/>
        </p:nvSpPr>
        <p:spPr>
          <a:gradFill flip="none" rotWithShape="1">
            <a:gsLst>
              <a:gs pos="0">
                <a:srgbClr val="3B82F6"/>
              </a:gs>
              <a:gs pos="16667">
                <a:srgbClr val="238DF3"/>
              </a:gs>
              <a:gs pos="33333">
                <a:srgbClr val="0097EE"/>
              </a:gs>
              <a:gs pos="50000">
                <a:srgbClr val="00A0E8"/>
              </a:gs>
              <a:gs pos="66667">
                <a:srgbClr val="00A8E2"/>
              </a:gs>
              <a:gs pos="83333">
                <a:srgbClr val="00B0DB"/>
              </a:gs>
              <a:gs pos="100000">
                <a:srgbClr val="06B6D4"/>
              </a:gs>
            </a:gsLst>
            <a:lin ang="2700000" scaled="0"/>
          </a:gradFill>
          <a:xfrm>
            <a:off x="1447800" y="4404122"/>
            <a:ext cx="304800" cy="3048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F"/>
                </a:solidFill>
                <a:latin typeface="Inter"/>
              </a:rPr>
              <a:t>DV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76400" y="4404122"/>
            <a:ext cx="304800" cy="304800"/>
          </a:xfrm>
          <a:prstGeom prst="rect">
            <a:avLst/>
          </a:prstGeom>
          <a:solidFill>
            <a:srgbClr val="FFFFFF">
              <a:alpha val="8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5F5F7"/>
                </a:solidFill>
                <a:latin typeface="Inter"/>
              </a:rPr>
              <a:t>+12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485084"/>
            <a:ext cx="297001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Built by 16 designers + engineers across 4 timezones.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78BFA"/>
                </a:solidFill>
                <a:latin typeface="Inter"/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763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3600" b="1" i="0" u="none">
                <a:solidFill>
                  <a:srgbClr val="F5F5F7"/>
                </a:solidFill>
                <a:latin typeface="Inter"/>
              </a:rPr>
              <a:t>One PPTX per pitch.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714500"/>
            <a:ext cx="106680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0" i="0" u="none">
                <a:solidFill>
                  <a:srgbClr val="A1A1AA"/>
                </a:solidFill>
                <a:latin typeface="Inter"/>
              </a:rPr>
              <a:t>Free for hobby decks. Pay when you ship to a board.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2343150"/>
            <a:ext cx="3403550" cy="355282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076325" y="2657475"/>
            <a:ext cx="2774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Hobby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6325" y="2952750"/>
            <a:ext cx="27749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6325" y="3552825"/>
            <a:ext cx="2774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forever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7300" y="3981450"/>
            <a:ext cx="93612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50 slides /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7300" y="4238625"/>
            <a:ext cx="64011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4 templates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7300" y="4495800"/>
            <a:ext cx="115163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Watermark on export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6325" y="4924425"/>
            <a:ext cx="1264741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Choose Hobby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18000" y="2247900"/>
            <a:ext cx="2755850" cy="3324225"/>
          </a:xfrm>
          <a:prstGeom prst="rect">
            <a:avLst/>
          </a:prstGeom>
          <a:solidFill>
            <a:srgbClr val="16162A"/>
          </a:solidFill>
          <a:effectLst>
            <a:outerShdw blurRad="571500" dist="228600" dir="5400000" algn="ctr" rotWithShape="0">
              <a:srgbClr val="A78BFA">
                <a:alpha val="20000"/>
              </a:srgbClr>
            </a:outerShdw>
          </a:effectLst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4718000" y="3990975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18000" y="4248150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18000" y="4505325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18000" y="4762500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18000" y="2247900"/>
            <a:ext cx="781348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A0A0F"/>
                </a:solidFill>
                <a:latin typeface="Inter"/>
              </a:rPr>
              <a:t>POPULAR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8000" y="2667000"/>
            <a:ext cx="27558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Pro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18000" y="2962275"/>
            <a:ext cx="2755850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$29</a:t>
            </a:r>
            <a:r>
              <a:rPr sz="1350" b="1" i="0" u="none">
                <a:solidFill>
                  <a:srgbClr val="A1A1AA"/>
                </a:solidFill>
                <a:latin typeface="Inter"/>
              </a:rPr>
              <a:t>/mo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18000" y="3562350"/>
            <a:ext cx="27558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per editor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8975" y="3990975"/>
            <a:ext cx="86722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Unlimited slides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8975" y="4248150"/>
            <a:ext cx="119747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All templates &amp; atoms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8975" y="4505325"/>
            <a:ext cx="77078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No watermark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8975" y="4762500"/>
            <a:ext cx="88776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PPTX round-trip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18000" y="5191125"/>
            <a:ext cx="1053257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A0F"/>
                </a:solidFill>
                <a:latin typeface="Inter"/>
              </a:rPr>
              <a:t>Choose Pro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0626" y="2657475"/>
            <a:ext cx="2775049" cy="2905125"/>
          </a:xfrm>
          <a:prstGeom prst="rect">
            <a:avLst/>
          </a:prstGeom>
          <a:solidFill>
            <a:srgbClr val="0E0E1A"/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8340626" y="3981450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40626" y="4238625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0626" y="4495800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40626" y="4752975"/>
            <a:ext cx="1047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86EFAC"/>
                </a:solidFill>
                <a:latin typeface="Inter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0626" y="2657475"/>
            <a:ext cx="27750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Team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40626" y="2952750"/>
            <a:ext cx="2775049" cy="523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$79</a:t>
            </a:r>
            <a:r>
              <a:rPr sz="1350" b="1" i="0" u="none">
                <a:solidFill>
                  <a:srgbClr val="A1A1AA"/>
                </a:solidFill>
                <a:latin typeface="Inter"/>
              </a:rPr>
              <a:t>/mo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0626" y="3552825"/>
            <a:ext cx="27750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per editor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1601" y="3981450"/>
            <a:ext cx="9429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Everything in Pro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1601" y="4238625"/>
            <a:ext cx="125253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Brand atoms.yaml lock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1601" y="4495800"/>
            <a:ext cx="122515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Slack &amp; Figma plugins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21601" y="4752975"/>
            <a:ext cx="26164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SSO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0626" y="5181600"/>
            <a:ext cx="1188393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Choose Team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522163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Internal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38225"/>
            <a:ext cx="5221635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F5F5F7"/>
                </a:solidFill>
                <a:latin typeface="Inter"/>
              </a:rPr>
              <a:t>Conversion health, last 28 days.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21353" y="762000"/>
            <a:ext cx="500900" cy="3048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●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98657" y="762000"/>
            <a:ext cx="832247" cy="3048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28d window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2256" y="762000"/>
            <a:ext cx="997744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Export PPTX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781175"/>
            <a:ext cx="5219700" cy="256222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000125" y="2019300"/>
            <a:ext cx="47434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Native ratio progression</a:t>
            </a:r>
          </a:p>
        </p:txBody>
      </p:sp>
      <p:sp>
        <p:nvSpPr>
          <p:cNvPr id="10" name="Freeform 9"/>
          <p:cNvSpPr/>
          <p:nvPr/>
        </p:nvSpPr>
        <p:spPr>
          <a:xfrm>
            <a:off x="1000125" y="2600325"/>
            <a:ext cx="4743450" cy="1047750"/>
          </a:xfrm>
          <a:custGeom>
            <a:avLst/>
            <a:gdLst/>
            <a:ahLst/>
            <a:cxnLst/>
            <a:rect l="l" t="t" r="r" b="b"/>
            <a:pathLst>
              <a:path w="4743450" h="1047750">
                <a:moveTo>
                  <a:pt x="0" y="1047750"/>
                </a:moveTo>
                <a:lnTo>
                  <a:pt x="527050" y="933450"/>
                </a:lnTo>
                <a:lnTo>
                  <a:pt x="1054100" y="819150"/>
                </a:lnTo>
                <a:lnTo>
                  <a:pt x="1581150" y="704850"/>
                </a:lnTo>
                <a:lnTo>
                  <a:pt x="2108200" y="533400"/>
                </a:lnTo>
                <a:lnTo>
                  <a:pt x="2635250" y="400050"/>
                </a:lnTo>
                <a:lnTo>
                  <a:pt x="3162300" y="361950"/>
                </a:lnTo>
                <a:lnTo>
                  <a:pt x="3689350" y="209550"/>
                </a:lnTo>
                <a:lnTo>
                  <a:pt x="4216400" y="95250"/>
                </a:lnTo>
                <a:lnTo>
                  <a:pt x="4743450" y="0"/>
                </a:lnTo>
              </a:path>
            </a:pathLst>
          </a:custGeom>
          <a:noFill/>
          <a:ln w="2857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1000125" y="2600325"/>
            <a:ext cx="4743450" cy="1238250"/>
          </a:xfrm>
          <a:custGeom>
            <a:avLst/>
            <a:gdLst/>
            <a:ahLst/>
            <a:cxnLst/>
            <a:rect l="l" t="t" r="r" b="b"/>
            <a:pathLst>
              <a:path w="4743450" h="1238250">
                <a:moveTo>
                  <a:pt x="0" y="1047750"/>
                </a:moveTo>
                <a:lnTo>
                  <a:pt x="527050" y="933450"/>
                </a:lnTo>
                <a:lnTo>
                  <a:pt x="1054100" y="819150"/>
                </a:lnTo>
                <a:lnTo>
                  <a:pt x="1581150" y="704850"/>
                </a:lnTo>
                <a:lnTo>
                  <a:pt x="2108200" y="533400"/>
                </a:lnTo>
                <a:lnTo>
                  <a:pt x="2635250" y="400050"/>
                </a:lnTo>
                <a:lnTo>
                  <a:pt x="3162300" y="361950"/>
                </a:lnTo>
                <a:lnTo>
                  <a:pt x="3689350" y="209550"/>
                </a:lnTo>
                <a:lnTo>
                  <a:pt x="4216400" y="95250"/>
                </a:lnTo>
                <a:lnTo>
                  <a:pt x="4743450" y="0"/>
                </a:lnTo>
                <a:lnTo>
                  <a:pt x="4743450" y="1238250"/>
                </a:lnTo>
                <a:lnTo>
                  <a:pt x="0" y="1238250"/>
                </a:lnTo>
              </a:path>
            </a:pathLst>
          </a:custGeom>
          <a:solidFill>
            <a:srgbClr val="A78BFA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5695950" y="2552700"/>
            <a:ext cx="95250" cy="9525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1000125" y="3990975"/>
            <a:ext cx="18052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Mar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8376" y="3990975"/>
            <a:ext cx="16311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Apr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9065" y="3990975"/>
            <a:ext cx="19794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May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04729" y="3990975"/>
            <a:ext cx="16906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Jun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3038" y="3990975"/>
            <a:ext cx="18648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Aug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57093" y="3990975"/>
            <a:ext cx="18648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1717A"/>
                </a:solidFill>
                <a:latin typeface="Inter"/>
              </a:rPr>
              <a:t>Sep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1781175"/>
            <a:ext cx="5219700" cy="256222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6448425" y="2019300"/>
            <a:ext cx="47434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Coverage by tier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8425" y="2314575"/>
            <a:ext cx="77286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Tier-0 (atoms)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43927" y="2314575"/>
            <a:ext cx="2479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91%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48425" y="2533650"/>
            <a:ext cx="4743450" cy="76200"/>
          </a:xfrm>
          <a:prstGeom prst="round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/>
          <p:cNvSpPr/>
          <p:nvPr/>
        </p:nvSpPr>
        <p:spPr>
          <a:xfrm>
            <a:off x="6448425" y="2533650"/>
            <a:ext cx="4316462" cy="762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6448425" y="2743200"/>
            <a:ext cx="88314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Tier-1 (patterns)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43927" y="2743200"/>
            <a:ext cx="2479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78%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48425" y="2962275"/>
            <a:ext cx="4743450" cy="76200"/>
          </a:xfrm>
          <a:prstGeom prst="round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7"/>
          <p:cNvSpPr/>
          <p:nvPr/>
        </p:nvSpPr>
        <p:spPr>
          <a:xfrm>
            <a:off x="6448425" y="2962275"/>
            <a:ext cx="3699867" cy="76200"/>
          </a:xfrm>
          <a:prstGeom prst="round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6448425" y="3171825"/>
            <a:ext cx="95875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Tier-2 (heuristics)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43927" y="3171825"/>
            <a:ext cx="2479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42%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48425" y="3390900"/>
            <a:ext cx="4743450" cy="76200"/>
          </a:xfrm>
          <a:prstGeom prst="round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ounded Rectangle 31"/>
          <p:cNvSpPr/>
          <p:nvPr/>
        </p:nvSpPr>
        <p:spPr>
          <a:xfrm>
            <a:off x="6448425" y="3390900"/>
            <a:ext cx="1992213" cy="762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6448425" y="3600450"/>
            <a:ext cx="6765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D4D4D8"/>
                </a:solidFill>
                <a:latin typeface="Inter"/>
              </a:rPr>
              <a:t>Tier-3 (LLM)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12835" y="3600450"/>
            <a:ext cx="17904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8%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48425" y="3819525"/>
            <a:ext cx="4743450" cy="76200"/>
          </a:xfrm>
          <a:prstGeom prst="roundRect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xfrm>
            <a:off x="6448425" y="3819525"/>
            <a:ext cx="379363" cy="76200"/>
          </a:xfrm>
          <a:prstGeom prst="roundRect">
            <a:avLst/>
          </a:prstGeom>
          <a:solidFill>
            <a:srgbClr val="717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/>
          <p:cNvSpPr/>
          <p:nvPr/>
        </p:nvSpPr>
        <p:spPr>
          <a:xfrm>
            <a:off x="762000" y="4572000"/>
            <a:ext cx="10668000" cy="706189"/>
          </a:xfrm>
          <a:prstGeom prst="roundRect">
            <a:avLst/>
          </a:prstGeom>
          <a:solidFill>
            <a:srgbClr val="F59E0B">
              <a:alpha val="8000"/>
            </a:srgbClr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962025" y="4733925"/>
            <a:ext cx="102679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CD34D"/>
                </a:solidFill>
                <a:latin typeface="Inter"/>
              </a:rPr>
              <a:t>Heads up: bento-cell contrast bumped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025" y="4924425"/>
            <a:ext cx="10267950" cy="191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DE68A"/>
                </a:solidFill>
                <a:latin typeface="Inter"/>
              </a:rPr>
              <a:t>surf.bento-cell now defaults to surface-3 (#16162a) so cards are visible against the surface-1 slide background. Re-render decks compiled before today.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382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The people who shipped this.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638300"/>
            <a:ext cx="10668000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A1A1AA"/>
                </a:solidFill>
                <a:latin typeface="Inter"/>
              </a:rPr>
              <a:t>Six full-time + two design partners. Distributed across four timezones.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219075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2700000" scaled="0"/>
          </a:gradFill>
          <a:xfrm>
            <a:off x="962025" y="239077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7825" y="2466975"/>
            <a:ext cx="74324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Avery 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7825" y="2705100"/>
            <a:ext cx="7432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IR &amp; compiler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1500" y="219075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gradFill flip="none" rotWithShape="1">
            <a:gsLst>
              <a:gs pos="0">
                <a:srgbClr val="10B981"/>
              </a:gs>
              <a:gs pos="16667">
                <a:srgbClr val="26BD78"/>
              </a:gs>
              <a:gs pos="33333">
                <a:srgbClr val="39C16D"/>
              </a:gs>
              <a:gs pos="50000">
                <a:srgbClr val="4CC561"/>
              </a:gs>
              <a:gs pos="66667">
                <a:srgbClr val="5FC851"/>
              </a:gs>
              <a:gs pos="83333">
                <a:srgbClr val="71CA3C"/>
              </a:gs>
              <a:gs pos="100000">
                <a:srgbClr val="84CC16"/>
              </a:gs>
            </a:gsLst>
            <a:lin ang="2700000" scaled="0"/>
          </a:gradFill>
          <a:xfrm>
            <a:off x="4581525" y="239077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BM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67325" y="2466975"/>
            <a:ext cx="536674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Bo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67325" y="2705100"/>
            <a:ext cx="53667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Primitives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219075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gradFill flip="none" rotWithShape="1">
            <a:gsLst>
              <a:gs pos="0">
                <a:srgbClr val="F59E0B"/>
              </a:gs>
              <a:gs pos="16667">
                <a:srgbClr val="F79000"/>
              </a:gs>
              <a:gs pos="33333">
                <a:srgbClr val="F88100"/>
              </a:gs>
              <a:gs pos="50000">
                <a:srgbClr val="F87315"/>
              </a:gs>
              <a:gs pos="66667">
                <a:srgbClr val="F66327"/>
              </a:gs>
              <a:gs pos="83333">
                <a:srgbClr val="F35436"/>
              </a:gs>
              <a:gs pos="100000">
                <a:srgbClr val="EF4444"/>
              </a:gs>
            </a:gsLst>
            <a:lin ang="2700000" scaled="0"/>
          </a:gradFill>
          <a:xfrm>
            <a:off x="8201025" y="239077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86825" y="2466975"/>
            <a:ext cx="543074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Cyn 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6825" y="2705100"/>
            <a:ext cx="54307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Recipes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" y="331470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gradFill flip="none" rotWithShape="1">
            <a:gsLst>
              <a:gs pos="0">
                <a:srgbClr val="3B82F6"/>
              </a:gs>
              <a:gs pos="16667">
                <a:srgbClr val="238DF3"/>
              </a:gs>
              <a:gs pos="33333">
                <a:srgbClr val="0097EE"/>
              </a:gs>
              <a:gs pos="50000">
                <a:srgbClr val="00A0E8"/>
              </a:gs>
              <a:gs pos="66667">
                <a:srgbClr val="00A8E2"/>
              </a:gs>
              <a:gs pos="83333">
                <a:srgbClr val="00B0DB"/>
              </a:gs>
              <a:gs pos="100000">
                <a:srgbClr val="06B6D4"/>
              </a:gs>
            </a:gsLst>
            <a:lin ang="2700000" scaled="0"/>
          </a:gradFill>
          <a:xfrm>
            <a:off x="962025" y="351472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DV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7825" y="3590925"/>
            <a:ext cx="536823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Dev 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7825" y="3829050"/>
            <a:ext cx="53682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Harvester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1500" y="331470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gradFill flip="none" rotWithShape="1">
            <a:gsLst>
              <a:gs pos="0">
                <a:srgbClr val="EC4899"/>
              </a:gs>
              <a:gs pos="16667">
                <a:srgbClr val="E454B1"/>
              </a:gs>
              <a:gs pos="33333">
                <a:srgbClr val="DA5FC7"/>
              </a:gs>
              <a:gs pos="50000">
                <a:srgbClr val="CF6BD9"/>
              </a:gs>
              <a:gs pos="66667">
                <a:srgbClr val="C276E7"/>
              </a:gs>
              <a:gs pos="83333">
                <a:srgbClr val="B580F2"/>
              </a:gs>
              <a:gs pos="100000">
                <a:srgbClr val="A78BFA"/>
              </a:gs>
            </a:gsLst>
            <a:lin ang="2700000" scaled="0"/>
          </a:gradFill>
          <a:xfrm>
            <a:off x="4581525" y="351472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7325" y="3590925"/>
            <a:ext cx="82599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Eli 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7325" y="3829050"/>
            <a:ext cx="82599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PPTX backend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01000" y="3314700"/>
            <a:ext cx="3429000" cy="933450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  <a:effectLst>
            <a:outerShdw blurRad="19050" dist="9525" dir="5400000" algn="ctr" rotWithShape="0">
              <a:srgbClr val="000000">
                <a:alpha val="4000"/>
              </a:srgbClr>
            </a:outerShdw>
            <a:outerShdw blurRad="114300" dist="381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gradFill flip="none" rotWithShape="1">
            <a:gsLst>
              <a:gs pos="0">
                <a:srgbClr val="84CC16"/>
              </a:gs>
              <a:gs pos="16667">
                <a:srgbClr val="78CB2B"/>
              </a:gs>
              <a:gs pos="33333">
                <a:srgbClr val="6BCA39"/>
              </a:gs>
              <a:gs pos="50000">
                <a:srgbClr val="5DC944"/>
              </a:gs>
              <a:gs pos="66667">
                <a:srgbClr val="4DC84E"/>
              </a:gs>
              <a:gs pos="83333">
                <a:srgbClr val="3BC756"/>
              </a:gs>
              <a:gs pos="100000">
                <a:srgbClr val="22C55E"/>
              </a:gs>
            </a:gsLst>
            <a:lin ang="2700000" scaled="0"/>
          </a:gradFill>
          <a:xfrm>
            <a:off x="8201025" y="3514725"/>
            <a:ext cx="533400" cy="5334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F"/>
                </a:solidFill>
                <a:latin typeface="Inter"/>
              </a:rPr>
              <a:t>FW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6825" y="3590925"/>
            <a:ext cx="81200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Fia W.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86825" y="3829050"/>
            <a:ext cx="81200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Design system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428750" y="2871341"/>
            <a:ext cx="9334500" cy="111531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3600" b="0" i="0" u="none">
                <a:solidFill>
                  <a:srgbClr val="F5F5F7"/>
                </a:solidFill>
                <a:latin typeface="Tiempos"/>
              </a:rPr>
              <a:t xml:space="preserve">Slidify is the first tool that actually understands what designers
        mean by “editable.”</a:t>
            </a:r>
          </a:p>
        </p:txBody>
      </p:sp>
      <p:sp>
        <p:nvSpPr>
          <p:cNvPr id="4" name="TextBox 3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9987F7"/>
              </a:gs>
              <a:gs pos="33333">
                <a:srgbClr val="AF81F1"/>
              </a:gs>
              <a:gs pos="50000">
                <a:srgbClr val="C37CE8"/>
              </a:gs>
              <a:gs pos="66667">
                <a:srgbClr val="D678DA"/>
              </a:gs>
              <a:gs pos="83333">
                <a:srgbClr val="E674CA"/>
              </a:gs>
              <a:gs pos="100000">
                <a:srgbClr val="F472B6"/>
              </a:gs>
            </a:gsLst>
            <a:lin ang="2700000" scaled="0"/>
          </a:gradFill>
          <a:xfrm>
            <a:off x="4129534" y="4367659"/>
            <a:ext cx="440308" cy="457200"/>
          </a:xfrm>
          <a:prstGeom prst="rect">
            <a:avLst/>
          </a:prstGeom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 u="none">
                <a:solidFill>
                  <a:srgbClr val="0A0A0F"/>
                </a:solidFill>
                <a:latin typeface="Inter"/>
              </a:rPr>
              <a:t>DV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0084" y="4429571"/>
            <a:ext cx="190678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Dev 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0084" y="4620071"/>
            <a:ext cx="190678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Design partner, Anonymous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93570" y="4481959"/>
            <a:ext cx="1117941" cy="228600"/>
          </a:xfrm>
          <a:prstGeom prst="rect">
            <a:avLst/>
          </a:prstGeom>
          <a:solidFill>
            <a:srgbClr val="A78BFA">
              <a:alpha val="18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 u="none">
                <a:solidFill>
                  <a:srgbClr val="C4B5FD"/>
                </a:solidFill>
                <a:latin typeface="Inter"/>
              </a:rPr>
              <a:t>Verified customer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2026 plan of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0382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Roadmap.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1943100"/>
            <a:ext cx="2524125" cy="189547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000125" y="2181225"/>
            <a:ext cx="40659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73201" y="2243138"/>
            <a:ext cx="692497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✓ 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990" y="2762250"/>
            <a:ext cx="97080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Atoms.yaml 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6990" y="3067050"/>
            <a:ext cx="86007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Codegen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6990" y="3371850"/>
            <a:ext cx="78551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M3 primitives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6625" y="1943100"/>
            <a:ext cx="2524125" cy="189547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3714750" y="2181225"/>
            <a:ext cx="40659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Q2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7826" y="2243138"/>
            <a:ext cx="692497" cy="228600"/>
          </a:xfrm>
          <a:prstGeom prst="rect">
            <a:avLst/>
          </a:prstGeom>
          <a:solidFill>
            <a:srgbClr val="22C55E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86EFAC"/>
                </a:solidFill>
                <a:latin typeface="Inter"/>
              </a:rPr>
              <a:t>✓ shipped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71615" y="2762250"/>
            <a:ext cx="56331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Atelier-v2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71615" y="3067050"/>
            <a:ext cx="78551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Preset matrix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1615" y="3371850"/>
            <a:ext cx="80783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Harvester GA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1250" y="1943100"/>
            <a:ext cx="2524125" cy="189547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429375" y="2181225"/>
            <a:ext cx="40659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55000" y="2243138"/>
            <a:ext cx="590755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in flight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6240" y="2762250"/>
            <a:ext cx="956072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PPTX round-trip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6240" y="3067050"/>
            <a:ext cx="911572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Reverse-import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6240" y="3371850"/>
            <a:ext cx="60052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Cookbook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05875" y="1943100"/>
            <a:ext cx="2524125" cy="1895475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9144000" y="2181225"/>
            <a:ext cx="40659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5F5F7"/>
                </a:solidFill>
                <a:latin typeface="Inter"/>
              </a:rPr>
              <a:t>Q4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69625" y="2243138"/>
            <a:ext cx="590755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in flight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00865" y="2762250"/>
            <a:ext cx="80798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PDF backend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00865" y="3067050"/>
            <a:ext cx="80069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Keynote XML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0865" y="3371850"/>
            <a:ext cx="76348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Inter"/>
              </a:rPr>
              <a:t>Figma plugin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66621" y="4181475"/>
            <a:ext cx="1835497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Subscribe to changelog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54518" y="4181475"/>
            <a:ext cx="1303213" cy="381000"/>
          </a:xfrm>
          <a:prstGeom prst="rect">
            <a:avLst/>
          </a:prstGeom>
          <a:solidFill>
            <a:srgbClr val="A78BFA"/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A0F"/>
                </a:solidFill>
                <a:latin typeface="Inter"/>
              </a:rPr>
              <a:t>Join the waitlist 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9167">
                <a:srgbClr val="1B1841"/>
              </a:gs>
              <a:gs pos="18333">
                <a:srgbClr val="171538"/>
              </a:gs>
              <a:gs pos="27500">
                <a:srgbClr val="14132E"/>
              </a:gs>
              <a:gs pos="36667">
                <a:srgbClr val="101025"/>
              </a:gs>
              <a:gs pos="45833">
                <a:srgbClr val="0D0D1C"/>
              </a:gs>
              <a:gs pos="55000">
                <a:srgbClr val="0A0A14"/>
              </a:gs>
              <a:gs pos="62500">
                <a:srgbClr val="090913"/>
              </a:gs>
              <a:gs pos="70000">
                <a:srgbClr val="080813"/>
              </a:gs>
              <a:gs pos="77500">
                <a:srgbClr val="070712"/>
              </a:gs>
              <a:gs pos="85000">
                <a:srgbClr val="060611"/>
              </a:gs>
              <a:gs pos="92500">
                <a:srgbClr val="060611"/>
              </a:gs>
              <a:gs pos="100000">
                <a:srgbClr val="050510"/>
              </a:gs>
            </a:gsLst>
            <a:path path="circle">
              <a:fillToRect l="80000" t="12000" r="20000" b="88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1343025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78BFA"/>
                </a:solidFill>
                <a:latin typeface="Inter"/>
              </a:rPr>
              <a:t>Get the slidify CLI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714500"/>
            <a:ext cx="10668000" cy="19431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66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Ready to compile your next deck?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829050"/>
            <a:ext cx="6858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1500" b="0" i="0" u="none">
                <a:solidFill>
                  <a:srgbClr val="D4D4D8"/>
                </a:solidFill>
                <a:latin typeface="Inter"/>
              </a:rPr>
              <a:t>One curl. One command. Native PPTX out the other side.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8483" y="4457700"/>
            <a:ext cx="2520739" cy="4572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 u="none">
                <a:solidFill>
                  <a:srgbClr val="F5F5F7"/>
                </a:solidFill>
                <a:latin typeface="Inter"/>
              </a:rPr>
              <a:t>curl -fsSL https://slidify.sh/install | 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33295" y="4457700"/>
            <a:ext cx="1332533" cy="457200"/>
          </a:xfrm>
          <a:prstGeom prst="rect">
            <a:avLst/>
          </a:prstGeom>
          <a:solidFill>
            <a:srgbClr val="A78BFA"/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 u="none">
                <a:solidFill>
                  <a:srgbClr val="0A0A0F"/>
                </a:solidFill>
                <a:latin typeface="Inter"/>
              </a:rPr>
              <a:t>Read the docs 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94299" y="5372100"/>
            <a:ext cx="14226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github.com/slidify/slidify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45547" y="5372100"/>
            <a:ext cx="84891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· @slidify_dev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23063" y="5372100"/>
            <a:ext cx="67463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· slidify.dev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38200" y="609600"/>
            <a:ext cx="105156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91C1C"/>
                </a:solidFill>
                <a:latin typeface="Inter"/>
              </a:rPr>
              <a:t>The Upshot · Housing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857250"/>
            <a:ext cx="8763000" cy="107989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050" b="1" i="0" u="none">
                <a:solidFill>
                  <a:srgbClr val="111111"/>
                </a:solidFill>
                <a:latin typeface="Georgia"/>
              </a:rPr>
              <a:t>Rents fell in just six of the country's fifty largest metros.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2013347"/>
            <a:ext cx="7239000" cy="501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 u="none">
                <a:solidFill>
                  <a:srgbClr val="52525B"/>
                </a:solidFill>
                <a:latin typeface="Inter"/>
              </a:rPr>
              <a:t xml:space="preserve">Year-over-year change in median asking rent for a two-bedroom apartment,
        2024 → 2025. Bars below zero mark cities where renters caught a break.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200" y="2858095"/>
            <a:ext cx="10515600" cy="2857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838200" y="4286845"/>
            <a:ext cx="10515600" cy="9525"/>
          </a:xfrm>
          <a:prstGeom prst="rect">
            <a:avLst/>
          </a:prstGeom>
          <a:solidFill>
            <a:srgbClr val="111111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220585" y="4182070"/>
            <a:ext cx="133835" cy="1143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430897" y="4124920"/>
            <a:ext cx="133835" cy="1714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41209" y="4086820"/>
            <a:ext cx="133835" cy="2095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851521" y="4029670"/>
            <a:ext cx="133835" cy="2667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2061833" y="3972520"/>
            <a:ext cx="133835" cy="3238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2272145" y="3915370"/>
            <a:ext cx="133835" cy="381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2482457" y="3858220"/>
            <a:ext cx="133835" cy="4381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2692769" y="3782020"/>
            <a:ext cx="133835" cy="5143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2903081" y="3705820"/>
            <a:ext cx="133835" cy="5905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3113393" y="3610570"/>
            <a:ext cx="133835" cy="685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3323705" y="3534370"/>
            <a:ext cx="133835" cy="762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3534017" y="3458170"/>
            <a:ext cx="133835" cy="838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744329" y="3401020"/>
            <a:ext cx="133835" cy="8953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3954641" y="3610570"/>
            <a:ext cx="133835" cy="685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4164953" y="3667720"/>
            <a:ext cx="133835" cy="6286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375265" y="3743920"/>
            <a:ext cx="133835" cy="5524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4585577" y="3820120"/>
            <a:ext cx="133835" cy="4762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4795889" y="3877270"/>
            <a:ext cx="133835" cy="4191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006201" y="3934420"/>
            <a:ext cx="133835" cy="3619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5216513" y="3991570"/>
            <a:ext cx="133835" cy="304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5426825" y="4029670"/>
            <a:ext cx="133835" cy="2667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5637137" y="4086820"/>
            <a:ext cx="133835" cy="2095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5847449" y="4124920"/>
            <a:ext cx="133835" cy="1714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6057761" y="4163020"/>
            <a:ext cx="133835" cy="1333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6268073" y="4201120"/>
            <a:ext cx="133835" cy="9525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6478385" y="4220170"/>
            <a:ext cx="133835" cy="76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6688697" y="4296370"/>
            <a:ext cx="133835" cy="5715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6899009" y="4296370"/>
            <a:ext cx="133835" cy="1143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7109321" y="4296370"/>
            <a:ext cx="133835" cy="17145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7319633" y="4296370"/>
            <a:ext cx="133835" cy="2286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7529945" y="4296370"/>
            <a:ext cx="133835" cy="3048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7740257" y="4296370"/>
            <a:ext cx="133835" cy="41910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Connector 39"/>
          <p:cNvCxnSpPr/>
          <p:nvPr/>
        </p:nvCxnSpPr>
        <p:spPr>
          <a:xfrm flipH="1">
            <a:off x="9824258" y="4829770"/>
            <a:ext cx="477982" cy="32385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10273665" y="4801195"/>
            <a:ext cx="57150" cy="5715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8077200" y="5123259"/>
            <a:ext cx="2426345" cy="3295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 u="none">
                <a:solidFill>
                  <a:srgbClr val="111111"/>
                </a:solidFill>
                <a:latin typeface="Georgia"/>
              </a:rPr>
              <a:t xml:space="preserve">
          Austin posted the steepest drop, −4.4%,</a:t>
            </a:r>
          </a:p>
          <a:p>
            <a:pPr algn="l"/>
            <a:r>
              <a:rPr sz="1050" b="0" i="1" u="none">
                <a:solidFill>
                  <a:srgbClr val="111111"/>
                </a:solidFill>
                <a:latin typeface="Georgia"/>
              </a:rPr>
              <a:t xml:space="preserve">
          after two straight years of double-digit gains.
       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8200" y="5944195"/>
            <a:ext cx="282550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Source: Zillow Observed Rent Index, Jan 2025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99859" y="5944195"/>
            <a:ext cx="295394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Note: Metros ordered by 12-month change. n=50.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457200" y="342900"/>
            <a:ext cx="11277600" cy="67657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57200" y="342900"/>
            <a:ext cx="1889820" cy="52417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0" i="0" u="none">
                <a:solidFill>
                  <a:srgbClr val="0A0A0A"/>
                </a:solidFill>
                <a:latin typeface="Bebas Neue"/>
              </a:rPr>
              <a:t>PITCH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15984" y="714673"/>
            <a:ext cx="171881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0A0A0A"/>
                </a:solidFill>
                <a:latin typeface="Playfair Display"/>
              </a:rPr>
              <a:t>Issue No. 04 · Spring 2026 · $14</a:t>
            </a:r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FFFFFF">
                  <a:alpha val="12000"/>
                </a:srgbClr>
              </a:gs>
              <a:gs pos="9167">
                <a:srgbClr val="FFFFFF">
                  <a:alpha val="10000"/>
                </a:srgbClr>
              </a:gs>
              <a:gs pos="18333">
                <a:srgbClr val="FFFFFF">
                  <a:alpha val="8000"/>
                </a:srgbClr>
              </a:gs>
              <a:gs pos="27500">
                <a:srgbClr val="FFFFFF">
                  <a:alpha val="6000"/>
                </a:srgbClr>
              </a:gs>
              <a:gs pos="36667">
                <a:srgbClr val="FFFFFF">
                  <a:alpha val="4000"/>
                </a:srgbClr>
              </a:gs>
              <a:gs pos="45833">
                <a:srgbClr val="FFFFFF">
                  <a:alpha val="2000"/>
                </a:srgbClr>
              </a:gs>
              <a:gs pos="55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30000" t="35000" r="70000" b="65000"/>
            </a:path>
          </a:gradFill>
          <a:xfrm>
            <a:off x="6800850" y="1257300"/>
            <a:ext cx="4914900" cy="49149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029450" y="5254228"/>
            <a:ext cx="3201144" cy="71616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700" b="0" i="0" u="none">
                <a:solidFill>
                  <a:srgbClr val="FFFFFF"/>
                </a:solidFill>
                <a:latin typeface="Bebas Neue"/>
              </a:rPr>
              <a:t>A NEW</a:t>
            </a:r>
          </a:p>
          <a:p>
            <a:pPr algn="l"/>
            <a:r>
              <a:rPr sz="2700" b="0" i="0" u="none">
                <a:solidFill>
                  <a:srgbClr val="FFFFFF"/>
                </a:solidFill>
                <a:latin typeface="Bebas Neue"/>
              </a:rPr>
              <a:t>EDITORIAL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19250"/>
            <a:ext cx="64770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0A0A0A"/>
                </a:solidFill>
                <a:latin typeface="Playfair Display"/>
              </a:rPr>
              <a:t>The cover story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24025"/>
            <a:ext cx="8873728" cy="49062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3800" b="1" i="0" u="none">
                <a:solidFill>
                  <a:srgbClr val="0A0A0A"/>
                </a:solidFill>
                <a:latin typeface="Bebas Neue"/>
              </a:rPr>
              <a:t xml:space="preserve">
          DESIGNED</a:t>
            </a:r>
          </a:p>
          <a:p>
            <a:pPr algn="l"/>
            <a:r>
              <a:rPr sz="13800" b="1" i="0" u="none">
                <a:solidFill>
                  <a:srgbClr val="0A0A0A"/>
                </a:solidFill>
                <a:latin typeface="Bebas Neue"/>
              </a:rPr>
              <a:t>FOR</a:t>
            </a:r>
          </a:p>
          <a:p>
            <a:pPr algn="l"/>
            <a:r>
              <a:rPr sz="13800" b="1" i="0" u="none">
                <a:solidFill>
                  <a:srgbClr val="FFFFFF"/>
                </a:solidFill>
                <a:latin typeface="Bebas Neue"/>
              </a:rPr>
              <a:t>EDITORS</a:t>
            </a:r>
            <a:r>
              <a:rPr sz="13800" b="1" i="0" u="none">
                <a:solidFill>
                  <a:srgbClr val="0A0A0A"/>
                </a:solidFill>
                <a:latin typeface="Bebas Neue"/>
              </a:rPr>
              <a:t xml:space="preserve">
        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042720"/>
            <a:ext cx="11277600" cy="358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457200" y="6207472"/>
            <a:ext cx="10227171" cy="1933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0A0A0A"/>
                </a:solidFill>
                <a:latin typeface="Playfair Display"/>
              </a:rPr>
              <a:t xml:space="preserve">Inside: how slidify rewrote the rules of editable presentations,
          why every shape matters, and the case for typographic restraint.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89171" y="6195120"/>
            <a:ext cx="745629" cy="20568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0" i="0" u="none">
                <a:solidFill>
                  <a:srgbClr val="0A0A0A"/>
                </a:solidFill>
                <a:latin typeface="Bebas Neue"/>
              </a:rPr>
              <a:t>PP / 04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E11D48">
                  <a:alpha val="30000"/>
                </a:srgbClr>
              </a:gs>
              <a:gs pos="10000">
                <a:srgbClr val="E11D48">
                  <a:alpha val="25000"/>
                </a:srgbClr>
              </a:gs>
              <a:gs pos="20000">
                <a:srgbClr val="E11D48">
                  <a:alpha val="20000"/>
                </a:srgbClr>
              </a:gs>
              <a:gs pos="30000">
                <a:srgbClr val="E11D48">
                  <a:alpha val="15000"/>
                </a:srgbClr>
              </a:gs>
              <a:gs pos="40000">
                <a:srgbClr val="E11D48">
                  <a:alpha val="10000"/>
                </a:srgbClr>
              </a:gs>
              <a:gs pos="50000">
                <a:srgbClr val="E11D48">
                  <a:alpha val="5000"/>
                </a:srgbClr>
              </a:gs>
              <a:gs pos="60000">
                <a:srgbClr val="E11D48">
                  <a:alpha val="0"/>
                </a:srgbClr>
              </a:gs>
              <a:gs pos="100000">
                <a:srgbClr val="E11D48">
                  <a:alpha val="0"/>
                </a:srgbClr>
              </a:gs>
            </a:gsLst>
            <a:path path="circle">
              <a:fillToRect l="30000" t="30000" r="70000" b="70000"/>
            </a:path>
          </a:gradFill>
          <a:xfrm>
            <a:off x="0" y="0"/>
            <a:ext cx="5833021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04800" y="304800"/>
            <a:ext cx="2468463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Playfair Display"/>
              </a:rPr>
              <a:t>Photograph by — Studio Anonymous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" y="4520208"/>
            <a:ext cx="5411837" cy="201662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8100" b="0" i="0" u="none">
                <a:solidFill>
                  <a:srgbClr val="FFFFFF"/>
                </a:solidFill>
                <a:latin typeface="Bebas Neue"/>
              </a:rPr>
              <a:t>EDITORIAL</a:t>
            </a:r>
          </a:p>
          <a:p>
            <a:pPr algn="l"/>
            <a:r>
              <a:rPr sz="8100" b="0" i="0" u="none">
                <a:solidFill>
                  <a:srgbClr val="FFFFFF"/>
                </a:solidFill>
                <a:latin typeface="Bebas Neue"/>
              </a:rPr>
              <a:t>FEATURE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04800" y="6534150"/>
            <a:ext cx="609600" cy="1905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385620" y="609600"/>
            <a:ext cx="527298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11D48"/>
                </a:solidFill>
                <a:latin typeface="Playfair Display"/>
              </a:rPr>
              <a:t>Pages 24 —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85620" y="866775"/>
            <a:ext cx="4821138" cy="156001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0A0A0A"/>
                </a:solidFill>
                <a:latin typeface="Bebas Neue"/>
              </a:rPr>
              <a:t>A QUIET REVOLUTION</a:t>
            </a:r>
          </a:p>
          <a:p>
            <a:pPr algn="l"/>
            <a:r>
              <a:rPr sz="4200" b="1" i="0" u="none">
                <a:solidFill>
                  <a:srgbClr val="0A0A0A"/>
                </a:solidFill>
                <a:latin typeface="Bebas Neue"/>
              </a:rPr>
              <a:t>IN PRESENTATION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85620" y="2601962"/>
            <a:ext cx="457200" cy="190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385620" y="2849612"/>
            <a:ext cx="672852" cy="77033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200" b="0" i="0" u="none">
                <a:solidFill>
                  <a:srgbClr val="E11D48"/>
                </a:solidFill>
                <a:latin typeface="Bebas Neue"/>
              </a:rPr>
              <a:t>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5620" y="2849612"/>
            <a:ext cx="672852" cy="77033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200" b="0" i="0" u="none">
                <a:solidFill>
                  <a:srgbClr val="E11D48"/>
                </a:solidFill>
                <a:latin typeface="Bebas Neue"/>
              </a:rPr>
              <a:t>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5620" y="4834682"/>
            <a:ext cx="62239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A0A0A"/>
                </a:solidFill>
                <a:latin typeface="Playfair Display"/>
              </a:rPr>
              <a:t>A. KAPLAN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2819" y="4834682"/>
            <a:ext cx="5652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3F3F46"/>
                </a:solidFill>
                <a:latin typeface="Playfair Display"/>
              </a:rPr>
              <a:t>4,200 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2868" y="4834682"/>
            <a:ext cx="83805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3F3F46"/>
                </a:solidFill>
                <a:latin typeface="Playfair Display"/>
              </a:rPr>
              <a:t>continued page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533400" y="457200"/>
            <a:ext cx="11125200" cy="62656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33400" y="457200"/>
            <a:ext cx="354865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DOC · 2026.04.21 · REV-C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38175"/>
            <a:ext cx="3548658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SLIDIFY-EXEC // SPEC SHEET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18514" y="457200"/>
            <a:ext cx="1640086" cy="167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737373"/>
                </a:solidFill>
                <a:latin typeface="Consolas"/>
              </a:rPr>
              <a:t>part : SDX-V2-EXEC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18514" y="624780"/>
            <a:ext cx="1640086" cy="1675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737373"/>
                </a:solidFill>
                <a:latin typeface="Consolas"/>
              </a:rPr>
              <a:t>maint: pixelpitch.dev/spec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49099" y="811411"/>
            <a:ext cx="100950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737373"/>
                </a:solidFill>
                <a:latin typeface="Consolas"/>
              </a:rPr>
              <a:t xml:space="preserve">cls  : </a:t>
            </a:r>
            <a:r>
              <a:rPr sz="825" b="0" i="0" u="none">
                <a:solidFill>
                  <a:srgbClr val="22D3EE"/>
                </a:solidFill>
                <a:latin typeface="Consolas"/>
              </a:rPr>
              <a:t>production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1350466"/>
            <a:ext cx="5627787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22D3EE"/>
                </a:solidFill>
                <a:latin typeface="Consolas"/>
              </a:rPr>
              <a:t>§ 01 · NOMINAL VALUES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69541"/>
          <a:ext cx="5627787" cy="2400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5929"/>
                <a:gridCol w="1875929"/>
                <a:gridCol w="1875929"/>
              </a:tblGrid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MASS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1.84 kg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± 0.02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MAX TORQUE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240 Nm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@ 4200 rpm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DRIVETRAIN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DUAL-AXIS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tier-0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THERMAL BAND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−40 → 95°C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rated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CYCLE LIFE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12,500 h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MTBF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ENERGY DRAW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18.4 W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nominal</a:t>
                      </a:r>
                    </a:p>
                  </a:txBody>
                  <a:tcPr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75" b="0">
                          <a:solidFill>
                            <a:srgbClr val="737373"/>
                          </a:solidFill>
                          <a:latin typeface="Consolas"/>
                        </a:rPr>
                        <a:t>PROTOCOL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75" b="1">
                          <a:solidFill>
                            <a:srgbClr val="E5E5E5"/>
                          </a:solidFill>
                          <a:latin typeface="Consolas"/>
                        </a:rPr>
                        <a:t>rs-485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75" b="0">
                          <a:solidFill>
                            <a:srgbClr val="22D3EE"/>
                          </a:solidFill>
                          <a:latin typeface="Consolas"/>
                        </a:rPr>
                        <a:t>9600/8N1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76275" y="4360366"/>
            <a:ext cx="5229969" cy="3104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CC15"/>
                </a:solidFill>
                <a:latin typeface="Consolas"/>
              </a:rPr>
              <a:t>NOTE</a:t>
            </a:r>
            <a:r>
              <a:rPr sz="900" b="0" i="0" u="none">
                <a:solidFill>
                  <a:srgbClr val="737373"/>
                </a:solidFill>
                <a:latin typeface="Consolas"/>
              </a:rPr>
              <a:t xml:space="preserve"> · Values are derived from a
            full-load 28-day soak. Re-validate on stack rotation.
        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2187" y="1350466"/>
            <a:ext cx="5116413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22D3EE"/>
                </a:solidFill>
                <a:latin typeface="Consolas"/>
              </a:rPr>
              <a:t>§ 02 · DIMENSIONED PROFILE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7393" y="2331541"/>
            <a:ext cx="2286000" cy="1524000"/>
          </a:xfrm>
          <a:prstGeom prst="rect">
            <a:avLst/>
          </a:prstGeom>
          <a:noFill/>
          <a:ln w="14288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8338393" y="2712541"/>
            <a:ext cx="1524000" cy="762000"/>
          </a:xfrm>
          <a:prstGeom prst="rect">
            <a:avLst/>
          </a:prstGeom>
          <a:noFill/>
          <a:ln w="9525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8281243" y="3036391"/>
            <a:ext cx="114300" cy="1143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9805243" y="3036391"/>
            <a:ext cx="114300" cy="1143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Connector 16"/>
          <p:cNvCxnSpPr/>
          <p:nvPr/>
        </p:nvCxnSpPr>
        <p:spPr>
          <a:xfrm>
            <a:off x="7957393" y="2141041"/>
            <a:ext cx="2286000" cy="0"/>
          </a:xfrm>
          <a:prstGeom prst="line">
            <a:avLst/>
          </a:prstGeom>
          <a:ln w="7620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7393" y="2093416"/>
            <a:ext cx="0" cy="95250"/>
          </a:xfrm>
          <a:prstGeom prst="line">
            <a:avLst/>
          </a:prstGeom>
          <a:ln w="9525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243393" y="2093416"/>
            <a:ext cx="0" cy="95250"/>
          </a:xfrm>
          <a:prstGeom prst="line">
            <a:avLst/>
          </a:prstGeom>
          <a:ln w="9525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433893" y="2331541"/>
            <a:ext cx="0" cy="1524000"/>
          </a:xfrm>
          <a:prstGeom prst="line">
            <a:avLst/>
          </a:prstGeom>
          <a:ln w="7620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386268" y="2331541"/>
            <a:ext cx="95250" cy="0"/>
          </a:xfrm>
          <a:prstGeom prst="line">
            <a:avLst/>
          </a:prstGeom>
          <a:ln w="9525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386268" y="3855541"/>
            <a:ext cx="95250" cy="0"/>
          </a:xfrm>
          <a:prstGeom prst="line">
            <a:avLst/>
          </a:prstGeom>
          <a:ln w="9525">
            <a:solidFill>
              <a:srgbClr val="7373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927515" y="1981021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E5E5E5"/>
                </a:solidFill>
                <a:latin typeface="Consolas"/>
              </a:rPr>
              <a:t>240 mm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76768" y="3047821"/>
            <a:ext cx="172879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E5E5E5"/>
                </a:solidFill>
                <a:latin typeface="Consolas"/>
              </a:rPr>
              <a:t>160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24131" y="4160341"/>
            <a:ext cx="115252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737373"/>
                </a:solidFill>
                <a:latin typeface="Consolas"/>
              </a:rPr>
              <a:t>FIG-A · TOP VIEW · 1:2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5105102"/>
            <a:ext cx="11125200" cy="2095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533400" y="5209877"/>
            <a:ext cx="2830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37373"/>
                </a:solidFill>
                <a:latin typeface="Consolas"/>
              </a:rPr>
              <a:t>PIXELPITCH ENG · INTERNAL DISTRIBUTION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0175" y="5209877"/>
            <a:ext cx="9684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37373"/>
                </a:solidFill>
                <a:latin typeface="Consolas"/>
              </a:rPr>
              <a:t>SHEET 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247650"/>
            <a:ext cx="4462314" cy="27275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1100" b="1" i="0" u="none">
                <a:solidFill>
                  <a:srgbClr val="0A0A0A"/>
                </a:solidFill>
                <a:latin typeface="Helvetica Neue"/>
              </a:rPr>
              <a:t>MANI</a:t>
            </a:r>
          </a:p>
          <a:p>
            <a:pPr algn="l"/>
            <a:r>
              <a:rPr sz="11100" b="1" i="0" u="none">
                <a:solidFill>
                  <a:srgbClr val="0A0A0A"/>
                </a:solidFill>
                <a:latin typeface="Helvetica Neue"/>
              </a:rPr>
              <a:t>FESTO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38929" y="2010966"/>
            <a:ext cx="997376" cy="238125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FEF200"/>
                </a:solidFill>
                <a:latin typeface="Consolas"/>
              </a:rPr>
              <a:t>v0.1 · APR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01100" y="2382441"/>
            <a:ext cx="2857500" cy="38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 u="none">
                <a:solidFill>
                  <a:srgbClr val="0A0A0A"/>
                </a:solidFill>
                <a:latin typeface="Helvetica Neue"/>
              </a:rPr>
              <a:t xml:space="preserve">Four tenets we will not negotiate.
            Pin this above your desk.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2997696"/>
            <a:ext cx="11125200" cy="34170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33400" y="2997696"/>
            <a:ext cx="11125200" cy="84951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533400" y="3188196"/>
            <a:ext cx="1143000" cy="4875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0A0A0A"/>
                </a:solidFill>
                <a:latin typeface="Helvetica Neue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1200" y="3188196"/>
            <a:ext cx="3905101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0A0A0A"/>
                </a:solidFill>
                <a:latin typeface="Helvetica Neue"/>
              </a:rPr>
              <a:t>EVERY SHAPE IS EDITABLE.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1101" y="3188196"/>
            <a:ext cx="5467350" cy="2143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0A0A0A"/>
                </a:solidFill>
                <a:latin typeface="Helvetica Neue"/>
              </a:rPr>
              <a:t>The PPTX you ship is the artifact someone else will edit. No rasters, no apologies.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3400" y="3847207"/>
            <a:ext cx="11125200" cy="84951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533400" y="4037707"/>
            <a:ext cx="1143000" cy="4875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0A0A0A"/>
                </a:solidFill>
                <a:latin typeface="Helvetica Neue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81200" y="4037707"/>
            <a:ext cx="3905101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0A0A0A"/>
                </a:solidFill>
                <a:latin typeface="Helvetica Neue"/>
              </a:rPr>
              <a:t>TYPE IS A FIRST-CLASS CITIZEN.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1101" y="4037707"/>
            <a:ext cx="546735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0A0A0A"/>
                </a:solidFill>
                <a:latin typeface="Helvetica Neue"/>
              </a:rPr>
              <a:t>Glyphs survive the export with their tracking, leading, and weight intact. We do not flatten.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3400" y="4696718"/>
            <a:ext cx="11125200" cy="84951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33400" y="4887218"/>
            <a:ext cx="1143000" cy="4875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0A0A0A"/>
                </a:solidFill>
                <a:latin typeface="Helvetica Neue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81200" y="4887218"/>
            <a:ext cx="3905101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0A0A0A"/>
                </a:solidFill>
                <a:latin typeface="Helvetica Neue"/>
              </a:rPr>
              <a:t>GRADIENTS ARE NATIVE.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1101" y="4887218"/>
            <a:ext cx="5467350" cy="214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0A0A0A"/>
                </a:solidFill>
                <a:latin typeface="Helvetica Neue"/>
              </a:rPr>
              <a:t>Linear and radial fills emit 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1481" y="4906268"/>
            <a:ext cx="2668191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0A0A0A"/>
                </a:solidFill>
                <a:latin typeface="Helvetica Neue"/>
              </a:rPr>
              <a:t>. PowerPoint colour-pickers stay accurate.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3400" y="5546229"/>
            <a:ext cx="11125200" cy="84951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533400" y="5736729"/>
            <a:ext cx="1143000" cy="4875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0A0A0A"/>
                </a:solidFill>
                <a:latin typeface="Helvetica Neue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81200" y="5736729"/>
            <a:ext cx="3905101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0A0A0A"/>
                </a:solidFill>
                <a:latin typeface="Helvetica Neue"/>
              </a:rPr>
              <a:t>LLM-LEGIBLE BY CONSTRUCTION.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1101" y="5736729"/>
            <a:ext cx="546735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0A0A0A"/>
                </a:solidFill>
                <a:latin typeface="Helvetica Neue"/>
              </a:rPr>
              <a:t>A pre-flight checker tells the model what works before the conversion runs. No surprises.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6586240"/>
            <a:ext cx="196661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SLIDIFY · OPEN MANIFESTO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6397" y="6586240"/>
            <a:ext cx="2622203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SIGN AT pixelpitch.dev/manifesto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38200" y="609600"/>
            <a:ext cx="105156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91C1C"/>
                </a:solidFill>
                <a:latin typeface="Inter"/>
              </a:rPr>
              <a:t>How we differ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857250"/>
            <a:ext cx="10515600" cy="539948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050" b="1" i="0" u="none">
                <a:solidFill>
                  <a:srgbClr val="111111"/>
                </a:solidFill>
                <a:latin typeface="Georgia"/>
              </a:rPr>
              <a:t>Editable, not photographable.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1454348"/>
            <a:ext cx="66675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52525B"/>
                </a:solidFill>
                <a:latin typeface="Inter"/>
              </a:rPr>
              <a:t>The standard HTML→slide tool flattens design intent. Slidify preserves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8200" y="2025848"/>
            <a:ext cx="5143500" cy="386476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114425" y="2340173"/>
            <a:ext cx="496421" cy="190500"/>
          </a:xfrm>
          <a:prstGeom prst="rect">
            <a:avLst/>
          </a:prstGeom>
          <a:solidFill>
            <a:srgbClr val="6B7280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Them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4425" y="2664023"/>
            <a:ext cx="4591050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111111"/>
                </a:solidFill>
                <a:latin typeface="Georgia"/>
              </a:rPr>
              <a:t>The screenshot 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425" y="3054548"/>
            <a:ext cx="45910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The status quo since 2014.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14425" y="3349823"/>
            <a:ext cx="4591050" cy="4452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114425" y="3464123"/>
            <a:ext cx="190500" cy="2071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1" i="0" u="none">
                <a:solidFill>
                  <a:srgbClr val="6B7280"/>
                </a:solidFill>
                <a:latin typeface="Inter"/>
              </a:rPr>
              <a:t>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38275" y="3464123"/>
            <a:ext cx="1691580" cy="2071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111111"/>
                </a:solidFill>
                <a:latin typeface="Inter"/>
              </a:rPr>
              <a:t>Slides ship as screenshots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14425" y="3795117"/>
            <a:ext cx="4591050" cy="4452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1114425" y="3909417"/>
            <a:ext cx="190500" cy="2071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1" i="0" u="none">
                <a:solidFill>
                  <a:srgbClr val="6B7280"/>
                </a:solidFill>
                <a:latin typeface="Inter"/>
              </a:rPr>
              <a:t>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8275" y="3909417"/>
            <a:ext cx="1683841" cy="2071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111111"/>
                </a:solidFill>
                <a:latin typeface="Inter"/>
              </a:rPr>
              <a:t>Gradients flatten on export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14425" y="4240411"/>
            <a:ext cx="4591050" cy="4452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1114425" y="4354711"/>
            <a:ext cx="190500" cy="2071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1" i="0" u="none">
                <a:solidFill>
                  <a:srgbClr val="6B7280"/>
                </a:solidFill>
                <a:latin typeface="Inter"/>
              </a:rPr>
              <a:t>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8275" y="4354711"/>
            <a:ext cx="1846659" cy="2071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111111"/>
                </a:solidFill>
                <a:latin typeface="Inter"/>
              </a:rPr>
              <a:t>Type loses tracking + leading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14425" y="4685705"/>
            <a:ext cx="4591050" cy="4452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1114425" y="4800005"/>
            <a:ext cx="190500" cy="2071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1" i="0" u="none">
                <a:solidFill>
                  <a:srgbClr val="6B7280"/>
                </a:solidFill>
                <a:latin typeface="Inter"/>
              </a:rPr>
              <a:t>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38275" y="4800005"/>
            <a:ext cx="1802755" cy="2071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111111"/>
                </a:solidFill>
                <a:latin typeface="Inter"/>
              </a:rPr>
              <a:t>No round-trip back to source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14425" y="5130998"/>
            <a:ext cx="4591050" cy="4452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1114425" y="5245298"/>
            <a:ext cx="190500" cy="2071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1" i="0" u="none">
                <a:solidFill>
                  <a:srgbClr val="6B7280"/>
                </a:solidFill>
                <a:latin typeface="Inter"/>
              </a:rPr>
              <a:t>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38275" y="5245298"/>
            <a:ext cx="1882080" cy="2071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111111"/>
                </a:solidFill>
                <a:latin typeface="Inter"/>
              </a:rPr>
              <a:t>LLM has to guess what works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0300" y="2025848"/>
            <a:ext cx="5143500" cy="386476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86525" y="2340173"/>
            <a:ext cx="356653" cy="190500"/>
          </a:xfrm>
          <a:prstGeom prst="rect">
            <a:avLst/>
          </a:prstGeom>
          <a:solidFill>
            <a:srgbClr val="B91C1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86525" y="2664023"/>
            <a:ext cx="4591050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111111"/>
                </a:solidFill>
                <a:latin typeface="Georgia"/>
              </a:rPr>
              <a:t>Slidify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6525" y="3054548"/>
            <a:ext cx="45910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What you get when shapes are first-class.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86525" y="3349823"/>
            <a:ext cx="4591050" cy="4452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6486525" y="3464123"/>
            <a:ext cx="190500" cy="2071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0375" y="3464123"/>
            <a:ext cx="1890117" cy="2071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111111"/>
                </a:solidFill>
                <a:latin typeface="Inter"/>
              </a:rPr>
              <a:t>Every shape is editable PPTX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86525" y="3795117"/>
            <a:ext cx="4591050" cy="4452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6486525" y="3909417"/>
            <a:ext cx="190500" cy="2071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0375" y="3909417"/>
            <a:ext cx="1040457" cy="2071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111111"/>
                </a:solidFill>
                <a:latin typeface="Inter"/>
              </a:rPr>
              <a:t>Native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55073" y="3928467"/>
            <a:ext cx="595759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111111"/>
                </a:solidFill>
                <a:latin typeface="Inter"/>
              </a:rPr>
              <a:t>on export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86525" y="4240411"/>
            <a:ext cx="4591050" cy="4452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6486525" y="4354711"/>
            <a:ext cx="190500" cy="2071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10375" y="4354711"/>
            <a:ext cx="2096393" cy="2071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111111"/>
                </a:solidFill>
                <a:latin typeface="Inter"/>
              </a:rPr>
              <a:t>Glyph metrics survive end-to-end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86525" y="4685705"/>
            <a:ext cx="4591050" cy="4452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6486525" y="4800005"/>
            <a:ext cx="190500" cy="2071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10375" y="4800005"/>
            <a:ext cx="1897856" cy="2071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111111"/>
                </a:solidFill>
                <a:latin typeface="Inter"/>
              </a:rPr>
              <a:t>Edits in PPTX trace to recipes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86525" y="5130998"/>
            <a:ext cx="4591050" cy="4452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6486525" y="5245298"/>
            <a:ext cx="190500" cy="2071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1" i="0" u="none">
                <a:solidFill>
                  <a:srgbClr val="B91C1C"/>
                </a:solidFill>
                <a:latin typeface="Inter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10375" y="5245298"/>
            <a:ext cx="2016770" cy="2071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111111"/>
                </a:solidFill>
                <a:latin typeface="Inter"/>
              </a:rPr>
              <a:t>`slidify check` blocks bad HTML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8200" y="6119217"/>
            <a:ext cx="105156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52525B"/>
                </a:solidFill>
                <a:latin typeface="Consolas"/>
              </a:rPr>
              <a:t>Comparison table compiled Apr 2026 — verified against 12 production decks.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FECC4">
                  <a:alpha val="30000"/>
                </a:srgbClr>
              </a:gs>
              <a:gs pos="10000">
                <a:srgbClr val="FFECC4">
                  <a:alpha val="25000"/>
                </a:srgbClr>
              </a:gs>
              <a:gs pos="20000">
                <a:srgbClr val="FFECC4">
                  <a:alpha val="20000"/>
                </a:srgbClr>
              </a:gs>
              <a:gs pos="30000">
                <a:srgbClr val="FFECC4">
                  <a:alpha val="15000"/>
                </a:srgbClr>
              </a:gs>
              <a:gs pos="40000">
                <a:srgbClr val="FFECC4">
                  <a:alpha val="10000"/>
                </a:srgbClr>
              </a:gs>
              <a:gs pos="50000">
                <a:srgbClr val="FFECC4">
                  <a:alpha val="5000"/>
                </a:srgbClr>
              </a:gs>
              <a:gs pos="60000">
                <a:srgbClr val="FFECC4">
                  <a:alpha val="0"/>
                </a:srgbClr>
              </a:gs>
              <a:gs pos="100000">
                <a:srgbClr val="FFECC4">
                  <a:alpha val="0"/>
                </a:srgbClr>
              </a:gs>
            </a:gsLst>
            <a:path path="circle">
              <a:fillToRect l="30000" t="30000" r="70000" b="7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xfrm>
            <a:off x="1333500" y="1524000"/>
            <a:ext cx="3429000" cy="4191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2286000" y="1028700"/>
            <a:ext cx="1524000" cy="17526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6286500" y="3619500"/>
            <a:ext cx="4572000" cy="2286000"/>
          </a:xfrm>
          <a:prstGeom prst="ellipse">
            <a:avLst/>
          </a:prstGeom>
          <a:solidFill>
            <a:srgbClr val="FF7A59">
              <a:alpha val="2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533400"/>
            <a:ext cx="1944588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FECC4"/>
                </a:solidFill>
                <a:latin typeface="Inter"/>
              </a:rPr>
              <a:t xml:space="preserve">
        Photo essay · part iii</a:t>
            </a:r>
          </a:p>
          <a:p>
            <a:pPr algn="l"/>
            <a:r>
              <a:rPr sz="975" b="1" i="1" u="none">
                <a:solidFill>
                  <a:srgbClr val="FFD9A0"/>
                </a:solidFill>
                <a:latin typeface="Inter"/>
              </a:rPr>
              <a:t xml:space="preserve">
          Light over the editing room</a:t>
            </a:r>
            <a:r>
              <a:rPr sz="975" b="1" i="0" u="none">
                <a:solidFill>
                  <a:srgbClr val="FFECC4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942975"/>
            <a:ext cx="5162401" cy="256088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650" b="0" i="1" u="none">
                <a:solidFill>
                  <a:srgbClr val="FFECC4"/>
                </a:solidFill>
                <a:latin typeface="Playfair Display"/>
              </a:rPr>
              <a:t xml:space="preserve">
          The slides we ship are</a:t>
            </a:r>
          </a:p>
          <a:p>
            <a:pPr algn="l"/>
            <a:r>
              <a:rPr sz="4650" b="0" i="1" u="none">
                <a:solidFill>
                  <a:srgbClr val="0D1F3C"/>
                </a:solidFill>
                <a:latin typeface="Playfair Display"/>
              </a:rPr>
              <a:t xml:space="preserve">
            an act of editing,</a:t>
            </a:r>
          </a:p>
          <a:p>
            <a:pPr algn="l"/>
            <a:r>
              <a:rPr sz="4650" b="0" i="1" u="none">
                <a:solidFill>
                  <a:srgbClr val="FFECC4"/>
                </a:solidFill>
                <a:latin typeface="Playfair Display"/>
              </a:rPr>
              <a:t xml:space="preserve">
          not an accident</a:t>
            </a:r>
          </a:p>
          <a:p>
            <a:pPr algn="l"/>
            <a:r>
              <a:rPr sz="4650" b="0" i="1" u="none">
                <a:solidFill>
                  <a:srgbClr val="FFECC4"/>
                </a:solidFill>
                <a:latin typeface="Playfair Display"/>
              </a:rPr>
              <a:t xml:space="preserve">of capture.
      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0" y="3808214"/>
            <a:ext cx="495300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FFD9A0"/>
                </a:solidFill>
                <a:latin typeface="Inter"/>
              </a:rPr>
              <a:t xml:space="preserve">Slidify treats every shape as a curated object. The export is
          the artifact, not a flattened souvenir of one.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296025"/>
            <a:ext cx="11277600" cy="2571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457200" y="6438900"/>
            <a:ext cx="227632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ECC4"/>
                </a:solidFill>
                <a:latin typeface="Inter"/>
              </a:rPr>
              <a:t>Pitch Quarterly · Spring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80650" y="6438900"/>
            <a:ext cx="10541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ECC4"/>
                </a:solidFill>
                <a:latin typeface="Inter"/>
              </a:rPr>
              <a:t>Plate 16 of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10820400" cy="190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305410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Slidify et al. · §4 — Conversion fidelity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18328" y="457200"/>
            <a:ext cx="178787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Preprint, draft Apr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19150"/>
            <a:ext cx="10820400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111111"/>
                </a:solidFill>
                <a:latin typeface="Georgia"/>
              </a:rPr>
              <a:t>Figure 4 — Native-area ratio across the four-tier matcher.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28725"/>
            <a:ext cx="83820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 xml:space="preserve">Each bar shows the median fraction of slide area emitted as native
        PPTX primitives, by matcher tier. n = 1284 conversions over a 28-day
        window. Whiskers indicate the inter-quartile range.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832372"/>
            <a:ext cx="10820400" cy="3181350"/>
          </a:xfrm>
          <a:prstGeom prst="rect">
            <a:avLst/>
          </a:prstGeom>
          <a:solidFill>
            <a:srgbClr val="FBFAF6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Connector 8"/>
          <p:cNvCxnSpPr/>
          <p:nvPr/>
        </p:nvCxnSpPr>
        <p:spPr>
          <a:xfrm>
            <a:off x="3086100" y="2260997"/>
            <a:ext cx="0" cy="20955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086100" y="4356497"/>
            <a:ext cx="62484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048000" y="4356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048000" y="3975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048000" y="3594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048000" y="3213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048000" y="2832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048000" y="2451497"/>
            <a:ext cx="38100" cy="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619500" y="2641997"/>
            <a:ext cx="762000" cy="1714500"/>
          </a:xfrm>
          <a:prstGeom prst="rect">
            <a:avLst/>
          </a:prstGeom>
          <a:solidFill>
            <a:srgbClr val="DCDADA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Connector 17"/>
          <p:cNvCxnSpPr/>
          <p:nvPr/>
        </p:nvCxnSpPr>
        <p:spPr>
          <a:xfrm>
            <a:off x="4000500" y="2432447"/>
            <a:ext cx="0" cy="4191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048250" y="2794397"/>
            <a:ext cx="762000" cy="1562100"/>
          </a:xfrm>
          <a:prstGeom prst="rect">
            <a:avLst/>
          </a:prstGeom>
          <a:solidFill>
            <a:srgbClr val="BABABA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Connector 19"/>
          <p:cNvCxnSpPr/>
          <p:nvPr/>
        </p:nvCxnSpPr>
        <p:spPr>
          <a:xfrm>
            <a:off x="5429250" y="2546747"/>
            <a:ext cx="0" cy="4953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77000" y="3232547"/>
            <a:ext cx="762000" cy="1123950"/>
          </a:xfrm>
          <a:prstGeom prst="rect">
            <a:avLst/>
          </a:prstGeom>
          <a:solidFill>
            <a:srgbClr val="9A9A9A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Connector 21"/>
          <p:cNvCxnSpPr/>
          <p:nvPr/>
        </p:nvCxnSpPr>
        <p:spPr>
          <a:xfrm>
            <a:off x="6858000" y="3061097"/>
            <a:ext cx="0" cy="3429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7905750" y="4051697"/>
            <a:ext cx="762000" cy="304800"/>
          </a:xfrm>
          <a:prstGeom prst="rect">
            <a:avLst/>
          </a:prstGeom>
          <a:solidFill>
            <a:srgbClr val="7A7A7A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Connector 23"/>
          <p:cNvCxnSpPr/>
          <p:nvPr/>
        </p:nvCxnSpPr>
        <p:spPr>
          <a:xfrm>
            <a:off x="8286750" y="3937397"/>
            <a:ext cx="0" cy="228600"/>
          </a:xfrm>
          <a:prstGeom prst="line">
            <a:avLst/>
          </a:prstGeom>
          <a:ln w="9525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876550" y="4318397"/>
            <a:ext cx="76200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7975" y="3937397"/>
            <a:ext cx="10477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47975" y="3556397"/>
            <a:ext cx="10477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47975" y="3175397"/>
            <a:ext cx="10477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47975" y="2794397"/>
            <a:ext cx="10477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95588" y="2413397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111111"/>
                </a:solidFill>
                <a:latin typeface="Consolas"/>
              </a:rPr>
              <a:t>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27621" y="446317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111111"/>
                </a:solidFill>
                <a:latin typeface="Consolas"/>
              </a:rPr>
              <a:t>tier-0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56371" y="446317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111111"/>
                </a:solidFill>
                <a:latin typeface="Consolas"/>
              </a:rPr>
              <a:t>tier-1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85121" y="446317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111111"/>
                </a:solidFill>
                <a:latin typeface="Consolas"/>
              </a:rPr>
              <a:t>tier-2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13871" y="446317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111111"/>
                </a:solidFill>
                <a:latin typeface="Consolas"/>
              </a:rPr>
              <a:t>tier-3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6100" y="2127647"/>
            <a:ext cx="1204913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52525B"/>
                </a:solidFill>
                <a:latin typeface="Consolas"/>
              </a:rPr>
              <a:t>native area, % of slide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5166122"/>
            <a:ext cx="1061144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11111"/>
                </a:solidFill>
                <a:latin typeface="Georgia"/>
              </a:rPr>
              <a:t>Figure 4.</a:t>
            </a:r>
            <a:r>
              <a:rPr sz="975" b="0" i="0" u="none">
                <a:solidFill>
                  <a:srgbClr val="111111"/>
                </a:solidFill>
                <a:latin typeface="Georgia"/>
              </a:rPr>
              <a:t xml:space="preserve"> Tier-0 (atoms) carries the conversion. The
        long tail at tier-3 (LLM oracle) is a 3.2% residual; the bulk lands
        through tier-0 and tier-1 patterns. Trend is consistent across the
        seven shipped theme presets </a:t>
            </a:r>
            <a:r>
              <a:rPr sz="975" b="0" i="0" u="none">
                <a:solidFill>
                  <a:srgbClr val="52525B"/>
                </a:solidFill>
                <a:latin typeface="Georgia"/>
              </a:rPr>
              <a:t>[a]</a:t>
            </a:r>
            <a:r>
              <a:rPr sz="975" b="0" i="0" u="none">
                <a:solidFill>
                  <a:srgbClr val="111111"/>
                </a:solidFill>
                <a:latin typeface="Georgia"/>
              </a:rPr>
              <a:t xml:space="preserve">.
     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577036"/>
            <a:ext cx="470907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 xml:space="preserve">
        [a] vercel-dark, linear-light, stripe, paper, retro, brutalist, editorial</a:t>
            </a:r>
          </a:p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 xml:space="preserve">
        [b] Source data archived at pixelpitch.dev/figures/04 — DOI 10.0000/slidify.4
      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609600"/>
            <a:ext cx="10820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22D3EE"/>
                </a:solidFill>
                <a:latin typeface="Consolas"/>
              </a:rPr>
              <a:t>§ 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66775"/>
            <a:ext cx="10820400" cy="4857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300" b="1" i="0" u="none">
                <a:solidFill>
                  <a:srgbClr val="E5E5E5"/>
                </a:solidFill>
                <a:latin typeface="Consolas"/>
              </a:rPr>
              <a:t>Thirty-six years of slide software.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28750"/>
            <a:ext cx="78105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737373"/>
                </a:solidFill>
                <a:latin typeface="Consolas"/>
              </a:rPr>
              <a:t xml:space="preserve">Every era added one capability the previous one couldn't survive.
        Slidify is the era where editability stops being lossy.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432447"/>
            <a:ext cx="10820400" cy="19050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74295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285750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497205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08660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9201150" y="2375297"/>
            <a:ext cx="133350" cy="133350"/>
          </a:xfrm>
          <a:prstGeom prst="ellipse">
            <a:avLst/>
          </a:prstGeom>
          <a:solidFill>
            <a:srgbClr val="E5E5E5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11315700" y="2375297"/>
            <a:ext cx="133350" cy="133350"/>
          </a:xfrm>
          <a:prstGeom prst="ellipse">
            <a:avLst/>
          </a:prstGeom>
          <a:solidFill>
            <a:srgbClr val="22D3EE"/>
          </a:solidFill>
          <a:ln w="19050">
            <a:solidFill>
              <a:srgbClr val="0A0A0A"/>
            </a:solidFill>
          </a:ln>
          <a:effectLst>
            <a:outerShdw blurRad="0" dist="0" dir="0" algn="ctr" rotWithShape="0">
              <a:srgbClr val="FFFFFF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742950" y="2699147"/>
            <a:ext cx="1689050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1990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" y="2984897"/>
            <a:ext cx="16890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PowerPoint 2.0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950" y="3184922"/>
            <a:ext cx="168905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First true WYSIWYG slide editor on Mac.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6300" y="2699147"/>
            <a:ext cx="1689199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2003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6300" y="2984897"/>
            <a:ext cx="168919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Keynote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6300" y="3184922"/>
            <a:ext cx="1689199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Apple's response: gradients, drop shadows, smooth typography.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9800" y="2699147"/>
            <a:ext cx="1689050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2010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9800" y="2984897"/>
            <a:ext cx="16890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Reveal.js / Prezi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9800" y="3184922"/>
            <a:ext cx="1689050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HTML eats the slide format. Editing returns to designers.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3150" y="2699147"/>
            <a:ext cx="1689199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2018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150" y="2984897"/>
            <a:ext cx="168919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Figma slides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3150" y="3184922"/>
            <a:ext cx="1689199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Web-native canvas. Real-time collaboration, but exports flatten.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6649" y="2699147"/>
            <a:ext cx="1689050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E5E5E5"/>
                </a:solidFill>
                <a:latin typeface="Consolas"/>
              </a:rPr>
              <a:t>2024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6649" y="2984897"/>
            <a:ext cx="16890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LLM-authored decks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6649" y="3184922"/>
            <a:ext cx="1689050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Models can author HTML — but conversion to PPTX is still lossy.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0000" y="2699147"/>
            <a:ext cx="1689050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22D3EE"/>
                </a:solidFill>
                <a:latin typeface="Consolas"/>
              </a:rPr>
              <a:t>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0000" y="2984897"/>
            <a:ext cx="16890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5E5E5"/>
                </a:solidFill>
                <a:latin typeface="Consolas"/>
              </a:rPr>
              <a:t>slidify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60000" y="3184922"/>
            <a:ext cx="1689050" cy="4554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37373"/>
                </a:solidFill>
                <a:latin typeface="Consolas"/>
              </a:rPr>
              <a:t>Native shapes round-trip: design intent survives the export.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937397"/>
            <a:ext cx="238378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37373"/>
                </a:solidFill>
                <a:latin typeface="Consolas"/>
              </a:rPr>
              <a:t>SOURCE · pixelpitch.dev/timeline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90845" y="3937397"/>
            <a:ext cx="141535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37373"/>
                </a:solidFill>
                <a:latin typeface="Consolas"/>
              </a:rPr>
              <a:t>FIG-T · 36-YR SLICE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668816"/>
          </a:xfrm>
          <a:prstGeom prst="rect">
            <a:avLst/>
          </a:prstGeom>
          <a:solidFill>
            <a:srgbClr val="FEF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8356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42900" y="142875"/>
            <a:ext cx="3933081" cy="15513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300" b="1" i="0" u="none">
                <a:solidFill>
                  <a:srgbClr val="0A0A0A"/>
                </a:solidFill>
                <a:latin typeface="Helvetica Neue"/>
              </a:rPr>
              <a:t xml:space="preserve">
          BY THE</a:t>
            </a:r>
          </a:p>
          <a:p>
            <a:pPr algn="l"/>
            <a:r>
              <a:rPr sz="6300" b="1" i="0" u="none">
                <a:solidFill>
                  <a:srgbClr val="0A0A0A"/>
                </a:solidFill>
                <a:latin typeface="Helvetica Neue"/>
              </a:rPr>
              <a:t>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28349" y="1331119"/>
            <a:ext cx="172075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0A0A0A"/>
                </a:solidFill>
                <a:latin typeface="Consolas"/>
              </a:rPr>
              <a:t xml:space="preserve">
          internal · q1 2026</a:t>
            </a:r>
          </a:p>
          <a:p>
            <a:pPr algn="r"/>
            <a:r>
              <a:rPr sz="825" b="1" i="0" u="none">
                <a:solidFill>
                  <a:srgbClr val="0A0A0A"/>
                </a:solidFill>
                <a:latin typeface="Consolas"/>
              </a:rPr>
              <a:t>N = 1,284 conversions</a:t>
            </a:r>
            <a:r>
              <a:rPr sz="825" b="0" i="0" u="none">
                <a:solidFill>
                  <a:srgbClr val="0A0A0A"/>
                </a:solidFill>
                <a:latin typeface="Consolas"/>
              </a:rPr>
              <a:t xml:space="preserve">
       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883569"/>
            <a:ext cx="6096000" cy="269736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266700" y="1940719"/>
            <a:ext cx="2568029" cy="2124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0A0A0A"/>
                </a:solidFill>
                <a:latin typeface="Helvetica Neue"/>
              </a:rPr>
              <a:t>87</a:t>
            </a:r>
            <a:r>
              <a:rPr sz="6000" b="1" i="0" u="none">
                <a:solidFill>
                  <a:srgbClr val="0A0A0A"/>
                </a:solidFill>
                <a:latin typeface="Helvetica Neue"/>
              </a:rPr>
              <a:t>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6700" y="3864769"/>
            <a:ext cx="3048000" cy="4113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A0A"/>
                </a:solidFill>
                <a:latin typeface="Helvetica Neue"/>
              </a:rPr>
              <a:t>of slide area emits as editable PPTX primitives.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0" y="1883569"/>
            <a:ext cx="6096000" cy="269736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400800" y="1940719"/>
            <a:ext cx="4004370" cy="2124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0A0A0A"/>
                </a:solidFill>
                <a:latin typeface="Helvetica Neue"/>
              </a:rPr>
              <a:t>0.12</a:t>
            </a:r>
            <a:r>
              <a:rPr sz="6000" b="1" i="0" u="none">
                <a:solidFill>
                  <a:srgbClr val="0A0A0A"/>
                </a:solidFill>
                <a:latin typeface="Helvetica Neue"/>
              </a:rPr>
              <a:t>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864769"/>
            <a:ext cx="3048000" cy="4113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A0A"/>
                </a:solidFill>
                <a:latin typeface="Helvetica Neue"/>
              </a:rPr>
              <a:t>average drift per slide vs. the source HTML.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4580930"/>
            <a:ext cx="6096000" cy="269736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66700" y="4599980"/>
            <a:ext cx="2949922" cy="2124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0A0A0A"/>
                </a:solidFill>
                <a:latin typeface="Helvetica Neue"/>
              </a:rPr>
              <a:t>155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6700" y="6524030"/>
            <a:ext cx="3048000" cy="205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A0A"/>
                </a:solidFill>
                <a:latin typeface="Helvetica Neue"/>
              </a:rPr>
              <a:t>atomic recipes shipped in atoms.yaml.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4580930"/>
            <a:ext cx="6096000" cy="269736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6400800" y="4599980"/>
            <a:ext cx="2314277" cy="21240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0A0A0A"/>
                </a:solidFill>
                <a:latin typeface="Helvetica Neue"/>
              </a:rPr>
              <a:t>28</a:t>
            </a:r>
            <a:r>
              <a:rPr sz="6000" b="1" i="0" u="none">
                <a:solidFill>
                  <a:srgbClr val="0A0A0A"/>
                </a:solidFill>
                <a:latin typeface="Helvetica Neue"/>
              </a:rPr>
              <a:t>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524030"/>
            <a:ext cx="3048000" cy="3339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A0A"/>
                </a:solidFill>
                <a:latin typeface="Helvetica Neue"/>
              </a:rPr>
              <a:t>median end-to-end conversion for a 12-slide deck.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533400"/>
            <a:ext cx="10668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91C1C"/>
                </a:solidFill>
                <a:latin typeface="Inter"/>
              </a:rPr>
              <a:t>Bench · Q1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81050"/>
            <a:ext cx="10668000" cy="4799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111111"/>
                </a:solidFill>
                <a:latin typeface="Georgia"/>
              </a:rPr>
              <a:t>Native-area ratio, six tools compared.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318171"/>
            <a:ext cx="7239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52525B"/>
                </a:solidFill>
                <a:latin typeface="Inter"/>
              </a:rPr>
              <a:t xml:space="preserve">Higher is better — fraction of slide area that survives the export
        as editable PPTX primitives. Identical input deck, all defaults.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2051596"/>
            <a:ext cx="10668000" cy="352425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62000" y="2061121"/>
            <a:ext cx="10668000" cy="30956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762000" y="2061121"/>
            <a:ext cx="457200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Consolas"/>
              </a:rPr>
              <a:t>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200" y="2061121"/>
            <a:ext cx="2859584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Consolas"/>
              </a:rPr>
              <a:t>TOOL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78784" y="2061121"/>
            <a:ext cx="2577852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Consolas"/>
              </a:rPr>
              <a:t>METHOD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6636" y="2061121"/>
            <a:ext cx="4011364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52525B"/>
                </a:solidFill>
                <a:latin typeface="Consolas"/>
              </a:rPr>
              <a:t>RATIO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68000" y="2061121"/>
            <a:ext cx="762000" cy="3095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52525B"/>
                </a:solidFill>
                <a:latin typeface="Consolas"/>
              </a:rPr>
              <a:t>SCORE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2000" y="2370683"/>
            <a:ext cx="10668000" cy="533400"/>
          </a:xfrm>
          <a:prstGeom prst="rect">
            <a:avLst/>
          </a:prstGeom>
          <a:solidFill>
            <a:srgbClr val="B91C1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62000" y="23706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B91C1C"/>
                </a:solidFill>
                <a:latin typeface="Georgi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9200" y="23706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slidify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149" y="2584996"/>
            <a:ext cx="511026" cy="142875"/>
          </a:xfrm>
          <a:prstGeom prst="rect">
            <a:avLst/>
          </a:prstGeom>
          <a:solidFill>
            <a:srgbClr val="B91C1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leader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78784" y="23706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Native PPTX shapes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70936" y="25897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6770936" y="2589758"/>
            <a:ext cx="1661071" cy="95250"/>
          </a:xfrm>
          <a:prstGeom prst="round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10668000" y="23706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0.872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2000" y="29040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762000" y="29040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9200" y="29040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PitchCompiler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8784" y="29040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Hybrid raster+native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70936" y="31231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770936" y="3123158"/>
            <a:ext cx="1487686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10668000" y="29040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0.781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2000" y="34374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762000" y="34374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9200" y="34374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DeckRender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78784" y="34374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Native + screenshot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70936" y="36565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6770936" y="3656558"/>
            <a:ext cx="1245840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10668000" y="34374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0.654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2000" y="39708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762000" y="39708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19200" y="39708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HTML2Slides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78784" y="39708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Mostly screenshot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770936" y="41899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ounded Rectangle 39"/>
          <p:cNvSpPr/>
          <p:nvPr/>
        </p:nvSpPr>
        <p:spPr>
          <a:xfrm>
            <a:off x="6770936" y="4189958"/>
            <a:ext cx="975271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10668000" y="39708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0.512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2000" y="45042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762000" y="45042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19200" y="45042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Tailwind→PPTX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78784" y="45042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All raster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770936" y="47233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ounded Rectangle 46"/>
          <p:cNvSpPr/>
          <p:nvPr/>
        </p:nvSpPr>
        <p:spPr>
          <a:xfrm>
            <a:off x="6770936" y="4723358"/>
            <a:ext cx="777180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10668000" y="45042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0.408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2000" y="5037683"/>
            <a:ext cx="10668000" cy="533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762000" y="5037683"/>
            <a:ext cx="457200" cy="533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111111"/>
                </a:solidFill>
                <a:latin typeface="Georgia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19200" y="5037683"/>
            <a:ext cx="2859584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11111"/>
                </a:solidFill>
                <a:latin typeface="Inter"/>
              </a:rPr>
              <a:t>PaperPress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78784" y="5037683"/>
            <a:ext cx="2577852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Image only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770936" y="5256758"/>
            <a:ext cx="1905000" cy="95250"/>
          </a:xfrm>
          <a:prstGeom prst="roundRect">
            <a:avLst/>
          </a:prstGeom>
          <a:solidFill>
            <a:srgbClr val="11111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ounded Rectangle 53"/>
          <p:cNvSpPr/>
          <p:nvPr/>
        </p:nvSpPr>
        <p:spPr>
          <a:xfrm>
            <a:off x="6770936" y="5256758"/>
            <a:ext cx="563761" cy="95250"/>
          </a:xfrm>
          <a:prstGeom prst="round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10668000" y="5037683"/>
            <a:ext cx="762000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11111"/>
                </a:solidFill>
                <a:latin typeface="Consolas"/>
              </a:rPr>
              <a:t>0.296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2000" y="5747296"/>
            <a:ext cx="403592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method: identical 12-slide deck, public benchmark, n = 50 trials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33570" y="5747296"/>
            <a:ext cx="239643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raw: pixelpitch.dev/bench/q1-2026.json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B80F3"/>
              </a:gs>
              <a:gs pos="66667">
                <a:srgbClr val="D57CE9"/>
              </a:gs>
              <a:gs pos="75000">
                <a:srgbClr val="DE79DD"/>
              </a:gs>
              <a:gs pos="83333">
                <a:srgbClr val="E776D1"/>
              </a:gs>
              <a:gs pos="91667">
                <a:srgbClr val="EE74C4"/>
              </a:gs>
              <a:gs pos="100000">
                <a:srgbClr val="F472B6"/>
              </a:gs>
            </a:gsLst>
            <a:lin ang="2700000" scaled="0"/>
          </a:gradFill>
          <a:xfrm>
            <a:off x="762000" y="762000"/>
            <a:ext cx="342900" cy="3429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219200" y="833438"/>
            <a:ext cx="495449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slidify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149" y="847725"/>
            <a:ext cx="851571" cy="17145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v1.0 · ICONS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3450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/>
          <p:cNvSpPr/>
          <p:nvPr/>
        </p:nvSpPr>
        <p:spPr>
          <a:xfrm>
            <a:off x="9448218" y="862012"/>
            <a:ext cx="115454" cy="1428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68567" y="100000"/>
                </a:moveTo>
                <a:lnTo>
                  <a:pt x="68567" y="80000"/>
                </a:lnTo>
                <a:cubicBezTo>
                  <a:pt x="69428" y="73739"/>
                  <a:pt x="67204" y="67449"/>
                  <a:pt x="62380" y="62500"/>
                </a:cubicBezTo>
                <a:cubicBezTo>
                  <a:pt x="80942" y="62500"/>
                  <a:pt x="99505" y="52500"/>
                  <a:pt x="99505" y="35000"/>
                </a:cubicBezTo>
                <a:cubicBezTo>
                  <a:pt x="100000" y="28750"/>
                  <a:pt x="97834" y="22600"/>
                  <a:pt x="93317" y="17500"/>
                </a:cubicBezTo>
                <a:cubicBezTo>
                  <a:pt x="95050" y="11750"/>
                  <a:pt x="95050" y="5750"/>
                  <a:pt x="93317" y="0"/>
                </a:cubicBezTo>
                <a:cubicBezTo>
                  <a:pt x="93317" y="0"/>
                  <a:pt x="87130" y="0"/>
                  <a:pt x="74755" y="7500"/>
                </a:cubicBezTo>
                <a:cubicBezTo>
                  <a:pt x="58420" y="5000"/>
                  <a:pt x="41590" y="5000"/>
                  <a:pt x="25255" y="7500"/>
                </a:cubicBezTo>
                <a:cubicBezTo>
                  <a:pt x="12879" y="0"/>
                  <a:pt x="6692" y="0"/>
                  <a:pt x="6692" y="0"/>
                </a:cubicBezTo>
                <a:cubicBezTo>
                  <a:pt x="4836" y="5750"/>
                  <a:pt x="4836" y="11750"/>
                  <a:pt x="6692" y="17500"/>
                </a:cubicBezTo>
                <a:cubicBezTo>
                  <a:pt x="2188" y="22578"/>
                  <a:pt x="0" y="28765"/>
                  <a:pt x="504" y="35000"/>
                </a:cubicBezTo>
                <a:cubicBezTo>
                  <a:pt x="504" y="52500"/>
                  <a:pt x="19067" y="62500"/>
                  <a:pt x="37630" y="62500"/>
                </a:cubicBezTo>
                <a:cubicBezTo>
                  <a:pt x="35216" y="64950"/>
                  <a:pt x="33422" y="67750"/>
                  <a:pt x="32370" y="70750"/>
                </a:cubicBezTo>
                <a:cubicBezTo>
                  <a:pt x="31318" y="73750"/>
                  <a:pt x="31009" y="76900"/>
                  <a:pt x="31442" y="80000"/>
                </a:cubicBezTo>
                <a:lnTo>
                  <a:pt x="31442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9434512" y="962025"/>
            <a:ext cx="50006" cy="285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cubicBezTo>
                  <a:pt x="35571" y="100000"/>
                  <a:pt x="28571" y="0"/>
                  <a:pt x="0" y="0"/>
                </a:cubicBez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977265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9848850" y="838200"/>
            <a:ext cx="190500" cy="190500"/>
          </a:xfrm>
          <a:prstGeom prst="ellipse">
            <a:avLst/>
          </a:pr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Connector 10"/>
          <p:cNvCxnSpPr/>
          <p:nvPr/>
        </p:nvCxnSpPr>
        <p:spPr>
          <a:xfrm>
            <a:off x="9872662" y="933450"/>
            <a:ext cx="142876" cy="0"/>
          </a:xfrm>
          <a:prstGeom prst="line">
            <a:avLst/>
          </a:prstGeom>
          <a:ln w="19050">
            <a:solidFill>
              <a:srgbClr val="F5F5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Freeform 11"/>
          <p:cNvSpPr/>
          <p:nvPr/>
        </p:nvSpPr>
        <p:spPr>
          <a:xfrm>
            <a:off x="9915525" y="862012"/>
            <a:ext cx="57150" cy="1428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cubicBezTo>
                  <a:pt x="81258" y="13688"/>
                  <a:pt x="99035" y="31465"/>
                  <a:pt x="100000" y="50000"/>
                </a:cubicBezTo>
                <a:cubicBezTo>
                  <a:pt x="99035" y="68535"/>
                  <a:pt x="81258" y="86312"/>
                  <a:pt x="50000" y="100000"/>
                </a:cubicBezTo>
                <a:cubicBezTo>
                  <a:pt x="18742" y="86312"/>
                  <a:pt x="965" y="68535"/>
                  <a:pt x="0" y="50000"/>
                </a:cubicBezTo>
                <a:cubicBezTo>
                  <a:pt x="965" y="31465"/>
                  <a:pt x="18742" y="13688"/>
                  <a:pt x="50000" y="0"/>
                </a:cubicBezTo>
                <a:close/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12"/>
          <p:cNvSpPr/>
          <p:nvPr/>
        </p:nvSpPr>
        <p:spPr>
          <a:xfrm>
            <a:off x="1021080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10310823" y="862011"/>
            <a:ext cx="142879" cy="142879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9676" y="67500"/>
                </a:moveTo>
                <a:cubicBezTo>
                  <a:pt x="38768" y="63980"/>
                  <a:pt x="36011" y="61223"/>
                  <a:pt x="32492" y="60315"/>
                </a:cubicBezTo>
                <a:lnTo>
                  <a:pt x="1817" y="52405"/>
                </a:lnTo>
                <a:cubicBezTo>
                  <a:pt x="745" y="52101"/>
                  <a:pt x="0" y="51114"/>
                  <a:pt x="0" y="50000"/>
                </a:cubicBezTo>
                <a:cubicBezTo>
                  <a:pt x="0" y="48886"/>
                  <a:pt x="745" y="47899"/>
                  <a:pt x="1817" y="47595"/>
                </a:cubicBezTo>
                <a:lnTo>
                  <a:pt x="32492" y="39680"/>
                </a:lnTo>
                <a:cubicBezTo>
                  <a:pt x="36009" y="38773"/>
                  <a:pt x="38767" y="36018"/>
                  <a:pt x="39676" y="32500"/>
                </a:cubicBezTo>
                <a:lnTo>
                  <a:pt x="47586" y="1826"/>
                </a:lnTo>
                <a:cubicBezTo>
                  <a:pt x="47887" y="750"/>
                  <a:pt x="48876" y="0"/>
                  <a:pt x="49994" y="0"/>
                </a:cubicBezTo>
                <a:cubicBezTo>
                  <a:pt x="51111" y="0"/>
                  <a:pt x="52100" y="750"/>
                  <a:pt x="52401" y="1826"/>
                </a:cubicBezTo>
                <a:lnTo>
                  <a:pt x="60306" y="32500"/>
                </a:lnTo>
                <a:cubicBezTo>
                  <a:pt x="61214" y="36020"/>
                  <a:pt x="63971" y="38777"/>
                  <a:pt x="67491" y="39685"/>
                </a:cubicBezTo>
                <a:lnTo>
                  <a:pt x="98165" y="47590"/>
                </a:lnTo>
                <a:cubicBezTo>
                  <a:pt x="99246" y="47888"/>
                  <a:pt x="100000" y="48879"/>
                  <a:pt x="100000" y="50000"/>
                </a:cubicBezTo>
                <a:cubicBezTo>
                  <a:pt x="100000" y="51121"/>
                  <a:pt x="99246" y="52112"/>
                  <a:pt x="98165" y="52410"/>
                </a:cubicBezTo>
                <a:lnTo>
                  <a:pt x="67491" y="60315"/>
                </a:lnTo>
                <a:cubicBezTo>
                  <a:pt x="63971" y="61223"/>
                  <a:pt x="61214" y="63980"/>
                  <a:pt x="60306" y="67500"/>
                </a:cubicBezTo>
                <a:lnTo>
                  <a:pt x="52396" y="98174"/>
                </a:lnTo>
                <a:cubicBezTo>
                  <a:pt x="52095" y="99250"/>
                  <a:pt x="51106" y="100000"/>
                  <a:pt x="49989" y="100000"/>
                </a:cubicBezTo>
                <a:cubicBezTo>
                  <a:pt x="48871" y="100000"/>
                  <a:pt x="47882" y="99250"/>
                  <a:pt x="47581" y="98174"/>
                </a:cubicBezTo>
                <a:close/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10417969" y="869156"/>
            <a:ext cx="42862" cy="285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/>
          <p:cNvSpPr/>
          <p:nvPr/>
        </p:nvSpPr>
        <p:spPr>
          <a:xfrm>
            <a:off x="10425112" y="862012"/>
            <a:ext cx="28575" cy="4286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 16"/>
          <p:cNvSpPr/>
          <p:nvPr/>
        </p:nvSpPr>
        <p:spPr>
          <a:xfrm>
            <a:off x="10303669" y="969169"/>
            <a:ext cx="42862" cy="142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10317956" y="954881"/>
            <a:ext cx="14288" cy="4286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1064895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 19"/>
          <p:cNvSpPr/>
          <p:nvPr/>
        </p:nvSpPr>
        <p:spPr>
          <a:xfrm>
            <a:off x="10770394" y="954881"/>
            <a:ext cx="100012" cy="4286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100000"/>
                </a:moveTo>
                <a:lnTo>
                  <a:pt x="100000" y="66667"/>
                </a:lnTo>
                <a:cubicBezTo>
                  <a:pt x="100000" y="30094"/>
                  <a:pt x="87102" y="0"/>
                  <a:pt x="71429" y="0"/>
                </a:cubicBezTo>
                <a:lnTo>
                  <a:pt x="28571" y="0"/>
                </a:lnTo>
                <a:cubicBezTo>
                  <a:pt x="12898" y="0"/>
                  <a:pt x="0" y="30094"/>
                  <a:pt x="0" y="66667"/>
                </a:cubicBezTo>
                <a:lnTo>
                  <a:pt x="0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10782300" y="859631"/>
            <a:ext cx="76200" cy="76200"/>
          </a:xfrm>
          <a:prstGeom prst="ellipse">
            <a:avLst/>
          </a:pr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11087100" y="762000"/>
            <a:ext cx="342900" cy="3429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 22"/>
          <p:cNvSpPr/>
          <p:nvPr/>
        </p:nvSpPr>
        <p:spPr>
          <a:xfrm>
            <a:off x="11222831" y="897731"/>
            <a:ext cx="71438" cy="714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/>
          <p:cNvSpPr/>
          <p:nvPr/>
        </p:nvSpPr>
        <p:spPr>
          <a:xfrm>
            <a:off x="11222831" y="897731"/>
            <a:ext cx="71438" cy="714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100000" y="0"/>
                </a:lnTo>
              </a:path>
            </a:pathLst>
          </a:custGeom>
          <a:noFill/>
          <a:ln w="19050">
            <a:solidFill>
              <a:srgbClr val="F5F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762000" y="1562100"/>
            <a:ext cx="10668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Inter"/>
              </a:rPr>
              <a:t>Feature grid · powered by lucide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1838325"/>
            <a:ext cx="10668000" cy="5238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5F5F7"/>
                </a:solidFill>
                <a:latin typeface="Inter"/>
              </a:rPr>
              <a:t>Six reasons icons matter.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2000" y="2705100"/>
            <a:ext cx="3441650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7"/>
          <p:cNvSpPr/>
          <p:nvPr/>
        </p:nvSpPr>
        <p:spPr>
          <a:xfrm>
            <a:off x="1000125" y="2943225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 28"/>
          <p:cNvSpPr/>
          <p:nvPr/>
        </p:nvSpPr>
        <p:spPr>
          <a:xfrm>
            <a:off x="1166014" y="3098208"/>
            <a:ext cx="201623" cy="223434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908" y="59947"/>
                </a:moveTo>
                <a:cubicBezTo>
                  <a:pt x="3783" y="59954"/>
                  <a:pt x="1835" y="58850"/>
                  <a:pt x="917" y="57120"/>
                </a:cubicBezTo>
                <a:cubicBezTo>
                  <a:pt x="0" y="55390"/>
                  <a:pt x="270" y="53330"/>
                  <a:pt x="1609" y="51840"/>
                </a:cubicBezTo>
                <a:lnTo>
                  <a:pt x="56173" y="1110"/>
                </a:lnTo>
                <a:cubicBezTo>
                  <a:pt x="57013" y="236"/>
                  <a:pt x="58424" y="0"/>
                  <a:pt x="59556" y="546"/>
                </a:cubicBezTo>
                <a:cubicBezTo>
                  <a:pt x="60687" y="1092"/>
                  <a:pt x="61253" y="2282"/>
                  <a:pt x="60913" y="3398"/>
                </a:cubicBezTo>
                <a:lnTo>
                  <a:pt x="50331" y="33339"/>
                </a:lnTo>
                <a:cubicBezTo>
                  <a:pt x="49698" y="34867"/>
                  <a:pt x="49937" y="36583"/>
                  <a:pt x="50971" y="37921"/>
                </a:cubicBezTo>
                <a:cubicBezTo>
                  <a:pt x="52004" y="39260"/>
                  <a:pt x="53703" y="40058"/>
                  <a:pt x="55512" y="40053"/>
                </a:cubicBezTo>
                <a:lnTo>
                  <a:pt x="94092" y="40053"/>
                </a:lnTo>
                <a:cubicBezTo>
                  <a:pt x="96217" y="40046"/>
                  <a:pt x="98165" y="41150"/>
                  <a:pt x="99083" y="42880"/>
                </a:cubicBezTo>
                <a:cubicBezTo>
                  <a:pt x="100000" y="44610"/>
                  <a:pt x="99730" y="46670"/>
                  <a:pt x="98391" y="48160"/>
                </a:cubicBezTo>
                <a:lnTo>
                  <a:pt x="43827" y="98890"/>
                </a:lnTo>
                <a:cubicBezTo>
                  <a:pt x="42987" y="99764"/>
                  <a:pt x="41576" y="100000"/>
                  <a:pt x="40444" y="99454"/>
                </a:cubicBezTo>
                <a:cubicBezTo>
                  <a:pt x="39313" y="98908"/>
                  <a:pt x="38747" y="97718"/>
                  <a:pt x="39087" y="96602"/>
                </a:cubicBezTo>
                <a:lnTo>
                  <a:pt x="49669" y="66661"/>
                </a:lnTo>
                <a:cubicBezTo>
                  <a:pt x="50302" y="65133"/>
                  <a:pt x="50063" y="63417"/>
                  <a:pt x="49029" y="62079"/>
                </a:cubicBezTo>
                <a:cubicBezTo>
                  <a:pt x="47996" y="60740"/>
                  <a:pt x="46297" y="59942"/>
                  <a:pt x="44488" y="59947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1000125" y="3648075"/>
            <a:ext cx="29654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Sub-second compile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0125" y="3905250"/>
            <a:ext cx="2965400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Median 280 ms / slide on a 12-deck batch.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75100" y="2705100"/>
            <a:ext cx="3441650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4613225" y="2943225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 33"/>
          <p:cNvSpPr/>
          <p:nvPr/>
        </p:nvSpPr>
        <p:spPr>
          <a:xfrm>
            <a:off x="4791025" y="3097774"/>
            <a:ext cx="177800" cy="22354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5141"/>
                </a:moveTo>
                <a:cubicBezTo>
                  <a:pt x="100000" y="79997"/>
                  <a:pt x="78125" y="92425"/>
                  <a:pt x="52125" y="99633"/>
                </a:cubicBezTo>
                <a:cubicBezTo>
                  <a:pt x="50764" y="100000"/>
                  <a:pt x="49284" y="99982"/>
                  <a:pt x="47938" y="99583"/>
                </a:cubicBezTo>
                <a:cubicBezTo>
                  <a:pt x="21875" y="92425"/>
                  <a:pt x="0" y="79997"/>
                  <a:pt x="0" y="55141"/>
                </a:cubicBezTo>
                <a:lnTo>
                  <a:pt x="0" y="20343"/>
                </a:lnTo>
                <a:cubicBezTo>
                  <a:pt x="0" y="17616"/>
                  <a:pt x="2821" y="15372"/>
                  <a:pt x="6250" y="15372"/>
                </a:cubicBezTo>
                <a:cubicBezTo>
                  <a:pt x="18750" y="15372"/>
                  <a:pt x="34375" y="9407"/>
                  <a:pt x="45250" y="1851"/>
                </a:cubicBezTo>
                <a:cubicBezTo>
                  <a:pt x="47974" y="0"/>
                  <a:pt x="52026" y="0"/>
                  <a:pt x="54750" y="1851"/>
                </a:cubicBezTo>
                <a:cubicBezTo>
                  <a:pt x="65688" y="9457"/>
                  <a:pt x="81250" y="15372"/>
                  <a:pt x="93750" y="15372"/>
                </a:cubicBezTo>
                <a:cubicBezTo>
                  <a:pt x="97179" y="15372"/>
                  <a:pt x="100000" y="17616"/>
                  <a:pt x="100000" y="20343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4613225" y="3648075"/>
            <a:ext cx="29654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PPTX-safe by default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3225" y="3905250"/>
            <a:ext cx="2965400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Every shape carries a recipe id; no rasters.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88201" y="2705100"/>
            <a:ext cx="3441799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8226326" y="2943225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Freeform 38"/>
          <p:cNvSpPr/>
          <p:nvPr/>
        </p:nvSpPr>
        <p:spPr>
          <a:xfrm>
            <a:off x="8381901" y="3154362"/>
            <a:ext cx="222250" cy="111126"/>
          </a:xfrm>
          <a:custGeom>
            <a:avLst/>
            <a:gdLst/>
            <a:ahLst/>
            <a:cxnLst/>
            <a:rect l="l" t="t" r="r" b="b"/>
            <a:pathLst>
              <a:path w="222250" h="111126">
                <a:moveTo>
                  <a:pt x="222250" y="0"/>
                </a:moveTo>
                <a:lnTo>
                  <a:pt x="127794" y="94457"/>
                </a:lnTo>
                <a:lnTo>
                  <a:pt x="72231" y="38894"/>
                </a:lnTo>
                <a:lnTo>
                  <a:pt x="0" y="111126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 39"/>
          <p:cNvSpPr/>
          <p:nvPr/>
        </p:nvSpPr>
        <p:spPr>
          <a:xfrm>
            <a:off x="8537476" y="3154362"/>
            <a:ext cx="66675" cy="66676"/>
          </a:xfrm>
          <a:custGeom>
            <a:avLst/>
            <a:gdLst/>
            <a:ahLst/>
            <a:cxnLst/>
            <a:rect l="l" t="t" r="r" b="b"/>
            <a:pathLst>
              <a:path w="66675" h="66676">
                <a:moveTo>
                  <a:pt x="0" y="0"/>
                </a:moveTo>
                <a:lnTo>
                  <a:pt x="66675" y="0"/>
                </a:lnTo>
                <a:lnTo>
                  <a:pt x="66675" y="66676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8226326" y="3648075"/>
            <a:ext cx="2965549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Native_ratio 87%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6326" y="3905250"/>
            <a:ext cx="2965549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Up from 58% in the v0.1 baseline.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62000" y="4507706"/>
            <a:ext cx="3441650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ounded Rectangle 43"/>
          <p:cNvSpPr/>
          <p:nvPr/>
        </p:nvSpPr>
        <p:spPr>
          <a:xfrm>
            <a:off x="1000125" y="4745831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reeform 44"/>
          <p:cNvSpPr/>
          <p:nvPr/>
        </p:nvSpPr>
        <p:spPr>
          <a:xfrm>
            <a:off x="1155717" y="4901403"/>
            <a:ext cx="222256" cy="222256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9676" y="67500"/>
                </a:moveTo>
                <a:cubicBezTo>
                  <a:pt x="38768" y="63980"/>
                  <a:pt x="36011" y="61223"/>
                  <a:pt x="32492" y="60315"/>
                </a:cubicBezTo>
                <a:lnTo>
                  <a:pt x="1817" y="52405"/>
                </a:lnTo>
                <a:cubicBezTo>
                  <a:pt x="745" y="52101"/>
                  <a:pt x="0" y="51114"/>
                  <a:pt x="0" y="50000"/>
                </a:cubicBezTo>
                <a:cubicBezTo>
                  <a:pt x="0" y="48886"/>
                  <a:pt x="745" y="47899"/>
                  <a:pt x="1817" y="47595"/>
                </a:cubicBezTo>
                <a:lnTo>
                  <a:pt x="32492" y="39680"/>
                </a:lnTo>
                <a:cubicBezTo>
                  <a:pt x="36009" y="38773"/>
                  <a:pt x="38767" y="36018"/>
                  <a:pt x="39676" y="32500"/>
                </a:cubicBezTo>
                <a:lnTo>
                  <a:pt x="47586" y="1826"/>
                </a:lnTo>
                <a:cubicBezTo>
                  <a:pt x="47887" y="750"/>
                  <a:pt x="48876" y="0"/>
                  <a:pt x="49994" y="0"/>
                </a:cubicBezTo>
                <a:cubicBezTo>
                  <a:pt x="51111" y="0"/>
                  <a:pt x="52100" y="750"/>
                  <a:pt x="52401" y="1826"/>
                </a:cubicBezTo>
                <a:lnTo>
                  <a:pt x="60306" y="32500"/>
                </a:lnTo>
                <a:cubicBezTo>
                  <a:pt x="61214" y="36020"/>
                  <a:pt x="63971" y="38777"/>
                  <a:pt x="67491" y="39685"/>
                </a:cubicBezTo>
                <a:lnTo>
                  <a:pt x="98165" y="47590"/>
                </a:lnTo>
                <a:cubicBezTo>
                  <a:pt x="99246" y="47888"/>
                  <a:pt x="100000" y="48879"/>
                  <a:pt x="100000" y="50000"/>
                </a:cubicBezTo>
                <a:cubicBezTo>
                  <a:pt x="100000" y="51121"/>
                  <a:pt x="99246" y="52112"/>
                  <a:pt x="98165" y="52410"/>
                </a:cubicBezTo>
                <a:lnTo>
                  <a:pt x="67491" y="60315"/>
                </a:lnTo>
                <a:cubicBezTo>
                  <a:pt x="63971" y="61223"/>
                  <a:pt x="61214" y="63980"/>
                  <a:pt x="60306" y="67500"/>
                </a:cubicBezTo>
                <a:lnTo>
                  <a:pt x="52396" y="98174"/>
                </a:lnTo>
                <a:cubicBezTo>
                  <a:pt x="52095" y="99250"/>
                  <a:pt x="51106" y="100000"/>
                  <a:pt x="49989" y="100000"/>
                </a:cubicBezTo>
                <a:cubicBezTo>
                  <a:pt x="48871" y="100000"/>
                  <a:pt x="47882" y="99250"/>
                  <a:pt x="47581" y="98174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 45"/>
          <p:cNvSpPr/>
          <p:nvPr/>
        </p:nvSpPr>
        <p:spPr>
          <a:xfrm>
            <a:off x="1325721" y="4912519"/>
            <a:ext cx="60007" cy="444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Freeform 46"/>
          <p:cNvSpPr/>
          <p:nvPr/>
        </p:nvSpPr>
        <p:spPr>
          <a:xfrm>
            <a:off x="1333500" y="4904740"/>
            <a:ext cx="44450" cy="6000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 47"/>
          <p:cNvSpPr/>
          <p:nvPr/>
        </p:nvSpPr>
        <p:spPr>
          <a:xfrm>
            <a:off x="1147921" y="5068094"/>
            <a:ext cx="60008" cy="22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 48"/>
          <p:cNvSpPr/>
          <p:nvPr/>
        </p:nvSpPr>
        <p:spPr>
          <a:xfrm>
            <a:off x="1166812" y="5049202"/>
            <a:ext cx="22225" cy="60007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1000125" y="5450681"/>
            <a:ext cx="29654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LLM-friendly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0125" y="5707856"/>
            <a:ext cx="2965400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`slidify check` blocks bad HTML pre-convert.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75100" y="4507706"/>
            <a:ext cx="3441650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ounded Rectangle 52"/>
          <p:cNvSpPr/>
          <p:nvPr/>
        </p:nvSpPr>
        <p:spPr>
          <a:xfrm>
            <a:off x="4613225" y="4745831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/>
          <p:cNvSpPr/>
          <p:nvPr/>
        </p:nvSpPr>
        <p:spPr>
          <a:xfrm>
            <a:off x="4784675" y="4917281"/>
            <a:ext cx="190500" cy="190500"/>
          </a:xfrm>
          <a:prstGeom prst="ellipse">
            <a:avLst/>
          </a:pr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Connector 54"/>
          <p:cNvCxnSpPr/>
          <p:nvPr/>
        </p:nvCxnSpPr>
        <p:spPr>
          <a:xfrm>
            <a:off x="4768800" y="5012531"/>
            <a:ext cx="222250" cy="0"/>
          </a:xfrm>
          <a:prstGeom prst="line">
            <a:avLst/>
          </a:prstGeom>
          <a:ln w="17145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4835475" y="4901406"/>
            <a:ext cx="88900" cy="222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cubicBezTo>
                  <a:pt x="81258" y="13688"/>
                  <a:pt x="99035" y="31465"/>
                  <a:pt x="100000" y="50000"/>
                </a:cubicBezTo>
                <a:cubicBezTo>
                  <a:pt x="99035" y="68535"/>
                  <a:pt x="81258" y="86312"/>
                  <a:pt x="50000" y="100000"/>
                </a:cubicBezTo>
                <a:cubicBezTo>
                  <a:pt x="18742" y="86312"/>
                  <a:pt x="965" y="68535"/>
                  <a:pt x="0" y="50000"/>
                </a:cubicBezTo>
                <a:cubicBezTo>
                  <a:pt x="965" y="31465"/>
                  <a:pt x="18742" y="13688"/>
                  <a:pt x="50000" y="0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/>
          <p:cNvSpPr txBox="1"/>
          <p:nvPr/>
        </p:nvSpPr>
        <p:spPr>
          <a:xfrm>
            <a:off x="4613225" y="5450681"/>
            <a:ext cx="29654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Six theme registers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13225" y="5707856"/>
            <a:ext cx="2965400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Vercel-dark, paper, magazine, brutalist…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988201" y="4507706"/>
            <a:ext cx="3441799" cy="1631156"/>
          </a:xfrm>
          <a:prstGeom prst="roundRect">
            <a:avLst/>
          </a:prstGeom>
          <a:solidFill>
            <a:srgbClr val="0E0E1A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/>
          <p:cNvSpPr/>
          <p:nvPr/>
        </p:nvSpPr>
        <p:spPr>
          <a:xfrm>
            <a:off x="8226326" y="4745831"/>
            <a:ext cx="533400" cy="533400"/>
          </a:xfrm>
          <a:prstGeom prst="roundRect">
            <a:avLst/>
          </a:prstGeom>
          <a:solidFill>
            <a:srgbClr val="A78BFA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 60"/>
          <p:cNvSpPr/>
          <p:nvPr/>
        </p:nvSpPr>
        <p:spPr>
          <a:xfrm>
            <a:off x="8387457" y="5054609"/>
            <a:ext cx="63452" cy="63491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5026" y="12488"/>
                </a:moveTo>
                <a:cubicBezTo>
                  <a:pt x="8757" y="34541"/>
                  <a:pt x="0" y="100000"/>
                  <a:pt x="0" y="100000"/>
                </a:cubicBezTo>
                <a:cubicBezTo>
                  <a:pt x="0" y="100000"/>
                  <a:pt x="65499" y="91249"/>
                  <a:pt x="87566" y="64995"/>
                </a:cubicBezTo>
                <a:cubicBezTo>
                  <a:pt x="100000" y="50293"/>
                  <a:pt x="99825" y="27715"/>
                  <a:pt x="85989" y="14063"/>
                </a:cubicBezTo>
                <a:cubicBezTo>
                  <a:pt x="71963" y="683"/>
                  <a:pt x="49853" y="0"/>
                  <a:pt x="35026" y="12488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 61"/>
          <p:cNvSpPr/>
          <p:nvPr/>
        </p:nvSpPr>
        <p:spPr>
          <a:xfrm>
            <a:off x="8448576" y="4912519"/>
            <a:ext cx="133350" cy="1333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3333" y="100000"/>
                </a:moveTo>
                <a:cubicBezTo>
                  <a:pt x="66667" y="88333"/>
                  <a:pt x="96667" y="53333"/>
                  <a:pt x="100000" y="0"/>
                </a:cubicBezTo>
                <a:cubicBezTo>
                  <a:pt x="46667" y="3333"/>
                  <a:pt x="11667" y="33333"/>
                  <a:pt x="0" y="66667"/>
                </a:cubicBezTo>
                <a:close/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 62"/>
          <p:cNvSpPr/>
          <p:nvPr/>
        </p:nvSpPr>
        <p:spPr>
          <a:xfrm>
            <a:off x="8404126" y="4956080"/>
            <a:ext cx="77788" cy="5645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71429" y="100000"/>
                </a:moveTo>
                <a:lnTo>
                  <a:pt x="0" y="100000"/>
                </a:lnTo>
                <a:cubicBezTo>
                  <a:pt x="0" y="100000"/>
                  <a:pt x="7857" y="40354"/>
                  <a:pt x="28571" y="21260"/>
                </a:cubicBezTo>
                <a:cubicBezTo>
                  <a:pt x="51714" y="0"/>
                  <a:pt x="100000" y="21260"/>
                  <a:pt x="100000" y="21260"/>
                </a:cubicBez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 63"/>
          <p:cNvSpPr/>
          <p:nvPr/>
        </p:nvSpPr>
        <p:spPr>
          <a:xfrm>
            <a:off x="8493026" y="5023644"/>
            <a:ext cx="56451" cy="777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28571"/>
                </a:moveTo>
                <a:lnTo>
                  <a:pt x="0" y="100000"/>
                </a:lnTo>
                <a:cubicBezTo>
                  <a:pt x="0" y="100000"/>
                  <a:pt x="59646" y="92143"/>
                  <a:pt x="78740" y="71429"/>
                </a:cubicBezTo>
                <a:cubicBezTo>
                  <a:pt x="100000" y="48286"/>
                  <a:pt x="78740" y="0"/>
                  <a:pt x="78740" y="0"/>
                </a:cubicBezTo>
              </a:path>
            </a:pathLst>
          </a:custGeom>
          <a:noFill/>
          <a:ln w="1714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>
            <a:off x="8226326" y="5450681"/>
            <a:ext cx="2965549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Round-trippable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6326" y="5707856"/>
            <a:ext cx="2965549" cy="192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A1A1AA"/>
                </a:solidFill>
                <a:latin typeface="Inter"/>
              </a:rPr>
              <a:t>Edits in PPT trace back to recipe ids.</a:t>
            </a:r>
          </a:p>
        </p:txBody>
      </p:sp>
      <p:sp>
        <p:nvSpPr>
          <p:cNvPr id="67" name="Freeform 66"/>
          <p:cNvSpPr/>
          <p:nvPr/>
        </p:nvSpPr>
        <p:spPr>
          <a:xfrm>
            <a:off x="787400" y="6481762"/>
            <a:ext cx="101600" cy="698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2286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1009650" y="6448425"/>
            <a:ext cx="344447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All icons inline-SVG · stroke-2 · 24×24 viewBox · ISC-licensed.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FB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171450" y="228600"/>
            <a:ext cx="1933575" cy="4667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228600" y="228600"/>
            <a:ext cx="285750" cy="285750"/>
          </a:xfrm>
          <a:prstGeom prst="round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/>
          <p:cNvSpPr/>
          <p:nvPr/>
        </p:nvSpPr>
        <p:spPr>
          <a:xfrm>
            <a:off x="313868" y="307637"/>
            <a:ext cx="115213" cy="127677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908" y="59947"/>
                </a:moveTo>
                <a:cubicBezTo>
                  <a:pt x="3783" y="59954"/>
                  <a:pt x="1835" y="58850"/>
                  <a:pt x="917" y="57120"/>
                </a:cubicBezTo>
                <a:cubicBezTo>
                  <a:pt x="0" y="55390"/>
                  <a:pt x="270" y="53330"/>
                  <a:pt x="1609" y="51840"/>
                </a:cubicBezTo>
                <a:lnTo>
                  <a:pt x="56173" y="1110"/>
                </a:lnTo>
                <a:cubicBezTo>
                  <a:pt x="57013" y="236"/>
                  <a:pt x="58424" y="0"/>
                  <a:pt x="59556" y="546"/>
                </a:cubicBezTo>
                <a:cubicBezTo>
                  <a:pt x="60687" y="1092"/>
                  <a:pt x="61253" y="2282"/>
                  <a:pt x="60913" y="3398"/>
                </a:cubicBezTo>
                <a:lnTo>
                  <a:pt x="50331" y="33339"/>
                </a:lnTo>
                <a:cubicBezTo>
                  <a:pt x="49698" y="34867"/>
                  <a:pt x="49937" y="36583"/>
                  <a:pt x="50971" y="37921"/>
                </a:cubicBezTo>
                <a:cubicBezTo>
                  <a:pt x="52004" y="39260"/>
                  <a:pt x="53703" y="40058"/>
                  <a:pt x="55512" y="40053"/>
                </a:cubicBezTo>
                <a:lnTo>
                  <a:pt x="94092" y="40053"/>
                </a:lnTo>
                <a:cubicBezTo>
                  <a:pt x="96217" y="40046"/>
                  <a:pt x="98165" y="41150"/>
                  <a:pt x="99083" y="42880"/>
                </a:cubicBezTo>
                <a:cubicBezTo>
                  <a:pt x="100000" y="44610"/>
                  <a:pt x="99730" y="46670"/>
                  <a:pt x="98391" y="48160"/>
                </a:cubicBezTo>
                <a:lnTo>
                  <a:pt x="43827" y="98890"/>
                </a:lnTo>
                <a:cubicBezTo>
                  <a:pt x="42987" y="99764"/>
                  <a:pt x="41576" y="100000"/>
                  <a:pt x="40444" y="99454"/>
                </a:cubicBezTo>
                <a:cubicBezTo>
                  <a:pt x="39313" y="98908"/>
                  <a:pt x="38747" y="97718"/>
                  <a:pt x="39087" y="96602"/>
                </a:cubicBezTo>
                <a:lnTo>
                  <a:pt x="49669" y="66661"/>
                </a:lnTo>
                <a:cubicBezTo>
                  <a:pt x="50302" y="65133"/>
                  <a:pt x="50063" y="63417"/>
                  <a:pt x="49029" y="62079"/>
                </a:cubicBezTo>
                <a:cubicBezTo>
                  <a:pt x="47996" y="60740"/>
                  <a:pt x="46297" y="59942"/>
                  <a:pt x="44488" y="59947"/>
                </a:cubicBezTo>
                <a:close/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285750"/>
            <a:ext cx="982117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111111"/>
                </a:solidFill>
                <a:latin typeface="Georgia"/>
              </a:rPr>
              <a:t>Pitch · Console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1450" y="828675"/>
            <a:ext cx="1933575" cy="361950"/>
          </a:xfrm>
          <a:prstGeom prst="roundRect">
            <a:avLst/>
          </a:prstGeom>
          <a:solidFill>
            <a:srgbClr val="F7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Connector 8"/>
          <p:cNvCxnSpPr/>
          <p:nvPr/>
        </p:nvCxnSpPr>
        <p:spPr>
          <a:xfrm flipV="1">
            <a:off x="390525" y="995362"/>
            <a:ext cx="0" cy="71438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433388" y="952500"/>
            <a:ext cx="0" cy="114300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347662" y="1038225"/>
            <a:ext cx="0" cy="28575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0550" y="933450"/>
            <a:ext cx="59308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B91C1C"/>
                </a:solidFill>
                <a:latin typeface="Inter"/>
              </a:rPr>
              <a:t>Overview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1450" y="122872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319088" y="1373981"/>
            <a:ext cx="142874" cy="71438"/>
          </a:xfrm>
          <a:custGeom>
            <a:avLst/>
            <a:gdLst/>
            <a:ahLst/>
            <a:cxnLst/>
            <a:rect l="l" t="t" r="r" b="b"/>
            <a:pathLst>
              <a:path w="142874" h="71438">
                <a:moveTo>
                  <a:pt x="142874" y="0"/>
                </a:moveTo>
                <a:lnTo>
                  <a:pt x="82153" y="60722"/>
                </a:lnTo>
                <a:lnTo>
                  <a:pt x="46434" y="25003"/>
                </a:lnTo>
                <a:lnTo>
                  <a:pt x="0" y="71438"/>
                </a:lnTo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419100" y="1373981"/>
            <a:ext cx="42862" cy="42863"/>
          </a:xfrm>
          <a:custGeom>
            <a:avLst/>
            <a:gdLst/>
            <a:ahLst/>
            <a:cxnLst/>
            <a:rect l="l" t="t" r="r" b="b"/>
            <a:pathLst>
              <a:path w="42862" h="42863">
                <a:moveTo>
                  <a:pt x="0" y="0"/>
                </a:moveTo>
                <a:lnTo>
                  <a:pt x="42862" y="0"/>
                </a:lnTo>
                <a:lnTo>
                  <a:pt x="42862" y="42863"/>
                </a:lnTo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90550" y="1333500"/>
            <a:ext cx="41017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Trends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1450" y="162877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340519" y="1831181"/>
            <a:ext cx="100012" cy="4286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100000"/>
                </a:moveTo>
                <a:lnTo>
                  <a:pt x="100000" y="66667"/>
                </a:lnTo>
                <a:cubicBezTo>
                  <a:pt x="100000" y="30094"/>
                  <a:pt x="87102" y="0"/>
                  <a:pt x="71429" y="0"/>
                </a:cubicBezTo>
                <a:lnTo>
                  <a:pt x="28571" y="0"/>
                </a:lnTo>
                <a:cubicBezTo>
                  <a:pt x="12898" y="0"/>
                  <a:pt x="0" y="30094"/>
                  <a:pt x="0" y="66667"/>
                </a:cubicBezTo>
                <a:lnTo>
                  <a:pt x="0" y="100000"/>
                </a:lnTo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352425" y="1735931"/>
            <a:ext cx="76200" cy="76200"/>
          </a:xfrm>
          <a:prstGeom prst="ellipse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90550" y="1733550"/>
            <a:ext cx="55617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Audience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71450" y="202882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295275" y="2114550"/>
            <a:ext cx="190500" cy="190500"/>
          </a:xfrm>
          <a:prstGeom prst="ellipse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Connector 22"/>
          <p:cNvCxnSpPr/>
          <p:nvPr/>
        </p:nvCxnSpPr>
        <p:spPr>
          <a:xfrm>
            <a:off x="319088" y="2209800"/>
            <a:ext cx="142874" cy="0"/>
          </a:xfrm>
          <a:prstGeom prst="line">
            <a:avLst/>
          </a:prstGeom>
          <a:ln w="19050">
            <a:solidFill>
              <a:srgbClr val="525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reeform 23"/>
          <p:cNvSpPr/>
          <p:nvPr/>
        </p:nvSpPr>
        <p:spPr>
          <a:xfrm>
            <a:off x="361950" y="2138362"/>
            <a:ext cx="57150" cy="14287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cubicBezTo>
                  <a:pt x="81258" y="13688"/>
                  <a:pt x="99035" y="31465"/>
                  <a:pt x="100000" y="50000"/>
                </a:cubicBezTo>
                <a:cubicBezTo>
                  <a:pt x="99035" y="68535"/>
                  <a:pt x="81258" y="86312"/>
                  <a:pt x="50000" y="100000"/>
                </a:cubicBezTo>
                <a:cubicBezTo>
                  <a:pt x="18742" y="86312"/>
                  <a:pt x="965" y="68535"/>
                  <a:pt x="0" y="50000"/>
                </a:cubicBezTo>
                <a:cubicBezTo>
                  <a:pt x="965" y="31465"/>
                  <a:pt x="18742" y="13688"/>
                  <a:pt x="50000" y="0"/>
                </a:cubicBezTo>
                <a:close/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590550" y="2133600"/>
            <a:ext cx="659904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Geography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1450" y="242887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 26"/>
          <p:cNvSpPr/>
          <p:nvPr/>
        </p:nvSpPr>
        <p:spPr>
          <a:xfrm>
            <a:off x="333375" y="2537753"/>
            <a:ext cx="114300" cy="14370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5141"/>
                </a:moveTo>
                <a:cubicBezTo>
                  <a:pt x="100000" y="79997"/>
                  <a:pt x="78125" y="92425"/>
                  <a:pt x="52125" y="99633"/>
                </a:cubicBezTo>
                <a:cubicBezTo>
                  <a:pt x="50764" y="100000"/>
                  <a:pt x="49284" y="99982"/>
                  <a:pt x="47938" y="99583"/>
                </a:cubicBezTo>
                <a:cubicBezTo>
                  <a:pt x="21875" y="92425"/>
                  <a:pt x="0" y="79997"/>
                  <a:pt x="0" y="55141"/>
                </a:cubicBezTo>
                <a:lnTo>
                  <a:pt x="0" y="20343"/>
                </a:lnTo>
                <a:cubicBezTo>
                  <a:pt x="0" y="17616"/>
                  <a:pt x="2821" y="15372"/>
                  <a:pt x="6250" y="15372"/>
                </a:cubicBezTo>
                <a:cubicBezTo>
                  <a:pt x="18750" y="15372"/>
                  <a:pt x="34375" y="9407"/>
                  <a:pt x="45250" y="1851"/>
                </a:cubicBezTo>
                <a:cubicBezTo>
                  <a:pt x="47974" y="0"/>
                  <a:pt x="52026" y="0"/>
                  <a:pt x="54750" y="1851"/>
                </a:cubicBezTo>
                <a:cubicBezTo>
                  <a:pt x="65688" y="9457"/>
                  <a:pt x="81250" y="15372"/>
                  <a:pt x="93750" y="15372"/>
                </a:cubicBezTo>
                <a:cubicBezTo>
                  <a:pt x="97179" y="15372"/>
                  <a:pt x="100000" y="17616"/>
                  <a:pt x="100000" y="20343"/>
                </a:cubicBezTo>
                <a:close/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590550" y="2533650"/>
            <a:ext cx="72628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Permissions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71450" y="2828925"/>
            <a:ext cx="1933575" cy="36195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ounded Rectangle 29"/>
          <p:cNvSpPr/>
          <p:nvPr/>
        </p:nvSpPr>
        <p:spPr>
          <a:xfrm>
            <a:off x="326231" y="3002756"/>
            <a:ext cx="128588" cy="78581"/>
          </a:xfrm>
          <a:prstGeom prst="roundRect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 30"/>
          <p:cNvSpPr/>
          <p:nvPr/>
        </p:nvSpPr>
        <p:spPr>
          <a:xfrm>
            <a:off x="354806" y="2938462"/>
            <a:ext cx="71438" cy="64294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0" y="55556"/>
                </a:lnTo>
                <a:cubicBezTo>
                  <a:pt x="0" y="25079"/>
                  <a:pt x="22571" y="0"/>
                  <a:pt x="50000" y="0"/>
                </a:cubicBezTo>
                <a:cubicBezTo>
                  <a:pt x="77429" y="0"/>
                  <a:pt x="100000" y="25079"/>
                  <a:pt x="100000" y="55556"/>
                </a:cubicBezTo>
                <a:lnTo>
                  <a:pt x="100000" y="100000"/>
                </a:lnTo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590550" y="2933700"/>
            <a:ext cx="72628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52525B"/>
                </a:solidFill>
                <a:latin typeface="Inter"/>
              </a:rPr>
              <a:t>Permissions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71450" y="3514725"/>
            <a:ext cx="1933575" cy="826591"/>
          </a:xfrm>
          <a:prstGeom prst="roundRect">
            <a:avLst/>
          </a:prstGeom>
          <a:solidFill>
            <a:srgbClr val="F7F5E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 33"/>
          <p:cNvSpPr/>
          <p:nvPr/>
        </p:nvSpPr>
        <p:spPr>
          <a:xfrm>
            <a:off x="325446" y="3668711"/>
            <a:ext cx="111128" cy="11112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9676" y="67500"/>
                </a:moveTo>
                <a:cubicBezTo>
                  <a:pt x="38768" y="63980"/>
                  <a:pt x="36011" y="61223"/>
                  <a:pt x="32492" y="60315"/>
                </a:cubicBezTo>
                <a:lnTo>
                  <a:pt x="1817" y="52405"/>
                </a:lnTo>
                <a:cubicBezTo>
                  <a:pt x="745" y="52101"/>
                  <a:pt x="0" y="51114"/>
                  <a:pt x="0" y="50000"/>
                </a:cubicBezTo>
                <a:cubicBezTo>
                  <a:pt x="0" y="48886"/>
                  <a:pt x="745" y="47899"/>
                  <a:pt x="1817" y="47595"/>
                </a:cubicBezTo>
                <a:lnTo>
                  <a:pt x="32492" y="39680"/>
                </a:lnTo>
                <a:cubicBezTo>
                  <a:pt x="36009" y="38773"/>
                  <a:pt x="38767" y="36018"/>
                  <a:pt x="39676" y="32500"/>
                </a:cubicBezTo>
                <a:lnTo>
                  <a:pt x="47586" y="1826"/>
                </a:lnTo>
                <a:cubicBezTo>
                  <a:pt x="47887" y="750"/>
                  <a:pt x="48876" y="0"/>
                  <a:pt x="49994" y="0"/>
                </a:cubicBezTo>
                <a:cubicBezTo>
                  <a:pt x="51111" y="0"/>
                  <a:pt x="52100" y="750"/>
                  <a:pt x="52401" y="1826"/>
                </a:cubicBezTo>
                <a:lnTo>
                  <a:pt x="60306" y="32500"/>
                </a:lnTo>
                <a:cubicBezTo>
                  <a:pt x="61214" y="36020"/>
                  <a:pt x="63971" y="38777"/>
                  <a:pt x="67491" y="39685"/>
                </a:cubicBezTo>
                <a:lnTo>
                  <a:pt x="98165" y="47590"/>
                </a:lnTo>
                <a:cubicBezTo>
                  <a:pt x="99246" y="47888"/>
                  <a:pt x="100000" y="48879"/>
                  <a:pt x="100000" y="50000"/>
                </a:cubicBezTo>
                <a:cubicBezTo>
                  <a:pt x="100000" y="51121"/>
                  <a:pt x="99246" y="52112"/>
                  <a:pt x="98165" y="52410"/>
                </a:cubicBezTo>
                <a:lnTo>
                  <a:pt x="67491" y="60315"/>
                </a:lnTo>
                <a:cubicBezTo>
                  <a:pt x="63971" y="61223"/>
                  <a:pt x="61214" y="63980"/>
                  <a:pt x="60306" y="67500"/>
                </a:cubicBezTo>
                <a:lnTo>
                  <a:pt x="52396" y="98174"/>
                </a:lnTo>
                <a:cubicBezTo>
                  <a:pt x="52095" y="99250"/>
                  <a:pt x="51106" y="100000"/>
                  <a:pt x="49989" y="100000"/>
                </a:cubicBezTo>
                <a:cubicBezTo>
                  <a:pt x="48871" y="100000"/>
                  <a:pt x="47882" y="99250"/>
                  <a:pt x="47581" y="98174"/>
                </a:cubicBezTo>
                <a:close/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/>
          <p:cNvSpPr/>
          <p:nvPr/>
        </p:nvSpPr>
        <p:spPr>
          <a:xfrm>
            <a:off x="408781" y="3674269"/>
            <a:ext cx="33338" cy="222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 35"/>
          <p:cNvSpPr/>
          <p:nvPr/>
        </p:nvSpPr>
        <p:spPr>
          <a:xfrm>
            <a:off x="414338" y="3668712"/>
            <a:ext cx="22225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 36"/>
          <p:cNvSpPr/>
          <p:nvPr/>
        </p:nvSpPr>
        <p:spPr>
          <a:xfrm>
            <a:off x="319881" y="3752056"/>
            <a:ext cx="33338" cy="1111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lnTo>
                  <a:pt x="50000" y="10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 37"/>
          <p:cNvSpPr/>
          <p:nvPr/>
        </p:nvSpPr>
        <p:spPr>
          <a:xfrm>
            <a:off x="330994" y="3740944"/>
            <a:ext cx="11112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0000"/>
                </a:moveTo>
                <a:lnTo>
                  <a:pt x="0" y="50000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523875" y="3667125"/>
            <a:ext cx="5493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52525B"/>
                </a:solidFill>
                <a:latin typeface="Inter"/>
              </a:rPr>
              <a:t>Pro tip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4325" y="3876675"/>
            <a:ext cx="1179761" cy="298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111111"/>
                </a:solidFill>
                <a:latin typeface="Inter"/>
              </a:rPr>
              <a:t xml:space="preserve">Press </a:t>
            </a:r>
            <a:r>
              <a:rPr sz="900" b="0" i="0" u="none">
                <a:solidFill>
                  <a:srgbClr val="111111"/>
                </a:solidFill>
                <a:latin typeface="Consolas"/>
              </a:rPr>
              <a:t>⌘K</a:t>
            </a:r>
            <a:r>
              <a:rPr sz="900" b="0" i="0" u="none">
                <a:solidFill>
                  <a:srgbClr val="111111"/>
                </a:solidFill>
                <a:latin typeface="Inter"/>
              </a:rPr>
              <a:t xml:space="preserve"> to open the
            command palette.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7000" y="304800"/>
            <a:ext cx="2732484" cy="3048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111111"/>
                </a:solidFill>
                <a:latin typeface="Georgia"/>
              </a:rPr>
              <a:t>Conversion overview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67000" y="647700"/>
            <a:ext cx="273248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52525B"/>
                </a:solidFill>
                <a:latin typeface="Inter"/>
              </a:rPr>
              <a:t>Last 28 days · all decks · production environment.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044857" y="304800"/>
            <a:ext cx="878681" cy="314325"/>
          </a:xfrm>
          <a:prstGeom prst="roundRect">
            <a:avLst/>
          </a:prstGeom>
          <a:noFill/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Freeform 43"/>
          <p:cNvSpPr/>
          <p:nvPr/>
        </p:nvSpPr>
        <p:spPr>
          <a:xfrm>
            <a:off x="10179794" y="423069"/>
            <a:ext cx="111125" cy="777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0" y="50000"/>
                  <a:pt x="15000" y="0"/>
                  <a:pt x="50000" y="0"/>
                </a:cubicBezTo>
                <a:cubicBezTo>
                  <a:pt x="85000" y="0"/>
                  <a:pt x="100000" y="50000"/>
                  <a:pt x="100000" y="50000"/>
                </a:cubicBezTo>
                <a:cubicBezTo>
                  <a:pt x="100000" y="50000"/>
                  <a:pt x="85000" y="100000"/>
                  <a:pt x="50000" y="100000"/>
                </a:cubicBezTo>
                <a:cubicBezTo>
                  <a:pt x="15000" y="100000"/>
                  <a:pt x="0" y="50000"/>
                  <a:pt x="0" y="50000"/>
                </a:cubicBezTo>
                <a:close/>
              </a:path>
            </a:pathLst>
          </a:cu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10206782" y="433388"/>
            <a:ext cx="57150" cy="57150"/>
          </a:xfrm>
          <a:prstGeom prst="ellipse">
            <a:avLst/>
          </a:prstGeom>
          <a:noFill/>
          <a:ln w="19050">
            <a:solidFill>
              <a:srgbClr val="525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10359182" y="390525"/>
            <a:ext cx="44053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111111"/>
                </a:solidFill>
                <a:latin typeface="Inter"/>
              </a:rPr>
              <a:t>Preview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999738" y="304800"/>
            <a:ext cx="811262" cy="314325"/>
          </a:xfrm>
          <a:prstGeom prst="round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 47"/>
          <p:cNvSpPr/>
          <p:nvPr/>
        </p:nvSpPr>
        <p:spPr>
          <a:xfrm>
            <a:off x="11152932" y="434181"/>
            <a:ext cx="55563" cy="5556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100000" y="100000"/>
                </a:lnTo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 48"/>
          <p:cNvSpPr/>
          <p:nvPr/>
        </p:nvSpPr>
        <p:spPr>
          <a:xfrm>
            <a:off x="11152932" y="434181"/>
            <a:ext cx="55563" cy="55563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100000" y="0"/>
                </a:lnTo>
              </a:path>
            </a:pathLst>
          </a:cu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11304538" y="390525"/>
            <a:ext cx="39216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FFFFF"/>
                </a:solidFill>
                <a:latin typeface="Inter"/>
              </a:rPr>
              <a:t>Export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667000" y="1019175"/>
            <a:ext cx="2959001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ounded Rectangle 51"/>
          <p:cNvSpPr/>
          <p:nvPr/>
        </p:nvSpPr>
        <p:spPr>
          <a:xfrm>
            <a:off x="2867025" y="1219200"/>
            <a:ext cx="381000" cy="381000"/>
          </a:xfrm>
          <a:prstGeom prst="roundRect">
            <a:avLst/>
          </a:prstGeom>
          <a:solidFill>
            <a:srgbClr val="B91C1C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Connector 52"/>
          <p:cNvCxnSpPr/>
          <p:nvPr/>
        </p:nvCxnSpPr>
        <p:spPr>
          <a:xfrm flipV="1">
            <a:off x="3057525" y="1393825"/>
            <a:ext cx="0" cy="79375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105150" y="1346200"/>
            <a:ext cx="0" cy="127000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009900" y="1441450"/>
            <a:ext cx="0" cy="31750"/>
          </a:xfrm>
          <a:prstGeom prst="line">
            <a:avLst/>
          </a:prstGeom>
          <a:ln w="19050">
            <a:solidFill>
              <a:srgbClr val="B91C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 55"/>
          <p:cNvSpPr/>
          <p:nvPr/>
        </p:nvSpPr>
        <p:spPr>
          <a:xfrm>
            <a:off x="4874667" y="1258094"/>
            <a:ext cx="111125" cy="55562"/>
          </a:xfrm>
          <a:custGeom>
            <a:avLst/>
            <a:gdLst/>
            <a:ahLst/>
            <a:cxnLst/>
            <a:rect l="l" t="t" r="r" b="b"/>
            <a:pathLst>
              <a:path w="111125" h="55562">
                <a:moveTo>
                  <a:pt x="111125" y="0"/>
                </a:moveTo>
                <a:lnTo>
                  <a:pt x="63897" y="47228"/>
                </a:lnTo>
                <a:lnTo>
                  <a:pt x="36115" y="19447"/>
                </a:lnTo>
                <a:lnTo>
                  <a:pt x="0" y="55562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 56"/>
          <p:cNvSpPr/>
          <p:nvPr/>
        </p:nvSpPr>
        <p:spPr>
          <a:xfrm>
            <a:off x="4952454" y="1258094"/>
            <a:ext cx="33338" cy="33337"/>
          </a:xfrm>
          <a:custGeom>
            <a:avLst/>
            <a:gdLst/>
            <a:ahLst/>
            <a:cxnLst/>
            <a:rect l="l" t="t" r="r" b="b"/>
            <a:pathLst>
              <a:path w="33338" h="33337">
                <a:moveTo>
                  <a:pt x="0" y="0"/>
                </a:moveTo>
                <a:lnTo>
                  <a:pt x="33338" y="0"/>
                </a:lnTo>
                <a:lnTo>
                  <a:pt x="33338" y="33337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5035004" y="1219200"/>
            <a:ext cx="39097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5803D"/>
                </a:solidFill>
                <a:latin typeface="Inter"/>
              </a:rPr>
              <a:t>+18.2%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67025" y="1771650"/>
            <a:ext cx="2558951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111111"/>
                </a:solidFill>
                <a:latin typeface="Georgia"/>
              </a:rPr>
              <a:t>1,284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867025" y="2209800"/>
            <a:ext cx="255895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Decks rendered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759351" y="1019175"/>
            <a:ext cx="2959150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ounded Rectangle 61"/>
          <p:cNvSpPr/>
          <p:nvPr/>
        </p:nvSpPr>
        <p:spPr>
          <a:xfrm>
            <a:off x="5959376" y="1219200"/>
            <a:ext cx="381000" cy="381000"/>
          </a:xfrm>
          <a:prstGeom prst="roundRect">
            <a:avLst/>
          </a:prstGeom>
          <a:solidFill>
            <a:srgbClr val="B91C1C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 62"/>
          <p:cNvSpPr/>
          <p:nvPr/>
        </p:nvSpPr>
        <p:spPr>
          <a:xfrm>
            <a:off x="6070501" y="1370012"/>
            <a:ext cx="158750" cy="79376"/>
          </a:xfrm>
          <a:custGeom>
            <a:avLst/>
            <a:gdLst/>
            <a:ahLst/>
            <a:cxnLst/>
            <a:rect l="l" t="t" r="r" b="b"/>
            <a:pathLst>
              <a:path w="158750" h="79376">
                <a:moveTo>
                  <a:pt x="158750" y="0"/>
                </a:moveTo>
                <a:lnTo>
                  <a:pt x="91281" y="67469"/>
                </a:lnTo>
                <a:lnTo>
                  <a:pt x="51594" y="27782"/>
                </a:lnTo>
                <a:lnTo>
                  <a:pt x="0" y="79376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 63"/>
          <p:cNvSpPr/>
          <p:nvPr/>
        </p:nvSpPr>
        <p:spPr>
          <a:xfrm>
            <a:off x="6181626" y="1370012"/>
            <a:ext cx="47625" cy="47626"/>
          </a:xfrm>
          <a:custGeom>
            <a:avLst/>
            <a:gdLst/>
            <a:ahLst/>
            <a:cxnLst/>
            <a:rect l="l" t="t" r="r" b="b"/>
            <a:pathLst>
              <a:path w="47625" h="47626">
                <a:moveTo>
                  <a:pt x="0" y="0"/>
                </a:moveTo>
                <a:lnTo>
                  <a:pt x="47625" y="0"/>
                </a:lnTo>
                <a:lnTo>
                  <a:pt x="47625" y="47626"/>
                </a:lnTo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 64"/>
          <p:cNvSpPr/>
          <p:nvPr/>
        </p:nvSpPr>
        <p:spPr>
          <a:xfrm>
            <a:off x="7992765" y="1258094"/>
            <a:ext cx="111125" cy="55562"/>
          </a:xfrm>
          <a:custGeom>
            <a:avLst/>
            <a:gdLst/>
            <a:ahLst/>
            <a:cxnLst/>
            <a:rect l="l" t="t" r="r" b="b"/>
            <a:pathLst>
              <a:path w="111125" h="55562">
                <a:moveTo>
                  <a:pt x="111125" y="0"/>
                </a:moveTo>
                <a:lnTo>
                  <a:pt x="63897" y="47228"/>
                </a:lnTo>
                <a:lnTo>
                  <a:pt x="36115" y="19447"/>
                </a:lnTo>
                <a:lnTo>
                  <a:pt x="0" y="55562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 65"/>
          <p:cNvSpPr/>
          <p:nvPr/>
        </p:nvSpPr>
        <p:spPr>
          <a:xfrm>
            <a:off x="8070552" y="1258094"/>
            <a:ext cx="33338" cy="33337"/>
          </a:xfrm>
          <a:custGeom>
            <a:avLst/>
            <a:gdLst/>
            <a:ahLst/>
            <a:cxnLst/>
            <a:rect l="l" t="t" r="r" b="b"/>
            <a:pathLst>
              <a:path w="33338" h="33337">
                <a:moveTo>
                  <a:pt x="0" y="0"/>
                </a:moveTo>
                <a:lnTo>
                  <a:pt x="33338" y="0"/>
                </a:lnTo>
                <a:lnTo>
                  <a:pt x="33338" y="33337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/>
          <p:cNvSpPr txBox="1"/>
          <p:nvPr/>
        </p:nvSpPr>
        <p:spPr>
          <a:xfrm>
            <a:off x="8153102" y="1219200"/>
            <a:ext cx="36537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5803D"/>
                </a:solidFill>
                <a:latin typeface="Inter"/>
              </a:rPr>
              <a:t>+4.1pp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959376" y="1771650"/>
            <a:ext cx="2559100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111111"/>
                </a:solidFill>
                <a:latin typeface="Georgia"/>
              </a:rPr>
              <a:t>87%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959376" y="2209800"/>
            <a:ext cx="25591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Native ratio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851850" y="1019175"/>
            <a:ext cx="2959001" cy="1524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ounded Rectangle 70"/>
          <p:cNvSpPr/>
          <p:nvPr/>
        </p:nvSpPr>
        <p:spPr>
          <a:xfrm>
            <a:off x="9051875" y="1219200"/>
            <a:ext cx="381000" cy="381000"/>
          </a:xfrm>
          <a:prstGeom prst="roundRect">
            <a:avLst/>
          </a:prstGeom>
          <a:solidFill>
            <a:srgbClr val="B91C1C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 71"/>
          <p:cNvSpPr/>
          <p:nvPr/>
        </p:nvSpPr>
        <p:spPr>
          <a:xfrm>
            <a:off x="9178875" y="1329592"/>
            <a:ext cx="127000" cy="15967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55141"/>
                </a:moveTo>
                <a:cubicBezTo>
                  <a:pt x="100000" y="79997"/>
                  <a:pt x="78125" y="92425"/>
                  <a:pt x="52125" y="99633"/>
                </a:cubicBezTo>
                <a:cubicBezTo>
                  <a:pt x="50764" y="100000"/>
                  <a:pt x="49284" y="99982"/>
                  <a:pt x="47938" y="99583"/>
                </a:cubicBezTo>
                <a:cubicBezTo>
                  <a:pt x="21875" y="92425"/>
                  <a:pt x="0" y="79997"/>
                  <a:pt x="0" y="55141"/>
                </a:cubicBezTo>
                <a:lnTo>
                  <a:pt x="0" y="20343"/>
                </a:lnTo>
                <a:cubicBezTo>
                  <a:pt x="0" y="17616"/>
                  <a:pt x="2821" y="15372"/>
                  <a:pt x="6250" y="15372"/>
                </a:cubicBezTo>
                <a:cubicBezTo>
                  <a:pt x="18750" y="15372"/>
                  <a:pt x="34375" y="9407"/>
                  <a:pt x="45250" y="1851"/>
                </a:cubicBezTo>
                <a:cubicBezTo>
                  <a:pt x="47974" y="0"/>
                  <a:pt x="52026" y="0"/>
                  <a:pt x="54750" y="1851"/>
                </a:cubicBezTo>
                <a:cubicBezTo>
                  <a:pt x="65688" y="9457"/>
                  <a:pt x="81250" y="15372"/>
                  <a:pt x="93750" y="15372"/>
                </a:cubicBezTo>
                <a:cubicBezTo>
                  <a:pt x="97179" y="15372"/>
                  <a:pt x="100000" y="17616"/>
                  <a:pt x="100000" y="20343"/>
                </a:cubicBezTo>
                <a:close/>
              </a:path>
            </a:pathLst>
          </a:custGeom>
          <a:noFill/>
          <a:ln w="1905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 72"/>
          <p:cNvSpPr/>
          <p:nvPr/>
        </p:nvSpPr>
        <p:spPr>
          <a:xfrm>
            <a:off x="11101784" y="1269206"/>
            <a:ext cx="77788" cy="3333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lnTo>
                  <a:pt x="100000" y="50000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 73"/>
          <p:cNvSpPr/>
          <p:nvPr/>
        </p:nvSpPr>
        <p:spPr>
          <a:xfrm>
            <a:off x="11140678" y="1246981"/>
            <a:ext cx="38894" cy="777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50000"/>
                </a:lnTo>
                <a:lnTo>
                  <a:pt x="0" y="100000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/>
          <p:cNvSpPr txBox="1"/>
          <p:nvPr/>
        </p:nvSpPr>
        <p:spPr>
          <a:xfrm>
            <a:off x="11245453" y="1219200"/>
            <a:ext cx="36537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5803D"/>
                </a:solidFill>
                <a:latin typeface="Inter"/>
              </a:rPr>
              <a:t>−2.1pp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051875" y="1771650"/>
            <a:ext cx="2558951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111111"/>
                </a:solidFill>
                <a:latin typeface="Georgia"/>
              </a:rPr>
              <a:t>0.12%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51875" y="2209800"/>
            <a:ext cx="255895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Drift incidents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667000" y="2714625"/>
            <a:ext cx="9144000" cy="790575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Freeform 78"/>
          <p:cNvSpPr/>
          <p:nvPr/>
        </p:nvSpPr>
        <p:spPr>
          <a:xfrm>
            <a:off x="2873375" y="2933700"/>
            <a:ext cx="101600" cy="698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Box 79"/>
          <p:cNvSpPr txBox="1"/>
          <p:nvPr/>
        </p:nvSpPr>
        <p:spPr>
          <a:xfrm>
            <a:off x="3076575" y="2900362"/>
            <a:ext cx="9842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11111"/>
                </a:solidFill>
                <a:latin typeface="Inter"/>
              </a:rPr>
              <a:t>All checks green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188452" y="2909888"/>
            <a:ext cx="441573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52525B"/>
                </a:solidFill>
                <a:latin typeface="Consolas"/>
              </a:rPr>
              <a:t>12s ago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47975" y="3181350"/>
            <a:ext cx="857696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self-contained</a:t>
            </a:r>
          </a:p>
        </p:txBody>
      </p:sp>
      <p:sp>
        <p:nvSpPr>
          <p:cNvPr id="83" name="Freeform 82"/>
          <p:cNvSpPr/>
          <p:nvPr/>
        </p:nvSpPr>
        <p:spPr>
          <a:xfrm>
            <a:off x="2867025" y="320992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/>
          <p:cNvSpPr txBox="1"/>
          <p:nvPr/>
        </p:nvSpPr>
        <p:spPr>
          <a:xfrm>
            <a:off x="3877121" y="3181350"/>
            <a:ext cx="806648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no risky CSS</a:t>
            </a:r>
          </a:p>
        </p:txBody>
      </p:sp>
      <p:sp>
        <p:nvSpPr>
          <p:cNvPr id="85" name="Freeform 84"/>
          <p:cNvSpPr/>
          <p:nvPr/>
        </p:nvSpPr>
        <p:spPr>
          <a:xfrm>
            <a:off x="3896171" y="320992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TextBox 85"/>
          <p:cNvSpPr txBox="1"/>
          <p:nvPr/>
        </p:nvSpPr>
        <p:spPr>
          <a:xfrm>
            <a:off x="4855220" y="3181350"/>
            <a:ext cx="698897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 warnings</a:t>
            </a:r>
          </a:p>
        </p:txBody>
      </p:sp>
      <p:sp>
        <p:nvSpPr>
          <p:cNvPr id="87" name="Freeform 86"/>
          <p:cNvSpPr/>
          <p:nvPr/>
        </p:nvSpPr>
        <p:spPr>
          <a:xfrm>
            <a:off x="4874270" y="320992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TextBox 87"/>
          <p:cNvSpPr txBox="1"/>
          <p:nvPr/>
        </p:nvSpPr>
        <p:spPr>
          <a:xfrm>
            <a:off x="5725567" y="3181350"/>
            <a:ext cx="1054745" cy="142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21 / 21 atoms hint</a:t>
            </a:r>
          </a:p>
        </p:txBody>
      </p:sp>
      <p:sp>
        <p:nvSpPr>
          <p:cNvPr id="89" name="Freeform 88"/>
          <p:cNvSpPr/>
          <p:nvPr/>
        </p:nvSpPr>
        <p:spPr>
          <a:xfrm>
            <a:off x="5744617" y="3209925"/>
            <a:ext cx="76200" cy="52388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F2924">
                  <a:alpha val="10000"/>
                </a:srgbClr>
              </a:gs>
              <a:gs pos="35000">
                <a:srgbClr val="1F2924">
                  <a:alpha val="4000"/>
                </a:srgbClr>
              </a:gs>
              <a:gs pos="65000">
                <a:srgbClr val="1F2924">
                  <a:alpha val="0"/>
                </a:srgbClr>
              </a:gs>
              <a:gs pos="100000">
                <a:srgbClr val="1F2924">
                  <a:alpha val="0"/>
                </a:srgbClr>
              </a:gs>
            </a:gsLst>
            <a:path path="circle">
              <a:fillToRect l="0" t="0" r="100000" b="10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8953500" y="1143000"/>
            <a:ext cx="36195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3368129"/>
            <a:ext cx="9142958" cy="19658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0" b="0" i="0" u="none">
                <a:solidFill>
                  <a:srgbClr val="1F2924"/>
                </a:solidFill>
                <a:latin typeface="Spectral"/>
              </a:rPr>
              <a:t>On editing</a:t>
            </a:r>
          </a:p>
        </p:txBody>
      </p:sp>
      <p:pic>
        <p:nvPicPr>
          <p:cNvPr id="6" name="Picture 5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2058" y="3905250"/>
            <a:ext cx="1905000" cy="1905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5819775"/>
            <a:ext cx="21533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8978"/>
                </a:solidFill>
                <a:latin typeface="Consolas"/>
              </a:rPr>
              <a:t>an essay in twelve frames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2212" y="6438900"/>
            <a:ext cx="89907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01 / 12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192806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05A3C"/>
                </a:solidFill>
                <a:latin typeface="Inter Tight"/>
              </a:rPr>
              <a:t>Index — six chapters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1409700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09600" y="1695450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200" y="1543050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Spectral"/>
              </a:rPr>
              <a:t>Removing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021086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609600" y="2306836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2154436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Spectral"/>
              </a:rPr>
              <a:t>Subtraction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2632472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09600" y="2918222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9200" y="2765822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Spectral"/>
              </a:rPr>
              <a:t>Restraint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3243858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09600" y="3529608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9200" y="3377208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Spectral"/>
              </a:rPr>
              <a:t>The discipline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855244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09600" y="4140994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9200" y="3988594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Spectral"/>
              </a:rPr>
              <a:t>Asymmetry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4466630"/>
            <a:ext cx="4953000" cy="61138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609600" y="4752380"/>
            <a:ext cx="6096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B05A3C"/>
                </a:solidFill>
                <a:latin typeface="Consolas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9200" y="4599980"/>
            <a:ext cx="4343400" cy="33516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400" b="0" i="0" u="none">
                <a:solidFill>
                  <a:srgbClr val="1F2924"/>
                </a:solidFill>
                <a:latin typeface="Spectral"/>
              </a:rPr>
              <a:t>Silence</a:t>
            </a:r>
          </a:p>
        </p:txBody>
      </p:sp>
      <p:sp>
        <p:nvSpPr>
          <p:cNvPr id="23" name="Oval 22"/>
          <p:cNvSpPr/>
          <p:nvPr/>
        </p:nvSpPr>
        <p:spPr>
          <a:xfrm>
            <a:off x="7086600" y="952500"/>
            <a:ext cx="2019300" cy="2019300"/>
          </a:xfrm>
          <a:prstGeom prst="ellipse">
            <a:avLst/>
          </a:prstGeom>
          <a:noFill/>
          <a:ln w="7144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/>
          <p:cNvSpPr/>
          <p:nvPr/>
        </p:nvSpPr>
        <p:spPr>
          <a:xfrm>
            <a:off x="7486650" y="1352550"/>
            <a:ext cx="1219200" cy="1219200"/>
          </a:xfrm>
          <a:prstGeom prst="ellipse">
            <a:avLst/>
          </a:prstGeom>
          <a:noFill/>
          <a:ln w="9525">
            <a:solidFill>
              <a:srgbClr val="B05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8058150" y="1924050"/>
            <a:ext cx="76200" cy="76200"/>
          </a:xfrm>
          <a:prstGeom prst="ellipse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7048500" y="845820"/>
            <a:ext cx="353615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2D3833"/>
                </a:solidFill>
                <a:latin typeface="Consolas"/>
              </a:rPr>
              <a:t>STUDIO ATLAS • VOL III • ON EDITING • STUDIO ATLAS • VOL III • ON EDITING 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71911" y="1872615"/>
            <a:ext cx="848678" cy="2143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b="0" i="1">
                <a:solidFill>
                  <a:srgbClr val="1F2924"/>
                </a:solidFill>
                <a:latin typeface="Spectral"/>
              </a:rPr>
              <a:t>vol · iii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8500" y="3352800"/>
            <a:ext cx="4533900" cy="6628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0" i="0" u="none">
                <a:solidFill>
                  <a:srgbClr val="2D3833"/>
                </a:solidFill>
                <a:latin typeface="Spectral"/>
              </a:rPr>
              <a:t xml:space="preserve">Six chapters on the discipline that
          separates craft from competence — the
          art of taking away.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8500" y="4244280"/>
            <a:ext cx="6096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7048500" y="4387155"/>
            <a:ext cx="45339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Read time · 12 minutes · unhurried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72212" y="6438900"/>
            <a:ext cx="89907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02 / 12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193655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01 · Removing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333500"/>
            <a:ext cx="11658600" cy="24003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4992737"/>
            <a:ext cx="914400" cy="95086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9600" b="0" i="0" u="none">
                <a:solidFill>
                  <a:srgbClr val="B05A3C"/>
                </a:solidFill>
                <a:latin typeface="Spectral"/>
              </a:rPr>
              <a:t>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5021312"/>
            <a:ext cx="4711750" cy="608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87" b="0" i="0" u="none">
                <a:solidFill>
                  <a:srgbClr val="2D3833"/>
                </a:solidFill>
                <a:latin typeface="Inter Tight"/>
              </a:rPr>
              <a:t xml:space="preserve">
          o edit is the most quietly difficult act in any craft.
          The first draft is loud, generous, eager to be liked. The
          second is the cost of taste.
          </a:t>
            </a:r>
            <a:r>
              <a:rPr sz="1087" b="0" i="0" u="none">
                <a:solidFill>
                  <a:srgbClr val="7A8978"/>
                </a:solidFill>
                <a:latin typeface="Inter Tight"/>
              </a:rPr>
              <a:t xml:space="preserve">A page that says less,
          says more.</a:t>
            </a:r>
            <a:r>
              <a:rPr sz="1087" b="0" i="0" u="none">
                <a:solidFill>
                  <a:srgbClr val="2D3833"/>
                </a:solidFill>
                <a:latin typeface="Inter Tight"/>
              </a:rPr>
              <a:t xml:space="preserve">
       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992737"/>
            <a:ext cx="4724400" cy="683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87" b="0" i="0" u="none">
                <a:solidFill>
                  <a:srgbClr val="2D3833"/>
                </a:solidFill>
                <a:latin typeface="Inter Tight"/>
              </a:rPr>
              <a:t xml:space="preserve">The disciplines that hold their composure under reduction
          — typography, music, architecture — are the ones
          we still recognise as art a generation later. Slide design
          asks the same question, often without knowing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19043" y="6438900"/>
            <a:ext cx="160540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Removing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03 / 12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2286000" y="2095500"/>
            <a:ext cx="7239000" cy="3619500"/>
          </a:xfrm>
          <a:prstGeom prst="roundRect">
            <a:avLst/>
          </a:prstGeom>
          <a:solidFill>
            <a:srgbClr val="0F1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8194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356235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43053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504825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57912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653415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72771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802005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8763000" y="2771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28194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56235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43053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504825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57912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653415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72771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802005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/>
          <p:cNvSpPr/>
          <p:nvPr/>
        </p:nvSpPr>
        <p:spPr>
          <a:xfrm>
            <a:off x="8763000" y="33432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28194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356235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43053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/>
          <p:cNvSpPr/>
          <p:nvPr/>
        </p:nvSpPr>
        <p:spPr>
          <a:xfrm>
            <a:off x="504825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/>
        </p:nvSpPr>
        <p:spPr>
          <a:xfrm>
            <a:off x="57912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/>
          <p:cNvSpPr/>
          <p:nvPr/>
        </p:nvSpPr>
        <p:spPr>
          <a:xfrm>
            <a:off x="653415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72771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/>
        </p:nvSpPr>
        <p:spPr>
          <a:xfrm>
            <a:off x="802005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8763000" y="3914775"/>
            <a:ext cx="266700" cy="266700"/>
          </a:xfrm>
          <a:prstGeom prst="ellipse">
            <a:avLst/>
          </a:prstGeom>
          <a:solidFill>
            <a:srgbClr val="2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33"/>
          <p:cNvSpPr/>
          <p:nvPr/>
        </p:nvSpPr>
        <p:spPr>
          <a:xfrm>
            <a:off x="2667000" y="2286000"/>
            <a:ext cx="6477000" cy="285750"/>
          </a:xfrm>
          <a:prstGeom prst="roundRect">
            <a:avLst/>
          </a:prstGeom>
          <a:solidFill>
            <a:srgbClr val="C7C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4762500" y="-381000"/>
            <a:ext cx="2286000" cy="304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4953000" y="1143000"/>
            <a:ext cx="161925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4953000" y="1333500"/>
            <a:ext cx="1333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4953000" y="1524000"/>
            <a:ext cx="180975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4953000" y="1714500"/>
            <a:ext cx="104775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 39"/>
          <p:cNvSpPr/>
          <p:nvPr/>
        </p:nvSpPr>
        <p:spPr>
          <a:xfrm>
            <a:off x="8382000" y="4000500"/>
            <a:ext cx="4286250" cy="2857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8889" y="20000"/>
                </a:moveTo>
                <a:cubicBezTo>
                  <a:pt x="22222" y="6667"/>
                  <a:pt x="44444" y="0"/>
                  <a:pt x="66667" y="13333"/>
                </a:cubicBezTo>
                <a:cubicBezTo>
                  <a:pt x="88889" y="30000"/>
                  <a:pt x="100000" y="60000"/>
                  <a:pt x="88889" y="100000"/>
                </a:cubicBezTo>
                <a:lnTo>
                  <a:pt x="0" y="100000"/>
                </a:lnTo>
                <a:cubicBezTo>
                  <a:pt x="0" y="66667"/>
                  <a:pt x="0" y="33333"/>
                  <a:pt x="8889" y="20000"/>
                </a:cubicBezTo>
                <a:close/>
              </a:path>
            </a:pathLst>
          </a:cu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9525000" y="4572000"/>
            <a:ext cx="1524000" cy="381000"/>
          </a:xfrm>
          <a:prstGeom prst="ellipse">
            <a:avLst/>
          </a:prstGeom>
          <a:solidFill>
            <a:srgbClr val="C7C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-5715" y="-571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1299210" y="25755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2604135" y="51568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3909060" y="8801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5213985" y="34613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6518910" y="60426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/>
          <p:cNvSpPr/>
          <p:nvPr/>
        </p:nvSpPr>
        <p:spPr>
          <a:xfrm>
            <a:off x="7823835" y="17659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/>
          <p:cNvSpPr/>
          <p:nvPr/>
        </p:nvSpPr>
        <p:spPr>
          <a:xfrm>
            <a:off x="9128760" y="43472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/>
          <p:cNvSpPr/>
          <p:nvPr/>
        </p:nvSpPr>
        <p:spPr>
          <a:xfrm>
            <a:off x="10433685" y="704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/>
          <p:cNvSpPr/>
          <p:nvPr/>
        </p:nvSpPr>
        <p:spPr>
          <a:xfrm>
            <a:off x="11738610" y="26517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/>
          <p:cNvSpPr/>
          <p:nvPr/>
        </p:nvSpPr>
        <p:spPr>
          <a:xfrm>
            <a:off x="851535" y="52330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/>
          <p:cNvSpPr/>
          <p:nvPr/>
        </p:nvSpPr>
        <p:spPr>
          <a:xfrm>
            <a:off x="2156460" y="9563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/>
          <p:cNvSpPr/>
          <p:nvPr/>
        </p:nvSpPr>
        <p:spPr>
          <a:xfrm>
            <a:off x="3461385" y="35375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/>
          <p:cNvSpPr/>
          <p:nvPr/>
        </p:nvSpPr>
        <p:spPr>
          <a:xfrm>
            <a:off x="4766310" y="61188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/>
          <p:cNvSpPr/>
          <p:nvPr/>
        </p:nvSpPr>
        <p:spPr>
          <a:xfrm>
            <a:off x="6071235" y="18421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/>
          <p:cNvSpPr/>
          <p:nvPr/>
        </p:nvSpPr>
        <p:spPr>
          <a:xfrm>
            <a:off x="7376160" y="44234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/>
          <p:cNvSpPr/>
          <p:nvPr/>
        </p:nvSpPr>
        <p:spPr>
          <a:xfrm>
            <a:off x="8681085" y="1466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/>
          <p:cNvSpPr/>
          <p:nvPr/>
        </p:nvSpPr>
        <p:spPr>
          <a:xfrm>
            <a:off x="9986010" y="27279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/>
          <p:cNvSpPr/>
          <p:nvPr/>
        </p:nvSpPr>
        <p:spPr>
          <a:xfrm>
            <a:off x="11290935" y="53092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/>
          <p:cNvSpPr/>
          <p:nvPr/>
        </p:nvSpPr>
        <p:spPr>
          <a:xfrm>
            <a:off x="403860" y="10325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/>
          <p:cNvSpPr/>
          <p:nvPr/>
        </p:nvSpPr>
        <p:spPr>
          <a:xfrm>
            <a:off x="1708785" y="36137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/>
          <p:cNvSpPr/>
          <p:nvPr/>
        </p:nvSpPr>
        <p:spPr>
          <a:xfrm>
            <a:off x="3013710" y="61950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/>
          <p:cNvSpPr/>
          <p:nvPr/>
        </p:nvSpPr>
        <p:spPr>
          <a:xfrm>
            <a:off x="4318635" y="19183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/>
          <p:cNvSpPr/>
          <p:nvPr/>
        </p:nvSpPr>
        <p:spPr>
          <a:xfrm>
            <a:off x="5623560" y="44996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/>
          <p:cNvSpPr/>
          <p:nvPr/>
        </p:nvSpPr>
        <p:spPr>
          <a:xfrm>
            <a:off x="6928485" y="2228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/>
          <p:cNvSpPr/>
          <p:nvPr/>
        </p:nvSpPr>
        <p:spPr>
          <a:xfrm>
            <a:off x="8233410" y="28041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/>
          <p:cNvSpPr/>
          <p:nvPr/>
        </p:nvSpPr>
        <p:spPr>
          <a:xfrm>
            <a:off x="9538335" y="53854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/>
          <p:cNvSpPr/>
          <p:nvPr/>
        </p:nvSpPr>
        <p:spPr>
          <a:xfrm>
            <a:off x="10843260" y="11087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/>
          <p:cNvSpPr/>
          <p:nvPr/>
        </p:nvSpPr>
        <p:spPr>
          <a:xfrm>
            <a:off x="12148185" y="36899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/>
          <p:cNvSpPr/>
          <p:nvPr/>
        </p:nvSpPr>
        <p:spPr>
          <a:xfrm>
            <a:off x="1261110" y="62712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/>
          <p:cNvSpPr/>
          <p:nvPr/>
        </p:nvSpPr>
        <p:spPr>
          <a:xfrm>
            <a:off x="2566035" y="19945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/>
          <p:cNvSpPr/>
          <p:nvPr/>
        </p:nvSpPr>
        <p:spPr>
          <a:xfrm>
            <a:off x="3870960" y="45758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/>
          <p:cNvSpPr/>
          <p:nvPr/>
        </p:nvSpPr>
        <p:spPr>
          <a:xfrm>
            <a:off x="5175885" y="2990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/>
          <p:cNvSpPr/>
          <p:nvPr/>
        </p:nvSpPr>
        <p:spPr>
          <a:xfrm>
            <a:off x="6480810" y="28803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/>
          <p:cNvSpPr/>
          <p:nvPr/>
        </p:nvSpPr>
        <p:spPr>
          <a:xfrm>
            <a:off x="7785735" y="54616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/>
          <p:cNvSpPr/>
          <p:nvPr/>
        </p:nvSpPr>
        <p:spPr>
          <a:xfrm>
            <a:off x="9090660" y="11849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/>
          <p:cNvSpPr/>
          <p:nvPr/>
        </p:nvSpPr>
        <p:spPr>
          <a:xfrm>
            <a:off x="10395585" y="37661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Oval 78"/>
          <p:cNvSpPr/>
          <p:nvPr/>
        </p:nvSpPr>
        <p:spPr>
          <a:xfrm>
            <a:off x="11700510" y="63474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/>
          <p:cNvSpPr/>
          <p:nvPr/>
        </p:nvSpPr>
        <p:spPr>
          <a:xfrm>
            <a:off x="813435" y="20707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/>
          <p:cNvSpPr/>
          <p:nvPr/>
        </p:nvSpPr>
        <p:spPr>
          <a:xfrm>
            <a:off x="2118360" y="46520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/>
          <p:cNvSpPr/>
          <p:nvPr/>
        </p:nvSpPr>
        <p:spPr>
          <a:xfrm>
            <a:off x="3423285" y="3752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/>
          <p:cNvSpPr/>
          <p:nvPr/>
        </p:nvSpPr>
        <p:spPr>
          <a:xfrm>
            <a:off x="4728210" y="29565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/>
          <p:cNvSpPr/>
          <p:nvPr/>
        </p:nvSpPr>
        <p:spPr>
          <a:xfrm>
            <a:off x="6033135" y="55378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/>
          <p:cNvSpPr/>
          <p:nvPr/>
        </p:nvSpPr>
        <p:spPr>
          <a:xfrm>
            <a:off x="7338060" y="12611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8642985" y="38423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9947910" y="64236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11252835" y="21469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/>
          <p:cNvSpPr/>
          <p:nvPr/>
        </p:nvSpPr>
        <p:spPr>
          <a:xfrm>
            <a:off x="365760" y="47282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/>
          <p:cNvSpPr/>
          <p:nvPr/>
        </p:nvSpPr>
        <p:spPr>
          <a:xfrm>
            <a:off x="1670685" y="4514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/>
          <p:cNvSpPr/>
          <p:nvPr/>
        </p:nvSpPr>
        <p:spPr>
          <a:xfrm>
            <a:off x="2975610" y="30327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/>
          <p:cNvSpPr/>
          <p:nvPr/>
        </p:nvSpPr>
        <p:spPr>
          <a:xfrm>
            <a:off x="4280535" y="56140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/>
          <p:cNvSpPr/>
          <p:nvPr/>
        </p:nvSpPr>
        <p:spPr>
          <a:xfrm>
            <a:off x="5585460" y="13373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Oval 93"/>
          <p:cNvSpPr/>
          <p:nvPr/>
        </p:nvSpPr>
        <p:spPr>
          <a:xfrm>
            <a:off x="6890385" y="39185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/>
          <p:cNvSpPr/>
          <p:nvPr/>
        </p:nvSpPr>
        <p:spPr>
          <a:xfrm>
            <a:off x="8195310" y="64998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/>
          <p:cNvSpPr/>
          <p:nvPr/>
        </p:nvSpPr>
        <p:spPr>
          <a:xfrm>
            <a:off x="9500235" y="22231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/>
          <p:cNvSpPr/>
          <p:nvPr/>
        </p:nvSpPr>
        <p:spPr>
          <a:xfrm>
            <a:off x="10805160" y="48044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Oval 97"/>
          <p:cNvSpPr/>
          <p:nvPr/>
        </p:nvSpPr>
        <p:spPr>
          <a:xfrm>
            <a:off x="12110085" y="5276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/>
          <p:cNvSpPr/>
          <p:nvPr/>
        </p:nvSpPr>
        <p:spPr>
          <a:xfrm>
            <a:off x="1223010" y="31089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/>
          <p:cNvSpPr/>
          <p:nvPr/>
        </p:nvSpPr>
        <p:spPr>
          <a:xfrm>
            <a:off x="2527935" y="56902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/>
          <p:cNvSpPr/>
          <p:nvPr/>
        </p:nvSpPr>
        <p:spPr>
          <a:xfrm>
            <a:off x="3832860" y="14135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/>
          <p:cNvSpPr/>
          <p:nvPr/>
        </p:nvSpPr>
        <p:spPr>
          <a:xfrm>
            <a:off x="5137785" y="39947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/>
          <p:cNvSpPr/>
          <p:nvPr/>
        </p:nvSpPr>
        <p:spPr>
          <a:xfrm>
            <a:off x="6442710" y="65760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/>
          <p:cNvSpPr/>
          <p:nvPr/>
        </p:nvSpPr>
        <p:spPr>
          <a:xfrm>
            <a:off x="7747635" y="22993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Oval 104"/>
          <p:cNvSpPr/>
          <p:nvPr/>
        </p:nvSpPr>
        <p:spPr>
          <a:xfrm>
            <a:off x="9052560" y="48806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Oval 105"/>
          <p:cNvSpPr/>
          <p:nvPr/>
        </p:nvSpPr>
        <p:spPr>
          <a:xfrm>
            <a:off x="10357485" y="6038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/>
          <p:cNvSpPr/>
          <p:nvPr/>
        </p:nvSpPr>
        <p:spPr>
          <a:xfrm>
            <a:off x="11662410" y="31851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Oval 107"/>
          <p:cNvSpPr/>
          <p:nvPr/>
        </p:nvSpPr>
        <p:spPr>
          <a:xfrm>
            <a:off x="775335" y="57664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/>
          <p:cNvSpPr/>
          <p:nvPr/>
        </p:nvSpPr>
        <p:spPr>
          <a:xfrm>
            <a:off x="2080260" y="14897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Oval 109"/>
          <p:cNvSpPr/>
          <p:nvPr/>
        </p:nvSpPr>
        <p:spPr>
          <a:xfrm>
            <a:off x="3385185" y="40709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/>
          <p:cNvSpPr/>
          <p:nvPr/>
        </p:nvSpPr>
        <p:spPr>
          <a:xfrm>
            <a:off x="4690110" y="66522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Oval 111"/>
          <p:cNvSpPr/>
          <p:nvPr/>
        </p:nvSpPr>
        <p:spPr>
          <a:xfrm>
            <a:off x="5995035" y="23755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Oval 112"/>
          <p:cNvSpPr/>
          <p:nvPr/>
        </p:nvSpPr>
        <p:spPr>
          <a:xfrm>
            <a:off x="7299960" y="49568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Oval 113"/>
          <p:cNvSpPr/>
          <p:nvPr/>
        </p:nvSpPr>
        <p:spPr>
          <a:xfrm>
            <a:off x="8604885" y="6800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Oval 114"/>
          <p:cNvSpPr/>
          <p:nvPr/>
        </p:nvSpPr>
        <p:spPr>
          <a:xfrm>
            <a:off x="9909810" y="32613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Oval 115"/>
          <p:cNvSpPr/>
          <p:nvPr/>
        </p:nvSpPr>
        <p:spPr>
          <a:xfrm>
            <a:off x="11214735" y="58426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Oval 116"/>
          <p:cNvSpPr/>
          <p:nvPr/>
        </p:nvSpPr>
        <p:spPr>
          <a:xfrm>
            <a:off x="327660" y="15659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Oval 117"/>
          <p:cNvSpPr/>
          <p:nvPr/>
        </p:nvSpPr>
        <p:spPr>
          <a:xfrm>
            <a:off x="1632585" y="41471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Oval 118"/>
          <p:cNvSpPr/>
          <p:nvPr/>
        </p:nvSpPr>
        <p:spPr>
          <a:xfrm>
            <a:off x="2937510" y="67284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Oval 119"/>
          <p:cNvSpPr/>
          <p:nvPr/>
        </p:nvSpPr>
        <p:spPr>
          <a:xfrm>
            <a:off x="4242435" y="24517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Oval 120"/>
          <p:cNvSpPr/>
          <p:nvPr/>
        </p:nvSpPr>
        <p:spPr>
          <a:xfrm>
            <a:off x="5547360" y="50330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Oval 121"/>
          <p:cNvSpPr/>
          <p:nvPr/>
        </p:nvSpPr>
        <p:spPr>
          <a:xfrm>
            <a:off x="6852285" y="7562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/>
          <p:cNvSpPr/>
          <p:nvPr/>
        </p:nvSpPr>
        <p:spPr>
          <a:xfrm>
            <a:off x="8157210" y="33375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Oval 123"/>
          <p:cNvSpPr/>
          <p:nvPr/>
        </p:nvSpPr>
        <p:spPr>
          <a:xfrm>
            <a:off x="9462135" y="59188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/>
          <p:cNvSpPr/>
          <p:nvPr/>
        </p:nvSpPr>
        <p:spPr>
          <a:xfrm>
            <a:off x="10767060" y="16421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Oval 125"/>
          <p:cNvSpPr/>
          <p:nvPr/>
        </p:nvSpPr>
        <p:spPr>
          <a:xfrm>
            <a:off x="12071985" y="42233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Oval 126"/>
          <p:cNvSpPr/>
          <p:nvPr/>
        </p:nvSpPr>
        <p:spPr>
          <a:xfrm>
            <a:off x="1184910" y="68046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Oval 127"/>
          <p:cNvSpPr/>
          <p:nvPr/>
        </p:nvSpPr>
        <p:spPr>
          <a:xfrm>
            <a:off x="2489835" y="25279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Oval 128"/>
          <p:cNvSpPr/>
          <p:nvPr/>
        </p:nvSpPr>
        <p:spPr>
          <a:xfrm>
            <a:off x="3794760" y="51092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Oval 129"/>
          <p:cNvSpPr/>
          <p:nvPr/>
        </p:nvSpPr>
        <p:spPr>
          <a:xfrm>
            <a:off x="5099685" y="8324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Oval 130"/>
          <p:cNvSpPr/>
          <p:nvPr/>
        </p:nvSpPr>
        <p:spPr>
          <a:xfrm>
            <a:off x="6404610" y="34137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Oval 131"/>
          <p:cNvSpPr/>
          <p:nvPr/>
        </p:nvSpPr>
        <p:spPr>
          <a:xfrm>
            <a:off x="7709535" y="59950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Oval 132"/>
          <p:cNvSpPr/>
          <p:nvPr/>
        </p:nvSpPr>
        <p:spPr>
          <a:xfrm>
            <a:off x="9014460" y="17183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Oval 133"/>
          <p:cNvSpPr/>
          <p:nvPr/>
        </p:nvSpPr>
        <p:spPr>
          <a:xfrm>
            <a:off x="10319385" y="42995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Oval 134"/>
          <p:cNvSpPr/>
          <p:nvPr/>
        </p:nvSpPr>
        <p:spPr>
          <a:xfrm>
            <a:off x="11624310" y="228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Oval 135"/>
          <p:cNvSpPr/>
          <p:nvPr/>
        </p:nvSpPr>
        <p:spPr>
          <a:xfrm>
            <a:off x="737235" y="26041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Oval 136"/>
          <p:cNvSpPr/>
          <p:nvPr/>
        </p:nvSpPr>
        <p:spPr>
          <a:xfrm>
            <a:off x="2042160" y="51854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Oval 137"/>
          <p:cNvSpPr/>
          <p:nvPr/>
        </p:nvSpPr>
        <p:spPr>
          <a:xfrm>
            <a:off x="3347085" y="9086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Oval 138"/>
          <p:cNvSpPr/>
          <p:nvPr/>
        </p:nvSpPr>
        <p:spPr>
          <a:xfrm>
            <a:off x="4652010" y="34899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Oval 139"/>
          <p:cNvSpPr/>
          <p:nvPr/>
        </p:nvSpPr>
        <p:spPr>
          <a:xfrm>
            <a:off x="5956935" y="60712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Oval 140"/>
          <p:cNvSpPr/>
          <p:nvPr/>
        </p:nvSpPr>
        <p:spPr>
          <a:xfrm>
            <a:off x="7261860" y="17945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Oval 141"/>
          <p:cNvSpPr/>
          <p:nvPr/>
        </p:nvSpPr>
        <p:spPr>
          <a:xfrm>
            <a:off x="8566785" y="43757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Oval 142"/>
          <p:cNvSpPr/>
          <p:nvPr/>
        </p:nvSpPr>
        <p:spPr>
          <a:xfrm>
            <a:off x="9871710" y="990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Oval 143"/>
          <p:cNvSpPr/>
          <p:nvPr/>
        </p:nvSpPr>
        <p:spPr>
          <a:xfrm>
            <a:off x="11176635" y="26803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Oval 144"/>
          <p:cNvSpPr/>
          <p:nvPr/>
        </p:nvSpPr>
        <p:spPr>
          <a:xfrm>
            <a:off x="289560" y="52616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Oval 145"/>
          <p:cNvSpPr/>
          <p:nvPr/>
        </p:nvSpPr>
        <p:spPr>
          <a:xfrm>
            <a:off x="1594485" y="9848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Oval 146"/>
          <p:cNvSpPr/>
          <p:nvPr/>
        </p:nvSpPr>
        <p:spPr>
          <a:xfrm>
            <a:off x="2899410" y="35661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" name="Oval 147"/>
          <p:cNvSpPr/>
          <p:nvPr/>
        </p:nvSpPr>
        <p:spPr>
          <a:xfrm>
            <a:off x="4204335" y="61474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Oval 148"/>
          <p:cNvSpPr/>
          <p:nvPr/>
        </p:nvSpPr>
        <p:spPr>
          <a:xfrm>
            <a:off x="5509260" y="18707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Oval 149"/>
          <p:cNvSpPr/>
          <p:nvPr/>
        </p:nvSpPr>
        <p:spPr>
          <a:xfrm>
            <a:off x="6814185" y="44519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Oval 150"/>
          <p:cNvSpPr/>
          <p:nvPr/>
        </p:nvSpPr>
        <p:spPr>
          <a:xfrm>
            <a:off x="8119110" y="1752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Oval 151"/>
          <p:cNvSpPr/>
          <p:nvPr/>
        </p:nvSpPr>
        <p:spPr>
          <a:xfrm>
            <a:off x="9424035" y="27565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Oval 152"/>
          <p:cNvSpPr/>
          <p:nvPr/>
        </p:nvSpPr>
        <p:spPr>
          <a:xfrm>
            <a:off x="10728960" y="53378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Oval 153"/>
          <p:cNvSpPr/>
          <p:nvPr/>
        </p:nvSpPr>
        <p:spPr>
          <a:xfrm>
            <a:off x="12033885" y="10610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Oval 154"/>
          <p:cNvSpPr/>
          <p:nvPr/>
        </p:nvSpPr>
        <p:spPr>
          <a:xfrm>
            <a:off x="1146810" y="36423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Oval 155"/>
          <p:cNvSpPr/>
          <p:nvPr/>
        </p:nvSpPr>
        <p:spPr>
          <a:xfrm>
            <a:off x="2451735" y="62236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Oval 156"/>
          <p:cNvSpPr/>
          <p:nvPr/>
        </p:nvSpPr>
        <p:spPr>
          <a:xfrm>
            <a:off x="3756660" y="19469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Oval 157"/>
          <p:cNvSpPr/>
          <p:nvPr/>
        </p:nvSpPr>
        <p:spPr>
          <a:xfrm>
            <a:off x="5061585" y="452818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Oval 158"/>
          <p:cNvSpPr/>
          <p:nvPr/>
        </p:nvSpPr>
        <p:spPr>
          <a:xfrm>
            <a:off x="6366510" y="25146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Oval 159"/>
          <p:cNvSpPr/>
          <p:nvPr/>
        </p:nvSpPr>
        <p:spPr>
          <a:xfrm>
            <a:off x="7671435" y="2832735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Oval 160"/>
          <p:cNvSpPr/>
          <p:nvPr/>
        </p:nvSpPr>
        <p:spPr>
          <a:xfrm>
            <a:off x="8976360" y="5414010"/>
            <a:ext cx="11430" cy="11430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TextBox 161"/>
          <p:cNvSpPr txBox="1"/>
          <p:nvPr/>
        </p:nvSpPr>
        <p:spPr>
          <a:xfrm>
            <a:off x="609600" y="304800"/>
            <a:ext cx="17521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EFE9DC"/>
                </a:solidFill>
                <a:latin typeface="Consolas"/>
              </a:rPr>
              <a:t>Plate IV · Removing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431363" y="304800"/>
            <a:ext cx="115103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EFE9DC"/>
                </a:solidFill>
                <a:latin typeface="Consolas"/>
              </a:rPr>
              <a:t>Vol III · 2026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09600" y="4511278"/>
            <a:ext cx="6248400" cy="1432322"/>
          </a:xfrm>
          <a:prstGeom prst="rect">
            <a:avLst/>
          </a:prstGeom>
          <a:solidFill>
            <a:srgbClr val="EFE9DC">
              <a:alpha val="9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/>
          <p:cNvSpPr txBox="1"/>
          <p:nvPr/>
        </p:nvSpPr>
        <p:spPr>
          <a:xfrm>
            <a:off x="895350" y="4739878"/>
            <a:ext cx="5695950" cy="56554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Spectral"/>
              </a:rPr>
              <a:t xml:space="preserve">The keyboard once required us to commit —
          a struck letter could not be unseen.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95350" y="5600700"/>
            <a:ext cx="56959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plate IV · photographed in sage &amp; clay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822752" y="6438900"/>
            <a:ext cx="179799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Subtraction —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04 / 12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21322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02 · Subtraction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905000"/>
            <a:ext cx="5143500" cy="7429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0" i="0" u="none">
                <a:solidFill>
                  <a:srgbClr val="1F2924"/>
                </a:solidFill>
                <a:latin typeface="Spectral"/>
              </a:rPr>
              <a:t xml:space="preserve">We removed forty per cent of the elements.
          Engagement rose by twenty-two.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952750"/>
            <a:ext cx="6096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3133725"/>
            <a:ext cx="4191000" cy="3961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Inter Tight"/>
              </a:rPr>
              <a:t xml:space="preserve">The fewest legible elements that still
          carry the argument. That is the rule.
          Nothing else.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834705"/>
            <a:ext cx="514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Source · 1,284 conversions · q1 2026</a:t>
            </a:r>
          </a:p>
        </p:txBody>
      </p:sp>
      <p:pic>
        <p:nvPicPr>
          <p:cNvPr id="9" name="Picture 8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638300"/>
            <a:ext cx="4953000" cy="3619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2752" y="6438900"/>
            <a:ext cx="179799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Subtraction 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05 / 12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0288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03 · Restraint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38250"/>
            <a:ext cx="3198465" cy="4191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0" i="0" u="none">
                <a:solidFill>
                  <a:srgbClr val="1F2924"/>
                </a:solidFill>
                <a:latin typeface="Spectral"/>
              </a:rPr>
              <a:t>One word, four voices.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905000"/>
            <a:ext cx="10972800" cy="962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2495550"/>
            <a:ext cx="133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01 · light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1700" y="2085975"/>
            <a:ext cx="7086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0" i="0" u="none">
                <a:solidFill>
                  <a:srgbClr val="1F2924"/>
                </a:solidFill>
                <a:latin typeface="Spectral"/>
              </a:rPr>
              <a:t>Restraint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87323" y="2495550"/>
            <a:ext cx="109507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2D3833"/>
                </a:solidFill>
                <a:latin typeface="Consolas"/>
              </a:rPr>
              <a:t xml:space="preserve"> weight · 300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67025"/>
            <a:ext cx="10972800" cy="962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09600" y="3457575"/>
            <a:ext cx="133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02 · regular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1700" y="3048000"/>
            <a:ext cx="7086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0" i="0" u="none">
                <a:solidFill>
                  <a:srgbClr val="1F2924"/>
                </a:solidFill>
                <a:latin typeface="Spectral"/>
              </a:rPr>
              <a:t>Restraint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87323" y="3457575"/>
            <a:ext cx="109507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2D3833"/>
                </a:solidFill>
                <a:latin typeface="Consolas"/>
              </a:rPr>
              <a:t xml:space="preserve"> weight · 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3829050"/>
            <a:ext cx="10972800" cy="962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09600" y="4419600"/>
            <a:ext cx="133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03 · bold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71700" y="4010025"/>
            <a:ext cx="7086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1F2924"/>
                </a:solidFill>
                <a:latin typeface="Spectral"/>
              </a:rPr>
              <a:t>Restraint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87323" y="4419600"/>
            <a:ext cx="109507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2D3833"/>
                </a:solidFill>
                <a:latin typeface="Consolas"/>
              </a:rPr>
              <a:t xml:space="preserve"> weight · 700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4791075"/>
            <a:ext cx="10972800" cy="9620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609600" y="5381625"/>
            <a:ext cx="1333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04 · italic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1700" y="4972050"/>
            <a:ext cx="7086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0" i="0" u="none">
                <a:solidFill>
                  <a:srgbClr val="B05A3C"/>
                </a:solidFill>
                <a:latin typeface="Spectral"/>
              </a:rPr>
              <a:t>Restraint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52621" y="5381625"/>
            <a:ext cx="132977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2D3833"/>
                </a:solidFill>
                <a:latin typeface="Consolas"/>
              </a:rPr>
              <a:t xml:space="preserve"> italic + accent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071295"/>
            <a:ext cx="6477000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2D3833"/>
                </a:solidFill>
                <a:latin typeface="Spectral"/>
              </a:rPr>
              <a:t xml:space="preserve">Each axis carries a different register — weight is emphasis,
        italic is voice, family is genre. Three voices, used surgically.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87045" y="6438900"/>
            <a:ext cx="16695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Restraint 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06 / 12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48989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04 · The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38800" y="3619500"/>
            <a:ext cx="9144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729335" y="4010025"/>
            <a:ext cx="4733181" cy="117842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4050" b="0" i="1" u="none">
                <a:solidFill>
                  <a:srgbClr val="1F2924"/>
                </a:solidFill>
                <a:latin typeface="Spectral"/>
              </a:rPr>
              <a:t xml:space="preserve">
        To remove a thing</a:t>
            </a:r>
          </a:p>
          <a:p>
            <a:pPr algn="ctr"/>
            <a:r>
              <a:rPr sz="4050" b="0" i="1" u="none">
                <a:solidFill>
                  <a:srgbClr val="1F2924"/>
                </a:solidFill>
                <a:latin typeface="Spectral"/>
              </a:rPr>
              <a:t xml:space="preserve">
        is to say what mattered.
    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791200"/>
            <a:ext cx="12192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7A8978"/>
                </a:solidFill>
                <a:latin typeface="Consolas"/>
              </a:rPr>
              <a:t>— Studio Atlas, on editing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26460" y="6438900"/>
            <a:ext cx="19907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The discipline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07 / 12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5143500"/>
            <a:ext cx="12192000" cy="19050"/>
          </a:xfrm>
          <a:prstGeom prst="rect">
            <a:avLst/>
          </a:prstGeom>
          <a:solidFill>
            <a:srgbClr val="8A4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-381000" y="3619500"/>
            <a:ext cx="6286500" cy="2667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81000" y="4095750"/>
            <a:ext cx="3619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381000" y="4286250"/>
            <a:ext cx="30480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81000" y="4476750"/>
            <a:ext cx="38100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81000" y="4667250"/>
            <a:ext cx="26670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381000" y="4857750"/>
            <a:ext cx="34290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81000" y="5048250"/>
            <a:ext cx="2095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81000" y="5238750"/>
            <a:ext cx="3238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381000" y="5429250"/>
            <a:ext cx="1714500" cy="19050"/>
          </a:xfrm>
          <a:prstGeom prst="rect">
            <a:avLst/>
          </a:prstGeom>
          <a:solidFill>
            <a:srgbClr val="1F2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/>
          <p:cNvSpPr/>
          <p:nvPr/>
        </p:nvSpPr>
        <p:spPr>
          <a:xfrm>
            <a:off x="4095750" y="3762375"/>
            <a:ext cx="1714500" cy="57150"/>
          </a:xfrm>
          <a:prstGeom prst="round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5715000" y="3743325"/>
            <a:ext cx="209550" cy="95250"/>
          </a:xfrm>
          <a:prstGeom prst="rect">
            <a:avLst/>
          </a:prstGeom>
          <a:solidFill>
            <a:srgbClr val="0F1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-571500" y="1714500"/>
            <a:ext cx="3048000" cy="381000"/>
          </a:xfrm>
          <a:prstGeom prst="ellipse">
            <a:avLst/>
          </a:prstGeom>
          <a:solidFill>
            <a:srgbClr val="0F1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-476250" y="1724025"/>
            <a:ext cx="2857500" cy="266700"/>
          </a:xfrm>
          <a:prstGeom prst="ellipse">
            <a:avLst/>
          </a:prstGeom>
          <a:solidFill>
            <a:srgbClr val="C7C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/>
          <p:cNvSpPr/>
          <p:nvPr/>
        </p:nvSpPr>
        <p:spPr>
          <a:xfrm>
            <a:off x="190500" y="476250"/>
            <a:ext cx="1524000" cy="13811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6250" y="89655"/>
                </a:lnTo>
                <a:quadBezTo>
                  <a:pt x="6250" y="100000"/>
                  <a:pt x="50000" y="100000"/>
                </a:quadBezTo>
                <a:quadBezTo>
                  <a:pt x="93750" y="100000"/>
                  <a:pt x="93750" y="89655"/>
                </a:quadBezTo>
                <a:lnTo>
                  <a:pt x="100000" y="0"/>
                </a:lnTo>
                <a:close/>
              </a:path>
            </a:pathLst>
          </a:cu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190500" y="342900"/>
            <a:ext cx="1524000" cy="2667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228600" y="381000"/>
            <a:ext cx="1447800" cy="190500"/>
          </a:xfrm>
          <a:prstGeom prst="ellipse">
            <a:avLst/>
          </a:prstGeom>
          <a:solidFill>
            <a:srgbClr val="0F13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 21"/>
          <p:cNvSpPr/>
          <p:nvPr/>
        </p:nvSpPr>
        <p:spPr>
          <a:xfrm>
            <a:off x="1714500" y="762000"/>
            <a:ext cx="476250" cy="857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quadBezTo>
                  <a:pt x="100000" y="0"/>
                  <a:pt x="100000" y="55556"/>
                </a:quadBezTo>
                <a:quadBezTo>
                  <a:pt x="100000" y="100000"/>
                  <a:pt x="0" y="94444"/>
                </a:quadBezTo>
              </a:path>
            </a:pathLst>
          </a:custGeom>
          <a:noFill/>
          <a:ln w="57150">
            <a:solidFill>
              <a:srgbClr val="C7C0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-4762" y="-4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/>
          <p:cNvSpPr/>
          <p:nvPr/>
        </p:nvSpPr>
        <p:spPr>
          <a:xfrm>
            <a:off x="1300162" y="2576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2605088" y="5157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3910012" y="881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5214938" y="3462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/>
          <p:cNvSpPr/>
          <p:nvPr/>
        </p:nvSpPr>
        <p:spPr>
          <a:xfrm>
            <a:off x="6519862" y="6043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/>
        </p:nvSpPr>
        <p:spPr>
          <a:xfrm>
            <a:off x="7824788" y="1766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/>
          <p:cNvSpPr/>
          <p:nvPr/>
        </p:nvSpPr>
        <p:spPr>
          <a:xfrm>
            <a:off x="9129712" y="4348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10434638" y="71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/>
        </p:nvSpPr>
        <p:spPr>
          <a:xfrm>
            <a:off x="11739562" y="2652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852488" y="5233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2157412" y="957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/>
        </p:nvSpPr>
        <p:spPr>
          <a:xfrm>
            <a:off x="3462338" y="3538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/>
          <p:cNvSpPr/>
          <p:nvPr/>
        </p:nvSpPr>
        <p:spPr>
          <a:xfrm>
            <a:off x="4767262" y="6119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6072188" y="1843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7377112" y="4424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8682038" y="147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9986962" y="2728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11291888" y="5310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404812" y="1033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1709738" y="36147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3014662" y="61960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4319588" y="19192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5624512" y="45005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6929438" y="2238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/>
          <p:cNvSpPr/>
          <p:nvPr/>
        </p:nvSpPr>
        <p:spPr>
          <a:xfrm>
            <a:off x="8234362" y="28051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/>
          <p:cNvSpPr/>
          <p:nvPr/>
        </p:nvSpPr>
        <p:spPr>
          <a:xfrm>
            <a:off x="9539288" y="53863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/>
          <p:cNvSpPr/>
          <p:nvPr/>
        </p:nvSpPr>
        <p:spPr>
          <a:xfrm>
            <a:off x="10844212" y="11096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/>
          <p:cNvSpPr/>
          <p:nvPr/>
        </p:nvSpPr>
        <p:spPr>
          <a:xfrm>
            <a:off x="12149138" y="36909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/>
          <p:cNvSpPr/>
          <p:nvPr/>
        </p:nvSpPr>
        <p:spPr>
          <a:xfrm>
            <a:off x="1262062" y="62722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/>
          <p:cNvSpPr/>
          <p:nvPr/>
        </p:nvSpPr>
        <p:spPr>
          <a:xfrm>
            <a:off x="2566988" y="19954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/>
          <p:cNvSpPr/>
          <p:nvPr/>
        </p:nvSpPr>
        <p:spPr>
          <a:xfrm>
            <a:off x="3871912" y="4576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/>
          <p:cNvSpPr/>
          <p:nvPr/>
        </p:nvSpPr>
        <p:spPr>
          <a:xfrm>
            <a:off x="5176838" y="3000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/>
          <p:cNvSpPr/>
          <p:nvPr/>
        </p:nvSpPr>
        <p:spPr>
          <a:xfrm>
            <a:off x="6481762" y="28813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/>
          <p:cNvSpPr/>
          <p:nvPr/>
        </p:nvSpPr>
        <p:spPr>
          <a:xfrm>
            <a:off x="7786688" y="54625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/>
          <p:cNvSpPr/>
          <p:nvPr/>
        </p:nvSpPr>
        <p:spPr>
          <a:xfrm>
            <a:off x="9091612" y="11858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/>
          <p:cNvSpPr/>
          <p:nvPr/>
        </p:nvSpPr>
        <p:spPr>
          <a:xfrm>
            <a:off x="10396538" y="37671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/>
          <p:cNvSpPr/>
          <p:nvPr/>
        </p:nvSpPr>
        <p:spPr>
          <a:xfrm>
            <a:off x="11701462" y="63484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Oval 60"/>
          <p:cNvSpPr/>
          <p:nvPr/>
        </p:nvSpPr>
        <p:spPr>
          <a:xfrm>
            <a:off x="814388" y="20716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/>
          <p:cNvSpPr/>
          <p:nvPr/>
        </p:nvSpPr>
        <p:spPr>
          <a:xfrm>
            <a:off x="2119312" y="46529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/>
          <p:cNvSpPr/>
          <p:nvPr/>
        </p:nvSpPr>
        <p:spPr>
          <a:xfrm>
            <a:off x="3424238" y="3762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/>
          <p:cNvSpPr/>
          <p:nvPr/>
        </p:nvSpPr>
        <p:spPr>
          <a:xfrm>
            <a:off x="4729162" y="2957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/>
          <p:cNvSpPr/>
          <p:nvPr/>
        </p:nvSpPr>
        <p:spPr>
          <a:xfrm>
            <a:off x="6034088" y="5538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/>
          <p:cNvSpPr/>
          <p:nvPr/>
        </p:nvSpPr>
        <p:spPr>
          <a:xfrm>
            <a:off x="7339012" y="1262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/>
          <p:cNvSpPr/>
          <p:nvPr/>
        </p:nvSpPr>
        <p:spPr>
          <a:xfrm>
            <a:off x="8643938" y="3843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/>
          <p:cNvSpPr/>
          <p:nvPr/>
        </p:nvSpPr>
        <p:spPr>
          <a:xfrm>
            <a:off x="9948862" y="6424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/>
          <p:cNvSpPr/>
          <p:nvPr/>
        </p:nvSpPr>
        <p:spPr>
          <a:xfrm>
            <a:off x="11253788" y="2147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/>
          <p:cNvSpPr/>
          <p:nvPr/>
        </p:nvSpPr>
        <p:spPr>
          <a:xfrm>
            <a:off x="366712" y="4729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/>
          <p:cNvSpPr/>
          <p:nvPr/>
        </p:nvSpPr>
        <p:spPr>
          <a:xfrm>
            <a:off x="1671638" y="452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/>
          <p:cNvSpPr/>
          <p:nvPr/>
        </p:nvSpPr>
        <p:spPr>
          <a:xfrm>
            <a:off x="2976562" y="3033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/>
          <p:cNvSpPr/>
          <p:nvPr/>
        </p:nvSpPr>
        <p:spPr>
          <a:xfrm>
            <a:off x="4281488" y="5614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/>
          <p:cNvSpPr/>
          <p:nvPr/>
        </p:nvSpPr>
        <p:spPr>
          <a:xfrm>
            <a:off x="5586412" y="1338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/>
          <p:cNvSpPr/>
          <p:nvPr/>
        </p:nvSpPr>
        <p:spPr>
          <a:xfrm>
            <a:off x="6891338" y="3919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/>
          <p:cNvSpPr/>
          <p:nvPr/>
        </p:nvSpPr>
        <p:spPr>
          <a:xfrm>
            <a:off x="8196262" y="6500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/>
          <p:cNvSpPr/>
          <p:nvPr/>
        </p:nvSpPr>
        <p:spPr>
          <a:xfrm>
            <a:off x="9501188" y="2224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Oval 77"/>
          <p:cNvSpPr/>
          <p:nvPr/>
        </p:nvSpPr>
        <p:spPr>
          <a:xfrm>
            <a:off x="10806112" y="4805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Oval 78"/>
          <p:cNvSpPr/>
          <p:nvPr/>
        </p:nvSpPr>
        <p:spPr>
          <a:xfrm>
            <a:off x="12111038" y="528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val 79"/>
          <p:cNvSpPr/>
          <p:nvPr/>
        </p:nvSpPr>
        <p:spPr>
          <a:xfrm>
            <a:off x="1223962" y="3109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val 80"/>
          <p:cNvSpPr/>
          <p:nvPr/>
        </p:nvSpPr>
        <p:spPr>
          <a:xfrm>
            <a:off x="2528888" y="5691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val 81"/>
          <p:cNvSpPr/>
          <p:nvPr/>
        </p:nvSpPr>
        <p:spPr>
          <a:xfrm>
            <a:off x="3833812" y="1414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/>
          <p:cNvSpPr/>
          <p:nvPr/>
        </p:nvSpPr>
        <p:spPr>
          <a:xfrm>
            <a:off x="5138738" y="39957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val 83"/>
          <p:cNvSpPr/>
          <p:nvPr/>
        </p:nvSpPr>
        <p:spPr>
          <a:xfrm>
            <a:off x="6443662" y="65770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/>
          <p:cNvSpPr/>
          <p:nvPr/>
        </p:nvSpPr>
        <p:spPr>
          <a:xfrm>
            <a:off x="7748588" y="23002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9053512" y="48815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10358438" y="6048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11663362" y="31861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/>
          <p:cNvSpPr/>
          <p:nvPr/>
        </p:nvSpPr>
        <p:spPr>
          <a:xfrm>
            <a:off x="776288" y="57673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Oval 89"/>
          <p:cNvSpPr/>
          <p:nvPr/>
        </p:nvSpPr>
        <p:spPr>
          <a:xfrm>
            <a:off x="2081212" y="14906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Oval 90"/>
          <p:cNvSpPr/>
          <p:nvPr/>
        </p:nvSpPr>
        <p:spPr>
          <a:xfrm>
            <a:off x="3386138" y="40719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Oval 91"/>
          <p:cNvSpPr/>
          <p:nvPr/>
        </p:nvSpPr>
        <p:spPr>
          <a:xfrm>
            <a:off x="4691062" y="66532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/>
          <p:cNvSpPr/>
          <p:nvPr/>
        </p:nvSpPr>
        <p:spPr>
          <a:xfrm>
            <a:off x="5995988" y="23764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Oval 93"/>
          <p:cNvSpPr/>
          <p:nvPr/>
        </p:nvSpPr>
        <p:spPr>
          <a:xfrm>
            <a:off x="7300912" y="4957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/>
          <p:cNvSpPr/>
          <p:nvPr/>
        </p:nvSpPr>
        <p:spPr>
          <a:xfrm>
            <a:off x="8605838" y="6810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/>
          <p:cNvSpPr/>
          <p:nvPr/>
        </p:nvSpPr>
        <p:spPr>
          <a:xfrm>
            <a:off x="9910762" y="32623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/>
          <p:cNvSpPr/>
          <p:nvPr/>
        </p:nvSpPr>
        <p:spPr>
          <a:xfrm>
            <a:off x="11215688" y="58435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Oval 97"/>
          <p:cNvSpPr/>
          <p:nvPr/>
        </p:nvSpPr>
        <p:spPr>
          <a:xfrm>
            <a:off x="328612" y="15668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Oval 98"/>
          <p:cNvSpPr/>
          <p:nvPr/>
        </p:nvSpPr>
        <p:spPr>
          <a:xfrm>
            <a:off x="1633538" y="41481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/>
          <p:cNvSpPr/>
          <p:nvPr/>
        </p:nvSpPr>
        <p:spPr>
          <a:xfrm>
            <a:off x="2938462" y="67294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/>
          <p:cNvSpPr/>
          <p:nvPr/>
        </p:nvSpPr>
        <p:spPr>
          <a:xfrm>
            <a:off x="4243388" y="24526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/>
          <p:cNvSpPr/>
          <p:nvPr/>
        </p:nvSpPr>
        <p:spPr>
          <a:xfrm>
            <a:off x="5548312" y="50339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/>
          <p:cNvSpPr/>
          <p:nvPr/>
        </p:nvSpPr>
        <p:spPr>
          <a:xfrm>
            <a:off x="6853238" y="7572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/>
          <p:cNvSpPr/>
          <p:nvPr/>
        </p:nvSpPr>
        <p:spPr>
          <a:xfrm>
            <a:off x="8158162" y="3338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Oval 104"/>
          <p:cNvSpPr/>
          <p:nvPr/>
        </p:nvSpPr>
        <p:spPr>
          <a:xfrm>
            <a:off x="9463088" y="5919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Oval 105"/>
          <p:cNvSpPr/>
          <p:nvPr/>
        </p:nvSpPr>
        <p:spPr>
          <a:xfrm>
            <a:off x="10768012" y="1643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Oval 106"/>
          <p:cNvSpPr/>
          <p:nvPr/>
        </p:nvSpPr>
        <p:spPr>
          <a:xfrm>
            <a:off x="12072938" y="4224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Oval 107"/>
          <p:cNvSpPr/>
          <p:nvPr/>
        </p:nvSpPr>
        <p:spPr>
          <a:xfrm>
            <a:off x="1185862" y="6805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Oval 108"/>
          <p:cNvSpPr/>
          <p:nvPr/>
        </p:nvSpPr>
        <p:spPr>
          <a:xfrm>
            <a:off x="2490788" y="2528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Oval 109"/>
          <p:cNvSpPr/>
          <p:nvPr/>
        </p:nvSpPr>
        <p:spPr>
          <a:xfrm>
            <a:off x="3795712" y="5110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Oval 110"/>
          <p:cNvSpPr/>
          <p:nvPr/>
        </p:nvSpPr>
        <p:spPr>
          <a:xfrm>
            <a:off x="5100638" y="833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Oval 111"/>
          <p:cNvSpPr/>
          <p:nvPr/>
        </p:nvSpPr>
        <p:spPr>
          <a:xfrm>
            <a:off x="6405562" y="3414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Oval 112"/>
          <p:cNvSpPr/>
          <p:nvPr/>
        </p:nvSpPr>
        <p:spPr>
          <a:xfrm>
            <a:off x="7710488" y="5995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Oval 113"/>
          <p:cNvSpPr/>
          <p:nvPr/>
        </p:nvSpPr>
        <p:spPr>
          <a:xfrm>
            <a:off x="9015412" y="1719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Oval 114"/>
          <p:cNvSpPr/>
          <p:nvPr/>
        </p:nvSpPr>
        <p:spPr>
          <a:xfrm>
            <a:off x="10320338" y="4300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Oval 115"/>
          <p:cNvSpPr/>
          <p:nvPr/>
        </p:nvSpPr>
        <p:spPr>
          <a:xfrm>
            <a:off x="11625262" y="23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Oval 116"/>
          <p:cNvSpPr/>
          <p:nvPr/>
        </p:nvSpPr>
        <p:spPr>
          <a:xfrm>
            <a:off x="738188" y="2605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Oval 117"/>
          <p:cNvSpPr/>
          <p:nvPr/>
        </p:nvSpPr>
        <p:spPr>
          <a:xfrm>
            <a:off x="2043112" y="5186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Oval 118"/>
          <p:cNvSpPr/>
          <p:nvPr/>
        </p:nvSpPr>
        <p:spPr>
          <a:xfrm>
            <a:off x="3348038" y="909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Oval 119"/>
          <p:cNvSpPr/>
          <p:nvPr/>
        </p:nvSpPr>
        <p:spPr>
          <a:xfrm>
            <a:off x="4652962" y="3490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Oval 120"/>
          <p:cNvSpPr/>
          <p:nvPr/>
        </p:nvSpPr>
        <p:spPr>
          <a:xfrm>
            <a:off x="5957888" y="6072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Oval 121"/>
          <p:cNvSpPr/>
          <p:nvPr/>
        </p:nvSpPr>
        <p:spPr>
          <a:xfrm>
            <a:off x="7262812" y="1795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/>
          <p:cNvSpPr/>
          <p:nvPr/>
        </p:nvSpPr>
        <p:spPr>
          <a:xfrm>
            <a:off x="8567738" y="43767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Oval 123"/>
          <p:cNvSpPr/>
          <p:nvPr/>
        </p:nvSpPr>
        <p:spPr>
          <a:xfrm>
            <a:off x="9872662" y="1000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/>
          <p:cNvSpPr/>
          <p:nvPr/>
        </p:nvSpPr>
        <p:spPr>
          <a:xfrm>
            <a:off x="11177588" y="26812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Oval 125"/>
          <p:cNvSpPr/>
          <p:nvPr/>
        </p:nvSpPr>
        <p:spPr>
          <a:xfrm>
            <a:off x="290512" y="52625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Oval 126"/>
          <p:cNvSpPr/>
          <p:nvPr/>
        </p:nvSpPr>
        <p:spPr>
          <a:xfrm>
            <a:off x="1595438" y="9858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Oval 127"/>
          <p:cNvSpPr/>
          <p:nvPr/>
        </p:nvSpPr>
        <p:spPr>
          <a:xfrm>
            <a:off x="2900362" y="35671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Oval 128"/>
          <p:cNvSpPr/>
          <p:nvPr/>
        </p:nvSpPr>
        <p:spPr>
          <a:xfrm>
            <a:off x="4205288" y="61483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Oval 129"/>
          <p:cNvSpPr/>
          <p:nvPr/>
        </p:nvSpPr>
        <p:spPr>
          <a:xfrm>
            <a:off x="5510212" y="18716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Oval 130"/>
          <p:cNvSpPr/>
          <p:nvPr/>
        </p:nvSpPr>
        <p:spPr>
          <a:xfrm>
            <a:off x="6815138" y="44529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Oval 131"/>
          <p:cNvSpPr/>
          <p:nvPr/>
        </p:nvSpPr>
        <p:spPr>
          <a:xfrm>
            <a:off x="8120062" y="1762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Oval 132"/>
          <p:cNvSpPr/>
          <p:nvPr/>
        </p:nvSpPr>
        <p:spPr>
          <a:xfrm>
            <a:off x="9424988" y="27574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Oval 133"/>
          <p:cNvSpPr/>
          <p:nvPr/>
        </p:nvSpPr>
        <p:spPr>
          <a:xfrm>
            <a:off x="10729912" y="5338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Oval 134"/>
          <p:cNvSpPr/>
          <p:nvPr/>
        </p:nvSpPr>
        <p:spPr>
          <a:xfrm>
            <a:off x="12034838" y="10620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Oval 135"/>
          <p:cNvSpPr/>
          <p:nvPr/>
        </p:nvSpPr>
        <p:spPr>
          <a:xfrm>
            <a:off x="1147762" y="36433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Oval 136"/>
          <p:cNvSpPr/>
          <p:nvPr/>
        </p:nvSpPr>
        <p:spPr>
          <a:xfrm>
            <a:off x="2452688" y="62245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Oval 137"/>
          <p:cNvSpPr/>
          <p:nvPr/>
        </p:nvSpPr>
        <p:spPr>
          <a:xfrm>
            <a:off x="3757612" y="19478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Oval 138"/>
          <p:cNvSpPr/>
          <p:nvPr/>
        </p:nvSpPr>
        <p:spPr>
          <a:xfrm>
            <a:off x="5062538" y="45291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Oval 139"/>
          <p:cNvSpPr/>
          <p:nvPr/>
        </p:nvSpPr>
        <p:spPr>
          <a:xfrm>
            <a:off x="6367462" y="2524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Oval 140"/>
          <p:cNvSpPr/>
          <p:nvPr/>
        </p:nvSpPr>
        <p:spPr>
          <a:xfrm>
            <a:off x="7672388" y="28336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Oval 141"/>
          <p:cNvSpPr/>
          <p:nvPr/>
        </p:nvSpPr>
        <p:spPr>
          <a:xfrm>
            <a:off x="8977312" y="54149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Oval 142"/>
          <p:cNvSpPr/>
          <p:nvPr/>
        </p:nvSpPr>
        <p:spPr>
          <a:xfrm>
            <a:off x="10282238" y="11382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Oval 143"/>
          <p:cNvSpPr/>
          <p:nvPr/>
        </p:nvSpPr>
        <p:spPr>
          <a:xfrm>
            <a:off x="11587162" y="3719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Oval 144"/>
          <p:cNvSpPr/>
          <p:nvPr/>
        </p:nvSpPr>
        <p:spPr>
          <a:xfrm>
            <a:off x="700088" y="6300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Oval 145"/>
          <p:cNvSpPr/>
          <p:nvPr/>
        </p:nvSpPr>
        <p:spPr>
          <a:xfrm>
            <a:off x="2005012" y="2024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Oval 146"/>
          <p:cNvSpPr/>
          <p:nvPr/>
        </p:nvSpPr>
        <p:spPr>
          <a:xfrm>
            <a:off x="3309938" y="4605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" name="Oval 147"/>
          <p:cNvSpPr/>
          <p:nvPr/>
        </p:nvSpPr>
        <p:spPr>
          <a:xfrm>
            <a:off x="4614862" y="328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Oval 148"/>
          <p:cNvSpPr/>
          <p:nvPr/>
        </p:nvSpPr>
        <p:spPr>
          <a:xfrm>
            <a:off x="5919788" y="2909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Oval 149"/>
          <p:cNvSpPr/>
          <p:nvPr/>
        </p:nvSpPr>
        <p:spPr>
          <a:xfrm>
            <a:off x="7224712" y="5491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Oval 150"/>
          <p:cNvSpPr/>
          <p:nvPr/>
        </p:nvSpPr>
        <p:spPr>
          <a:xfrm>
            <a:off x="8529638" y="1214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Oval 151"/>
          <p:cNvSpPr/>
          <p:nvPr/>
        </p:nvSpPr>
        <p:spPr>
          <a:xfrm>
            <a:off x="9834562" y="3795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Oval 152"/>
          <p:cNvSpPr/>
          <p:nvPr/>
        </p:nvSpPr>
        <p:spPr>
          <a:xfrm>
            <a:off x="11139488" y="6376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Oval 153"/>
          <p:cNvSpPr/>
          <p:nvPr/>
        </p:nvSpPr>
        <p:spPr>
          <a:xfrm>
            <a:off x="252412" y="2100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Oval 154"/>
          <p:cNvSpPr/>
          <p:nvPr/>
        </p:nvSpPr>
        <p:spPr>
          <a:xfrm>
            <a:off x="1557338" y="4681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Oval 155"/>
          <p:cNvSpPr/>
          <p:nvPr/>
        </p:nvSpPr>
        <p:spPr>
          <a:xfrm>
            <a:off x="2862262" y="404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Oval 156"/>
          <p:cNvSpPr/>
          <p:nvPr/>
        </p:nvSpPr>
        <p:spPr>
          <a:xfrm>
            <a:off x="4167188" y="2986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Oval 157"/>
          <p:cNvSpPr/>
          <p:nvPr/>
        </p:nvSpPr>
        <p:spPr>
          <a:xfrm>
            <a:off x="5472112" y="5567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Oval 158"/>
          <p:cNvSpPr/>
          <p:nvPr/>
        </p:nvSpPr>
        <p:spPr>
          <a:xfrm>
            <a:off x="6777038" y="1290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Oval 159"/>
          <p:cNvSpPr/>
          <p:nvPr/>
        </p:nvSpPr>
        <p:spPr>
          <a:xfrm>
            <a:off x="8081962" y="3871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Oval 160"/>
          <p:cNvSpPr/>
          <p:nvPr/>
        </p:nvSpPr>
        <p:spPr>
          <a:xfrm>
            <a:off x="9386888" y="6453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Oval 161"/>
          <p:cNvSpPr/>
          <p:nvPr/>
        </p:nvSpPr>
        <p:spPr>
          <a:xfrm>
            <a:off x="10691812" y="2176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Oval 162"/>
          <p:cNvSpPr/>
          <p:nvPr/>
        </p:nvSpPr>
        <p:spPr>
          <a:xfrm>
            <a:off x="11996738" y="47577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Oval 163"/>
          <p:cNvSpPr/>
          <p:nvPr/>
        </p:nvSpPr>
        <p:spPr>
          <a:xfrm>
            <a:off x="1109662" y="4810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Oval 164"/>
          <p:cNvSpPr/>
          <p:nvPr/>
        </p:nvSpPr>
        <p:spPr>
          <a:xfrm>
            <a:off x="2414588" y="30622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Oval 165"/>
          <p:cNvSpPr/>
          <p:nvPr/>
        </p:nvSpPr>
        <p:spPr>
          <a:xfrm>
            <a:off x="3719512" y="56435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Oval 166"/>
          <p:cNvSpPr/>
          <p:nvPr/>
        </p:nvSpPr>
        <p:spPr>
          <a:xfrm>
            <a:off x="5024438" y="13668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8" name="Oval 167"/>
          <p:cNvSpPr/>
          <p:nvPr/>
        </p:nvSpPr>
        <p:spPr>
          <a:xfrm>
            <a:off x="6329362" y="39481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9" name="Oval 168"/>
          <p:cNvSpPr/>
          <p:nvPr/>
        </p:nvSpPr>
        <p:spPr>
          <a:xfrm>
            <a:off x="7634288" y="65293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Oval 169"/>
          <p:cNvSpPr/>
          <p:nvPr/>
        </p:nvSpPr>
        <p:spPr>
          <a:xfrm>
            <a:off x="8939212" y="22526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1" name="Oval 170"/>
          <p:cNvSpPr/>
          <p:nvPr/>
        </p:nvSpPr>
        <p:spPr>
          <a:xfrm>
            <a:off x="10244138" y="48339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Oval 171"/>
          <p:cNvSpPr/>
          <p:nvPr/>
        </p:nvSpPr>
        <p:spPr>
          <a:xfrm>
            <a:off x="11549062" y="5572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3" name="Oval 172"/>
          <p:cNvSpPr/>
          <p:nvPr/>
        </p:nvSpPr>
        <p:spPr>
          <a:xfrm>
            <a:off x="661988" y="31384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4" name="Oval 173"/>
          <p:cNvSpPr/>
          <p:nvPr/>
        </p:nvSpPr>
        <p:spPr>
          <a:xfrm>
            <a:off x="1966912" y="57197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5" name="Oval 174"/>
          <p:cNvSpPr/>
          <p:nvPr/>
        </p:nvSpPr>
        <p:spPr>
          <a:xfrm>
            <a:off x="3271838" y="14430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6" name="Oval 175"/>
          <p:cNvSpPr/>
          <p:nvPr/>
        </p:nvSpPr>
        <p:spPr>
          <a:xfrm>
            <a:off x="4576762" y="40243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7" name="Oval 176"/>
          <p:cNvSpPr/>
          <p:nvPr/>
        </p:nvSpPr>
        <p:spPr>
          <a:xfrm>
            <a:off x="5881688" y="66055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8" name="Oval 177"/>
          <p:cNvSpPr/>
          <p:nvPr/>
        </p:nvSpPr>
        <p:spPr>
          <a:xfrm>
            <a:off x="7186612" y="23288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Oval 178"/>
          <p:cNvSpPr/>
          <p:nvPr/>
        </p:nvSpPr>
        <p:spPr>
          <a:xfrm>
            <a:off x="8491538" y="49101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0" name="Oval 179"/>
          <p:cNvSpPr/>
          <p:nvPr/>
        </p:nvSpPr>
        <p:spPr>
          <a:xfrm>
            <a:off x="9796462" y="6334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1" name="Oval 180"/>
          <p:cNvSpPr/>
          <p:nvPr/>
        </p:nvSpPr>
        <p:spPr>
          <a:xfrm>
            <a:off x="11101388" y="32146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2" name="Oval 181"/>
          <p:cNvSpPr/>
          <p:nvPr/>
        </p:nvSpPr>
        <p:spPr>
          <a:xfrm>
            <a:off x="214312" y="57959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3" name="Oval 182"/>
          <p:cNvSpPr/>
          <p:nvPr/>
        </p:nvSpPr>
        <p:spPr>
          <a:xfrm>
            <a:off x="1519238" y="15192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4" name="Oval 183"/>
          <p:cNvSpPr/>
          <p:nvPr/>
        </p:nvSpPr>
        <p:spPr>
          <a:xfrm>
            <a:off x="2824162" y="41005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5" name="Oval 184"/>
          <p:cNvSpPr/>
          <p:nvPr/>
        </p:nvSpPr>
        <p:spPr>
          <a:xfrm>
            <a:off x="4129088" y="66817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6" name="Oval 185"/>
          <p:cNvSpPr/>
          <p:nvPr/>
        </p:nvSpPr>
        <p:spPr>
          <a:xfrm>
            <a:off x="5434012" y="24050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7" name="Oval 186"/>
          <p:cNvSpPr/>
          <p:nvPr/>
        </p:nvSpPr>
        <p:spPr>
          <a:xfrm>
            <a:off x="6738938" y="49863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8" name="Oval 187"/>
          <p:cNvSpPr/>
          <p:nvPr/>
        </p:nvSpPr>
        <p:spPr>
          <a:xfrm>
            <a:off x="8043862" y="7096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" name="Oval 188"/>
          <p:cNvSpPr/>
          <p:nvPr/>
        </p:nvSpPr>
        <p:spPr>
          <a:xfrm>
            <a:off x="9348788" y="32908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0" name="Oval 189"/>
          <p:cNvSpPr/>
          <p:nvPr/>
        </p:nvSpPr>
        <p:spPr>
          <a:xfrm>
            <a:off x="10653712" y="58721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1" name="Oval 190"/>
          <p:cNvSpPr/>
          <p:nvPr/>
        </p:nvSpPr>
        <p:spPr>
          <a:xfrm>
            <a:off x="11958638" y="15954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2" name="Oval 191"/>
          <p:cNvSpPr/>
          <p:nvPr/>
        </p:nvSpPr>
        <p:spPr>
          <a:xfrm>
            <a:off x="1071562" y="41767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Oval 192"/>
          <p:cNvSpPr/>
          <p:nvPr/>
        </p:nvSpPr>
        <p:spPr>
          <a:xfrm>
            <a:off x="2376488" y="67579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" name="Oval 193"/>
          <p:cNvSpPr/>
          <p:nvPr/>
        </p:nvSpPr>
        <p:spPr>
          <a:xfrm>
            <a:off x="3681412" y="24812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5" name="Oval 194"/>
          <p:cNvSpPr/>
          <p:nvPr/>
        </p:nvSpPr>
        <p:spPr>
          <a:xfrm>
            <a:off x="4986338" y="50625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6" name="Oval 195"/>
          <p:cNvSpPr/>
          <p:nvPr/>
        </p:nvSpPr>
        <p:spPr>
          <a:xfrm>
            <a:off x="6291262" y="7858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Oval 196"/>
          <p:cNvSpPr/>
          <p:nvPr/>
        </p:nvSpPr>
        <p:spPr>
          <a:xfrm>
            <a:off x="7596188" y="33670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8" name="Oval 197"/>
          <p:cNvSpPr/>
          <p:nvPr/>
        </p:nvSpPr>
        <p:spPr>
          <a:xfrm>
            <a:off x="8901112" y="59483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9" name="Oval 198"/>
          <p:cNvSpPr/>
          <p:nvPr/>
        </p:nvSpPr>
        <p:spPr>
          <a:xfrm>
            <a:off x="10206038" y="167163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0" name="Oval 199"/>
          <p:cNvSpPr/>
          <p:nvPr/>
        </p:nvSpPr>
        <p:spPr>
          <a:xfrm>
            <a:off x="11510962" y="425291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1" name="Oval 200"/>
          <p:cNvSpPr/>
          <p:nvPr/>
        </p:nvSpPr>
        <p:spPr>
          <a:xfrm>
            <a:off x="623888" y="6834188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Oval 201"/>
          <p:cNvSpPr/>
          <p:nvPr/>
        </p:nvSpPr>
        <p:spPr>
          <a:xfrm>
            <a:off x="1928812" y="2557462"/>
            <a:ext cx="9525" cy="9525"/>
          </a:xfrm>
          <a:prstGeom prst="ellipse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3" name="Picture 202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0450" y="1619250"/>
            <a:ext cx="2667000" cy="3048000"/>
          </a:xfrm>
          <a:prstGeom prst="rect">
            <a:avLst/>
          </a:prstGeom>
        </p:spPr>
      </p:pic>
      <p:sp>
        <p:nvSpPr>
          <p:cNvPr id="204" name="TextBox 203"/>
          <p:cNvSpPr txBox="1"/>
          <p:nvPr/>
        </p:nvSpPr>
        <p:spPr>
          <a:xfrm>
            <a:off x="609600" y="304800"/>
            <a:ext cx="20288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EFE9DC"/>
                </a:solidFill>
                <a:latin typeface="Consolas"/>
              </a:rPr>
              <a:t>Plate VIII · Asymmetry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0431363" y="304800"/>
            <a:ext cx="115103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EFE9DC"/>
                </a:solidFill>
                <a:latin typeface="Consolas"/>
              </a:rPr>
              <a:t>Vol III · 2026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609600" y="4511278"/>
            <a:ext cx="4724400" cy="1432322"/>
          </a:xfrm>
          <a:prstGeom prst="rect">
            <a:avLst/>
          </a:prstGeom>
          <a:solidFill>
            <a:srgbClr val="0F1311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TextBox 206"/>
          <p:cNvSpPr txBox="1"/>
          <p:nvPr/>
        </p:nvSpPr>
        <p:spPr>
          <a:xfrm>
            <a:off x="895350" y="4739878"/>
            <a:ext cx="4171950" cy="56554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EFE9DC"/>
                </a:solidFill>
                <a:latin typeface="Spectral"/>
              </a:rPr>
              <a:t xml:space="preserve">Where the eye chooses to rest is
          where the page chooses to live.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895350" y="5600700"/>
            <a:ext cx="41719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C7C0AE"/>
                </a:solidFill>
                <a:latin typeface="Consolas"/>
              </a:rPr>
              <a:t>Plate VIII — fragment of a working desk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5887045" y="6438900"/>
            <a:ext cx="16695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Asymmetry —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08 / 12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0288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05 · Asymmetry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38250"/>
            <a:ext cx="5085159" cy="4191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0" i="0" u="none">
                <a:solidFill>
                  <a:srgbClr val="1F2924"/>
                </a:solidFill>
                <a:latin typeface="Spectral"/>
              </a:rPr>
              <a:t>A working method, in six small acts.</a:t>
            </a:r>
          </a:p>
        </p:txBody>
      </p:sp>
      <p:sp>
        <p:nvSpPr>
          <p:cNvPr id="6" name="Oval 5"/>
          <p:cNvSpPr/>
          <p:nvPr/>
        </p:nvSpPr>
        <p:spPr>
          <a:xfrm>
            <a:off x="609600" y="2190750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/>
          <p:cNvSpPr/>
          <p:nvPr/>
        </p:nvSpPr>
        <p:spPr>
          <a:xfrm>
            <a:off x="853281" y="2403184"/>
            <a:ext cx="153397" cy="153484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86745" y="61544"/>
                </a:moveTo>
                <a:cubicBezTo>
                  <a:pt x="100000" y="48297"/>
                  <a:pt x="100000" y="26495"/>
                  <a:pt x="86745" y="13247"/>
                </a:cubicBezTo>
                <a:cubicBezTo>
                  <a:pt x="73490" y="0"/>
                  <a:pt x="51676" y="0"/>
                  <a:pt x="38421" y="13247"/>
                </a:cubicBezTo>
                <a:lnTo>
                  <a:pt x="0" y="51646"/>
                </a:lnTo>
                <a:lnTo>
                  <a:pt x="0" y="100000"/>
                </a:lnTo>
                <a:lnTo>
                  <a:pt x="48381" y="100000"/>
                </a:lnTo>
                <a:close/>
              </a:path>
            </a:pathLst>
          </a:cu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Connector 7"/>
          <p:cNvCxnSpPr/>
          <p:nvPr/>
        </p:nvCxnSpPr>
        <p:spPr>
          <a:xfrm flipH="1">
            <a:off x="827088" y="2460625"/>
            <a:ext cx="122237" cy="122237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888206" y="2521744"/>
            <a:ext cx="74216" cy="0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81025" y="2085975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0650" y="2247900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Spectral"/>
              </a:rPr>
              <a:t>Begin generously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0650" y="2552700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Inter Tight"/>
              </a:rPr>
              <a:t>Write the loud first draft. Do not edit while writing.</a:t>
            </a:r>
          </a:p>
        </p:txBody>
      </p:sp>
      <p:sp>
        <p:nvSpPr>
          <p:cNvPr id="13" name="Oval 12"/>
          <p:cNvSpPr/>
          <p:nvPr/>
        </p:nvSpPr>
        <p:spPr>
          <a:xfrm>
            <a:off x="4419600" y="2190750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4637088" y="2434431"/>
            <a:ext cx="174625" cy="122237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0" y="50000"/>
                  <a:pt x="15000" y="0"/>
                  <a:pt x="50000" y="0"/>
                </a:cubicBezTo>
                <a:cubicBezTo>
                  <a:pt x="85000" y="0"/>
                  <a:pt x="100000" y="50000"/>
                  <a:pt x="100000" y="50000"/>
                </a:cubicBezTo>
                <a:cubicBezTo>
                  <a:pt x="100000" y="50000"/>
                  <a:pt x="85000" y="100000"/>
                  <a:pt x="50000" y="100000"/>
                </a:cubicBezTo>
                <a:cubicBezTo>
                  <a:pt x="15000" y="100000"/>
                  <a:pt x="0" y="50000"/>
                  <a:pt x="0" y="50000"/>
                </a:cubicBezTo>
                <a:close/>
              </a:path>
            </a:pathLst>
          </a:cu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4695825" y="2466975"/>
            <a:ext cx="57150" cy="57150"/>
          </a:xfrm>
          <a:prstGeom prst="ellipse">
            <a:avLst/>
          </a:pr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391025" y="2085975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00650" y="2247900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Spectral"/>
              </a:rPr>
              <a:t>Read it slowly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0650" y="2552700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Inter Tight"/>
              </a:rPr>
              <a:t>A page reread is a page rewritten in your head.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0" y="2190750"/>
            <a:ext cx="583257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8440192" y="2414588"/>
            <a:ext cx="57150" cy="57150"/>
          </a:xfrm>
          <a:prstGeom prst="ellipse">
            <a:avLst/>
          </a:pr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8440192" y="2519362"/>
            <a:ext cx="57150" cy="57150"/>
          </a:xfrm>
          <a:prstGeom prst="ellipse">
            <a:avLst/>
          </a:pr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Connector 21"/>
          <p:cNvCxnSpPr/>
          <p:nvPr/>
        </p:nvCxnSpPr>
        <p:spPr>
          <a:xfrm flipH="1">
            <a:off x="8487277" y="2425700"/>
            <a:ext cx="103727" cy="103727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542720" y="2517204"/>
            <a:ext cx="48284" cy="48196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487277" y="2461673"/>
            <a:ext cx="33877" cy="33877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201025" y="2085975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84307" y="2247900"/>
            <a:ext cx="2598093" cy="4953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Spectral"/>
              </a:rPr>
              <a:t>Cut what is true but unnecessary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4307" y="2800350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Inter Tight"/>
              </a:rPr>
              <a:t>The hardest line to remove is the one you wrote well.</a:t>
            </a:r>
          </a:p>
        </p:txBody>
      </p:sp>
      <p:sp>
        <p:nvSpPr>
          <p:cNvPr id="28" name="Oval 27"/>
          <p:cNvSpPr/>
          <p:nvPr/>
        </p:nvSpPr>
        <p:spPr>
          <a:xfrm>
            <a:off x="609600" y="3526929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" name="Connector 28"/>
          <p:cNvCxnSpPr/>
          <p:nvPr/>
        </p:nvCxnSpPr>
        <p:spPr>
          <a:xfrm>
            <a:off x="853281" y="3831729"/>
            <a:ext cx="122238" cy="0"/>
          </a:xfrm>
          <a:prstGeom prst="line">
            <a:avLst/>
          </a:prstGeom>
          <a:ln w="15240">
            <a:solidFill>
              <a:srgbClr val="1F2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81025" y="3422154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90650" y="3584079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Spectral"/>
              </a:rPr>
              <a:t>Subtract the support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90650" y="3888879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Inter Tight"/>
              </a:rPr>
              <a:t>Decoration is the first to go. Hierarchy survives without it.</a:t>
            </a:r>
          </a:p>
        </p:txBody>
      </p:sp>
      <p:sp>
        <p:nvSpPr>
          <p:cNvPr id="33" name="Oval 32"/>
          <p:cNvSpPr/>
          <p:nvPr/>
        </p:nvSpPr>
        <p:spPr>
          <a:xfrm>
            <a:off x="4419600" y="3526929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4629150" y="3736479"/>
            <a:ext cx="190500" cy="190500"/>
          </a:xfrm>
          <a:prstGeom prst="ellipse">
            <a:avLst/>
          </a:pr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/>
          <p:cNvSpPr/>
          <p:nvPr/>
        </p:nvSpPr>
        <p:spPr>
          <a:xfrm>
            <a:off x="4687380" y="3794708"/>
            <a:ext cx="74040" cy="74041"/>
          </a:xfrm>
          <a:custGeom>
            <a:avLst/>
            <a:gdLst/>
            <a:ahLst/>
            <a:cxnLst/>
            <a:rect l="l" t="t" r="r" b="b"/>
            <a:pathLst>
              <a:path w="74040" h="74041">
                <a:moveTo>
                  <a:pt x="74040" y="0"/>
                </a:moveTo>
                <a:lnTo>
                  <a:pt x="55530" y="55531"/>
                </a:lnTo>
                <a:lnTo>
                  <a:pt x="0" y="74041"/>
                </a:lnTo>
                <a:lnTo>
                  <a:pt x="18510" y="18511"/>
                </a:lnTo>
                <a:lnTo>
                  <a:pt x="74040" y="0"/>
                </a:lnTo>
                <a:close/>
              </a:path>
            </a:pathLst>
          </a:cu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4391025" y="3422154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00650" y="3584079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Spectral"/>
              </a:rPr>
              <a:t>Re-anchor the argument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00650" y="3888879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Inter Tight"/>
              </a:rPr>
              <a:t>What is the page about? Move that to the centre.</a:t>
            </a:r>
          </a:p>
        </p:txBody>
      </p:sp>
      <p:sp>
        <p:nvSpPr>
          <p:cNvPr id="39" name="Oval 38"/>
          <p:cNvSpPr/>
          <p:nvPr/>
        </p:nvSpPr>
        <p:spPr>
          <a:xfrm>
            <a:off x="8229600" y="3526929"/>
            <a:ext cx="609600" cy="609600"/>
          </a:xfrm>
          <a:prstGeom prst="ellipse">
            <a:avLst/>
          </a:prstGeom>
          <a:solidFill>
            <a:srgbClr val="E6DFD0"/>
          </a:solidFill>
          <a:ln w="9525">
            <a:solidFill>
              <a:srgbClr val="B05A3C"/>
            </a:solidFill>
          </a:ln>
          <a:effectLst>
            <a:outerShdw blurRad="9525" dist="9525" dir="5400000" algn="ctr" rotWithShape="0">
              <a:srgbClr val="0F1311">
                <a:alpha val="18000"/>
              </a:srgbClr>
            </a:outerShdw>
            <a:outerShdw blurRad="228600" dist="76200" dir="5400000" algn="ctr" rotWithShape="0">
              <a:srgbClr val="0F1311">
                <a:alpha val="6000"/>
              </a:srgbClr>
            </a:outerShdw>
            <a:innerShdw blurRad="0" dist="9525" dir="16200000">
              <a:srgbClr val="B05A3C">
                <a:alpha val="18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 39"/>
          <p:cNvSpPr/>
          <p:nvPr/>
        </p:nvSpPr>
        <p:spPr>
          <a:xfrm>
            <a:off x="8464550" y="3779341"/>
            <a:ext cx="139700" cy="96044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31250" y="100000"/>
                </a:lnTo>
                <a:lnTo>
                  <a:pt x="0" y="54545"/>
                </a:lnTo>
              </a:path>
            </a:pathLst>
          </a:custGeom>
          <a:noFill/>
          <a:ln w="15240">
            <a:solidFill>
              <a:srgbClr val="1F29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8201025" y="3422154"/>
            <a:ext cx="263426" cy="104775"/>
          </a:xfrm>
          <a:prstGeom prst="rect">
            <a:avLst/>
          </a:prstGeom>
          <a:solidFill>
            <a:srgbClr val="EFE9DC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10650" y="3584079"/>
            <a:ext cx="2286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0" i="0" u="none">
                <a:solidFill>
                  <a:srgbClr val="1F2924"/>
                </a:solidFill>
                <a:latin typeface="Spectral"/>
              </a:rPr>
              <a:t>Stop early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10650" y="3888879"/>
            <a:ext cx="2286000" cy="3836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D3833"/>
                </a:solidFill>
                <a:latin typeface="Inter Tight"/>
              </a:rPr>
              <a:t>The last cut should leave the page slightly underdressed.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87045" y="6438900"/>
            <a:ext cx="16695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Asymmetry 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09 / 12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184442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Chapter 06 · Silence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08723" y="1249710"/>
            <a:ext cx="357455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8978"/>
                </a:solidFill>
                <a:latin typeface="Consolas"/>
              </a:rPr>
              <a:t>Drift, after twelve months of editing</a:t>
            </a:r>
          </a:p>
        </p:txBody>
      </p:sp>
      <p:pic>
        <p:nvPicPr>
          <p:cNvPr id="6" name="Picture 5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0" y="1602135"/>
            <a:ext cx="6477000" cy="2667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638800" y="4573935"/>
            <a:ext cx="914400" cy="9525"/>
          </a:xfrm>
          <a:prstGeom prst="rect">
            <a:avLst/>
          </a:prstGeom>
          <a:solidFill>
            <a:srgbClr val="B05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3429000" y="4812060"/>
            <a:ext cx="5334000" cy="5866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0" i="0" u="none">
                <a:solidFill>
                  <a:srgbClr val="2D3833"/>
                </a:solidFill>
                <a:latin typeface="Spectral"/>
              </a:rPr>
              <a:t xml:space="preserve">The conversion drift across one thousand
          two hundred eighty-four decks.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51190" y="6438900"/>
            <a:ext cx="154111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Silence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10 / 12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914400"/>
            <a:ext cx="230549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Colophon — by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38250"/>
            <a:ext cx="3603278" cy="4191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0" i="0" u="none">
                <a:solidFill>
                  <a:srgbClr val="1F2924"/>
                </a:solidFill>
                <a:latin typeface="Spectral"/>
              </a:rPr>
              <a:t>The volume in six figures.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981200"/>
            <a:ext cx="10972800" cy="27622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2066925"/>
            <a:ext cx="69723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measure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1900" y="2066925"/>
            <a:ext cx="19050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86900" y="2066925"/>
            <a:ext cx="20955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delta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257425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09600" y="2505075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Atoms shipped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1900" y="2390775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155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86900" y="2524125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+94 vs Vol II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2819400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09600" y="3067050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Native area, median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1900" y="2952750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87 %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86900" y="3086100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+29 pp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3381375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609600" y="3629025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Drift, escape 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1900" y="3514725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0.12 %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86900" y="3648075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−2.1 pp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3943350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609600" y="4191000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Decks compiled, q1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1900" y="4076700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1,284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86900" y="4210050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+18 %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4505325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609600" y="4752975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Median compile, per slide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1900" y="4638675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280 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86900" y="4772025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−40 ms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600" y="5067300"/>
            <a:ext cx="10972800" cy="5619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609600" y="5314950"/>
            <a:ext cx="6972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2D3833"/>
                </a:solidFill>
                <a:latin typeface="Consolas"/>
              </a:rPr>
              <a:t>Issue size, this volume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1900" y="5200650"/>
            <a:ext cx="1905000" cy="2857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1950" b="0" i="0" u="none">
                <a:solidFill>
                  <a:srgbClr val="1F2924"/>
                </a:solidFill>
                <a:latin typeface="Consolas"/>
              </a:rPr>
              <a:t>12 frames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86900" y="5334000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B05A3C"/>
                </a:solidFill>
                <a:latin typeface="Consolas"/>
              </a:rPr>
              <a:t>of twelve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19043" y="6438900"/>
            <a:ext cx="160540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Colophon 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11 / 12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FE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431363" y="304800"/>
            <a:ext cx="11510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Vol III · 2026</a:t>
            </a:r>
          </a:p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·</a:t>
            </a:r>
            <a:r>
              <a:rPr sz="800" b="0" i="0" u="none">
                <a:solidFill>
                  <a:srgbClr val="7A8978"/>
                </a:solidFill>
                <a:latin typeface="Consolas"/>
              </a:rPr>
              <a:t xml:space="preserve">  </a:t>
            </a:r>
            <a:r>
              <a:rPr sz="800" b="0" i="1" u="none">
                <a:solidFill>
                  <a:srgbClr val="7A8978"/>
                </a:solidFill>
                <a:latin typeface="Consolas"/>
              </a:rPr>
              <a:t xml:space="preserve"> an essay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87119" y="1849785"/>
            <a:ext cx="1617762" cy="19050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0" i="0" u="none">
                <a:solidFill>
                  <a:srgbClr val="B05A3C"/>
                </a:solidFill>
                <a:latin typeface="Spectral"/>
              </a:rP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2851" y="4231035"/>
            <a:ext cx="2286149" cy="53146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0" i="1" u="none">
                <a:solidFill>
                  <a:srgbClr val="2D3833"/>
                </a:solidFill>
                <a:latin typeface="Spectral"/>
              </a:rPr>
              <a:t xml:space="preserve">
          The last cut is the page that</a:t>
            </a:r>
          </a:p>
          <a:p>
            <a:pPr algn="ctr"/>
            <a:r>
              <a:rPr sz="1650" b="0" i="1" u="none">
                <a:solidFill>
                  <a:srgbClr val="2D3833"/>
                </a:solidFill>
                <a:latin typeface="Spectral"/>
              </a:rPr>
              <a:t xml:space="preserve">says only what it must.
      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5586115"/>
            <a:ext cx="2815828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5756077"/>
            <a:ext cx="2815828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Vol. III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5926038"/>
            <a:ext cx="2815828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B05A3C"/>
                </a:solidFill>
                <a:latin typeface="Consolas"/>
              </a:rPr>
              <a:t>— set in spectral, inter, jet brains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9784" y="5586115"/>
            <a:ext cx="1642616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Compiled with slidify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39784" y="5756077"/>
            <a:ext cx="1642616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7A8978"/>
                </a:solidFill>
                <a:latin typeface="Consolas"/>
              </a:rPr>
              <a:t>pixelpitch.dev/atlas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39784" y="5926038"/>
            <a:ext cx="1642616" cy="1699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0" i="0" u="none">
                <a:solidFill>
                  <a:srgbClr val="B05A3C"/>
                </a:solidFill>
                <a:latin typeface="Consolas"/>
              </a:rPr>
              <a:t>— end of volume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6438900"/>
            <a:ext cx="17990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Studio Atlas · Vol. 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47482" y="6438900"/>
            <a:ext cx="134853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2D3833"/>
                </a:solidFill>
                <a:latin typeface="Consolas"/>
              </a:rPr>
              <a:t>— On editing — Fin. 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34861" y="6438900"/>
            <a:ext cx="5475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8978"/>
                </a:solidFill>
                <a:latin typeface="Consolas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1F2924"/>
      </a:accent1>
      <a:accent2>
        <a:srgbClr val="F5F5F7"/>
      </a:accent2>
      <a:accent3>
        <a:srgbClr val="111111"/>
      </a:accent3>
      <a:accent4>
        <a:srgbClr val="52525B"/>
      </a:accent4>
      <a:accent5>
        <a:srgbClr val="7A8978"/>
      </a:accent5>
      <a:accent6>
        <a:srgbClr val="D4D4D8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