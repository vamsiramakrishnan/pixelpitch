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  <p:italic r:id="rIdSlidifyFont2"/>
    </p:embeddedFont>
    <p:embeddedFont>
      <p:font typeface="Spectral" panose="020B0604020202020204" charset="0"/>
      <p:regular r:id="rIdSlidifyFont3"/>
      <p:bold r:id="rIdSlidifyFont4"/>
      <p:italic r:id="rIdSlidifyFont5"/>
    </p:embeddedFont>
    <p:embeddedFont>
      <p:font typeface="Inter Tight" panose="020B0604020202020204" charset="0"/>
      <p:regular r:id="rIdSlidifyFont6"/>
      <p:bold r:id="rIdSlidifyFont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Relationship Id="rIdSlidifyFont6" Type="http://schemas.openxmlformats.org/officeDocument/2006/relationships/font" Target="fonts/font6.fntdata"/><Relationship Id="rIdSlidifyFont7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F2924">
                  <a:alpha val="10000"/>
                </a:srgbClr>
              </a:gs>
              <a:gs pos="35000">
                <a:srgbClr val="1F2924">
                  <a:alpha val="4000"/>
                </a:srgbClr>
              </a:gs>
              <a:gs pos="65000">
                <a:srgbClr val="1F2924">
                  <a:alpha val="0"/>
                </a:srgbClr>
              </a:gs>
              <a:gs pos="100000">
                <a:srgbClr val="1F2924">
                  <a:alpha val="0"/>
                </a:srgbClr>
              </a:gs>
            </a:gsLst>
            <a:path path="circle">
              <a:fillToRect l="0" t="0" r="100000" b="10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953500" y="1143000"/>
            <a:ext cx="36195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68129"/>
            <a:ext cx="9142958" cy="19658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0" i="0" u="none">
                <a:solidFill>
                  <a:srgbClr val="1F2924"/>
                </a:solidFill>
                <a:latin typeface="Spectral"/>
              </a:rPr>
              <a:t>On editing</a:t>
            </a:r>
          </a:p>
        </p:txBody>
      </p:sp>
      <p:pic>
        <p:nvPicPr>
          <p:cNvPr id="6" name="Picture 5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058" y="3905250"/>
            <a:ext cx="1905000" cy="190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819775"/>
            <a:ext cx="215339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8978"/>
                </a:solidFill>
                <a:latin typeface="Consolas"/>
              </a:rPr>
              <a:t>an essay in twelve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2212" y="6438900"/>
            <a:ext cx="89907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19280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05A3C"/>
                </a:solidFill>
                <a:latin typeface="Inter Tight"/>
              </a:rPr>
              <a:t>Index — six chapters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409700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1695450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1543050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Spectral"/>
              </a:rPr>
              <a:t>Removing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021086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9600" y="2306836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2154436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Spectral"/>
              </a:rPr>
              <a:t>Subtraction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632472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2918222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2765822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Spectral"/>
              </a:rPr>
              <a:t>Restraint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243858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9600" y="3529608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377208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Spectral"/>
              </a:rPr>
              <a:t>The discipline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855244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09600" y="4140994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3988594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Spectral"/>
              </a:rPr>
              <a:t>Asymmetry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466630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09600" y="4752380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4599980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Spectral"/>
              </a:rPr>
              <a:t>Silence</a:t>
            </a:r>
          </a:p>
        </p:txBody>
      </p:sp>
      <p:sp>
        <p:nvSpPr>
          <p:cNvPr id="23" name="Oval 22"/>
          <p:cNvSpPr/>
          <p:nvPr/>
        </p:nvSpPr>
        <p:spPr>
          <a:xfrm>
            <a:off x="7086600" y="952500"/>
            <a:ext cx="2019300" cy="2019300"/>
          </a:xfrm>
          <a:prstGeom prst="ellipse">
            <a:avLst/>
          </a:prstGeom>
          <a:noFill/>
          <a:ln w="7144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486650" y="1352550"/>
            <a:ext cx="1219200" cy="1219200"/>
          </a:xfrm>
          <a:prstGeom prst="ellipse">
            <a:avLst/>
          </a:prstGeom>
          <a:noFill/>
          <a:ln w="9525">
            <a:solidFill>
              <a:srgbClr val="B0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058150" y="1924050"/>
            <a:ext cx="76200" cy="76200"/>
          </a:xfrm>
          <a:prstGeom prst="ellipse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048500" y="845820"/>
            <a:ext cx="3536156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2D3833"/>
                </a:solidFill>
                <a:latin typeface="Consolas"/>
              </a:rPr>
              <a:t>STUDIO ATLAS • VOL III • ON EDITING • STUDIO ATLAS • VOL III • ON EDITING 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911" y="1872615"/>
            <a:ext cx="848678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1F2924"/>
                </a:solidFill>
                <a:latin typeface="Spectral"/>
              </a:rPr>
              <a:t>vol · iii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0" y="3352800"/>
            <a:ext cx="4533900" cy="66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 i="0" u="none">
                <a:solidFill>
                  <a:srgbClr val="2D3833"/>
                </a:solidFill>
                <a:latin typeface="Spectral"/>
              </a:rPr>
              <a:t xml:space="preserve">Six chapters on the discipline that
          separates craft from competence — the
          art of taking away.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8500" y="4244280"/>
            <a:ext cx="6096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048500" y="4387155"/>
            <a:ext cx="4533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Read time · 12 minutes · unhurried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212" y="6438900"/>
            <a:ext cx="89907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193655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01 · Removing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33500"/>
            <a:ext cx="11658600" cy="240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992737"/>
            <a:ext cx="914400" cy="95086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9600" b="0" i="0" u="none">
                <a:solidFill>
                  <a:srgbClr val="B05A3C"/>
                </a:solidFill>
                <a:latin typeface="Spectral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1312"/>
            <a:ext cx="4711750" cy="608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7" b="0" i="0" u="none">
                <a:solidFill>
                  <a:srgbClr val="2D3833"/>
                </a:solidFill>
                <a:latin typeface="Inter Tight"/>
              </a:rPr>
              <a:t xml:space="preserve">
          o edit is the most quietly difficult act in any craft.
          The first draft is loud, generous, eager to be liked. The
          second is the cost of taste.
          </a:t>
            </a:r>
            <a:r>
              <a:rPr sz="1087" b="0" i="0" u="none">
                <a:solidFill>
                  <a:srgbClr val="7A8978"/>
                </a:solidFill>
                <a:latin typeface="Inter Tight"/>
              </a:rPr>
              <a:t xml:space="preserve">A page that says less,
          says more.</a:t>
            </a:r>
            <a:r>
              <a:rPr sz="1087" b="0" i="0" u="none">
                <a:solidFill>
                  <a:srgbClr val="2D3833"/>
                </a:solidFill>
                <a:latin typeface="Inter Tight"/>
              </a:rPr>
              <a:t xml:space="preserve">
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992737"/>
            <a:ext cx="4724400" cy="683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7" b="0" i="0" u="none">
                <a:solidFill>
                  <a:srgbClr val="2D3833"/>
                </a:solidFill>
                <a:latin typeface="Inter Tight"/>
              </a:rPr>
              <a:t xml:space="preserve">The disciplines that hold their composure under reduction
          — typography, music, architecture — are the ones
          we still recognise as art a generation later. Slide design
          asks the same question, often without knowing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9043" y="6438900"/>
            <a:ext cx="160540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Removing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286000" y="2095500"/>
            <a:ext cx="7239000" cy="3619500"/>
          </a:xfrm>
          <a:prstGeom prst="roundRect">
            <a:avLst/>
          </a:prstGeom>
          <a:solidFill>
            <a:srgbClr val="0F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194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6235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053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04825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912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53415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2771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02005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7630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8194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56235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3053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04825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7912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53415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2771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802005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87630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8194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56235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3053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04825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7912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53415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72771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02005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87630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2667000" y="2286000"/>
            <a:ext cx="6477000" cy="285750"/>
          </a:xfrm>
          <a:prstGeom prst="roundRect">
            <a:avLst/>
          </a:prstGeom>
          <a:solidFill>
            <a:srgbClr val="C7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762500" y="-381000"/>
            <a:ext cx="2286000" cy="304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953000" y="1143000"/>
            <a:ext cx="161925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1333500"/>
            <a:ext cx="1333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953000" y="1524000"/>
            <a:ext cx="180975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953000" y="1714500"/>
            <a:ext cx="104775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8382000" y="4000500"/>
            <a:ext cx="4286250" cy="2857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889" y="20000"/>
                </a:moveTo>
                <a:cubicBezTo>
                  <a:pt x="22222" y="6667"/>
                  <a:pt x="44444" y="0"/>
                  <a:pt x="66667" y="13333"/>
                </a:cubicBezTo>
                <a:cubicBezTo>
                  <a:pt x="88889" y="30000"/>
                  <a:pt x="100000" y="60000"/>
                  <a:pt x="88889" y="100000"/>
                </a:cubicBezTo>
                <a:lnTo>
                  <a:pt x="0" y="100000"/>
                </a:lnTo>
                <a:cubicBezTo>
                  <a:pt x="0" y="66667"/>
                  <a:pt x="0" y="33333"/>
                  <a:pt x="8889" y="20000"/>
                </a:cubicBez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525000" y="4572000"/>
            <a:ext cx="1524000" cy="381000"/>
          </a:xfrm>
          <a:prstGeom prst="ellipse">
            <a:avLst/>
          </a:prstGeom>
          <a:solidFill>
            <a:srgbClr val="C7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-5715" y="-571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299210" y="25755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604135" y="51568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909060" y="8801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213985" y="34613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6518910" y="60426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823835" y="17659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128760" y="43472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0433685" y="704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1738610" y="26517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851535" y="52330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156460" y="9563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3461385" y="35375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4766310" y="61188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6071235" y="18421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376160" y="44234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681085" y="1466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9986010" y="27279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1290935" y="53092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403860" y="10325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708785" y="36137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013710" y="61950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4318635" y="19183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623560" y="44996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6928485" y="2228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233410" y="28041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538335" y="53854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0843260" y="11087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12148185" y="36899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1261110" y="62712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2566035" y="19945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3870960" y="45758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5175885" y="2990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6480810" y="28803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7785735" y="54616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9090660" y="11849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0395585" y="37661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11700510" y="63474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813435" y="20707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2118360" y="46520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3423285" y="3752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4728210" y="29565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033135" y="55378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338060" y="12611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642985" y="38423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9947910" y="64236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11252835" y="21469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365760" y="47282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1670685" y="4514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2975610" y="30327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280535" y="56140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5585460" y="13373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6890385" y="39185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8195310" y="64998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9500235" y="22231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10805160" y="48044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12110085" y="5276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1223010" y="31089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2527935" y="56902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3832860" y="14135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5137785" y="39947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6442710" y="65760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7747635" y="22993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9052560" y="48806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10357485" y="6038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1662410" y="31851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775335" y="57664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080260" y="14897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3385185" y="40709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4690110" y="66522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5995035" y="23755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7299960" y="49568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8604885" y="6800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9909810" y="32613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11214735" y="58426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327660" y="15659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1632585" y="41471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2937510" y="67284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4242435" y="24517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547360" y="50330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6852285" y="7562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8157210" y="33375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9462135" y="59188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10767060" y="16421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12071985" y="42233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1184910" y="68046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2489835" y="25279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3794760" y="51092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099685" y="8324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6404610" y="34137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7709535" y="59950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9014460" y="17183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10319385" y="42995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11624310" y="228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737235" y="26041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2042160" y="51854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3347085" y="9086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4652010" y="34899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5956935" y="60712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7261860" y="17945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8566785" y="43757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9871710" y="990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11176635" y="26803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289560" y="52616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1594485" y="9848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2899410" y="35661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4204335" y="61474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5509260" y="18707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6814185" y="44519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8119110" y="1752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9424035" y="27565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10728960" y="53378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12033885" y="10610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1146810" y="36423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2451735" y="62236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3756660" y="19469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5061585" y="45281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6366510" y="2514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7671435" y="28327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8976360" y="54140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609600" y="304800"/>
            <a:ext cx="17521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EFE9DC"/>
                </a:solidFill>
                <a:latin typeface="Consolas"/>
              </a:rPr>
              <a:t>Plate IV · Removing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431363" y="304800"/>
            <a:ext cx="115103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EFE9DC"/>
                </a:solidFill>
                <a:latin typeface="Consolas"/>
              </a:rPr>
              <a:t>Vol III · 2026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09600" y="4511278"/>
            <a:ext cx="6248400" cy="1432322"/>
          </a:xfrm>
          <a:prstGeom prst="rect">
            <a:avLst/>
          </a:prstGeom>
          <a:solidFill>
            <a:srgbClr val="EFE9DC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/>
          <p:cNvSpPr txBox="1"/>
          <p:nvPr/>
        </p:nvSpPr>
        <p:spPr>
          <a:xfrm>
            <a:off x="895350" y="4739878"/>
            <a:ext cx="5695950" cy="56554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Spectral"/>
              </a:rPr>
              <a:t xml:space="preserve">The keyboard once required us to commit —
          a struck letter could not be unseen.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95350" y="5476875"/>
            <a:ext cx="457200" cy="95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/>
          <p:cNvSpPr txBox="1"/>
          <p:nvPr/>
        </p:nvSpPr>
        <p:spPr>
          <a:xfrm>
            <a:off x="895350" y="5600700"/>
            <a:ext cx="56959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plate IV · photographed in sage &amp; clay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822752" y="6438900"/>
            <a:ext cx="17979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Subtraction —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2132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02 · Subtraction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5143500" cy="742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0" i="0" u="none">
                <a:solidFill>
                  <a:srgbClr val="1F2924"/>
                </a:solidFill>
                <a:latin typeface="Spectral"/>
              </a:rPr>
              <a:t xml:space="preserve">We removed forty per cent of the elements.
          Engagement rose by twenty-two.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952750"/>
            <a:ext cx="6096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3133725"/>
            <a:ext cx="4191000" cy="396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Inter Tight"/>
              </a:rPr>
              <a:t xml:space="preserve">The fewest legible elements that still
          carry the argument. That is the rule.
          Nothing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34705"/>
            <a:ext cx="514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Source · 1,284 conversions · q1 2026</a:t>
            </a:r>
          </a:p>
        </p:txBody>
      </p:sp>
      <p:pic>
        <p:nvPicPr>
          <p:cNvPr id="9" name="Picture 8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38300"/>
            <a:ext cx="49530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2752" y="6438900"/>
            <a:ext cx="17979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Subtraction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0288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03 · Restraint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50"/>
            <a:ext cx="3198465" cy="419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0" i="0" u="none">
                <a:solidFill>
                  <a:srgbClr val="1F2924"/>
                </a:solidFill>
                <a:latin typeface="Spectral"/>
              </a:rPr>
              <a:t>One word, four voices.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905000"/>
            <a:ext cx="10972800" cy="962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2495550"/>
            <a:ext cx="133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01 ·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1700" y="2085975"/>
            <a:ext cx="70866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1F2924"/>
                </a:solidFill>
                <a:latin typeface="Spectral"/>
              </a:rPr>
              <a:t>Restraint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7323" y="2495550"/>
            <a:ext cx="109507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2D3833"/>
                </a:solidFill>
                <a:latin typeface="Consolas"/>
              </a:rPr>
              <a:t xml:space="preserve"> weight · 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67025"/>
            <a:ext cx="10972800" cy="962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9600" y="3457575"/>
            <a:ext cx="133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02 · regular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1700" y="3048000"/>
            <a:ext cx="70866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1F2924"/>
                </a:solidFill>
                <a:latin typeface="Spectral"/>
              </a:rPr>
              <a:t>Restraint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87323" y="3457575"/>
            <a:ext cx="109507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2D3833"/>
                </a:solidFill>
                <a:latin typeface="Consolas"/>
              </a:rPr>
              <a:t xml:space="preserve"> weight · 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829050"/>
            <a:ext cx="10972800" cy="962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9600" y="4419600"/>
            <a:ext cx="133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03 · bold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1700" y="4010025"/>
            <a:ext cx="70866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1F2924"/>
                </a:solidFill>
                <a:latin typeface="Spectral"/>
              </a:rPr>
              <a:t>Restraint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7323" y="4419600"/>
            <a:ext cx="109507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2D3833"/>
                </a:solidFill>
                <a:latin typeface="Consolas"/>
              </a:rPr>
              <a:t xml:space="preserve"> weight · 700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791075"/>
            <a:ext cx="10972800" cy="962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09600" y="5381625"/>
            <a:ext cx="133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04 · italic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1700" y="4972050"/>
            <a:ext cx="70866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B05A3C"/>
                </a:solidFill>
                <a:latin typeface="Spectral"/>
              </a:rPr>
              <a:t>Restraint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2621" y="5381625"/>
            <a:ext cx="132977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2D3833"/>
                </a:solidFill>
                <a:latin typeface="Consolas"/>
              </a:rPr>
              <a:t xml:space="preserve"> italic + accent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071295"/>
            <a:ext cx="6477000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2D3833"/>
                </a:solidFill>
                <a:latin typeface="Spectral"/>
              </a:rPr>
              <a:t xml:space="preserve">Each axis carries a different register — weight is emphasis,
        italic is voice, family is genre. Three voices, used surgically.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7045" y="6438900"/>
            <a:ext cx="1669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Restraint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48989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04 · The discipline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800" y="3619500"/>
            <a:ext cx="9144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729335" y="4010025"/>
            <a:ext cx="4733181" cy="1178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4050" b="0" i="1" u="none">
                <a:solidFill>
                  <a:srgbClr val="1F2924"/>
                </a:solidFill>
                <a:latin typeface="Spectral"/>
              </a:rPr>
              <a:t xml:space="preserve">
        To remove a thing</a:t>
            </a:r>
          </a:p>
          <a:p>
            <a:pPr algn="ctr"/>
            <a:r>
              <a:rPr sz="4050" b="0" i="1" u="none">
                <a:solidFill>
                  <a:srgbClr val="1F2924"/>
                </a:solidFill>
                <a:latin typeface="Spectral"/>
              </a:rPr>
              <a:t xml:space="preserve">
        is to say what mattered.
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7912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7A8978"/>
                </a:solidFill>
                <a:latin typeface="Consolas"/>
              </a:rPr>
              <a:t>— Studio Atlas, on editing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6460" y="6438900"/>
            <a:ext cx="19907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The discipline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5143500"/>
            <a:ext cx="12192000" cy="19050"/>
          </a:xfrm>
          <a:prstGeom prst="rect">
            <a:avLst/>
          </a:prstGeom>
          <a:solidFill>
            <a:srgbClr val="8A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381000" y="3619500"/>
            <a:ext cx="6286500" cy="2667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4095750"/>
            <a:ext cx="3619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4286250"/>
            <a:ext cx="30480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1000" y="4476750"/>
            <a:ext cx="38100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1000" y="4667250"/>
            <a:ext cx="26670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1000" y="4857750"/>
            <a:ext cx="34290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1000" y="5048250"/>
            <a:ext cx="2095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" y="5238750"/>
            <a:ext cx="3238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81000" y="5429250"/>
            <a:ext cx="1714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095750" y="3762375"/>
            <a:ext cx="1714500" cy="57150"/>
          </a:xfrm>
          <a:prstGeom prst="round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715000" y="3743325"/>
            <a:ext cx="209550" cy="95250"/>
          </a:xfrm>
          <a:prstGeom prst="rect">
            <a:avLst/>
          </a:prstGeom>
          <a:solidFill>
            <a:srgbClr val="0F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-571500" y="1714500"/>
            <a:ext cx="3048000" cy="381000"/>
          </a:xfrm>
          <a:prstGeom prst="ellipse">
            <a:avLst/>
          </a:prstGeom>
          <a:solidFill>
            <a:srgbClr val="0F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-476250" y="1724025"/>
            <a:ext cx="2857500" cy="266700"/>
          </a:xfrm>
          <a:prstGeom prst="ellipse">
            <a:avLst/>
          </a:prstGeom>
          <a:solidFill>
            <a:srgbClr val="C7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90500" y="476250"/>
            <a:ext cx="1524000" cy="13811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6250" y="89655"/>
                </a:lnTo>
                <a:quadBezTo>
                  <a:pt x="6250" y="100000"/>
                  <a:pt x="50000" y="100000"/>
                </a:quadBezTo>
                <a:quadBezTo>
                  <a:pt x="93750" y="100000"/>
                  <a:pt x="93750" y="89655"/>
                </a:quadBezTo>
                <a:lnTo>
                  <a:pt x="100000" y="0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90500" y="342900"/>
            <a:ext cx="1524000" cy="2667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28600" y="381000"/>
            <a:ext cx="1447800" cy="190500"/>
          </a:xfrm>
          <a:prstGeom prst="ellipse">
            <a:avLst/>
          </a:prstGeom>
          <a:solidFill>
            <a:srgbClr val="0F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1714500" y="762000"/>
            <a:ext cx="476250" cy="857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quadBezTo>
                  <a:pt x="100000" y="0"/>
                  <a:pt x="100000" y="55556"/>
                </a:quadBezTo>
                <a:quadBezTo>
                  <a:pt x="100000" y="100000"/>
                  <a:pt x="0" y="94444"/>
                </a:quadBezTo>
              </a:path>
            </a:pathLst>
          </a:custGeom>
          <a:noFill/>
          <a:ln w="57150">
            <a:solidFill>
              <a:srgbClr val="C7C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-4762" y="-4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300162" y="2576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605088" y="5157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910012" y="881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214938" y="3462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519862" y="6043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824788" y="1766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129712" y="4348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434638" y="71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1739562" y="2652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852488" y="5233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157412" y="957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462338" y="3538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767262" y="6119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072188" y="1843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377112" y="4424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682038" y="147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986962" y="2728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1291888" y="5310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04812" y="1033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709738" y="36147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014662" y="61960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319588" y="19192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624512" y="45005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6929438" y="2238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234362" y="28051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539288" y="53863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0844212" y="11096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2149138" y="36909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262062" y="62722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566988" y="19954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3871912" y="4576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5176838" y="3000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6481762" y="28813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786688" y="54625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9091612" y="11858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0396538" y="37671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1701462" y="63484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14388" y="20716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119312" y="46529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424238" y="3762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4729162" y="2957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6034088" y="5538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339012" y="1262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643938" y="3843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948862" y="6424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1253788" y="2147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366712" y="4729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1671638" y="452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2976562" y="3033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4281488" y="5614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5586412" y="1338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6891338" y="3919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8196262" y="6500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9501188" y="2224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0806112" y="4805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12111038" y="528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1223962" y="3109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2528888" y="5691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3833812" y="1414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5138738" y="39957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443662" y="65770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748588" y="23002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9053512" y="48815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10358438" y="6048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11663362" y="31861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776288" y="57673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2081212" y="14906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3386138" y="40719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691062" y="66532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5995988" y="23764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7300912" y="4957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8605838" y="6810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9910762" y="32623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11215688" y="58435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328612" y="15668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1633538" y="41481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2938462" y="67294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4243388" y="24526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5548312" y="50339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6853238" y="7572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8158162" y="3338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9463088" y="5919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10768012" y="1643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2072938" y="4224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1185862" y="6805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490788" y="2528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3795712" y="5110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5100638" y="833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6405562" y="3414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7710488" y="5995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9015412" y="1719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10320338" y="4300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11625262" y="23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738188" y="2605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2043112" y="5186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3348038" y="909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4652962" y="3490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957888" y="6072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7262812" y="1795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8567738" y="43767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9872662" y="1000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11177588" y="26812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90512" y="52625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1595438" y="9858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2900362" y="35671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4205288" y="61483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510212" y="18716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6815138" y="44529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8120062" y="1762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9424988" y="27574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10729912" y="5338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12034838" y="10620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1147762" y="36433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2452688" y="62245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3757612" y="19478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5062538" y="45291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6367462" y="2524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7672388" y="28336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8977312" y="54149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10282238" y="11382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11587162" y="3719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700088" y="6300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2005012" y="2024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3309938" y="4605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4614862" y="328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5919788" y="2909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7224712" y="5491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8529638" y="1214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9834562" y="3795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11139488" y="6376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252412" y="2100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1557338" y="4681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2862262" y="404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4167188" y="2986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5472112" y="5567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6777038" y="1290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8081962" y="3871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9386888" y="6453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10691812" y="2176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11996738" y="47577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1109662" y="4810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2414588" y="30622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3719512" y="56435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5024438" y="13668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6329362" y="39481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7634288" y="65293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8939212" y="22526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10244138" y="48339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11549062" y="5572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/>
          <p:cNvSpPr/>
          <p:nvPr/>
        </p:nvSpPr>
        <p:spPr>
          <a:xfrm>
            <a:off x="661988" y="31384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1966912" y="5719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/>
          <p:cNvSpPr/>
          <p:nvPr/>
        </p:nvSpPr>
        <p:spPr>
          <a:xfrm>
            <a:off x="3271838" y="14430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4576762" y="40243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5881688" y="66055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/>
          <p:cNvSpPr/>
          <p:nvPr/>
        </p:nvSpPr>
        <p:spPr>
          <a:xfrm>
            <a:off x="7186612" y="23288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/>
          <p:cNvSpPr/>
          <p:nvPr/>
        </p:nvSpPr>
        <p:spPr>
          <a:xfrm>
            <a:off x="8491538" y="49101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/>
          <p:cNvSpPr/>
          <p:nvPr/>
        </p:nvSpPr>
        <p:spPr>
          <a:xfrm>
            <a:off x="9796462" y="6334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/>
          <p:cNvSpPr/>
          <p:nvPr/>
        </p:nvSpPr>
        <p:spPr>
          <a:xfrm>
            <a:off x="11101388" y="32146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214312" y="57959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/>
          <p:cNvSpPr/>
          <p:nvPr/>
        </p:nvSpPr>
        <p:spPr>
          <a:xfrm>
            <a:off x="1519238" y="15192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/>
          <p:cNvSpPr/>
          <p:nvPr/>
        </p:nvSpPr>
        <p:spPr>
          <a:xfrm>
            <a:off x="2824162" y="4100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/>
          <p:cNvSpPr/>
          <p:nvPr/>
        </p:nvSpPr>
        <p:spPr>
          <a:xfrm>
            <a:off x="4129088" y="6681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/>
          <p:cNvSpPr/>
          <p:nvPr/>
        </p:nvSpPr>
        <p:spPr>
          <a:xfrm>
            <a:off x="5434012" y="2405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6738938" y="4986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/>
          <p:cNvSpPr/>
          <p:nvPr/>
        </p:nvSpPr>
        <p:spPr>
          <a:xfrm>
            <a:off x="8043862" y="709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9348788" y="3290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10653712" y="5872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/>
          <p:cNvSpPr/>
          <p:nvPr/>
        </p:nvSpPr>
        <p:spPr>
          <a:xfrm>
            <a:off x="11958638" y="1595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1071562" y="4176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/>
          <p:cNvSpPr/>
          <p:nvPr/>
        </p:nvSpPr>
        <p:spPr>
          <a:xfrm>
            <a:off x="2376488" y="6757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/>
          <p:cNvSpPr/>
          <p:nvPr/>
        </p:nvSpPr>
        <p:spPr>
          <a:xfrm>
            <a:off x="3681412" y="2481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/>
          <p:cNvSpPr/>
          <p:nvPr/>
        </p:nvSpPr>
        <p:spPr>
          <a:xfrm>
            <a:off x="4986338" y="5062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6291262" y="785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/>
          <p:cNvSpPr/>
          <p:nvPr/>
        </p:nvSpPr>
        <p:spPr>
          <a:xfrm>
            <a:off x="7596188" y="3367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/>
          <p:cNvSpPr/>
          <p:nvPr/>
        </p:nvSpPr>
        <p:spPr>
          <a:xfrm>
            <a:off x="8901112" y="5948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/>
          <p:cNvSpPr/>
          <p:nvPr/>
        </p:nvSpPr>
        <p:spPr>
          <a:xfrm>
            <a:off x="10206038" y="1671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/>
          <p:cNvSpPr/>
          <p:nvPr/>
        </p:nvSpPr>
        <p:spPr>
          <a:xfrm>
            <a:off x="11510962" y="4252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/>
          <p:cNvSpPr/>
          <p:nvPr/>
        </p:nvSpPr>
        <p:spPr>
          <a:xfrm>
            <a:off x="623888" y="6834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/>
          <p:cNvSpPr/>
          <p:nvPr/>
        </p:nvSpPr>
        <p:spPr>
          <a:xfrm>
            <a:off x="1928812" y="2557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3" name="Picture 20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1619250"/>
            <a:ext cx="2667000" cy="3048000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609600" y="304800"/>
            <a:ext cx="20288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EFE9DC"/>
                </a:solidFill>
                <a:latin typeface="Consolas"/>
              </a:rPr>
              <a:t>Plate VIII · Asymmetry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431363" y="304800"/>
            <a:ext cx="115103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EFE9DC"/>
                </a:solidFill>
                <a:latin typeface="Consolas"/>
              </a:rPr>
              <a:t>Vol III · 2026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09600" y="4511278"/>
            <a:ext cx="4724400" cy="1432322"/>
          </a:xfrm>
          <a:prstGeom prst="rect">
            <a:avLst/>
          </a:prstGeom>
          <a:solidFill>
            <a:srgbClr val="0F1311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/>
          <p:cNvSpPr txBox="1"/>
          <p:nvPr/>
        </p:nvSpPr>
        <p:spPr>
          <a:xfrm>
            <a:off x="895350" y="4739878"/>
            <a:ext cx="4171950" cy="56554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EFE9DC"/>
                </a:solidFill>
                <a:latin typeface="Spectral"/>
              </a:rPr>
              <a:t xml:space="preserve">Where the eye chooses to rest is
          where the page chooses to live.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95350" y="5476875"/>
            <a:ext cx="457200" cy="95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/>
          <p:cNvSpPr txBox="1"/>
          <p:nvPr/>
        </p:nvSpPr>
        <p:spPr>
          <a:xfrm>
            <a:off x="895350" y="5600700"/>
            <a:ext cx="41719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C7C0AE"/>
                </a:solidFill>
                <a:latin typeface="Consolas"/>
              </a:rPr>
              <a:t>Plate VIII — fragment of a working desk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887045" y="6438900"/>
            <a:ext cx="1669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Asymmetry —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0288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05 · Asymmetry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50"/>
            <a:ext cx="5085159" cy="419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0" i="0" u="none">
                <a:solidFill>
                  <a:srgbClr val="1F2924"/>
                </a:solidFill>
                <a:latin typeface="Spectral"/>
              </a:rPr>
              <a:t>A working method, in six small acts.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190750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853281" y="2403184"/>
            <a:ext cx="153397" cy="15348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6745" y="61544"/>
                </a:moveTo>
                <a:cubicBezTo>
                  <a:pt x="100000" y="48297"/>
                  <a:pt x="100000" y="26495"/>
                  <a:pt x="86745" y="13247"/>
                </a:cubicBezTo>
                <a:cubicBezTo>
                  <a:pt x="73490" y="0"/>
                  <a:pt x="51676" y="0"/>
                  <a:pt x="38421" y="13247"/>
                </a:cubicBezTo>
                <a:lnTo>
                  <a:pt x="0" y="51646"/>
                </a:lnTo>
                <a:lnTo>
                  <a:pt x="0" y="100000"/>
                </a:lnTo>
                <a:lnTo>
                  <a:pt x="48381" y="100000"/>
                </a:lnTo>
                <a:close/>
              </a:path>
            </a:pathLst>
          </a:cu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 7"/>
          <p:cNvCxnSpPr/>
          <p:nvPr/>
        </p:nvCxnSpPr>
        <p:spPr>
          <a:xfrm flipH="1">
            <a:off x="827088" y="2460625"/>
            <a:ext cx="122237" cy="122237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8206" y="2521744"/>
            <a:ext cx="74216" cy="0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1025" y="2085975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2247900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Spectral"/>
              </a:rPr>
              <a:t>Begin generously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2552700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Inter Tight"/>
              </a:rPr>
              <a:t>Write the loud first draft. Do not edit while writing.</a:t>
            </a:r>
          </a:p>
        </p:txBody>
      </p:sp>
      <p:sp>
        <p:nvSpPr>
          <p:cNvPr id="13" name="Oval 12"/>
          <p:cNvSpPr/>
          <p:nvPr/>
        </p:nvSpPr>
        <p:spPr>
          <a:xfrm>
            <a:off x="4419600" y="2190750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4637088" y="2434431"/>
            <a:ext cx="174625" cy="12223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0" y="50000"/>
                  <a:pt x="15000" y="0"/>
                  <a:pt x="50000" y="0"/>
                </a:cubicBezTo>
                <a:cubicBezTo>
                  <a:pt x="85000" y="0"/>
                  <a:pt x="100000" y="50000"/>
                  <a:pt x="100000" y="50000"/>
                </a:cubicBezTo>
                <a:cubicBezTo>
                  <a:pt x="100000" y="50000"/>
                  <a:pt x="85000" y="100000"/>
                  <a:pt x="50000" y="100000"/>
                </a:cubicBezTo>
                <a:cubicBezTo>
                  <a:pt x="15000" y="100000"/>
                  <a:pt x="0" y="50000"/>
                  <a:pt x="0" y="50000"/>
                </a:cubicBezTo>
                <a:close/>
              </a:path>
            </a:pathLst>
          </a:cu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695825" y="2466975"/>
            <a:ext cx="57150" cy="57150"/>
          </a:xfrm>
          <a:prstGeom prst="ellipse">
            <a:avLst/>
          </a:pr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91025" y="2085975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0650" y="2247900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Spectral"/>
              </a:rPr>
              <a:t>Read it slowly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650" y="2552700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Inter Tight"/>
              </a:rPr>
              <a:t>A page reread is a page rewritten in your head.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2190750"/>
            <a:ext cx="583257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440192" y="2414588"/>
            <a:ext cx="57150" cy="57150"/>
          </a:xfrm>
          <a:prstGeom prst="ellipse">
            <a:avLst/>
          </a:pr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440192" y="2519362"/>
            <a:ext cx="57150" cy="57150"/>
          </a:xfrm>
          <a:prstGeom prst="ellipse">
            <a:avLst/>
          </a:pr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 21"/>
          <p:cNvCxnSpPr/>
          <p:nvPr/>
        </p:nvCxnSpPr>
        <p:spPr>
          <a:xfrm flipH="1">
            <a:off x="8487277" y="2425700"/>
            <a:ext cx="103727" cy="103727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42720" y="2517204"/>
            <a:ext cx="48284" cy="48196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87277" y="2461673"/>
            <a:ext cx="33877" cy="33877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01025" y="2085975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4307" y="2247900"/>
            <a:ext cx="2598093" cy="495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Spectral"/>
              </a:rPr>
              <a:t>Cut what is true but unnecessary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4307" y="2800350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Inter Tight"/>
              </a:rPr>
              <a:t>The hardest line to remove is the one you wrote well.</a:t>
            </a:r>
          </a:p>
        </p:txBody>
      </p:sp>
      <p:sp>
        <p:nvSpPr>
          <p:cNvPr id="28" name="Oval 27"/>
          <p:cNvSpPr/>
          <p:nvPr/>
        </p:nvSpPr>
        <p:spPr>
          <a:xfrm>
            <a:off x="609600" y="3526929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 28"/>
          <p:cNvCxnSpPr/>
          <p:nvPr/>
        </p:nvCxnSpPr>
        <p:spPr>
          <a:xfrm>
            <a:off x="853281" y="3831729"/>
            <a:ext cx="122238" cy="0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1025" y="3422154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0650" y="3584079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Spectral"/>
              </a:rPr>
              <a:t>Subtract the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0650" y="3888879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Inter Tight"/>
              </a:rPr>
              <a:t>Decoration is the first to go. Hierarchy survives without it.</a:t>
            </a:r>
          </a:p>
        </p:txBody>
      </p:sp>
      <p:sp>
        <p:nvSpPr>
          <p:cNvPr id="33" name="Oval 32"/>
          <p:cNvSpPr/>
          <p:nvPr/>
        </p:nvSpPr>
        <p:spPr>
          <a:xfrm>
            <a:off x="4419600" y="3526929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629150" y="3736479"/>
            <a:ext cx="190500" cy="190500"/>
          </a:xfrm>
          <a:prstGeom prst="ellipse">
            <a:avLst/>
          </a:pr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4687380" y="3794708"/>
            <a:ext cx="74040" cy="74041"/>
          </a:xfrm>
          <a:custGeom>
            <a:avLst/>
            <a:gdLst/>
            <a:ahLst/>
            <a:cxnLst/>
            <a:rect l="l" t="t" r="r" b="b"/>
            <a:pathLst>
              <a:path w="74040" h="74041">
                <a:moveTo>
                  <a:pt x="74040" y="0"/>
                </a:moveTo>
                <a:lnTo>
                  <a:pt x="55530" y="55531"/>
                </a:lnTo>
                <a:lnTo>
                  <a:pt x="0" y="74041"/>
                </a:lnTo>
                <a:lnTo>
                  <a:pt x="18510" y="18511"/>
                </a:lnTo>
                <a:lnTo>
                  <a:pt x="74040" y="0"/>
                </a:lnTo>
                <a:close/>
              </a:path>
            </a:pathLst>
          </a:cu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391025" y="3422154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0650" y="3584079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Spectral"/>
              </a:rPr>
              <a:t>Re-anchor the argument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0650" y="3888879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Inter Tight"/>
              </a:rPr>
              <a:t>What is the page about? Move that to the centre.</a:t>
            </a:r>
          </a:p>
        </p:txBody>
      </p:sp>
      <p:sp>
        <p:nvSpPr>
          <p:cNvPr id="39" name="Oval 38"/>
          <p:cNvSpPr/>
          <p:nvPr/>
        </p:nvSpPr>
        <p:spPr>
          <a:xfrm>
            <a:off x="8229600" y="3526929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8464550" y="3779341"/>
            <a:ext cx="139700" cy="960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201025" y="3422154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0650" y="3584079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Spectral"/>
              </a:rPr>
              <a:t>Stop early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0650" y="3888879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Inter Tight"/>
              </a:rPr>
              <a:t>The last cut should leave the page slightly underdressed.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87045" y="6438900"/>
            <a:ext cx="1669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Asymmetry 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184442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06 · Silence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8723" y="1249710"/>
            <a:ext cx="357455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8978"/>
                </a:solidFill>
                <a:latin typeface="Consolas"/>
              </a:rPr>
              <a:t>Drift, after twelve months of editing</a:t>
            </a:r>
          </a:p>
        </p:txBody>
      </p:sp>
      <p:pic>
        <p:nvPicPr>
          <p:cNvPr id="6" name="Picture 5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602135"/>
            <a:ext cx="6477000" cy="2667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38800" y="4573935"/>
            <a:ext cx="9144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429000" y="4812060"/>
            <a:ext cx="5334000" cy="586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0" i="0" u="none">
                <a:solidFill>
                  <a:srgbClr val="2D3833"/>
                </a:solidFill>
                <a:latin typeface="Spectral"/>
              </a:rPr>
              <a:t xml:space="preserve">The conversion drift across one thousand
          two hundred eighty-four decks.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1190" y="6438900"/>
            <a:ext cx="154111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Silence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30549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Colophon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50"/>
            <a:ext cx="3603278" cy="419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0" i="0" u="none">
                <a:solidFill>
                  <a:srgbClr val="1F2924"/>
                </a:solidFill>
                <a:latin typeface="Spectral"/>
              </a:rPr>
              <a:t>The volume in six figures.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981200"/>
            <a:ext cx="10972800" cy="2762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2066925"/>
            <a:ext cx="69723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1900" y="2066925"/>
            <a:ext cx="1905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6900" y="2066925"/>
            <a:ext cx="20955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delta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257425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9600" y="2505075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Atoms shipped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1900" y="2390775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155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6900" y="2524125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+94 vs Vol 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819400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9600" y="3067050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Native area, median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1900" y="2952750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87 %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6900" y="3086100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+29 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3381375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09600" y="3629025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Drift, escape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1900" y="3514725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0.12 %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6900" y="3648075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−2.1 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3943350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09600" y="4191000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Decks compiled, 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1900" y="4076700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1,284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210050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+18 %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4505325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09600" y="4752975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Median compile, per slide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1900" y="4638675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280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6900" y="4772025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−40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67300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09600" y="5314950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Issue size, this volume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1900" y="5200650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12 frames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900" y="5334000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of twelve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19043" y="6438900"/>
            <a:ext cx="160540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Colophon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7119" y="1849785"/>
            <a:ext cx="1617762" cy="1905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0" i="0" u="none">
                <a:solidFill>
                  <a:srgbClr val="B05A3C"/>
                </a:solidFill>
                <a:latin typeface="Spectral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851" y="4231035"/>
            <a:ext cx="2286149" cy="53146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0" i="1" u="none">
                <a:solidFill>
                  <a:srgbClr val="2D3833"/>
                </a:solidFill>
                <a:latin typeface="Spectral"/>
              </a:rPr>
              <a:t xml:space="preserve">
          The last cut is the page that</a:t>
            </a:r>
          </a:p>
          <a:p>
            <a:pPr algn="ctr"/>
            <a:r>
              <a:rPr sz="1650" b="0" i="1" u="none">
                <a:solidFill>
                  <a:srgbClr val="2D3833"/>
                </a:solidFill>
                <a:latin typeface="Spectral"/>
              </a:rPr>
              <a:t xml:space="preserve">says only what it must.
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86115"/>
            <a:ext cx="2815828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756077"/>
            <a:ext cx="2815828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Vol. III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926038"/>
            <a:ext cx="2815828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— set in spectral, inter, jet brains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9784" y="5586115"/>
            <a:ext cx="1642616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Compiled with slidify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9784" y="5756077"/>
            <a:ext cx="1642616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pixelpitch.dev/atlas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39784" y="5926038"/>
            <a:ext cx="1642616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— end of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7482" y="6438900"/>
            <a:ext cx="134853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Fin.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2924"/>
      </a:accent1>
      <a:accent2>
        <a:srgbClr val="7A8978"/>
      </a:accent2>
      <a:accent3>
        <a:srgbClr val="2D3833"/>
      </a:accent3>
      <a:accent4>
        <a:srgbClr val="EFE9DC"/>
      </a:accent4>
      <a:accent5>
        <a:srgbClr val="B05A3C"/>
      </a:accent5>
      <a:accent6>
        <a:srgbClr val="E6DFD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