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embeddedFontLst>
    <p:embeddedFont>
      <p:font typeface="JetBrains Mono" panose="020B0609040504020204" charset="0"/>
      <p:regular r:id="rIdSlidifyFont1"/>
      <p:italic r:id="rIdSlidifyFont2"/>
    </p:embeddedFont>
    <p:embeddedFont>
      <p:font typeface="Spectral" panose="020B0604020202020204" charset="0"/>
      <p:regular r:id="rIdSlidifyFont3"/>
      <p:bold r:id="rIdSlidifyFont4"/>
      <p:italic r:id="rIdSlidifyFont5"/>
    </p:embeddedFont>
    <p:embeddedFont>
      <p:font typeface="Inter Tight" panose="020B0604020202020204" charset="0"/>
      <p:regular r:id="rIdSlidifyFont6"/>
      <p:bold r:id="rIdSlidifyFont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Relationship Id="rIdSlidifyFont5" Type="http://schemas.openxmlformats.org/officeDocument/2006/relationships/font" Target="fonts/font5.fntdata"/><Relationship Id="rIdSlidifyFont6" Type="http://schemas.openxmlformats.org/officeDocument/2006/relationships/font" Target="fonts/font6.fntdata"/><Relationship Id="rIdSlidifyFont7" Type="http://schemas.openxmlformats.org/officeDocument/2006/relationships/font" Target="fonts/font7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F2924">
                  <a:alpha val="10000"/>
                </a:srgbClr>
              </a:gs>
              <a:gs pos="35000">
                <a:srgbClr val="1F2924">
                  <a:alpha val="4000"/>
                </a:srgbClr>
              </a:gs>
              <a:gs pos="65000">
                <a:srgbClr val="1F2924">
                  <a:alpha val="0"/>
                </a:srgbClr>
              </a:gs>
              <a:gs pos="100000">
                <a:srgbClr val="1F2924">
                  <a:alpha val="0"/>
                </a:srgbClr>
              </a:gs>
            </a:gsLst>
            <a:path path="circle">
              <a:fillToRect l="0" t="0" r="100000" b="10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8953500" y="1143000"/>
            <a:ext cx="36195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368129"/>
            <a:ext cx="9142958" cy="19658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0" b="0" i="0" u="none">
                <a:solidFill>
                  <a:srgbClr val="1F2924"/>
                </a:solidFill>
                <a:latin typeface="Cambria"/>
              </a:rPr>
              <a:t>On editing</a:t>
            </a:r>
          </a:p>
        </p:txBody>
      </p:sp>
      <p:pic>
        <p:nvPicPr>
          <p:cNvPr id="6" name="Picture 5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2058" y="3905250"/>
            <a:ext cx="1905000" cy="1905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819775"/>
            <a:ext cx="21533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8978"/>
                </a:solidFill>
                <a:latin typeface="Consolas"/>
              </a:rPr>
              <a:t>an essay in twelve frames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2212" y="6438900"/>
            <a:ext cx="89907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19280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05A3C"/>
                </a:solidFill>
                <a:latin typeface="Calibri"/>
              </a:rPr>
              <a:t>Index — six chapters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1409700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09600" y="1695450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200" y="1543050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Cambria"/>
              </a:rPr>
              <a:t>Removing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021086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609600" y="2306836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2154436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Cambria"/>
              </a:rPr>
              <a:t>Subtraction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2632472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09600" y="2918222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9200" y="2765822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Cambria"/>
              </a:rPr>
              <a:t>Restraint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3243858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3529608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3377208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Cambria"/>
              </a:rPr>
              <a:t>The discipline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855244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09600" y="4140994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9200" y="3988594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Cambria"/>
              </a:rPr>
              <a:t>Asymmetry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4466630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09600" y="4752380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9200" y="4599980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Cambria"/>
              </a:rPr>
              <a:t>Silence</a:t>
            </a:r>
          </a:p>
        </p:txBody>
      </p:sp>
      <p:sp>
        <p:nvSpPr>
          <p:cNvPr id="23" name="Oval 22"/>
          <p:cNvSpPr/>
          <p:nvPr/>
        </p:nvSpPr>
        <p:spPr>
          <a:xfrm>
            <a:off x="7086600" y="952500"/>
            <a:ext cx="2019300" cy="2019300"/>
          </a:xfrm>
          <a:prstGeom prst="ellipse">
            <a:avLst/>
          </a:prstGeom>
          <a:noFill/>
          <a:ln w="7144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/>
          <p:cNvSpPr/>
          <p:nvPr/>
        </p:nvSpPr>
        <p:spPr>
          <a:xfrm>
            <a:off x="7486650" y="1352550"/>
            <a:ext cx="1219200" cy="1219200"/>
          </a:xfrm>
          <a:prstGeom prst="ellipse">
            <a:avLst/>
          </a:prstGeom>
          <a:noFill/>
          <a:ln w="9525">
            <a:solidFill>
              <a:srgbClr val="B05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8058150" y="1924050"/>
            <a:ext cx="76200" cy="76200"/>
          </a:xfrm>
          <a:prstGeom prst="ellipse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7048500" y="845820"/>
            <a:ext cx="353615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2D3833"/>
                </a:solidFill>
                <a:latin typeface="Consolas"/>
              </a:rPr>
              <a:t>STUDIO ATLAS • VOL III • ON EDITING • STUDIO ATLAS • VOL III • ON EDITING 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1911" y="1872615"/>
            <a:ext cx="848678" cy="2143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b="0" i="1">
                <a:solidFill>
                  <a:srgbClr val="1F2924"/>
                </a:solidFill>
                <a:latin typeface="Cambria"/>
              </a:rPr>
              <a:t>vol · iii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8500" y="3352800"/>
            <a:ext cx="4533900" cy="6628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0" i="0" u="none">
                <a:solidFill>
                  <a:srgbClr val="2D3833"/>
                </a:solidFill>
                <a:latin typeface="Cambria"/>
              </a:rPr>
              <a:t xml:space="preserve">Six chapters on the discipline that
          separates craft from competence — the
          art of taking away.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8500" y="4244280"/>
            <a:ext cx="6096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7048500" y="4387155"/>
            <a:ext cx="45339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Read time · 12 minutes · unhurried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2212" y="6438900"/>
            <a:ext cx="89907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193655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01 · Removing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333500"/>
            <a:ext cx="11658600" cy="24003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4992737"/>
            <a:ext cx="914400" cy="95086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9600" b="0" i="0" u="none">
                <a:solidFill>
                  <a:srgbClr val="B05A3C"/>
                </a:solidFill>
                <a:latin typeface="Cambria"/>
              </a:rPr>
              <a:t>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021312"/>
            <a:ext cx="4711750" cy="608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87" b="0" i="0" u="none">
                <a:solidFill>
                  <a:srgbClr val="2D3833"/>
                </a:solidFill>
                <a:latin typeface="Calibri"/>
              </a:rPr>
              <a:t xml:space="preserve">
          o edit is the most quietly difficult act in any craft.
          The first draft is loud, generous, eager to be liked. The
          second is the cost of taste.
          </a:t>
            </a:r>
            <a:r>
              <a:rPr sz="1087" b="0" i="0" u="none">
                <a:solidFill>
                  <a:srgbClr val="7A8978"/>
                </a:solidFill>
                <a:latin typeface="Calibri"/>
              </a:rPr>
              <a:t xml:space="preserve">A page that says less,
          says more.</a:t>
            </a:r>
            <a:r>
              <a:rPr sz="1087" b="0" i="0" u="none">
                <a:solidFill>
                  <a:srgbClr val="2D3833"/>
                </a:solidFill>
                <a:latin typeface="Calibri"/>
              </a:rPr>
              <a:t xml:space="preserve">
       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992737"/>
            <a:ext cx="4724400" cy="683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87" b="0" i="0" u="none">
                <a:solidFill>
                  <a:srgbClr val="2D3833"/>
                </a:solidFill>
                <a:latin typeface="Calibri"/>
              </a:rPr>
              <a:t xml:space="preserve">The disciplines that hold their composure under reduction
          — typography, music, architecture — are the ones
          we still recognise as art a generation later. Slide design
          asks the same question, often without knowing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9043" y="6438900"/>
            <a:ext cx="160540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Removing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F1311"/>
              </a:gs>
              <a:gs pos="55000">
                <a:srgbClr val="1F2924"/>
              </a:gs>
              <a:gs pos="100000">
                <a:srgbClr val="8A4530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B05A3C">
                  <a:alpha val="55000"/>
                </a:srgbClr>
              </a:gs>
              <a:gs pos="60000">
                <a:srgbClr val="B05A3C">
                  <a:alpha val="0"/>
                </a:srgbClr>
              </a:gs>
            </a:gsLst>
            <a:path path="circle">
              <a:fillToRect l="85000" t="95000" r="15000" b="5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C7C0AE">
                  <a:alpha val="30000"/>
                </a:srgbClr>
              </a:gs>
              <a:gs pos="60000">
                <a:srgbClr val="C7C0AE">
                  <a:alpha val="0"/>
                </a:srgbClr>
              </a:gs>
            </a:gsLst>
            <a:path path="circle">
              <a:fillToRect l="10000" t="5000" r="90000" b="95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2286000" y="2095500"/>
            <a:ext cx="7239000" cy="3619500"/>
          </a:xfrm>
          <a:prstGeom prst="roundRect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8194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35623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3053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50482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57912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65341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72771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80200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87630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28194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5623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43053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50482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57912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65341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72771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80200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/>
          <p:cNvSpPr/>
          <p:nvPr/>
        </p:nvSpPr>
        <p:spPr>
          <a:xfrm>
            <a:off x="87630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8194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35623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43053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/>
        </p:nvSpPr>
        <p:spPr>
          <a:xfrm>
            <a:off x="50482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57912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/>
          <p:cNvSpPr/>
          <p:nvPr/>
        </p:nvSpPr>
        <p:spPr>
          <a:xfrm>
            <a:off x="65341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72771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80200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87630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/>
          <p:cNvSpPr/>
          <p:nvPr/>
        </p:nvSpPr>
        <p:spPr>
          <a:xfrm>
            <a:off x="2667000" y="2286000"/>
            <a:ext cx="6477000" cy="285750"/>
          </a:xfrm>
          <a:prstGeom prst="roundRect">
            <a:avLst/>
          </a:prstGeom>
          <a:solidFill>
            <a:srgbClr val="C7C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4762500" y="-381000"/>
            <a:ext cx="2286000" cy="3048000"/>
          </a:xfrm>
          <a:prstGeom prst="rect">
            <a:avLst/>
          </a:prstGeom>
          <a:gradFill flip="none" rotWithShape="1">
            <a:gsLst>
              <a:gs pos="0">
                <a:srgbClr val="EFE9DC"/>
              </a:gs>
              <a:gs pos="100000">
                <a:srgbClr val="C7C0AE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4953000" y="1143000"/>
            <a:ext cx="161925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4953000" y="1333500"/>
            <a:ext cx="1333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4953000" y="1524000"/>
            <a:ext cx="180975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4953000" y="1714500"/>
            <a:ext cx="104775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 39"/>
          <p:cNvSpPr/>
          <p:nvPr/>
        </p:nvSpPr>
        <p:spPr>
          <a:xfrm>
            <a:off x="8382000" y="4000500"/>
            <a:ext cx="4286250" cy="2857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8889" y="20000"/>
                </a:moveTo>
                <a:cubicBezTo>
                  <a:pt x="22222" y="6667"/>
                  <a:pt x="44444" y="0"/>
                  <a:pt x="66667" y="13333"/>
                </a:cubicBezTo>
                <a:cubicBezTo>
                  <a:pt x="88889" y="30000"/>
                  <a:pt x="100000" y="60000"/>
                  <a:pt x="88889" y="100000"/>
                </a:cubicBezTo>
                <a:lnTo>
                  <a:pt x="0" y="100000"/>
                </a:lnTo>
                <a:cubicBezTo>
                  <a:pt x="0" y="66667"/>
                  <a:pt x="0" y="33333"/>
                  <a:pt x="8889" y="20000"/>
                </a:cubicBezTo>
                <a:close/>
              </a:path>
            </a:pathLst>
          </a:custGeom>
          <a:gradFill flip="none" rotWithShape="1">
            <a:gsLst>
              <a:gs pos="0">
                <a:srgbClr val="B05A3C"/>
              </a:gs>
              <a:gs pos="100000">
                <a:srgbClr val="8A4530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9525000" y="4572000"/>
            <a:ext cx="1524000" cy="381000"/>
          </a:xfrm>
          <a:prstGeom prst="ellipse">
            <a:avLst/>
          </a:prstGeom>
          <a:solidFill>
            <a:srgbClr val="C7C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-5715" y="-571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1299210" y="25755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2604135" y="51568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3909060" y="8801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5213985" y="34613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6518910" y="60426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7823835" y="17659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9128760" y="43472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10433685" y="704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/>
          <p:cNvSpPr/>
          <p:nvPr/>
        </p:nvSpPr>
        <p:spPr>
          <a:xfrm>
            <a:off x="11738610" y="26517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851535" y="52330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2156460" y="9563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3461385" y="35375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/>
          <p:cNvSpPr/>
          <p:nvPr/>
        </p:nvSpPr>
        <p:spPr>
          <a:xfrm>
            <a:off x="4766310" y="61188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6071235" y="18421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/>
          <p:cNvSpPr/>
          <p:nvPr/>
        </p:nvSpPr>
        <p:spPr>
          <a:xfrm>
            <a:off x="7376160" y="44234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/>
          <p:cNvSpPr/>
          <p:nvPr/>
        </p:nvSpPr>
        <p:spPr>
          <a:xfrm>
            <a:off x="8681085" y="1466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/>
          <p:cNvSpPr/>
          <p:nvPr/>
        </p:nvSpPr>
        <p:spPr>
          <a:xfrm>
            <a:off x="9986010" y="27279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11290935" y="53092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/>
          <p:cNvSpPr/>
          <p:nvPr/>
        </p:nvSpPr>
        <p:spPr>
          <a:xfrm>
            <a:off x="403860" y="10325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/>
          <p:cNvSpPr/>
          <p:nvPr/>
        </p:nvSpPr>
        <p:spPr>
          <a:xfrm>
            <a:off x="1708785" y="36137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/>
          <p:cNvSpPr/>
          <p:nvPr/>
        </p:nvSpPr>
        <p:spPr>
          <a:xfrm>
            <a:off x="3013710" y="61950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/>
          <p:cNvSpPr/>
          <p:nvPr/>
        </p:nvSpPr>
        <p:spPr>
          <a:xfrm>
            <a:off x="4318635" y="19183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/>
          <p:cNvSpPr/>
          <p:nvPr/>
        </p:nvSpPr>
        <p:spPr>
          <a:xfrm>
            <a:off x="5623560" y="44996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/>
          <p:cNvSpPr/>
          <p:nvPr/>
        </p:nvSpPr>
        <p:spPr>
          <a:xfrm>
            <a:off x="6928485" y="2228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/>
          <p:cNvSpPr/>
          <p:nvPr/>
        </p:nvSpPr>
        <p:spPr>
          <a:xfrm>
            <a:off x="8233410" y="28041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9538335" y="53854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/>
          <p:cNvSpPr/>
          <p:nvPr/>
        </p:nvSpPr>
        <p:spPr>
          <a:xfrm>
            <a:off x="10843260" y="11087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/>
          <p:cNvSpPr/>
          <p:nvPr/>
        </p:nvSpPr>
        <p:spPr>
          <a:xfrm>
            <a:off x="12148185" y="36899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/>
          <p:cNvSpPr/>
          <p:nvPr/>
        </p:nvSpPr>
        <p:spPr>
          <a:xfrm>
            <a:off x="1261110" y="62712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/>
          <p:cNvSpPr/>
          <p:nvPr/>
        </p:nvSpPr>
        <p:spPr>
          <a:xfrm>
            <a:off x="2566035" y="19945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/>
          <p:cNvSpPr/>
          <p:nvPr/>
        </p:nvSpPr>
        <p:spPr>
          <a:xfrm>
            <a:off x="3870960" y="45758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/>
          <p:cNvSpPr/>
          <p:nvPr/>
        </p:nvSpPr>
        <p:spPr>
          <a:xfrm>
            <a:off x="5175885" y="2990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/>
          <p:cNvSpPr/>
          <p:nvPr/>
        </p:nvSpPr>
        <p:spPr>
          <a:xfrm>
            <a:off x="6480810" y="28803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/>
          <p:cNvSpPr/>
          <p:nvPr/>
        </p:nvSpPr>
        <p:spPr>
          <a:xfrm>
            <a:off x="7785735" y="54616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/>
          <p:cNvSpPr/>
          <p:nvPr/>
        </p:nvSpPr>
        <p:spPr>
          <a:xfrm>
            <a:off x="9090660" y="11849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/>
          <p:cNvSpPr/>
          <p:nvPr/>
        </p:nvSpPr>
        <p:spPr>
          <a:xfrm>
            <a:off x="10395585" y="37661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Oval 78"/>
          <p:cNvSpPr/>
          <p:nvPr/>
        </p:nvSpPr>
        <p:spPr>
          <a:xfrm>
            <a:off x="11700510" y="63474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/>
          <p:cNvSpPr/>
          <p:nvPr/>
        </p:nvSpPr>
        <p:spPr>
          <a:xfrm>
            <a:off x="813435" y="20707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/>
          <p:cNvSpPr/>
          <p:nvPr/>
        </p:nvSpPr>
        <p:spPr>
          <a:xfrm>
            <a:off x="2118360" y="46520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/>
          <p:cNvSpPr/>
          <p:nvPr/>
        </p:nvSpPr>
        <p:spPr>
          <a:xfrm>
            <a:off x="3423285" y="3752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/>
          <p:cNvSpPr/>
          <p:nvPr/>
        </p:nvSpPr>
        <p:spPr>
          <a:xfrm>
            <a:off x="4728210" y="29565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/>
          <p:cNvSpPr/>
          <p:nvPr/>
        </p:nvSpPr>
        <p:spPr>
          <a:xfrm>
            <a:off x="6033135" y="55378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/>
          <p:cNvSpPr/>
          <p:nvPr/>
        </p:nvSpPr>
        <p:spPr>
          <a:xfrm>
            <a:off x="7338060" y="12611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8642985" y="38423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9947910" y="64236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11252835" y="21469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/>
          <p:cNvSpPr/>
          <p:nvPr/>
        </p:nvSpPr>
        <p:spPr>
          <a:xfrm>
            <a:off x="365760" y="47282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/>
          <p:cNvSpPr/>
          <p:nvPr/>
        </p:nvSpPr>
        <p:spPr>
          <a:xfrm>
            <a:off x="1670685" y="4514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/>
          <p:cNvSpPr/>
          <p:nvPr/>
        </p:nvSpPr>
        <p:spPr>
          <a:xfrm>
            <a:off x="2975610" y="30327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/>
          <p:cNvSpPr/>
          <p:nvPr/>
        </p:nvSpPr>
        <p:spPr>
          <a:xfrm>
            <a:off x="4280535" y="56140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/>
          <p:cNvSpPr/>
          <p:nvPr/>
        </p:nvSpPr>
        <p:spPr>
          <a:xfrm>
            <a:off x="5585460" y="13373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/>
          <p:cNvSpPr/>
          <p:nvPr/>
        </p:nvSpPr>
        <p:spPr>
          <a:xfrm>
            <a:off x="6890385" y="39185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/>
          <p:cNvSpPr/>
          <p:nvPr/>
        </p:nvSpPr>
        <p:spPr>
          <a:xfrm>
            <a:off x="8195310" y="64998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/>
          <p:cNvSpPr/>
          <p:nvPr/>
        </p:nvSpPr>
        <p:spPr>
          <a:xfrm>
            <a:off x="9500235" y="22231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/>
          <p:cNvSpPr/>
          <p:nvPr/>
        </p:nvSpPr>
        <p:spPr>
          <a:xfrm>
            <a:off x="10805160" y="48044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/>
          <p:cNvSpPr/>
          <p:nvPr/>
        </p:nvSpPr>
        <p:spPr>
          <a:xfrm>
            <a:off x="12110085" y="5276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/>
          <p:cNvSpPr/>
          <p:nvPr/>
        </p:nvSpPr>
        <p:spPr>
          <a:xfrm>
            <a:off x="1223010" y="31089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/>
          <p:cNvSpPr/>
          <p:nvPr/>
        </p:nvSpPr>
        <p:spPr>
          <a:xfrm>
            <a:off x="2527935" y="56902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/>
          <p:cNvSpPr/>
          <p:nvPr/>
        </p:nvSpPr>
        <p:spPr>
          <a:xfrm>
            <a:off x="3832860" y="14135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/>
          <p:cNvSpPr/>
          <p:nvPr/>
        </p:nvSpPr>
        <p:spPr>
          <a:xfrm>
            <a:off x="5137785" y="39947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/>
          <p:cNvSpPr/>
          <p:nvPr/>
        </p:nvSpPr>
        <p:spPr>
          <a:xfrm>
            <a:off x="6442710" y="65760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/>
          <p:cNvSpPr/>
          <p:nvPr/>
        </p:nvSpPr>
        <p:spPr>
          <a:xfrm>
            <a:off x="7747635" y="22993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/>
          <p:cNvSpPr/>
          <p:nvPr/>
        </p:nvSpPr>
        <p:spPr>
          <a:xfrm>
            <a:off x="9052560" y="48806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Oval 105"/>
          <p:cNvSpPr/>
          <p:nvPr/>
        </p:nvSpPr>
        <p:spPr>
          <a:xfrm>
            <a:off x="10357485" y="6038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/>
          <p:cNvSpPr/>
          <p:nvPr/>
        </p:nvSpPr>
        <p:spPr>
          <a:xfrm>
            <a:off x="11662410" y="31851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/>
          <p:cNvSpPr/>
          <p:nvPr/>
        </p:nvSpPr>
        <p:spPr>
          <a:xfrm>
            <a:off x="775335" y="57664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/>
          <p:cNvSpPr/>
          <p:nvPr/>
        </p:nvSpPr>
        <p:spPr>
          <a:xfrm>
            <a:off x="2080260" y="14897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Oval 109"/>
          <p:cNvSpPr/>
          <p:nvPr/>
        </p:nvSpPr>
        <p:spPr>
          <a:xfrm>
            <a:off x="3385185" y="40709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/>
          <p:cNvSpPr/>
          <p:nvPr/>
        </p:nvSpPr>
        <p:spPr>
          <a:xfrm>
            <a:off x="4690110" y="66522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/>
          <p:cNvSpPr/>
          <p:nvPr/>
        </p:nvSpPr>
        <p:spPr>
          <a:xfrm>
            <a:off x="5995035" y="23755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Oval 112"/>
          <p:cNvSpPr/>
          <p:nvPr/>
        </p:nvSpPr>
        <p:spPr>
          <a:xfrm>
            <a:off x="7299960" y="49568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/>
          <p:cNvSpPr/>
          <p:nvPr/>
        </p:nvSpPr>
        <p:spPr>
          <a:xfrm>
            <a:off x="8604885" y="6800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/>
          <p:cNvSpPr/>
          <p:nvPr/>
        </p:nvSpPr>
        <p:spPr>
          <a:xfrm>
            <a:off x="9909810" y="32613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/>
          <p:cNvSpPr/>
          <p:nvPr/>
        </p:nvSpPr>
        <p:spPr>
          <a:xfrm>
            <a:off x="11214735" y="58426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Oval 116"/>
          <p:cNvSpPr/>
          <p:nvPr/>
        </p:nvSpPr>
        <p:spPr>
          <a:xfrm>
            <a:off x="327660" y="15659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Oval 117"/>
          <p:cNvSpPr/>
          <p:nvPr/>
        </p:nvSpPr>
        <p:spPr>
          <a:xfrm>
            <a:off x="1632585" y="41471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Oval 118"/>
          <p:cNvSpPr/>
          <p:nvPr/>
        </p:nvSpPr>
        <p:spPr>
          <a:xfrm>
            <a:off x="2937510" y="67284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Oval 119"/>
          <p:cNvSpPr/>
          <p:nvPr/>
        </p:nvSpPr>
        <p:spPr>
          <a:xfrm>
            <a:off x="4242435" y="24517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Oval 120"/>
          <p:cNvSpPr/>
          <p:nvPr/>
        </p:nvSpPr>
        <p:spPr>
          <a:xfrm>
            <a:off x="5547360" y="50330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/>
          <p:cNvSpPr/>
          <p:nvPr/>
        </p:nvSpPr>
        <p:spPr>
          <a:xfrm>
            <a:off x="6852285" y="7562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/>
          <p:cNvSpPr/>
          <p:nvPr/>
        </p:nvSpPr>
        <p:spPr>
          <a:xfrm>
            <a:off x="8157210" y="33375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Oval 123"/>
          <p:cNvSpPr/>
          <p:nvPr/>
        </p:nvSpPr>
        <p:spPr>
          <a:xfrm>
            <a:off x="9462135" y="59188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/>
          <p:cNvSpPr/>
          <p:nvPr/>
        </p:nvSpPr>
        <p:spPr>
          <a:xfrm>
            <a:off x="10767060" y="16421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Oval 125"/>
          <p:cNvSpPr/>
          <p:nvPr/>
        </p:nvSpPr>
        <p:spPr>
          <a:xfrm>
            <a:off x="12071985" y="42233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Oval 126"/>
          <p:cNvSpPr/>
          <p:nvPr/>
        </p:nvSpPr>
        <p:spPr>
          <a:xfrm>
            <a:off x="1184910" y="68046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Oval 127"/>
          <p:cNvSpPr/>
          <p:nvPr/>
        </p:nvSpPr>
        <p:spPr>
          <a:xfrm>
            <a:off x="2489835" y="25279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Oval 128"/>
          <p:cNvSpPr/>
          <p:nvPr/>
        </p:nvSpPr>
        <p:spPr>
          <a:xfrm>
            <a:off x="3794760" y="51092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Oval 129"/>
          <p:cNvSpPr/>
          <p:nvPr/>
        </p:nvSpPr>
        <p:spPr>
          <a:xfrm>
            <a:off x="5099685" y="8324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Oval 130"/>
          <p:cNvSpPr/>
          <p:nvPr/>
        </p:nvSpPr>
        <p:spPr>
          <a:xfrm>
            <a:off x="6404610" y="34137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Oval 131"/>
          <p:cNvSpPr/>
          <p:nvPr/>
        </p:nvSpPr>
        <p:spPr>
          <a:xfrm>
            <a:off x="7709535" y="59950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Oval 132"/>
          <p:cNvSpPr/>
          <p:nvPr/>
        </p:nvSpPr>
        <p:spPr>
          <a:xfrm>
            <a:off x="9014460" y="17183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/>
          <p:cNvSpPr/>
          <p:nvPr/>
        </p:nvSpPr>
        <p:spPr>
          <a:xfrm>
            <a:off x="10319385" y="42995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Oval 134"/>
          <p:cNvSpPr/>
          <p:nvPr/>
        </p:nvSpPr>
        <p:spPr>
          <a:xfrm>
            <a:off x="11624310" y="228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Oval 135"/>
          <p:cNvSpPr/>
          <p:nvPr/>
        </p:nvSpPr>
        <p:spPr>
          <a:xfrm>
            <a:off x="737235" y="26041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Oval 136"/>
          <p:cNvSpPr/>
          <p:nvPr/>
        </p:nvSpPr>
        <p:spPr>
          <a:xfrm>
            <a:off x="2042160" y="51854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Oval 137"/>
          <p:cNvSpPr/>
          <p:nvPr/>
        </p:nvSpPr>
        <p:spPr>
          <a:xfrm>
            <a:off x="3347085" y="9086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Oval 138"/>
          <p:cNvSpPr/>
          <p:nvPr/>
        </p:nvSpPr>
        <p:spPr>
          <a:xfrm>
            <a:off x="4652010" y="34899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Oval 139"/>
          <p:cNvSpPr/>
          <p:nvPr/>
        </p:nvSpPr>
        <p:spPr>
          <a:xfrm>
            <a:off x="5956935" y="60712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Oval 140"/>
          <p:cNvSpPr/>
          <p:nvPr/>
        </p:nvSpPr>
        <p:spPr>
          <a:xfrm>
            <a:off x="7261860" y="17945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Oval 141"/>
          <p:cNvSpPr/>
          <p:nvPr/>
        </p:nvSpPr>
        <p:spPr>
          <a:xfrm>
            <a:off x="8566785" y="43757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Oval 142"/>
          <p:cNvSpPr/>
          <p:nvPr/>
        </p:nvSpPr>
        <p:spPr>
          <a:xfrm>
            <a:off x="9871710" y="990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Oval 143"/>
          <p:cNvSpPr/>
          <p:nvPr/>
        </p:nvSpPr>
        <p:spPr>
          <a:xfrm>
            <a:off x="11176635" y="26803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Oval 144"/>
          <p:cNvSpPr/>
          <p:nvPr/>
        </p:nvSpPr>
        <p:spPr>
          <a:xfrm>
            <a:off x="289560" y="52616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Oval 145"/>
          <p:cNvSpPr/>
          <p:nvPr/>
        </p:nvSpPr>
        <p:spPr>
          <a:xfrm>
            <a:off x="1594485" y="9848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Oval 146"/>
          <p:cNvSpPr/>
          <p:nvPr/>
        </p:nvSpPr>
        <p:spPr>
          <a:xfrm>
            <a:off x="2899410" y="35661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Oval 147"/>
          <p:cNvSpPr/>
          <p:nvPr/>
        </p:nvSpPr>
        <p:spPr>
          <a:xfrm>
            <a:off x="4204335" y="61474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Oval 148"/>
          <p:cNvSpPr/>
          <p:nvPr/>
        </p:nvSpPr>
        <p:spPr>
          <a:xfrm>
            <a:off x="5509260" y="18707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Oval 149"/>
          <p:cNvSpPr/>
          <p:nvPr/>
        </p:nvSpPr>
        <p:spPr>
          <a:xfrm>
            <a:off x="6814185" y="44519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Oval 150"/>
          <p:cNvSpPr/>
          <p:nvPr/>
        </p:nvSpPr>
        <p:spPr>
          <a:xfrm>
            <a:off x="8119110" y="1752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/>
          <p:cNvSpPr/>
          <p:nvPr/>
        </p:nvSpPr>
        <p:spPr>
          <a:xfrm>
            <a:off x="9424035" y="27565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/>
          <p:cNvSpPr/>
          <p:nvPr/>
        </p:nvSpPr>
        <p:spPr>
          <a:xfrm>
            <a:off x="10728960" y="53378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/>
          <p:cNvSpPr/>
          <p:nvPr/>
        </p:nvSpPr>
        <p:spPr>
          <a:xfrm>
            <a:off x="12033885" y="10610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Oval 154"/>
          <p:cNvSpPr/>
          <p:nvPr/>
        </p:nvSpPr>
        <p:spPr>
          <a:xfrm>
            <a:off x="1146810" y="36423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Oval 155"/>
          <p:cNvSpPr/>
          <p:nvPr/>
        </p:nvSpPr>
        <p:spPr>
          <a:xfrm>
            <a:off x="2451735" y="62236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Oval 156"/>
          <p:cNvSpPr/>
          <p:nvPr/>
        </p:nvSpPr>
        <p:spPr>
          <a:xfrm>
            <a:off x="3756660" y="19469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Oval 157"/>
          <p:cNvSpPr/>
          <p:nvPr/>
        </p:nvSpPr>
        <p:spPr>
          <a:xfrm>
            <a:off x="5061585" y="45281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Oval 158"/>
          <p:cNvSpPr/>
          <p:nvPr/>
        </p:nvSpPr>
        <p:spPr>
          <a:xfrm>
            <a:off x="6366510" y="2514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Oval 159"/>
          <p:cNvSpPr/>
          <p:nvPr/>
        </p:nvSpPr>
        <p:spPr>
          <a:xfrm>
            <a:off x="7671435" y="28327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Oval 160"/>
          <p:cNvSpPr/>
          <p:nvPr/>
        </p:nvSpPr>
        <p:spPr>
          <a:xfrm>
            <a:off x="8976360" y="54140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TextBox 161"/>
          <p:cNvSpPr txBox="1"/>
          <p:nvPr/>
        </p:nvSpPr>
        <p:spPr>
          <a:xfrm>
            <a:off x="609600" y="304800"/>
            <a:ext cx="17521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EFE9DC"/>
                </a:solidFill>
                <a:latin typeface="Consolas"/>
              </a:rPr>
              <a:t>Plate IV · Removing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431363" y="304800"/>
            <a:ext cx="115103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EFE9DC"/>
                </a:solidFill>
                <a:latin typeface="Consolas"/>
              </a:rPr>
              <a:t>Vol III · 2026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09600" y="4511278"/>
            <a:ext cx="6248400" cy="1432322"/>
          </a:xfrm>
          <a:prstGeom prst="rect">
            <a:avLst/>
          </a:prstGeom>
          <a:solidFill>
            <a:srgbClr val="EFE9DC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/>
          <p:cNvSpPr txBox="1"/>
          <p:nvPr/>
        </p:nvSpPr>
        <p:spPr>
          <a:xfrm>
            <a:off x="895350" y="4739878"/>
            <a:ext cx="5695950" cy="56554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Cambria"/>
              </a:rPr>
              <a:t xml:space="preserve">The keyboard once required us to commit —
          a struck letter could not be unseen.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895350" y="5476875"/>
            <a:ext cx="457200" cy="95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/>
          <p:cNvSpPr txBox="1"/>
          <p:nvPr/>
        </p:nvSpPr>
        <p:spPr>
          <a:xfrm>
            <a:off x="895350" y="5600700"/>
            <a:ext cx="56959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plate IV · photographed in sage &amp; clay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822752" y="6438900"/>
            <a:ext cx="179799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Subtraction —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21322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02 · Subtraction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905000"/>
            <a:ext cx="5143500" cy="7429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0" i="0" u="none">
                <a:solidFill>
                  <a:srgbClr val="1F2924"/>
                </a:solidFill>
                <a:latin typeface="Cambria"/>
              </a:rPr>
              <a:t xml:space="preserve">We removed forty per cent of the elements.
          Engagement rose by twenty-two.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952750"/>
            <a:ext cx="6096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3133725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Calibri"/>
              </a:rPr>
              <a:t xml:space="preserve">The fewest legible elements that still
          carry the argument. That is the rule.
          Nothing else.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834705"/>
            <a:ext cx="514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Source · 1,284 conversions · q1 2026</a:t>
            </a:r>
          </a:p>
        </p:txBody>
      </p:sp>
      <p:pic>
        <p:nvPicPr>
          <p:cNvPr id="9" name="Picture 8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638300"/>
            <a:ext cx="4953000" cy="3619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2752" y="6438900"/>
            <a:ext cx="179799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Subtraction 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028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03 · Restraint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38250"/>
            <a:ext cx="3198465" cy="419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0" i="0" u="none">
                <a:solidFill>
                  <a:srgbClr val="1F2924"/>
                </a:solidFill>
                <a:latin typeface="Cambria"/>
              </a:rPr>
              <a:t>One word, four voices.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905000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2495550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01 · light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1700" y="2085975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1F2924"/>
                </a:solidFill>
                <a:latin typeface="Cambria"/>
              </a:rPr>
              <a:t>Restraint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87323" y="2495550"/>
            <a:ext cx="109507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weight · 300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67025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09600" y="3457575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02 · regular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1700" y="3048000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1F2924"/>
                </a:solidFill>
                <a:latin typeface="Cambria"/>
              </a:rPr>
              <a:t>Restraint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87323" y="3457575"/>
            <a:ext cx="109507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weight · 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3829050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4419600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03 · bold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1700" y="4010025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1F2924"/>
                </a:solidFill>
                <a:latin typeface="Cambria"/>
              </a:rPr>
              <a:t>Restraint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87323" y="4419600"/>
            <a:ext cx="109507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weight · 700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4791075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609600" y="5381625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04 · italic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1700" y="4972050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B05A3C"/>
                </a:solidFill>
                <a:latin typeface="Cambria"/>
              </a:rPr>
              <a:t>Restraint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52621" y="5381625"/>
            <a:ext cx="132977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italic + accent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071295"/>
            <a:ext cx="6477000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2D3833"/>
                </a:solidFill>
                <a:latin typeface="Cambria"/>
              </a:rPr>
              <a:t xml:space="preserve">Each axis carries a different register — weight is emphasis,
        italic is voice, family is genre. Three voices, used surgically.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87045" y="6438900"/>
            <a:ext cx="1669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Restraint 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48989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04 · The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38800" y="3619500"/>
            <a:ext cx="9144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729335" y="4010025"/>
            <a:ext cx="4733181" cy="11784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4050" b="0" i="1" u="none">
                <a:solidFill>
                  <a:srgbClr val="1F2924"/>
                </a:solidFill>
                <a:latin typeface="Cambria"/>
              </a:rPr>
              <a:t xml:space="preserve">
        To remove a thing</a:t>
            </a:r>
          </a:p>
          <a:p>
            <a:pPr algn="ctr"/>
            <a:r>
              <a:rPr sz="4050" b="0" i="1" u="none">
                <a:solidFill>
                  <a:srgbClr val="1F2924"/>
                </a:solidFill>
                <a:latin typeface="Cambria"/>
              </a:rPr>
              <a:t xml:space="preserve">
        is to say what mattered.
    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791200"/>
            <a:ext cx="1219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7A8978"/>
                </a:solidFill>
                <a:latin typeface="Consolas"/>
              </a:rPr>
              <a:t>— Studio Atlas, on editing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26460" y="6438900"/>
            <a:ext cx="19907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The discipline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2D3833"/>
              </a:gs>
              <a:gs pos="55000">
                <a:srgbClr val="0F1311"/>
              </a:gs>
              <a:gs pos="100000">
                <a:srgbClr val="8A4530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C7C0AE">
                  <a:alpha val="30000"/>
                </a:srgbClr>
              </a:gs>
              <a:gs pos="60000">
                <a:srgbClr val="C7C0AE">
                  <a:alpha val="0"/>
                </a:srgbClr>
              </a:gs>
            </a:gsLst>
            <a:path path="circle">
              <a:fillToRect l="32000" t="40000" r="68000" b="6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5143500"/>
            <a:ext cx="12192000" cy="19050"/>
          </a:xfrm>
          <a:prstGeom prst="rect">
            <a:avLst/>
          </a:prstGeom>
          <a:solidFill>
            <a:srgbClr val="8A4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-381000" y="3619500"/>
            <a:ext cx="6286500" cy="2667000"/>
          </a:xfrm>
          <a:prstGeom prst="rect">
            <a:avLst/>
          </a:prstGeom>
          <a:gradFill flip="none" rotWithShape="1">
            <a:gsLst>
              <a:gs pos="0">
                <a:srgbClr val="EFE9DC"/>
              </a:gs>
              <a:gs pos="100000">
                <a:srgbClr val="C7C0AE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81000" y="4095750"/>
            <a:ext cx="3619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381000" y="4286250"/>
            <a:ext cx="3048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81000" y="4476750"/>
            <a:ext cx="3810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81000" y="4667250"/>
            <a:ext cx="2667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381000" y="4857750"/>
            <a:ext cx="3429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81000" y="5048250"/>
            <a:ext cx="2095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81000" y="5238750"/>
            <a:ext cx="3238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381000" y="5429250"/>
            <a:ext cx="1714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/>
          <p:cNvSpPr/>
          <p:nvPr/>
        </p:nvSpPr>
        <p:spPr>
          <a:xfrm>
            <a:off x="4095750" y="3762375"/>
            <a:ext cx="1714500" cy="57150"/>
          </a:xfrm>
          <a:prstGeom prst="round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5715000" y="3743325"/>
            <a:ext cx="209550" cy="95250"/>
          </a:xfrm>
          <a:prstGeom prst="rect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-571500" y="1714500"/>
            <a:ext cx="3048000" cy="381000"/>
          </a:xfrm>
          <a:prstGeom prst="ellipse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-476250" y="1724025"/>
            <a:ext cx="2857500" cy="266700"/>
          </a:xfrm>
          <a:prstGeom prst="ellipse">
            <a:avLst/>
          </a:prstGeom>
          <a:solidFill>
            <a:srgbClr val="C7C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/>
          <p:cNvSpPr/>
          <p:nvPr/>
        </p:nvSpPr>
        <p:spPr>
          <a:xfrm>
            <a:off x="190500" y="476250"/>
            <a:ext cx="1524000" cy="13811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6250" y="89655"/>
                </a:lnTo>
                <a:quadBezTo>
                  <a:pt x="6250" y="100000"/>
                  <a:pt x="50000" y="100000"/>
                </a:quadBezTo>
                <a:quadBezTo>
                  <a:pt x="93750" y="100000"/>
                  <a:pt x="93750" y="89655"/>
                </a:quadBezTo>
                <a:lnTo>
                  <a:pt x="100000" y="0"/>
                </a:lnTo>
                <a:close/>
              </a:path>
            </a:pathLst>
          </a:custGeom>
          <a:gradFill flip="none" rotWithShape="1">
            <a:gsLst>
              <a:gs pos="0">
                <a:srgbClr val="EFE9DC"/>
              </a:gs>
              <a:gs pos="55000">
                <a:srgbClr val="C7C0AE"/>
              </a:gs>
              <a:gs pos="100000">
                <a:srgbClr val="7A8978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190500" y="342900"/>
            <a:ext cx="1524000" cy="266700"/>
          </a:xfrm>
          <a:prstGeom prst="ellipse">
            <a:avLst/>
          </a:prstGeom>
          <a:gradFill flip="none" rotWithShape="1">
            <a:gsLst>
              <a:gs pos="0">
                <a:srgbClr val="0F1311"/>
              </a:gs>
              <a:gs pos="100000">
                <a:srgbClr val="1F2924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228600" y="381000"/>
            <a:ext cx="1447800" cy="190500"/>
          </a:xfrm>
          <a:prstGeom prst="ellipse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 21"/>
          <p:cNvSpPr/>
          <p:nvPr/>
        </p:nvSpPr>
        <p:spPr>
          <a:xfrm>
            <a:off x="1714500" y="762000"/>
            <a:ext cx="476250" cy="857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quadBezTo>
                  <a:pt x="100000" y="0"/>
                  <a:pt x="100000" y="55556"/>
                </a:quadBezTo>
                <a:quadBezTo>
                  <a:pt x="100000" y="100000"/>
                  <a:pt x="0" y="94444"/>
                </a:quadBezTo>
              </a:path>
            </a:pathLst>
          </a:custGeom>
          <a:noFill/>
          <a:ln w="57150">
            <a:solidFill>
              <a:srgbClr val="C7C0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-4762" y="-4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/>
          <p:cNvSpPr/>
          <p:nvPr/>
        </p:nvSpPr>
        <p:spPr>
          <a:xfrm>
            <a:off x="1300162" y="2576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605088" y="5157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3910012" y="881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5214938" y="3462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/>
        </p:nvSpPr>
        <p:spPr>
          <a:xfrm>
            <a:off x="6519862" y="6043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7824788" y="1766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/>
          <p:cNvSpPr/>
          <p:nvPr/>
        </p:nvSpPr>
        <p:spPr>
          <a:xfrm>
            <a:off x="9129712" y="4348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10434638" y="71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11739562" y="2652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852488" y="5233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2157412" y="957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3462338" y="3538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/>
          <p:cNvSpPr/>
          <p:nvPr/>
        </p:nvSpPr>
        <p:spPr>
          <a:xfrm>
            <a:off x="4767262" y="6119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6072188" y="1843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7377112" y="4424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8682038" y="147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9986962" y="2728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11291888" y="5310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404812" y="1033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1709738" y="3614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3014662" y="6196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4319588" y="1919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5624512" y="4500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6929438" y="223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8234362" y="2805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9539288" y="5386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10844212" y="1109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/>
          <p:cNvSpPr/>
          <p:nvPr/>
        </p:nvSpPr>
        <p:spPr>
          <a:xfrm>
            <a:off x="12149138" y="3690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1262062" y="6272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2566988" y="1995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3871912" y="4576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/>
          <p:cNvSpPr/>
          <p:nvPr/>
        </p:nvSpPr>
        <p:spPr>
          <a:xfrm>
            <a:off x="5176838" y="300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6481762" y="2881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/>
          <p:cNvSpPr/>
          <p:nvPr/>
        </p:nvSpPr>
        <p:spPr>
          <a:xfrm>
            <a:off x="7786688" y="5462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/>
          <p:cNvSpPr/>
          <p:nvPr/>
        </p:nvSpPr>
        <p:spPr>
          <a:xfrm>
            <a:off x="9091612" y="1185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/>
          <p:cNvSpPr/>
          <p:nvPr/>
        </p:nvSpPr>
        <p:spPr>
          <a:xfrm>
            <a:off x="10396538" y="3767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11701462" y="6348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/>
          <p:cNvSpPr/>
          <p:nvPr/>
        </p:nvSpPr>
        <p:spPr>
          <a:xfrm>
            <a:off x="814388" y="2071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/>
          <p:cNvSpPr/>
          <p:nvPr/>
        </p:nvSpPr>
        <p:spPr>
          <a:xfrm>
            <a:off x="2119312" y="4652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/>
          <p:cNvSpPr/>
          <p:nvPr/>
        </p:nvSpPr>
        <p:spPr>
          <a:xfrm>
            <a:off x="3424238" y="376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/>
          <p:cNvSpPr/>
          <p:nvPr/>
        </p:nvSpPr>
        <p:spPr>
          <a:xfrm>
            <a:off x="4729162" y="2957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/>
          <p:cNvSpPr/>
          <p:nvPr/>
        </p:nvSpPr>
        <p:spPr>
          <a:xfrm>
            <a:off x="6034088" y="5538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/>
          <p:cNvSpPr/>
          <p:nvPr/>
        </p:nvSpPr>
        <p:spPr>
          <a:xfrm>
            <a:off x="7339012" y="1262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/>
          <p:cNvSpPr/>
          <p:nvPr/>
        </p:nvSpPr>
        <p:spPr>
          <a:xfrm>
            <a:off x="8643938" y="3843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9948862" y="6424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/>
          <p:cNvSpPr/>
          <p:nvPr/>
        </p:nvSpPr>
        <p:spPr>
          <a:xfrm>
            <a:off x="11253788" y="2147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/>
          <p:cNvSpPr/>
          <p:nvPr/>
        </p:nvSpPr>
        <p:spPr>
          <a:xfrm>
            <a:off x="366712" y="4729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/>
          <p:cNvSpPr/>
          <p:nvPr/>
        </p:nvSpPr>
        <p:spPr>
          <a:xfrm>
            <a:off x="1671638" y="452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/>
          <p:cNvSpPr/>
          <p:nvPr/>
        </p:nvSpPr>
        <p:spPr>
          <a:xfrm>
            <a:off x="2976562" y="3033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/>
          <p:cNvSpPr/>
          <p:nvPr/>
        </p:nvSpPr>
        <p:spPr>
          <a:xfrm>
            <a:off x="4281488" y="5614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/>
          <p:cNvSpPr/>
          <p:nvPr/>
        </p:nvSpPr>
        <p:spPr>
          <a:xfrm>
            <a:off x="5586412" y="1338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/>
          <p:cNvSpPr/>
          <p:nvPr/>
        </p:nvSpPr>
        <p:spPr>
          <a:xfrm>
            <a:off x="6891338" y="3919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/>
          <p:cNvSpPr/>
          <p:nvPr/>
        </p:nvSpPr>
        <p:spPr>
          <a:xfrm>
            <a:off x="8196262" y="6500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/>
          <p:cNvSpPr/>
          <p:nvPr/>
        </p:nvSpPr>
        <p:spPr>
          <a:xfrm>
            <a:off x="9501188" y="2224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/>
          <p:cNvSpPr/>
          <p:nvPr/>
        </p:nvSpPr>
        <p:spPr>
          <a:xfrm>
            <a:off x="10806112" y="4805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Oval 78"/>
          <p:cNvSpPr/>
          <p:nvPr/>
        </p:nvSpPr>
        <p:spPr>
          <a:xfrm>
            <a:off x="12111038" y="528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/>
          <p:cNvSpPr/>
          <p:nvPr/>
        </p:nvSpPr>
        <p:spPr>
          <a:xfrm>
            <a:off x="1223962" y="3109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/>
          <p:cNvSpPr/>
          <p:nvPr/>
        </p:nvSpPr>
        <p:spPr>
          <a:xfrm>
            <a:off x="2528888" y="5691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/>
          <p:cNvSpPr/>
          <p:nvPr/>
        </p:nvSpPr>
        <p:spPr>
          <a:xfrm>
            <a:off x="3833812" y="1414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/>
          <p:cNvSpPr/>
          <p:nvPr/>
        </p:nvSpPr>
        <p:spPr>
          <a:xfrm>
            <a:off x="5138738" y="3995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/>
          <p:cNvSpPr/>
          <p:nvPr/>
        </p:nvSpPr>
        <p:spPr>
          <a:xfrm>
            <a:off x="6443662" y="6577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/>
          <p:cNvSpPr/>
          <p:nvPr/>
        </p:nvSpPr>
        <p:spPr>
          <a:xfrm>
            <a:off x="7748588" y="2300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9053512" y="4881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10358438" y="604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11663362" y="3186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/>
          <p:cNvSpPr/>
          <p:nvPr/>
        </p:nvSpPr>
        <p:spPr>
          <a:xfrm>
            <a:off x="776288" y="5767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/>
          <p:cNvSpPr/>
          <p:nvPr/>
        </p:nvSpPr>
        <p:spPr>
          <a:xfrm>
            <a:off x="2081212" y="1490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/>
          <p:cNvSpPr/>
          <p:nvPr/>
        </p:nvSpPr>
        <p:spPr>
          <a:xfrm>
            <a:off x="3386138" y="4071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/>
          <p:cNvSpPr/>
          <p:nvPr/>
        </p:nvSpPr>
        <p:spPr>
          <a:xfrm>
            <a:off x="4691062" y="6653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/>
          <p:cNvSpPr/>
          <p:nvPr/>
        </p:nvSpPr>
        <p:spPr>
          <a:xfrm>
            <a:off x="5995988" y="2376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/>
          <p:cNvSpPr/>
          <p:nvPr/>
        </p:nvSpPr>
        <p:spPr>
          <a:xfrm>
            <a:off x="7300912" y="4957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/>
          <p:cNvSpPr/>
          <p:nvPr/>
        </p:nvSpPr>
        <p:spPr>
          <a:xfrm>
            <a:off x="8605838" y="681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/>
          <p:cNvSpPr/>
          <p:nvPr/>
        </p:nvSpPr>
        <p:spPr>
          <a:xfrm>
            <a:off x="9910762" y="3262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/>
          <p:cNvSpPr/>
          <p:nvPr/>
        </p:nvSpPr>
        <p:spPr>
          <a:xfrm>
            <a:off x="11215688" y="5843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/>
          <p:cNvSpPr/>
          <p:nvPr/>
        </p:nvSpPr>
        <p:spPr>
          <a:xfrm>
            <a:off x="328612" y="1566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/>
          <p:cNvSpPr/>
          <p:nvPr/>
        </p:nvSpPr>
        <p:spPr>
          <a:xfrm>
            <a:off x="1633538" y="4148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/>
          <p:cNvSpPr/>
          <p:nvPr/>
        </p:nvSpPr>
        <p:spPr>
          <a:xfrm>
            <a:off x="2938462" y="6729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/>
          <p:cNvSpPr/>
          <p:nvPr/>
        </p:nvSpPr>
        <p:spPr>
          <a:xfrm>
            <a:off x="4243388" y="2452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/>
          <p:cNvSpPr/>
          <p:nvPr/>
        </p:nvSpPr>
        <p:spPr>
          <a:xfrm>
            <a:off x="5548312" y="5033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/>
          <p:cNvSpPr/>
          <p:nvPr/>
        </p:nvSpPr>
        <p:spPr>
          <a:xfrm>
            <a:off x="6853238" y="757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/>
          <p:cNvSpPr/>
          <p:nvPr/>
        </p:nvSpPr>
        <p:spPr>
          <a:xfrm>
            <a:off x="8158162" y="3338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/>
          <p:cNvSpPr/>
          <p:nvPr/>
        </p:nvSpPr>
        <p:spPr>
          <a:xfrm>
            <a:off x="9463088" y="5919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Oval 105"/>
          <p:cNvSpPr/>
          <p:nvPr/>
        </p:nvSpPr>
        <p:spPr>
          <a:xfrm>
            <a:off x="10768012" y="1643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/>
          <p:cNvSpPr/>
          <p:nvPr/>
        </p:nvSpPr>
        <p:spPr>
          <a:xfrm>
            <a:off x="12072938" y="4224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/>
          <p:cNvSpPr/>
          <p:nvPr/>
        </p:nvSpPr>
        <p:spPr>
          <a:xfrm>
            <a:off x="1185862" y="6805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/>
          <p:cNvSpPr/>
          <p:nvPr/>
        </p:nvSpPr>
        <p:spPr>
          <a:xfrm>
            <a:off x="2490788" y="2528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Oval 109"/>
          <p:cNvSpPr/>
          <p:nvPr/>
        </p:nvSpPr>
        <p:spPr>
          <a:xfrm>
            <a:off x="3795712" y="5110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/>
          <p:cNvSpPr/>
          <p:nvPr/>
        </p:nvSpPr>
        <p:spPr>
          <a:xfrm>
            <a:off x="5100638" y="833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/>
          <p:cNvSpPr/>
          <p:nvPr/>
        </p:nvSpPr>
        <p:spPr>
          <a:xfrm>
            <a:off x="6405562" y="3414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Oval 112"/>
          <p:cNvSpPr/>
          <p:nvPr/>
        </p:nvSpPr>
        <p:spPr>
          <a:xfrm>
            <a:off x="7710488" y="5995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/>
          <p:cNvSpPr/>
          <p:nvPr/>
        </p:nvSpPr>
        <p:spPr>
          <a:xfrm>
            <a:off x="9015412" y="1719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/>
          <p:cNvSpPr/>
          <p:nvPr/>
        </p:nvSpPr>
        <p:spPr>
          <a:xfrm>
            <a:off x="10320338" y="4300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/>
          <p:cNvSpPr/>
          <p:nvPr/>
        </p:nvSpPr>
        <p:spPr>
          <a:xfrm>
            <a:off x="11625262" y="23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Oval 116"/>
          <p:cNvSpPr/>
          <p:nvPr/>
        </p:nvSpPr>
        <p:spPr>
          <a:xfrm>
            <a:off x="738188" y="2605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Oval 117"/>
          <p:cNvSpPr/>
          <p:nvPr/>
        </p:nvSpPr>
        <p:spPr>
          <a:xfrm>
            <a:off x="2043112" y="5186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Oval 118"/>
          <p:cNvSpPr/>
          <p:nvPr/>
        </p:nvSpPr>
        <p:spPr>
          <a:xfrm>
            <a:off x="3348038" y="909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Oval 119"/>
          <p:cNvSpPr/>
          <p:nvPr/>
        </p:nvSpPr>
        <p:spPr>
          <a:xfrm>
            <a:off x="4652962" y="3490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Oval 120"/>
          <p:cNvSpPr/>
          <p:nvPr/>
        </p:nvSpPr>
        <p:spPr>
          <a:xfrm>
            <a:off x="5957888" y="6072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/>
          <p:cNvSpPr/>
          <p:nvPr/>
        </p:nvSpPr>
        <p:spPr>
          <a:xfrm>
            <a:off x="7262812" y="1795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/>
          <p:cNvSpPr/>
          <p:nvPr/>
        </p:nvSpPr>
        <p:spPr>
          <a:xfrm>
            <a:off x="8567738" y="4376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Oval 123"/>
          <p:cNvSpPr/>
          <p:nvPr/>
        </p:nvSpPr>
        <p:spPr>
          <a:xfrm>
            <a:off x="9872662" y="100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/>
          <p:cNvSpPr/>
          <p:nvPr/>
        </p:nvSpPr>
        <p:spPr>
          <a:xfrm>
            <a:off x="11177588" y="2681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Oval 125"/>
          <p:cNvSpPr/>
          <p:nvPr/>
        </p:nvSpPr>
        <p:spPr>
          <a:xfrm>
            <a:off x="290512" y="5262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Oval 126"/>
          <p:cNvSpPr/>
          <p:nvPr/>
        </p:nvSpPr>
        <p:spPr>
          <a:xfrm>
            <a:off x="1595438" y="985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Oval 127"/>
          <p:cNvSpPr/>
          <p:nvPr/>
        </p:nvSpPr>
        <p:spPr>
          <a:xfrm>
            <a:off x="2900362" y="3567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Oval 128"/>
          <p:cNvSpPr/>
          <p:nvPr/>
        </p:nvSpPr>
        <p:spPr>
          <a:xfrm>
            <a:off x="4205288" y="6148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Oval 129"/>
          <p:cNvSpPr/>
          <p:nvPr/>
        </p:nvSpPr>
        <p:spPr>
          <a:xfrm>
            <a:off x="5510212" y="1871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Oval 130"/>
          <p:cNvSpPr/>
          <p:nvPr/>
        </p:nvSpPr>
        <p:spPr>
          <a:xfrm>
            <a:off x="6815138" y="4452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Oval 131"/>
          <p:cNvSpPr/>
          <p:nvPr/>
        </p:nvSpPr>
        <p:spPr>
          <a:xfrm>
            <a:off x="8120062" y="176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Oval 132"/>
          <p:cNvSpPr/>
          <p:nvPr/>
        </p:nvSpPr>
        <p:spPr>
          <a:xfrm>
            <a:off x="9424988" y="2757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/>
          <p:cNvSpPr/>
          <p:nvPr/>
        </p:nvSpPr>
        <p:spPr>
          <a:xfrm>
            <a:off x="10729912" y="5338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Oval 134"/>
          <p:cNvSpPr/>
          <p:nvPr/>
        </p:nvSpPr>
        <p:spPr>
          <a:xfrm>
            <a:off x="12034838" y="1062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Oval 135"/>
          <p:cNvSpPr/>
          <p:nvPr/>
        </p:nvSpPr>
        <p:spPr>
          <a:xfrm>
            <a:off x="1147762" y="3643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Oval 136"/>
          <p:cNvSpPr/>
          <p:nvPr/>
        </p:nvSpPr>
        <p:spPr>
          <a:xfrm>
            <a:off x="2452688" y="6224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Oval 137"/>
          <p:cNvSpPr/>
          <p:nvPr/>
        </p:nvSpPr>
        <p:spPr>
          <a:xfrm>
            <a:off x="3757612" y="1947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Oval 138"/>
          <p:cNvSpPr/>
          <p:nvPr/>
        </p:nvSpPr>
        <p:spPr>
          <a:xfrm>
            <a:off x="5062538" y="4529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Oval 139"/>
          <p:cNvSpPr/>
          <p:nvPr/>
        </p:nvSpPr>
        <p:spPr>
          <a:xfrm>
            <a:off x="6367462" y="252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Oval 140"/>
          <p:cNvSpPr/>
          <p:nvPr/>
        </p:nvSpPr>
        <p:spPr>
          <a:xfrm>
            <a:off x="7672388" y="2833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Oval 141"/>
          <p:cNvSpPr/>
          <p:nvPr/>
        </p:nvSpPr>
        <p:spPr>
          <a:xfrm>
            <a:off x="8977312" y="5414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Oval 142"/>
          <p:cNvSpPr/>
          <p:nvPr/>
        </p:nvSpPr>
        <p:spPr>
          <a:xfrm>
            <a:off x="10282238" y="1138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Oval 143"/>
          <p:cNvSpPr/>
          <p:nvPr/>
        </p:nvSpPr>
        <p:spPr>
          <a:xfrm>
            <a:off x="11587162" y="3719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Oval 144"/>
          <p:cNvSpPr/>
          <p:nvPr/>
        </p:nvSpPr>
        <p:spPr>
          <a:xfrm>
            <a:off x="700088" y="6300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Oval 145"/>
          <p:cNvSpPr/>
          <p:nvPr/>
        </p:nvSpPr>
        <p:spPr>
          <a:xfrm>
            <a:off x="2005012" y="2024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Oval 146"/>
          <p:cNvSpPr/>
          <p:nvPr/>
        </p:nvSpPr>
        <p:spPr>
          <a:xfrm>
            <a:off x="3309938" y="4605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Oval 147"/>
          <p:cNvSpPr/>
          <p:nvPr/>
        </p:nvSpPr>
        <p:spPr>
          <a:xfrm>
            <a:off x="4614862" y="328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Oval 148"/>
          <p:cNvSpPr/>
          <p:nvPr/>
        </p:nvSpPr>
        <p:spPr>
          <a:xfrm>
            <a:off x="5919788" y="2909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Oval 149"/>
          <p:cNvSpPr/>
          <p:nvPr/>
        </p:nvSpPr>
        <p:spPr>
          <a:xfrm>
            <a:off x="7224712" y="5491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Oval 150"/>
          <p:cNvSpPr/>
          <p:nvPr/>
        </p:nvSpPr>
        <p:spPr>
          <a:xfrm>
            <a:off x="8529638" y="1214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/>
          <p:cNvSpPr/>
          <p:nvPr/>
        </p:nvSpPr>
        <p:spPr>
          <a:xfrm>
            <a:off x="9834562" y="3795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/>
          <p:cNvSpPr/>
          <p:nvPr/>
        </p:nvSpPr>
        <p:spPr>
          <a:xfrm>
            <a:off x="11139488" y="6376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/>
          <p:cNvSpPr/>
          <p:nvPr/>
        </p:nvSpPr>
        <p:spPr>
          <a:xfrm>
            <a:off x="252412" y="2100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Oval 154"/>
          <p:cNvSpPr/>
          <p:nvPr/>
        </p:nvSpPr>
        <p:spPr>
          <a:xfrm>
            <a:off x="1557338" y="4681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Oval 155"/>
          <p:cNvSpPr/>
          <p:nvPr/>
        </p:nvSpPr>
        <p:spPr>
          <a:xfrm>
            <a:off x="2862262" y="404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Oval 156"/>
          <p:cNvSpPr/>
          <p:nvPr/>
        </p:nvSpPr>
        <p:spPr>
          <a:xfrm>
            <a:off x="4167188" y="2986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Oval 157"/>
          <p:cNvSpPr/>
          <p:nvPr/>
        </p:nvSpPr>
        <p:spPr>
          <a:xfrm>
            <a:off x="5472112" y="5567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Oval 158"/>
          <p:cNvSpPr/>
          <p:nvPr/>
        </p:nvSpPr>
        <p:spPr>
          <a:xfrm>
            <a:off x="6777038" y="1290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Oval 159"/>
          <p:cNvSpPr/>
          <p:nvPr/>
        </p:nvSpPr>
        <p:spPr>
          <a:xfrm>
            <a:off x="8081962" y="3871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Oval 160"/>
          <p:cNvSpPr/>
          <p:nvPr/>
        </p:nvSpPr>
        <p:spPr>
          <a:xfrm>
            <a:off x="9386888" y="6453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Oval 161"/>
          <p:cNvSpPr/>
          <p:nvPr/>
        </p:nvSpPr>
        <p:spPr>
          <a:xfrm>
            <a:off x="10691812" y="2176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Oval 162"/>
          <p:cNvSpPr/>
          <p:nvPr/>
        </p:nvSpPr>
        <p:spPr>
          <a:xfrm>
            <a:off x="11996738" y="4757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Oval 163"/>
          <p:cNvSpPr/>
          <p:nvPr/>
        </p:nvSpPr>
        <p:spPr>
          <a:xfrm>
            <a:off x="1109662" y="481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Oval 164"/>
          <p:cNvSpPr/>
          <p:nvPr/>
        </p:nvSpPr>
        <p:spPr>
          <a:xfrm>
            <a:off x="2414588" y="3062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Oval 165"/>
          <p:cNvSpPr/>
          <p:nvPr/>
        </p:nvSpPr>
        <p:spPr>
          <a:xfrm>
            <a:off x="3719512" y="5643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Oval 166"/>
          <p:cNvSpPr/>
          <p:nvPr/>
        </p:nvSpPr>
        <p:spPr>
          <a:xfrm>
            <a:off x="5024438" y="1366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8" name="Oval 167"/>
          <p:cNvSpPr/>
          <p:nvPr/>
        </p:nvSpPr>
        <p:spPr>
          <a:xfrm>
            <a:off x="6329362" y="3948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9" name="Oval 168"/>
          <p:cNvSpPr/>
          <p:nvPr/>
        </p:nvSpPr>
        <p:spPr>
          <a:xfrm>
            <a:off x="7634288" y="6529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Oval 169"/>
          <p:cNvSpPr/>
          <p:nvPr/>
        </p:nvSpPr>
        <p:spPr>
          <a:xfrm>
            <a:off x="8939212" y="2252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Oval 170"/>
          <p:cNvSpPr/>
          <p:nvPr/>
        </p:nvSpPr>
        <p:spPr>
          <a:xfrm>
            <a:off x="10244138" y="4833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Oval 171"/>
          <p:cNvSpPr/>
          <p:nvPr/>
        </p:nvSpPr>
        <p:spPr>
          <a:xfrm>
            <a:off x="11549062" y="557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Oval 172"/>
          <p:cNvSpPr/>
          <p:nvPr/>
        </p:nvSpPr>
        <p:spPr>
          <a:xfrm>
            <a:off x="661988" y="3138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" name="Oval 173"/>
          <p:cNvSpPr/>
          <p:nvPr/>
        </p:nvSpPr>
        <p:spPr>
          <a:xfrm>
            <a:off x="1966912" y="5719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5" name="Oval 174"/>
          <p:cNvSpPr/>
          <p:nvPr/>
        </p:nvSpPr>
        <p:spPr>
          <a:xfrm>
            <a:off x="3271838" y="1443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6" name="Oval 175"/>
          <p:cNvSpPr/>
          <p:nvPr/>
        </p:nvSpPr>
        <p:spPr>
          <a:xfrm>
            <a:off x="4576762" y="4024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7" name="Oval 176"/>
          <p:cNvSpPr/>
          <p:nvPr/>
        </p:nvSpPr>
        <p:spPr>
          <a:xfrm>
            <a:off x="5881688" y="6605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Oval 177"/>
          <p:cNvSpPr/>
          <p:nvPr/>
        </p:nvSpPr>
        <p:spPr>
          <a:xfrm>
            <a:off x="7186612" y="2328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Oval 178"/>
          <p:cNvSpPr/>
          <p:nvPr/>
        </p:nvSpPr>
        <p:spPr>
          <a:xfrm>
            <a:off x="8491538" y="4910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0" name="Oval 179"/>
          <p:cNvSpPr/>
          <p:nvPr/>
        </p:nvSpPr>
        <p:spPr>
          <a:xfrm>
            <a:off x="9796462" y="633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1" name="Oval 180"/>
          <p:cNvSpPr/>
          <p:nvPr/>
        </p:nvSpPr>
        <p:spPr>
          <a:xfrm>
            <a:off x="11101388" y="3214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2" name="Oval 181"/>
          <p:cNvSpPr/>
          <p:nvPr/>
        </p:nvSpPr>
        <p:spPr>
          <a:xfrm>
            <a:off x="214312" y="5795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" name="Oval 182"/>
          <p:cNvSpPr/>
          <p:nvPr/>
        </p:nvSpPr>
        <p:spPr>
          <a:xfrm>
            <a:off x="1519238" y="1519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4" name="Oval 183"/>
          <p:cNvSpPr/>
          <p:nvPr/>
        </p:nvSpPr>
        <p:spPr>
          <a:xfrm>
            <a:off x="2824162" y="4100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5" name="Oval 184"/>
          <p:cNvSpPr/>
          <p:nvPr/>
        </p:nvSpPr>
        <p:spPr>
          <a:xfrm>
            <a:off x="4129088" y="6681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6" name="Oval 185"/>
          <p:cNvSpPr/>
          <p:nvPr/>
        </p:nvSpPr>
        <p:spPr>
          <a:xfrm>
            <a:off x="5434012" y="2405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7" name="Oval 186"/>
          <p:cNvSpPr/>
          <p:nvPr/>
        </p:nvSpPr>
        <p:spPr>
          <a:xfrm>
            <a:off x="6738938" y="4986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8" name="Oval 187"/>
          <p:cNvSpPr/>
          <p:nvPr/>
        </p:nvSpPr>
        <p:spPr>
          <a:xfrm>
            <a:off x="8043862" y="709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Oval 188"/>
          <p:cNvSpPr/>
          <p:nvPr/>
        </p:nvSpPr>
        <p:spPr>
          <a:xfrm>
            <a:off x="9348788" y="3290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0" name="Oval 189"/>
          <p:cNvSpPr/>
          <p:nvPr/>
        </p:nvSpPr>
        <p:spPr>
          <a:xfrm>
            <a:off x="10653712" y="5872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1" name="Oval 190"/>
          <p:cNvSpPr/>
          <p:nvPr/>
        </p:nvSpPr>
        <p:spPr>
          <a:xfrm>
            <a:off x="11958638" y="1595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2" name="Oval 191"/>
          <p:cNvSpPr/>
          <p:nvPr/>
        </p:nvSpPr>
        <p:spPr>
          <a:xfrm>
            <a:off x="1071562" y="4176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Oval 192"/>
          <p:cNvSpPr/>
          <p:nvPr/>
        </p:nvSpPr>
        <p:spPr>
          <a:xfrm>
            <a:off x="2376488" y="6757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Oval 193"/>
          <p:cNvSpPr/>
          <p:nvPr/>
        </p:nvSpPr>
        <p:spPr>
          <a:xfrm>
            <a:off x="3681412" y="2481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Oval 194"/>
          <p:cNvSpPr/>
          <p:nvPr/>
        </p:nvSpPr>
        <p:spPr>
          <a:xfrm>
            <a:off x="4986338" y="5062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6" name="Oval 195"/>
          <p:cNvSpPr/>
          <p:nvPr/>
        </p:nvSpPr>
        <p:spPr>
          <a:xfrm>
            <a:off x="6291262" y="785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Oval 196"/>
          <p:cNvSpPr/>
          <p:nvPr/>
        </p:nvSpPr>
        <p:spPr>
          <a:xfrm>
            <a:off x="7596188" y="3367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8" name="Oval 197"/>
          <p:cNvSpPr/>
          <p:nvPr/>
        </p:nvSpPr>
        <p:spPr>
          <a:xfrm>
            <a:off x="8901112" y="5948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Oval 198"/>
          <p:cNvSpPr/>
          <p:nvPr/>
        </p:nvSpPr>
        <p:spPr>
          <a:xfrm>
            <a:off x="10206038" y="1671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Oval 199"/>
          <p:cNvSpPr/>
          <p:nvPr/>
        </p:nvSpPr>
        <p:spPr>
          <a:xfrm>
            <a:off x="11510962" y="4252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Oval 200"/>
          <p:cNvSpPr/>
          <p:nvPr/>
        </p:nvSpPr>
        <p:spPr>
          <a:xfrm>
            <a:off x="623888" y="6834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Oval 201"/>
          <p:cNvSpPr/>
          <p:nvPr/>
        </p:nvSpPr>
        <p:spPr>
          <a:xfrm>
            <a:off x="1928812" y="2557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3" name="Picture 202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450" y="1619250"/>
            <a:ext cx="2667000" cy="3048000"/>
          </a:xfrm>
          <a:prstGeom prst="rect">
            <a:avLst/>
          </a:prstGeom>
        </p:spPr>
      </p:pic>
      <p:sp>
        <p:nvSpPr>
          <p:cNvPr id="204" name="TextBox 203"/>
          <p:cNvSpPr txBox="1"/>
          <p:nvPr/>
        </p:nvSpPr>
        <p:spPr>
          <a:xfrm>
            <a:off x="609600" y="304800"/>
            <a:ext cx="2028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EFE9DC"/>
                </a:solidFill>
                <a:latin typeface="Consolas"/>
              </a:rPr>
              <a:t>Plate VIII · Asymmetry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0431363" y="304800"/>
            <a:ext cx="115103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EFE9DC"/>
                </a:solidFill>
                <a:latin typeface="Consolas"/>
              </a:rPr>
              <a:t>Vol III · 2026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609600" y="4511278"/>
            <a:ext cx="4724400" cy="1432322"/>
          </a:xfrm>
          <a:prstGeom prst="rect">
            <a:avLst/>
          </a:prstGeom>
          <a:solidFill>
            <a:srgbClr val="0F1311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extBox 206"/>
          <p:cNvSpPr txBox="1"/>
          <p:nvPr/>
        </p:nvSpPr>
        <p:spPr>
          <a:xfrm>
            <a:off x="895350" y="4739878"/>
            <a:ext cx="4171950" cy="56554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EFE9DC"/>
                </a:solidFill>
                <a:latin typeface="Cambria"/>
              </a:rPr>
              <a:t xml:space="preserve">Where the eye chooses to rest is
          where the page chooses to live.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895350" y="5476875"/>
            <a:ext cx="457200" cy="95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" name="TextBox 208"/>
          <p:cNvSpPr txBox="1"/>
          <p:nvPr/>
        </p:nvSpPr>
        <p:spPr>
          <a:xfrm>
            <a:off x="895350" y="5600700"/>
            <a:ext cx="41719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C7C0AE"/>
                </a:solidFill>
                <a:latin typeface="Consolas"/>
              </a:rPr>
              <a:t>Plate VIII — fragment of a working desk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5887045" y="6438900"/>
            <a:ext cx="1669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Asymmetry —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028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05 · Asymmetry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38250"/>
            <a:ext cx="5085159" cy="419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0" i="0" u="none">
                <a:solidFill>
                  <a:srgbClr val="1F2924"/>
                </a:solidFill>
                <a:latin typeface="Cambria"/>
              </a:rPr>
              <a:t>A working method, in six small acts.</a:t>
            </a:r>
          </a:p>
        </p:txBody>
      </p:sp>
      <p:sp>
        <p:nvSpPr>
          <p:cNvPr id="6" name="Oval 5"/>
          <p:cNvSpPr/>
          <p:nvPr/>
        </p:nvSpPr>
        <p:spPr>
          <a:xfrm>
            <a:off x="609600" y="2190750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853281" y="2403184"/>
            <a:ext cx="153397" cy="15348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86745" y="61544"/>
                </a:moveTo>
                <a:cubicBezTo>
                  <a:pt x="100000" y="48297"/>
                  <a:pt x="100000" y="26495"/>
                  <a:pt x="86745" y="13247"/>
                </a:cubicBezTo>
                <a:cubicBezTo>
                  <a:pt x="73490" y="0"/>
                  <a:pt x="51676" y="0"/>
                  <a:pt x="38421" y="13247"/>
                </a:cubicBezTo>
                <a:lnTo>
                  <a:pt x="0" y="51646"/>
                </a:lnTo>
                <a:lnTo>
                  <a:pt x="0" y="100000"/>
                </a:lnTo>
                <a:lnTo>
                  <a:pt x="48381" y="100000"/>
                </a:lnTo>
                <a:close/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Connector 7"/>
          <p:cNvCxnSpPr/>
          <p:nvPr/>
        </p:nvCxnSpPr>
        <p:spPr>
          <a:xfrm flipH="1">
            <a:off x="827088" y="2460625"/>
            <a:ext cx="122237" cy="122237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888206" y="2521744"/>
            <a:ext cx="74216" cy="0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81025" y="2085975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0650" y="2247900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Cambria"/>
              </a:rPr>
              <a:t>Begin generously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0650" y="2552700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Calibri"/>
              </a:rPr>
              <a:t>Write the loud first draft. Do not edit while writing.</a:t>
            </a:r>
          </a:p>
        </p:txBody>
      </p:sp>
      <p:sp>
        <p:nvSpPr>
          <p:cNvPr id="13" name="Oval 12"/>
          <p:cNvSpPr/>
          <p:nvPr/>
        </p:nvSpPr>
        <p:spPr>
          <a:xfrm>
            <a:off x="4419600" y="2190750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4637088" y="2434431"/>
            <a:ext cx="174625" cy="12223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0" y="50000"/>
                  <a:pt x="15000" y="0"/>
                  <a:pt x="50000" y="0"/>
                </a:cubicBezTo>
                <a:cubicBezTo>
                  <a:pt x="85000" y="0"/>
                  <a:pt x="100000" y="50000"/>
                  <a:pt x="100000" y="50000"/>
                </a:cubicBezTo>
                <a:cubicBezTo>
                  <a:pt x="100000" y="50000"/>
                  <a:pt x="85000" y="100000"/>
                  <a:pt x="50000" y="100000"/>
                </a:cubicBezTo>
                <a:cubicBezTo>
                  <a:pt x="15000" y="100000"/>
                  <a:pt x="0" y="50000"/>
                  <a:pt x="0" y="50000"/>
                </a:cubicBezTo>
                <a:close/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4695825" y="2466975"/>
            <a:ext cx="57150" cy="5715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391025" y="2085975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0650" y="2247900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Cambria"/>
              </a:rPr>
              <a:t>Read it slowly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0650" y="2552700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Calibri"/>
              </a:rPr>
              <a:t>A page reread is a page rewritten in your head.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0" y="2190750"/>
            <a:ext cx="583257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8440192" y="2414588"/>
            <a:ext cx="57150" cy="5715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8440192" y="2519362"/>
            <a:ext cx="57150" cy="5715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Connector 21"/>
          <p:cNvCxnSpPr/>
          <p:nvPr/>
        </p:nvCxnSpPr>
        <p:spPr>
          <a:xfrm flipH="1">
            <a:off x="8487277" y="2425700"/>
            <a:ext cx="103727" cy="103727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542720" y="2517204"/>
            <a:ext cx="48284" cy="48196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487277" y="2461673"/>
            <a:ext cx="33877" cy="33877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201025" y="2085975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84307" y="2247900"/>
            <a:ext cx="2598093" cy="495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Cambria"/>
              </a:rPr>
              <a:t>Cut what is true but unnecessary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4307" y="2800350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Calibri"/>
              </a:rPr>
              <a:t>The hardest line to remove is the one you wrote well.</a:t>
            </a:r>
          </a:p>
        </p:txBody>
      </p:sp>
      <p:sp>
        <p:nvSpPr>
          <p:cNvPr id="28" name="Oval 27"/>
          <p:cNvSpPr/>
          <p:nvPr/>
        </p:nvSpPr>
        <p:spPr>
          <a:xfrm>
            <a:off x="609600" y="3526929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Connector 28"/>
          <p:cNvCxnSpPr/>
          <p:nvPr/>
        </p:nvCxnSpPr>
        <p:spPr>
          <a:xfrm>
            <a:off x="853281" y="3831729"/>
            <a:ext cx="122238" cy="0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81025" y="3422154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90650" y="3584079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Cambria"/>
              </a:rPr>
              <a:t>Subtract the support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90650" y="3888879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Calibri"/>
              </a:rPr>
              <a:t>Decoration is the first to go. Hierarchy survives without it.</a:t>
            </a:r>
          </a:p>
        </p:txBody>
      </p:sp>
      <p:sp>
        <p:nvSpPr>
          <p:cNvPr id="33" name="Oval 32"/>
          <p:cNvSpPr/>
          <p:nvPr/>
        </p:nvSpPr>
        <p:spPr>
          <a:xfrm>
            <a:off x="4419600" y="3526929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4629150" y="3736479"/>
            <a:ext cx="190500" cy="19050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/>
          <p:cNvSpPr/>
          <p:nvPr/>
        </p:nvSpPr>
        <p:spPr>
          <a:xfrm>
            <a:off x="4687380" y="3794708"/>
            <a:ext cx="74040" cy="74041"/>
          </a:xfrm>
          <a:custGeom>
            <a:avLst/>
            <a:gdLst/>
            <a:ahLst/>
            <a:cxnLst/>
            <a:rect l="l" t="t" r="r" b="b"/>
            <a:pathLst>
              <a:path w="74040" h="74041">
                <a:moveTo>
                  <a:pt x="74040" y="0"/>
                </a:moveTo>
                <a:lnTo>
                  <a:pt x="55530" y="55531"/>
                </a:lnTo>
                <a:lnTo>
                  <a:pt x="0" y="74041"/>
                </a:lnTo>
                <a:lnTo>
                  <a:pt x="18510" y="18511"/>
                </a:lnTo>
                <a:lnTo>
                  <a:pt x="74040" y="0"/>
                </a:lnTo>
                <a:close/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4391025" y="3422154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00650" y="3584079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Cambria"/>
              </a:rPr>
              <a:t>Re-anchor the argument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00650" y="3888879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Calibri"/>
              </a:rPr>
              <a:t>What is the page about? Move that to the centre.</a:t>
            </a:r>
          </a:p>
        </p:txBody>
      </p:sp>
      <p:sp>
        <p:nvSpPr>
          <p:cNvPr id="39" name="Oval 38"/>
          <p:cNvSpPr/>
          <p:nvPr/>
        </p:nvSpPr>
        <p:spPr>
          <a:xfrm>
            <a:off x="8229600" y="3526929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 39"/>
          <p:cNvSpPr/>
          <p:nvPr/>
        </p:nvSpPr>
        <p:spPr>
          <a:xfrm>
            <a:off x="8464550" y="3779341"/>
            <a:ext cx="139700" cy="9604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8201025" y="3422154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10650" y="3584079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Cambria"/>
              </a:rPr>
              <a:t>Stop early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10650" y="3888879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Calibri"/>
              </a:rPr>
              <a:t>The last cut should leave the page slightly underdressed.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87045" y="6438900"/>
            <a:ext cx="1669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Asymmetry 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184442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06 · Silence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08723" y="1249710"/>
            <a:ext cx="357455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8978"/>
                </a:solidFill>
                <a:latin typeface="Consolas"/>
              </a:rPr>
              <a:t>Drift, after twelve months of editing</a:t>
            </a:r>
          </a:p>
        </p:txBody>
      </p:sp>
      <p:pic>
        <p:nvPicPr>
          <p:cNvPr id="6" name="Picture 5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0" y="1602135"/>
            <a:ext cx="6477000" cy="2667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38800" y="4573935"/>
            <a:ext cx="9144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429000" y="4812060"/>
            <a:ext cx="5334000" cy="5866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0" i="0" u="none">
                <a:solidFill>
                  <a:srgbClr val="2D3833"/>
                </a:solidFill>
                <a:latin typeface="Cambria"/>
              </a:rPr>
              <a:t xml:space="preserve">The conversion drift across one thousand
          two hundred eighty-four decks.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51190" y="6438900"/>
            <a:ext cx="154111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Silence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30549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Colophon — 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38250"/>
            <a:ext cx="3603278" cy="419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0" i="0" u="none">
                <a:solidFill>
                  <a:srgbClr val="1F2924"/>
                </a:solidFill>
                <a:latin typeface="Cambria"/>
              </a:rPr>
              <a:t>The volume in six figures.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981200"/>
            <a:ext cx="10972800" cy="2762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2066925"/>
            <a:ext cx="69723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measure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1900" y="2066925"/>
            <a:ext cx="19050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86900" y="2066925"/>
            <a:ext cx="20955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delta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257425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09600" y="2505075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Atoms shipped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1900" y="2390775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155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86900" y="2524125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+94 vs Vol 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2819400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3067050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Native area, median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1900" y="2952750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87 %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86900" y="3086100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+29 pp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3381375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609600" y="3629025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Drift, escape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1900" y="3514725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0.12 %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86900" y="3648075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−2.1 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3943350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609600" y="4191000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Decks compiled, q1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1900" y="4076700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1,284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6900" y="4210050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+18 %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4505325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09600" y="4752975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Median compile, per slide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4638675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280 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86900" y="4772025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−40 ms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" y="5067300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609600" y="5314950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Issue size, this volume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1900" y="5200650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12 frames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86900" y="5334000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of twelve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19043" y="6438900"/>
            <a:ext cx="160540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Colophon 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87119" y="1849785"/>
            <a:ext cx="1617762" cy="19050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0" i="0" u="none">
                <a:solidFill>
                  <a:srgbClr val="B05A3C"/>
                </a:solidFill>
                <a:latin typeface="Cambria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2851" y="4231035"/>
            <a:ext cx="2286149" cy="53146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0" i="1" u="none">
                <a:solidFill>
                  <a:srgbClr val="2D3833"/>
                </a:solidFill>
                <a:latin typeface="Cambria"/>
              </a:rPr>
              <a:t xml:space="preserve">
          The last cut is the page that</a:t>
            </a:r>
          </a:p>
          <a:p>
            <a:pPr algn="ctr"/>
            <a:r>
              <a:rPr sz="1650" b="0" i="1" u="none">
                <a:solidFill>
                  <a:srgbClr val="2D3833"/>
                </a:solidFill>
                <a:latin typeface="Cambria"/>
              </a:rPr>
              <a:t xml:space="preserve">says only what it must.
      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5586115"/>
            <a:ext cx="2815828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5756077"/>
            <a:ext cx="2815828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Vol. III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5926038"/>
            <a:ext cx="2815828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— set in spectral, inter, jet brains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9784" y="5586115"/>
            <a:ext cx="1642616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Compiled with slidify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39784" y="5756077"/>
            <a:ext cx="1642616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pixelpitch.dev/atlas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39784" y="5926038"/>
            <a:ext cx="1642616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— end of volume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47482" y="6438900"/>
            <a:ext cx="134853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Fin. 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F2924"/>
      </a:accent1>
      <a:accent2>
        <a:srgbClr val="7A8978"/>
      </a:accent2>
      <a:accent3>
        <a:srgbClr val="2D3833"/>
      </a:accent3>
      <a:accent4>
        <a:srgbClr val="EFE9DC"/>
      </a:accent4>
      <a:accent5>
        <a:srgbClr val="B05A3C"/>
      </a:accent5>
      <a:accent6>
        <a:srgbClr val="E6DFD0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