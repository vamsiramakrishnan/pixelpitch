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32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95400"/>
            <a:ext cx="8763000" cy="112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 u="none">
                <a:solidFill>
                  <a:srgbClr val="F5F5F7"/>
                </a:solidFill>
                <a:latin typeface="Inter"/>
              </a:rPr>
              <a:t>Editability that compounds across every deck you ship.</a:t>
            </a:r>
          </a:p>
        </p:txBody>
      </p:sp>
      <p:sp>
        <p:nvSpPr>
          <p:cNvPr id="5" name="Rounded Rectangle 4"/>
          <p:cNvSpPr/>
          <p:nvPr/>
        </p:nvSpPr>
        <p:spPr>
          <a:gradFill flip="none" rotWithShape="1">
            <a:gsLst>
              <a:gs pos="0">
                <a:srgbClr val="FFFFFF">
                  <a:alpha val="40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xfrm>
            <a:off x="914400" y="2948880"/>
            <a:ext cx="3294311" cy="2724150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04925" y="3339405"/>
            <a:ext cx="251326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 u="none">
                <a:solidFill>
                  <a:srgbClr val="F5F5F7"/>
                </a:solidFill>
                <a:latin typeface="Inter"/>
              </a:rPr>
              <a:t>87</a:t>
            </a:r>
            <a:r>
              <a:rPr sz="3600" b="1" i="0" u="none">
                <a:solidFill>
                  <a:srgbClr val="A78BFA"/>
                </a:solidFill>
                <a:latin typeface="Inter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4925" y="4330005"/>
            <a:ext cx="251326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D4D4D8"/>
                </a:solidFill>
                <a:latin typeface="Inter"/>
              </a:rPr>
              <a:t>Native area ratio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4925" y="4682430"/>
            <a:ext cx="2513261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71717A"/>
                </a:solidFill>
                <a:latin typeface="Inter"/>
              </a:rPr>
              <a:t>Average across the 200-deck Genspark + v0 corpus. 0.95 stretch target.</a:t>
            </a:r>
          </a:p>
        </p:txBody>
      </p:sp>
      <p:sp>
        <p:nvSpPr>
          <p:cNvPr id="9" name="Rounded Rectangle 8"/>
          <p:cNvSpPr/>
          <p:nvPr/>
        </p:nvSpPr>
        <p:spPr>
          <a:gradFill flip="none" rotWithShape="1">
            <a:gsLst>
              <a:gs pos="0">
                <a:srgbClr val="FFFFFF">
                  <a:alpha val="40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xfrm>
            <a:off x="4437311" y="2948880"/>
            <a:ext cx="3294459" cy="2724150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7836" y="3339405"/>
            <a:ext cx="251340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 u="none">
                <a:solidFill>
                  <a:srgbClr val="F5F5F7"/>
                </a:solidFill>
                <a:latin typeface="Inter"/>
              </a:rPr>
              <a:t>23</a:t>
            </a:r>
            <a:r>
              <a:rPr sz="3600" b="1" i="0" u="none">
                <a:solidFill>
                  <a:srgbClr val="A78BFA"/>
                </a:solidFill>
                <a:latin typeface="Inter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7836" y="4330005"/>
            <a:ext cx="251340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D4D4D8"/>
                </a:solidFill>
                <a:latin typeface="Inter"/>
              </a:rPr>
              <a:t>Per 10-slide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7836" y="4682430"/>
            <a:ext cx="251340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71717A"/>
                </a:solidFill>
                <a:latin typeface="Inter"/>
              </a:rPr>
              <a:t>P95 conversion time on a single 8-core box, no GPU. 4-way render parallelism.</a:t>
            </a:r>
          </a:p>
        </p:txBody>
      </p:sp>
      <p:sp>
        <p:nvSpPr>
          <p:cNvPr id="13" name="Rounded Rectangle 12"/>
          <p:cNvSpPr/>
          <p:nvPr/>
        </p:nvSpPr>
        <p:spPr>
          <a:gradFill flip="none" rotWithShape="1">
            <a:gsLst>
              <a:gs pos="0">
                <a:srgbClr val="FFFFFF">
                  <a:alpha val="4000"/>
                </a:srgbClr>
              </a:gs>
              <a:gs pos="100000">
                <a:srgbClr val="FFFFFF">
                  <a:alpha val="2000"/>
                </a:srgbClr>
              </a:gs>
            </a:gsLst>
            <a:lin ang="5400000" scaled="0"/>
          </a:gradFill>
          <a:xfrm>
            <a:off x="7960370" y="2948880"/>
            <a:ext cx="3317230" cy="2724150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0895" y="3339405"/>
            <a:ext cx="25361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 u="none">
                <a:solidFill>
                  <a:srgbClr val="F5F5F7"/>
                </a:solidFill>
                <a:latin typeface="Inter"/>
              </a:rPr>
              <a:t>$0.04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0895" y="4330005"/>
            <a:ext cx="253618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D4D4D8"/>
                </a:solidFill>
                <a:latin typeface="Inter"/>
              </a:rPr>
              <a:t>LLM cost per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0895" y="4682430"/>
            <a:ext cx="253618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71717A"/>
                </a:solidFill>
                <a:latin typeface="Inter"/>
              </a:rPr>
              <a:t>Three-tier classifier means tier-3 only fires on the ambiguous 10%.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48400"/>
            <a:ext cx="2913757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SOURCE · Internal benchmark, April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68161" y="6248400"/>
            <a:ext cx="509439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52525B"/>
                </a:solidFill>
                <a:latin typeface="Inter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62000"/>
            <a:ext cx="7239000" cy="9599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Six pillars of the rendering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0771" y="1569541"/>
            <a:ext cx="586829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71717A"/>
                </a:solidFill>
                <a:latin typeface="Inter"/>
              </a:rPr>
              <a:t>03 / 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79141"/>
            <a:ext cx="3327350" cy="2190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gradFill flip="none" rotWithShape="1">
            <a:gsLst>
              <a:gs pos="0">
                <a:srgbClr val="6366F1"/>
              </a:gs>
              <a:gs pos="100000">
                <a:srgbClr val="8B5CF6"/>
              </a:gs>
            </a:gsLst>
            <a:lin ang="2700000" scaled="0"/>
          </a:gradFill>
          <a:xfrm>
            <a:off x="1190625" y="2455366"/>
            <a:ext cx="419100" cy="4191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Inter"/>
              </a:rPr>
              <a:t>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625" y="3169146"/>
            <a:ext cx="2774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Render before decide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0625" y="3473946"/>
            <a:ext cx="2774900" cy="619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Real Chromium computes layout. Static analysis cannot resolve flex/grid/flow geometry.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2250" y="2179141"/>
            <a:ext cx="3327350" cy="2190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gradFill flip="none" rotWithShape="1">
            <a:gsLst>
              <a:gs pos="0">
                <a:srgbClr val="8B5CF6"/>
              </a:gs>
              <a:gs pos="100000">
                <a:srgbClr val="EC4899"/>
              </a:gs>
            </a:gsLst>
            <a:lin ang="2700000" scaled="0"/>
          </a:gradFill>
          <a:xfrm>
            <a:off x="4708475" y="2455366"/>
            <a:ext cx="419100" cy="4191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Inter"/>
              </a:rPr>
              <a:t>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8475" y="3169146"/>
            <a:ext cx="2774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Visual units, not DOM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8475" y="3473946"/>
            <a:ext cx="2774900" cy="619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The classification atom is a connected visual region — a card, a bullet, a chart — not a single tag.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0101" y="2179141"/>
            <a:ext cx="3327499" cy="2190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gradFill flip="none" rotWithShape="1">
            <a:gsLst>
              <a:gs pos="0">
                <a:srgbClr val="EC4899"/>
              </a:gs>
              <a:gs pos="100000">
                <a:srgbClr val="F97316"/>
              </a:gs>
            </a:gsLst>
            <a:lin ang="2700000" scaled="0"/>
          </a:gradFill>
          <a:xfrm>
            <a:off x="8226326" y="2455366"/>
            <a:ext cx="419100" cy="4191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Inter"/>
              </a:rPr>
              <a:t>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6326" y="3375720"/>
            <a:ext cx="277504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Three-tier 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6326" y="3680520"/>
            <a:ext cx="2775049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Rules → heuristics → LLM. 70% decided free, 20% by score, 10% adjudicated.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60391"/>
            <a:ext cx="3327350" cy="2190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gradFill flip="none" rotWithShape="1">
            <a:gsLst>
              <a:gs pos="0">
                <a:srgbClr val="06B6D4"/>
              </a:gs>
              <a:gs pos="100000">
                <a:srgbClr val="6366F1"/>
              </a:gs>
            </a:gsLst>
            <a:lin ang="2700000" scaled="0"/>
          </a:gradFill>
          <a:xfrm>
            <a:off x="1190625" y="4836616"/>
            <a:ext cx="419100" cy="4191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Inter"/>
              </a:rPr>
              <a:t>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90625" y="5756970"/>
            <a:ext cx="2774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Confidence aware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0625" y="6061770"/>
            <a:ext cx="27749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Every decision carries a confidence. Low confidence triggers dual-emit fallback.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2250" y="4560391"/>
            <a:ext cx="3327350" cy="2190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gradFill flip="none" rotWithShape="1">
            <a:gsLst>
              <a:gs pos="0">
                <a:srgbClr val="22C55E"/>
              </a:gs>
              <a:gs pos="100000">
                <a:srgbClr val="06B6D4"/>
              </a:gs>
            </a:gsLst>
            <a:lin ang="2700000" scaled="0"/>
          </a:gradFill>
          <a:xfrm>
            <a:off x="4708475" y="4836616"/>
            <a:ext cx="419100" cy="4191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8475" y="5550396"/>
            <a:ext cx="27749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Self validating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8475" y="5855196"/>
            <a:ext cx="2774900" cy="619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SSIM + OCR oracle catches regressions. Failing regions auto-promote to raster and re-emit.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0101" y="4560391"/>
            <a:ext cx="3327499" cy="21907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gradFill flip="none" rotWithShape="1">
            <a:gsLst>
              <a:gs pos="0">
                <a:srgbClr val="F97316"/>
              </a:gs>
              <a:gs pos="100000">
                <a:srgbClr val="FACC15"/>
              </a:gs>
            </a:gsLst>
            <a:lin ang="2700000" scaled="0"/>
          </a:gradFill>
          <a:xfrm>
            <a:off x="8226326" y="4836616"/>
            <a:ext cx="419100" cy="419100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Inter"/>
              </a:rPr>
              <a:t>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6326" y="5550396"/>
            <a:ext cx="2775049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u="none">
                <a:solidFill>
                  <a:srgbClr val="F5F5F7"/>
                </a:solidFill>
                <a:latin typeface="Inter"/>
              </a:rPr>
              <a:t>Cache aggressively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6326" y="5855196"/>
            <a:ext cx="2775049" cy="619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Structural hashes hit 60–80% within a generator after warmup. Decisions are cheap to reuse.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32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The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95400"/>
            <a:ext cx="8763000" cy="4799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Render. Cluster. Classify. Emit. Validate.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84971"/>
            <a:ext cx="1889671" cy="19288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4425" y="2623096"/>
            <a:ext cx="335161" cy="219075"/>
          </a:xfrm>
          <a:prstGeom prst="rect">
            <a:avLst/>
          </a:prstGeom>
          <a:solidFill>
            <a:srgbClr val="A78BFA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F"/>
                </a:solidFill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4425" y="2975521"/>
            <a:ext cx="148962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Render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4425" y="3251746"/>
            <a:ext cx="1489621" cy="5572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Headless Chromium with animation freeze, font preload, two-rAF wait.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425" y="3942308"/>
            <a:ext cx="148962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PLAYWRIGHT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32671" y="2384971"/>
            <a:ext cx="1889820" cy="21145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32696" y="2623096"/>
            <a:ext cx="357932" cy="219075"/>
          </a:xfrm>
          <a:prstGeom prst="rect">
            <a:avLst/>
          </a:prstGeom>
          <a:solidFill>
            <a:srgbClr val="C084F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F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2696" y="2975521"/>
            <a:ext cx="148977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Cluster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2696" y="3251746"/>
            <a:ext cx="1489770" cy="742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DOM elements grouped into atomic visual units by anchor + spatial overlap.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2696" y="4128046"/>
            <a:ext cx="148977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~10–50 UNITS / SLIDE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1090" y="2384971"/>
            <a:ext cx="1889671" cy="192881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51115" y="2623096"/>
            <a:ext cx="359718" cy="219075"/>
          </a:xfrm>
          <a:prstGeom prst="rect">
            <a:avLst/>
          </a:prstGeom>
          <a:solidFill>
            <a:srgbClr val="F472B6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F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1115" y="2975521"/>
            <a:ext cx="148962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1115" y="3251746"/>
            <a:ext cx="1489621" cy="5572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Tier 1 rules → tier 2 heuristics → tier 3 LLM, batched per slide.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1115" y="3942308"/>
            <a:ext cx="148962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3 TIERS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361" y="2384971"/>
            <a:ext cx="1889820" cy="21145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9386" y="2623096"/>
            <a:ext cx="363289" cy="219075"/>
          </a:xfrm>
          <a:prstGeom prst="rect">
            <a:avLst/>
          </a:prstGeom>
          <a:solidFill>
            <a:srgbClr val="FB923C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F"/>
                </a:solidFill>
                <a:latin typeface="Inter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9386" y="2975521"/>
            <a:ext cx="1489770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Emit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9386" y="3251746"/>
            <a:ext cx="1489770" cy="742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python-pptx writes native text, shapes, bullets, pictures with EMU precision.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9386" y="4128046"/>
            <a:ext cx="148977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OOXML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87780" y="2384971"/>
            <a:ext cx="1889671" cy="21145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87805" y="2623096"/>
            <a:ext cx="358973" cy="219075"/>
          </a:xfrm>
          <a:prstGeom prst="rect">
            <a:avLst/>
          </a:prstGeom>
          <a:solidFill>
            <a:srgbClr val="FACC15"/>
          </a:solidFill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F"/>
                </a:solidFill>
                <a:latin typeface="Inter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7805" y="2975521"/>
            <a:ext cx="148962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7805" y="3251746"/>
            <a:ext cx="1489621" cy="742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0" i="0" u="none">
                <a:solidFill>
                  <a:srgbClr val="A1A1AA"/>
                </a:solidFill>
                <a:latin typeface="Inter"/>
              </a:rPr>
              <a:t>LibreOffice re-renders. SSIM + OCR oracle. Auto-correct failing regions.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7805" y="4128046"/>
            <a:ext cx="1489621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52525B"/>
                </a:solidFill>
                <a:latin typeface="Inter"/>
              </a:rPr>
              <a:t>SSIM ≥ 0.95</a:t>
            </a:r>
          </a:p>
        </p:txBody>
      </p:sp>
      <p:sp>
        <p:nvSpPr>
          <p:cNvPr id="30" name="Rounded Rectangle 29"/>
          <p:cNvSpPr/>
          <p:nvPr/>
        </p:nvSpPr>
        <p:spPr>
          <a:gradFill flip="none" rotWithShape="1">
            <a:gsLst>
              <a:gs pos="0">
                <a:srgbClr val="6366F1">
                  <a:alpha val="12000"/>
                </a:srgbClr>
              </a:gs>
              <a:gs pos="100000">
                <a:srgbClr val="EC4899">
                  <a:alpha val="8000"/>
                </a:srgbClr>
              </a:gs>
            </a:gsLst>
            <a:lin ang="2700000" scaled="0"/>
          </a:gradFill>
          <a:xfrm>
            <a:off x="914400" y="5109121"/>
            <a:ext cx="10363200" cy="1041797"/>
          </a:xfrm>
          <a:prstGeom prst="roundRect">
            <a:avLst/>
          </a:prstGeom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04925" y="5530007"/>
            <a:ext cx="310306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F5F5F7"/>
                </a:solidFill>
                <a:latin typeface="Inter"/>
              </a:rPr>
              <a:t>Total budget · 25 s for a 10-slide deck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43575" y="5423446"/>
            <a:ext cx="5143500" cy="413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Bottleneck is render parallelism (Chart.js initialization). Tier 3 LLM is batched once per slide; cost ≤ $0.10/deck at default settings.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62000"/>
            <a:ext cx="103632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Before ·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85850"/>
            <a:ext cx="8763000" cy="9599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 u="none">
                <a:solidFill>
                  <a:srgbClr val="F5F5F7"/>
                </a:solidFill>
                <a:latin typeface="Inter"/>
              </a:rPr>
              <a:t>Same browser render. Two very different decks.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02991"/>
            <a:ext cx="5029200" cy="3843338"/>
          </a:xfrm>
          <a:prstGeom prst="roundRect">
            <a:avLst/>
          </a:prstGeom>
          <a:solidFill>
            <a:srgbClr val="3F3F46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6825" y="2855416"/>
            <a:ext cx="432435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 u="none">
                <a:solidFill>
                  <a:srgbClr val="A1A1AA"/>
                </a:solidFill>
                <a:latin typeface="Inter"/>
              </a:rPr>
              <a:t>Naive screenshot</a:t>
            </a:r>
            <a:r>
              <a:rPr sz="900" b="1" i="0" u="none">
                <a:solidFill>
                  <a:srgbClr val="A1A1AA"/>
                </a:solidFill>
                <a:latin typeface="Inter"/>
              </a:rPr>
              <a:t>OLD 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6825" y="3503116"/>
            <a:ext cx="209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FCA5A5"/>
                </a:solidFill>
                <a:latin typeface="Inter"/>
              </a:rPr>
              <a:t>• 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9725" y="3503116"/>
            <a:ext cx="3343721" cy="2071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5" b="0">
                <a:solidFill>
                  <a:srgbClr val="A1A1AA"/>
                </a:solidFill>
                <a:latin typeface="Inter"/>
              </a:rPr>
              <a:t>• Every slide is a 50 MB PNG embedded into PPTX.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6825" y="3988891"/>
            <a:ext cx="209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FCA5A5"/>
                </a:solidFill>
                <a:latin typeface="Inter"/>
              </a:rPr>
              <a:t>• 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725" y="3988891"/>
            <a:ext cx="3033564" cy="2071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5" b="0">
                <a:solidFill>
                  <a:srgbClr val="A1A1AA"/>
                </a:solidFill>
                <a:latin typeface="Inter"/>
              </a:rPr>
              <a:t>• No text is searchable, selectable, or editable.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6825" y="4474666"/>
            <a:ext cx="209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FCA5A5"/>
                </a:solidFill>
                <a:latin typeface="Inter"/>
              </a:rPr>
              <a:t>• 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725" y="4474666"/>
            <a:ext cx="3067496" cy="2071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5" b="0">
                <a:solidFill>
                  <a:srgbClr val="A1A1AA"/>
                </a:solidFill>
                <a:latin typeface="Inter"/>
              </a:rPr>
              <a:t>• Resizing the window degrades pixel-by-pixel.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6825" y="4960441"/>
            <a:ext cx="209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FCA5A5"/>
                </a:solidFill>
                <a:latin typeface="Inter"/>
              </a:rPr>
              <a:t>• 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725" y="4960441"/>
            <a:ext cx="3401169" cy="2071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5" b="0">
                <a:solidFill>
                  <a:srgbClr val="A1A1AA"/>
                </a:solidFill>
                <a:latin typeface="Inter"/>
              </a:rPr>
              <a:t>• Translation requires re-running the whole pipeline.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6825" y="5446216"/>
            <a:ext cx="209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FCA5A5"/>
                </a:solidFill>
                <a:latin typeface="Inter"/>
              </a:rPr>
              <a:t>• 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9725" y="5446216"/>
            <a:ext cx="3364557" cy="2071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25" b="0">
                <a:solidFill>
                  <a:srgbClr val="A1A1AA"/>
                </a:solidFill>
                <a:latin typeface="Inter"/>
              </a:rPr>
              <a:t>• Brand colors locked into raster — no theme swap.</a:t>
            </a:r>
          </a:p>
        </p:txBody>
      </p:sp>
      <p:sp>
        <p:nvSpPr>
          <p:cNvPr id="17" name="Rounded Rectangle 16"/>
          <p:cNvSpPr/>
          <p:nvPr/>
        </p:nvSpPr>
        <p:spPr>
          <a:gradFill flip="none" rotWithShape="1">
            <a:gsLst>
              <a:gs pos="0">
                <a:srgbClr val="6366F1">
                  <a:alpha val="18000"/>
                </a:srgbClr>
              </a:gs>
              <a:gs pos="100000">
                <a:srgbClr val="EC4899">
                  <a:alpha val="10000"/>
                </a:srgbClr>
              </a:gs>
            </a:gsLst>
            <a:lin ang="4200000" scaled="0"/>
          </a:gradFill>
          <a:xfrm>
            <a:off x="6248400" y="2502991"/>
            <a:ext cx="5029200" cy="3843338"/>
          </a:xfrm>
          <a:prstGeom prst="roundRect">
            <a:avLst/>
          </a:prstGeom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825" y="2855416"/>
            <a:ext cx="432435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 i="0" u="none">
                <a:solidFill>
                  <a:srgbClr val="F5F5F7"/>
                </a:solidFill>
                <a:latin typeface="Inter"/>
              </a:rPr>
              <a:t>slidify</a:t>
            </a:r>
            <a:r>
              <a:rPr sz="900" b="1" i="0" u="none">
                <a:solidFill>
                  <a:srgbClr val="0A0A0F"/>
                </a:solidFill>
                <a:latin typeface="Inter"/>
              </a:rPr>
              <a:t>NEW 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825" y="3503116"/>
            <a:ext cx="209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3725" y="3503116"/>
            <a:ext cx="3670548" cy="2071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E4E4E7"/>
                </a:solidFill>
                <a:latin typeface="Inter"/>
              </a:rPr>
              <a:t>Headlines, body copy, and bullets are real text frames.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825" y="3988891"/>
            <a:ext cx="209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3725" y="3988891"/>
            <a:ext cx="3365599" cy="2071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E4E4E7"/>
                </a:solidFill>
                <a:latin typeface="Inter"/>
              </a:rPr>
              <a:t>Cards and dividers are native rounded rectangles.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0825" y="4474666"/>
            <a:ext cx="209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3725" y="4474666"/>
            <a:ext cx="3981450" cy="4143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E4E4E7"/>
                </a:solidFill>
                <a:latin typeface="Inter"/>
              </a:rPr>
              <a:t>Designers edit fonts, colors, alignment in PowerPoint directly.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0825" y="5165229"/>
            <a:ext cx="209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3725" y="5165229"/>
            <a:ext cx="3478411" cy="2071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E4E4E7"/>
                </a:solidFill>
                <a:latin typeface="Inter"/>
              </a:rPr>
              <a:t>Only complex visuals (Chart.js, gradients) rasterize.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0825" y="5651004"/>
            <a:ext cx="209550" cy="2095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3725" y="5651004"/>
            <a:ext cx="3252341" cy="2071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25" b="0" i="0" u="none">
                <a:solidFill>
                  <a:srgbClr val="E4E4E7"/>
                </a:solidFill>
                <a:latin typeface="Inter"/>
              </a:rPr>
              <a:t>Output is 4 MB instead of 50 MB. Email-friendly.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09600"/>
            <a:ext cx="103632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75" b="1" i="0" u="none">
                <a:solidFill>
                  <a:srgbClr val="A78BFA"/>
                </a:solidFill>
                <a:latin typeface="Inter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95350"/>
            <a:ext cx="10363200" cy="41999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50" b="1" i="0" u="none">
                <a:solidFill>
                  <a:srgbClr val="F5F5F7"/>
                </a:solidFill>
                <a:latin typeface="Inter"/>
              </a:rPr>
              <a:t>Pay for the slides you ship, not the seats you don't fill.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58243"/>
            <a:ext cx="3327350" cy="46005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0625" y="1972568"/>
            <a:ext cx="27749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78BFA"/>
                </a:solidFill>
                <a:latin typeface="Inter"/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90625" y="2267843"/>
            <a:ext cx="27749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 u="none">
                <a:solidFill>
                  <a:srgbClr val="F5F5F7"/>
                </a:solidFill>
                <a:latin typeface="Inter"/>
              </a:rPr>
              <a:t>$0</a:t>
            </a:r>
            <a:r>
              <a:rPr sz="1200" b="0" i="0" u="none">
                <a:solidFill>
                  <a:srgbClr val="A1A1AA"/>
                </a:solidFill>
                <a:latin typeface="Inter"/>
              </a:rPr>
              <a:t>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90625" y="2934593"/>
            <a:ext cx="27749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For solo founders shipping their first deck. No credit card.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90625" y="3563243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3598" y="3563243"/>
            <a:ext cx="1088678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Inter"/>
              </a:rPr>
              <a:t>50 slides / month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90625" y="3925193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3598" y="3925193"/>
            <a:ext cx="1170682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Inter"/>
              </a:rPr>
              <a:t>Tier 1 + Tier 2 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0625" y="4287143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3598" y="4287143"/>
            <a:ext cx="1333202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Inter"/>
              </a:rPr>
              <a:t>SSIM oracle included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90625" y="4649093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3598" y="4649093"/>
            <a:ext cx="124807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Inter"/>
              </a:rPr>
              <a:t>Community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0625" y="5496818"/>
            <a:ext cx="2774900" cy="447675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F5F5F7"/>
                </a:solidFill>
                <a:latin typeface="Inter"/>
              </a:rPr>
              <a:t>Start free</a:t>
            </a:r>
          </a:p>
        </p:txBody>
      </p:sp>
      <p:sp>
        <p:nvSpPr>
          <p:cNvPr id="18" name="Rounded Rectangle 17"/>
          <p:cNvSpPr/>
          <p:nvPr/>
        </p:nvSpPr>
        <p:spPr>
          <a:gradFill flip="none" rotWithShape="1">
            <a:gsLst>
              <a:gs pos="0">
                <a:srgbClr val="6366F1">
                  <a:alpha val="18000"/>
                </a:srgbClr>
              </a:gs>
              <a:gs pos="100000">
                <a:srgbClr val="EC4899">
                  <a:alpha val="10000"/>
                </a:srgbClr>
              </a:gs>
            </a:gsLst>
            <a:lin ang="4200000" scaled="0"/>
          </a:gradFill>
          <a:xfrm>
            <a:off x="4432250" y="1658243"/>
            <a:ext cx="3327350" cy="4600575"/>
          </a:xfrm>
          <a:prstGeom prst="roundRect">
            <a:avLst/>
          </a:prstGeom>
          <a:ln w="9525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gradFill flip="none" rotWithShape="1">
            <a:gsLst>
              <a:gs pos="0">
                <a:srgbClr val="A78BFA"/>
              </a:gs>
              <a:gs pos="100000">
                <a:srgbClr val="EC4899"/>
              </a:gs>
            </a:gsLst>
            <a:lin ang="2700000" scaled="0"/>
          </a:gradFill>
          <a:xfrm>
            <a:off x="5416004" y="1553468"/>
            <a:ext cx="1359694" cy="257175"/>
          </a:xfrm>
          <a:prstGeom prst="rect">
            <a:avLst/>
          </a:prstGeom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 u="none">
                <a:solidFill>
                  <a:srgbClr val="0A0A0F"/>
                </a:solidFill>
                <a:latin typeface="Inter"/>
              </a:rPr>
              <a:t>MOST POPULAR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8475" y="1972568"/>
            <a:ext cx="2774900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78BFA"/>
                </a:solidFill>
                <a:latin typeface="Inter"/>
              </a:rPr>
              <a:t>Studio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8475" y="2267843"/>
            <a:ext cx="2774900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 u="none">
                <a:solidFill>
                  <a:srgbClr val="F5F5F7"/>
                </a:solidFill>
                <a:latin typeface="Inter"/>
              </a:rPr>
              <a:t>$29</a:t>
            </a:r>
            <a:r>
              <a:rPr sz="1200" b="0" i="0" u="none">
                <a:solidFill>
                  <a:srgbClr val="A1A1AA"/>
                </a:solidFill>
                <a:latin typeface="Inter"/>
              </a:rPr>
              <a:t>/mo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8475" y="2934593"/>
            <a:ext cx="2774900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For design teams converting decks every day. LLM credits included.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8475" y="3563243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1448" y="3563243"/>
            <a:ext cx="126503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Inter"/>
              </a:rPr>
              <a:t>1,000 slides / month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8475" y="3925193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1448" y="3925193"/>
            <a:ext cx="1449884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Inter"/>
              </a:rPr>
              <a:t>Full three-tier classifier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8475" y="4287143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1448" y="4287143"/>
            <a:ext cx="169381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Inter"/>
              </a:rPr>
              <a:t>Gemini + Claude backends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8475" y="4649093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21448" y="4649093"/>
            <a:ext cx="1593354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Inter"/>
              </a:rPr>
              <a:t>Diskcache + warm cache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8475" y="5011043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21448" y="5011043"/>
            <a:ext cx="1352996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Inter"/>
              </a:rPr>
              <a:t>Priority email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8475" y="5515868"/>
            <a:ext cx="2774900" cy="428625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0A0A0F"/>
                </a:solidFill>
                <a:latin typeface="Inter"/>
              </a:rPr>
              <a:t>Try Studio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0101" y="1658243"/>
            <a:ext cx="3327499" cy="46005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6326" y="1972568"/>
            <a:ext cx="2775049" cy="1619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 u="none">
                <a:solidFill>
                  <a:srgbClr val="A78BFA"/>
                </a:solidFill>
                <a:latin typeface="Inter"/>
              </a:rPr>
              <a:t>Enterprise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6326" y="2267843"/>
            <a:ext cx="2775049" cy="533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 i="0" u="none">
                <a:solidFill>
                  <a:srgbClr val="F5F5F7"/>
                </a:solidFill>
                <a:latin typeface="Inter"/>
              </a:rPr>
              <a:t>Custom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6326" y="2934593"/>
            <a:ext cx="2775049" cy="4000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A1A1AA"/>
                </a:solidFill>
                <a:latin typeface="Inter"/>
              </a:rPr>
              <a:t>Self-hosted, custom backends, SOC 2, dedicated success engineer.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6326" y="3563243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299" y="3563243"/>
            <a:ext cx="995809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Inter"/>
              </a:rPr>
              <a:t>Unlimited slides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6326" y="3925193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9299" y="3925193"/>
            <a:ext cx="1185565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Inter"/>
              </a:rPr>
              <a:t>Self-hosted runner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6326" y="4287143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9299" y="4287143"/>
            <a:ext cx="114538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Inter"/>
              </a:rPr>
              <a:t>BYO LLM provider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6326" y="4649093"/>
            <a:ext cx="117723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86EFAC"/>
                </a:solidFill>
                <a:latin typeface="Inter"/>
              </a:rPr>
              <a:t>• 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9299" y="4649093"/>
            <a:ext cx="1569541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u="none">
                <a:solidFill>
                  <a:srgbClr val="F5F5F7"/>
                </a:solidFill>
                <a:latin typeface="Inter"/>
              </a:rPr>
              <a:t>SLA + dedicated support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6326" y="5496818"/>
            <a:ext cx="2775049" cy="447675"/>
          </a:xfrm>
          <a:prstGeom prst="rect">
            <a:avLst/>
          </a:prstGeom>
          <a:solidFill>
            <a:srgbClr val="FFFFFF"/>
          </a:solidFill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 u="none">
                <a:solidFill>
                  <a:srgbClr val="F5F5F7"/>
                </a:solidFill>
                <a:latin typeface="Inter"/>
              </a:rPr>
              <a:t>Talk to sales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