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95400"/>
            <a:ext cx="8763000" cy="112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Editability that compounds across every deck you ship.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4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914400" y="2948880"/>
            <a:ext cx="3294311" cy="2724150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4925" y="3339405"/>
            <a:ext cx="251326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6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4925" y="4330005"/>
            <a:ext cx="251326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D4D4D8"/>
                </a:solidFill>
                <a:latin typeface="Inter"/>
              </a:rPr>
              <a:t>Native area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4925" y="4682430"/>
            <a:ext cx="2513261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Average across the 200-deck Genspark + v0 corpus. 0.95 stretch target.</a:t>
            </a:r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FFFFFF">
                  <a:alpha val="4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437311" y="2948880"/>
            <a:ext cx="3294459" cy="2724150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7836" y="3339405"/>
            <a:ext cx="251340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6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7836" y="4330005"/>
            <a:ext cx="251340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D4D4D8"/>
                </a:solidFill>
                <a:latin typeface="Inter"/>
              </a:rPr>
              <a:t>Per 10-slide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7836" y="4682430"/>
            <a:ext cx="251340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P95 conversion time on a single 8-core box, no GPU. 4-way render parallelism.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FFFFFF">
                  <a:alpha val="4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960370" y="2948880"/>
            <a:ext cx="3317230" cy="2724150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895" y="3339405"/>
            <a:ext cx="25361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895" y="4330005"/>
            <a:ext cx="253618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D4D4D8"/>
                </a:solidFill>
                <a:latin typeface="Inter"/>
              </a:rPr>
              <a:t>LLM cost per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0895" y="4682430"/>
            <a:ext cx="253618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Three-tier classifier means tier-3 only fires on the ambiguous 10%.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248400"/>
            <a:ext cx="291375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SOURCE · Internal benchmark, April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68161" y="6248400"/>
            <a:ext cx="50943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7239000" cy="9599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0771" y="1569541"/>
            <a:ext cx="58682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03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79141"/>
            <a:ext cx="3327350" cy="2190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00000">
                <a:srgbClr val="8B5CF6"/>
              </a:gs>
            </a:gsLst>
            <a:lin ang="2700000" scaled="0"/>
          </a:gradFill>
          <a:xfrm>
            <a:off x="1190625" y="2455366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0625" y="3169146"/>
            <a:ext cx="27749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0625" y="3473946"/>
            <a:ext cx="2774900" cy="619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Real Chromium computes layout. Static analysis cannot resolve flex/grid/flow geometry.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2250" y="2179141"/>
            <a:ext cx="3327350" cy="2190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00000">
                <a:srgbClr val="EC4899"/>
              </a:gs>
            </a:gsLst>
            <a:lin ang="2700000" scaled="0"/>
          </a:gradFill>
          <a:xfrm>
            <a:off x="4708475" y="2455366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8475" y="3169146"/>
            <a:ext cx="27749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8475" y="3473946"/>
            <a:ext cx="2774900" cy="619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The classification atom is a connected visual region — a card, a bullet, a chart — not a single tag.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0101" y="2179141"/>
            <a:ext cx="3327499" cy="2190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00000">
                <a:srgbClr val="F97316"/>
              </a:gs>
            </a:gsLst>
            <a:lin ang="2700000" scaled="0"/>
          </a:gradFill>
          <a:xfrm>
            <a:off x="8226326" y="2455366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6326" y="3375720"/>
            <a:ext cx="277504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6326" y="3680520"/>
            <a:ext cx="27750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Rules → heuristics → LLM. 70% decided free, 20% by score, 10% adjudicated.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560391"/>
            <a:ext cx="3327350" cy="2190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00000">
                <a:srgbClr val="6366F1"/>
              </a:gs>
            </a:gsLst>
            <a:lin ang="2700000" scaled="0"/>
          </a:gradFill>
          <a:xfrm>
            <a:off x="1190625" y="4836616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0625" y="5756970"/>
            <a:ext cx="27749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0625" y="6061770"/>
            <a:ext cx="27749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decision carries a confidence. Low confidence triggers dual-emit fallback.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2250" y="4560391"/>
            <a:ext cx="3327350" cy="2190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00000">
                <a:srgbClr val="06B6D4"/>
              </a:gs>
            </a:gsLst>
            <a:lin ang="2700000" scaled="0"/>
          </a:gradFill>
          <a:xfrm>
            <a:off x="4708475" y="4836616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8475" y="5550396"/>
            <a:ext cx="27749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8475" y="5855196"/>
            <a:ext cx="2774900" cy="619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0101" y="4560391"/>
            <a:ext cx="3327499" cy="21907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00000">
                <a:srgbClr val="FACC15"/>
              </a:gs>
            </a:gsLst>
            <a:lin ang="2700000" scaled="0"/>
          </a:gradFill>
          <a:xfrm>
            <a:off x="8226326" y="4836616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6326" y="5550396"/>
            <a:ext cx="277504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6326" y="5855196"/>
            <a:ext cx="2775049" cy="619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Structural hashes hit 60–80% within a generator after warmup. Decisions are cheap to reuse.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95400"/>
            <a:ext cx="8763000" cy="47997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84971"/>
            <a:ext cx="1889671" cy="19288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425" y="2623096"/>
            <a:ext cx="335161" cy="219075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425" y="2975521"/>
            <a:ext cx="14896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251746"/>
            <a:ext cx="1489621" cy="5572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Headless Chromium with animation freeze, font preload, two-rAF wait.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425" y="3942308"/>
            <a:ext cx="14896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2671" y="2384971"/>
            <a:ext cx="1889820" cy="21145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2696" y="2623096"/>
            <a:ext cx="357932" cy="219075"/>
          </a:xfrm>
          <a:prstGeom prst="rect">
            <a:avLst/>
          </a:prstGeom>
          <a:solidFill>
            <a:srgbClr val="C084F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2696" y="2975521"/>
            <a:ext cx="148977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2696" y="3251746"/>
            <a:ext cx="1489770" cy="742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2696" y="4128046"/>
            <a:ext cx="148977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~10–50 UNITS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51090" y="2384971"/>
            <a:ext cx="1889671" cy="19288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1115" y="2623096"/>
            <a:ext cx="359718" cy="219075"/>
          </a:xfrm>
          <a:prstGeom prst="rect">
            <a:avLst/>
          </a:prstGeom>
          <a:solidFill>
            <a:srgbClr val="F472B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1115" y="2975521"/>
            <a:ext cx="14896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1115" y="3251746"/>
            <a:ext cx="1489621" cy="5572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Tier 1 rules → tier 2 heuristics → tier 3 LLM, batched per slide.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1115" y="3942308"/>
            <a:ext cx="14896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3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361" y="2384971"/>
            <a:ext cx="1889820" cy="21145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9386" y="2623096"/>
            <a:ext cx="363289" cy="219075"/>
          </a:xfrm>
          <a:prstGeom prst="rect">
            <a:avLst/>
          </a:prstGeom>
          <a:solidFill>
            <a:srgbClr val="FB923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9386" y="2975521"/>
            <a:ext cx="148977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9386" y="3251746"/>
            <a:ext cx="1489770" cy="742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python-pptx writes native text, shapes, bullets, pictures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9386" y="4128046"/>
            <a:ext cx="148977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780" y="2384971"/>
            <a:ext cx="1889671" cy="21145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87805" y="2623096"/>
            <a:ext cx="358973" cy="219075"/>
          </a:xfrm>
          <a:prstGeom prst="rect">
            <a:avLst/>
          </a:prstGeom>
          <a:solidFill>
            <a:srgbClr val="FACC15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7805" y="2975521"/>
            <a:ext cx="14896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7805" y="3251746"/>
            <a:ext cx="1489621" cy="742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7805" y="4128046"/>
            <a:ext cx="14896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2000"/>
                </a:srgbClr>
              </a:gs>
              <a:gs pos="100000">
                <a:srgbClr val="EC4899">
                  <a:alpha val="8000"/>
                </a:srgbClr>
              </a:gs>
            </a:gsLst>
            <a:lin ang="2700000" scaled="0"/>
          </a:gradFill>
          <a:xfrm>
            <a:off x="914400" y="5109121"/>
            <a:ext cx="10363200" cy="1041797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4925" y="5530007"/>
            <a:ext cx="310306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Total budget · 25 s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3575" y="5423446"/>
            <a:ext cx="5143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initialization). Tier 3 LLM is batched once per slide; cost ≤ $0.10/deck at default settings.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85850"/>
            <a:ext cx="8763000" cy="9599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02991"/>
            <a:ext cx="5029200" cy="3843338"/>
          </a:xfrm>
          <a:prstGeom prst="roundRect">
            <a:avLst/>
          </a:prstGeom>
          <a:solidFill>
            <a:srgbClr val="3F3F46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6825" y="2855416"/>
            <a:ext cx="43243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 u="none">
                <a:solidFill>
                  <a:srgbClr val="A1A1AA"/>
                </a:solidFill>
                <a:latin typeface="Inter"/>
              </a:rPr>
              <a:t>Naive screenshot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" y="350311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CA5A5"/>
                </a:solidFill>
                <a:latin typeface="Inter"/>
              </a:rPr>
              <a:t>• 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725" y="3503116"/>
            <a:ext cx="3343721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Every slide is a 50 MB PNG embedded into PPTX.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825" y="3988891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CA5A5"/>
                </a:solidFill>
                <a:latin typeface="Inter"/>
              </a:rPr>
              <a:t>• 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725" y="3988891"/>
            <a:ext cx="3033564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No text is searchable, selectable, or editable.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6825" y="447466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CA5A5"/>
                </a:solidFill>
                <a:latin typeface="Inter"/>
              </a:rPr>
              <a:t>• 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9725" y="4474666"/>
            <a:ext cx="3067496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Resizing the window degrades pixel-by-pixel.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6825" y="4960441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CA5A5"/>
                </a:solidFill>
                <a:latin typeface="Inter"/>
              </a:rPr>
              <a:t>• 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725" y="4960441"/>
            <a:ext cx="3401169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Translation requires re-running the whole pipeline.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825" y="544621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CA5A5"/>
                </a:solidFill>
                <a:latin typeface="Inter"/>
              </a:rPr>
              <a:t>• 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725" y="5446216"/>
            <a:ext cx="3364557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Brand colors locked into raster — no theme swap.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48400" y="2502991"/>
            <a:ext cx="5029200" cy="3843338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825" y="2855416"/>
            <a:ext cx="43243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900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825" y="350311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3725" y="3503116"/>
            <a:ext cx="3670548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Headlines, body copy, and bullets are real text frames.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825" y="3988891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725" y="3988891"/>
            <a:ext cx="3365599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Cards and dividers are native rounded rectangles.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0825" y="447466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3725" y="4474666"/>
            <a:ext cx="3981450" cy="4143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Designers edit fonts, colors, alignment in PowerPoint directly.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0825" y="5165229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725" y="5165229"/>
            <a:ext cx="3478411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gradients) rasterize.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0825" y="5651004"/>
            <a:ext cx="2095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3725" y="5651004"/>
            <a:ext cx="3252341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95350"/>
            <a:ext cx="10363200" cy="41999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1658243"/>
            <a:ext cx="3327350" cy="46005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0625" y="1972568"/>
            <a:ext cx="27749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0625" y="2267843"/>
            <a:ext cx="27749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20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0625" y="2934593"/>
            <a:ext cx="27749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0625" y="356324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3598" y="3563243"/>
            <a:ext cx="108867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392519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3598" y="3925193"/>
            <a:ext cx="117068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Tier 1 + Tier 2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0625" y="428714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3598" y="4287143"/>
            <a:ext cx="133320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625" y="464909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3598" y="4649093"/>
            <a:ext cx="124807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0625" y="5496818"/>
            <a:ext cx="2774900" cy="447675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432250" y="1658243"/>
            <a:ext cx="3327350" cy="4600575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416004" y="1553468"/>
            <a:ext cx="1359694" cy="257175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8475" y="1972568"/>
            <a:ext cx="27749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8475" y="2267843"/>
            <a:ext cx="27749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20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8475" y="2934593"/>
            <a:ext cx="27749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8475" y="356324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1448" y="3563243"/>
            <a:ext cx="126503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8475" y="392519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1448" y="3925193"/>
            <a:ext cx="144988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Full three-tier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8475" y="428714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21448" y="4287143"/>
            <a:ext cx="169381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Gemini + Claude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8475" y="464909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1448" y="4649093"/>
            <a:ext cx="159335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Diskcache + warm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8475" y="501104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21448" y="5011043"/>
            <a:ext cx="135299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8475" y="5515868"/>
            <a:ext cx="2774900" cy="428625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0101" y="1658243"/>
            <a:ext cx="3327499" cy="46005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6326" y="1972568"/>
            <a:ext cx="2775049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6326" y="2267843"/>
            <a:ext cx="277504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6326" y="2934593"/>
            <a:ext cx="277504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6326" y="356324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39299" y="3563243"/>
            <a:ext cx="99580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6326" y="392519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9299" y="3925193"/>
            <a:ext cx="118556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428714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9299" y="4287143"/>
            <a:ext cx="114538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6326" y="4649093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6EFAC"/>
                </a:solidFill>
                <a:latin typeface="Inter"/>
              </a:rPr>
              <a:t>• 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39299" y="4649093"/>
            <a:ext cx="156954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6326" y="5496818"/>
            <a:ext cx="2775049" cy="447675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