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95500"/>
            <a:ext cx="5334000" cy="476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762000"/>
            <a:ext cx="280407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5B4FC"/>
                </a:solidFill>
                <a:latin typeface="Inter"/>
              </a:rPr>
              <a:t>slidify v0.2 — release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00150"/>
            <a:ext cx="10608320" cy="17274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300" b="1" i="0" u="none">
                <a:solidFill>
                  <a:srgbClr val="F5F7FF"/>
                </a:solidFill>
                <a:latin typeface="Inter"/>
              </a:rPr>
              <a:t xml:space="preserve">Native tables, </a:t>
            </a:r>
            <a:r>
              <a:rPr sz="6300" b="1" i="0" u="none">
                <a:solidFill>
                  <a:srgbClr val="FBBF24"/>
                </a:solidFill>
                <a:latin typeface="Inter"/>
              </a:rPr>
              <a:t>compat matrix</a:t>
            </a:r>
            <a:r>
              <a:rPr sz="6300" b="1" i="0" u="none">
                <a:solidFill>
                  <a:srgbClr val="F5F7FF"/>
                </a:solidFill>
                <a:latin typeface="Inter"/>
              </a:rPr>
              <a:t>, editability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86300"/>
            <a:ext cx="8382000" cy="9429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CBD5F5"/>
                </a:solidFill>
                <a:latin typeface="Inter"/>
              </a:rPr>
              <a:t xml:space="preserve">Three additions move HTML→PPTX past the usual cliffs: real PPTX
    tables instead of floating text boxes, a self-validating CSS matrix that doubles
    as a roadmap, and a post-emit round-trip that catches silently-dropped shapes.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096000"/>
            <a:ext cx="3463082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7FF"/>
                </a:solidFill>
                <a:latin typeface="Inter"/>
              </a:rPr>
              <a:t>release date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 xml:space="preserve">  ·  </a:t>
            </a:r>
            <a:r>
              <a:rPr sz="1050" b="1" i="0" u="none">
                <a:solidFill>
                  <a:srgbClr val="F5F7FF"/>
                </a:solidFill>
                <a:latin typeface="Inter"/>
              </a:rPr>
              <a:t>matrix v2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 xml:space="preserve">  ·  81 documented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222512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6366F1"/>
                </a:solidFill>
                <a:latin typeface="Inter"/>
              </a:rPr>
              <a:t>slide 2 · native &lt;table&gt;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76300"/>
            <a:ext cx="9880699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111827"/>
                </a:solidFill>
                <a:latin typeface="Inter"/>
              </a:rPr>
              <a:t>Quarterly performance, editable in PowerPoint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04975"/>
            <a:ext cx="8659267" cy="4333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4B5563"/>
                </a:solidFill>
                <a:latin typeface="Inter"/>
              </a:rPr>
              <a:t xml:space="preserve">This grid is an HTML </a:t>
            </a:r>
            <a:r>
              <a:rPr sz="1275" b="0" i="0" u="none">
                <a:solidFill>
                  <a:srgbClr val="4B5563"/>
                </a:solidFill>
                <a:latin typeface="Consolas"/>
              </a:rPr>
              <a:t>&lt;table&gt;</a:t>
            </a:r>
            <a:r>
              <a:rPr sz="1275" b="0" i="0" u="none">
                <a:solidFill>
                  <a:srgbClr val="4B5563"/>
                </a:solidFill>
                <a:latin typeface="Inter"/>
              </a:rPr>
              <a:t xml:space="preserve"> in the source.
    Slidify routes it to a native PPTX table primitive — every cell is editable,
    not a flattened picture or stack of floating textboxes.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2286000"/>
          <a:ext cx="10668000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111827"/>
                          </a:solidFill>
                          <a:latin typeface="Inter"/>
                        </a:rPr>
                        <a:t>Quarter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111827"/>
                          </a:solidFill>
                          <a:latin typeface="Inter"/>
                        </a:rPr>
                        <a:t>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111827"/>
                          </a:solidFill>
                          <a:latin typeface="Inter"/>
                        </a:rPr>
                        <a:t>Gross margin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111827"/>
                          </a:solidFill>
                          <a:latin typeface="Inter"/>
                        </a:rPr>
                        <a:t>YoY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Q1 FY25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$3.2M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62.4%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47857"/>
                          </a:solidFill>
                          <a:latin typeface="Inter"/>
                        </a:rPr>
                        <a:t>+18%</a:t>
                      </a:r>
                    </a:p>
                  </a:txBody>
                  <a:tcPr>
                    <a:noFill/>
                  </a:tcPr>
                </a:tc>
              </a:tr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Q2 FY25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$3.9M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64.1%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47857"/>
                          </a:solidFill>
                          <a:latin typeface="Inter"/>
                        </a:rPr>
                        <a:t>+22%</a:t>
                      </a:r>
                    </a:p>
                  </a:txBody>
                  <a:tcPr>
                    <a:noFill/>
                  </a:tcPr>
                </a:tc>
              </a:tr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Q3 FY25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$4.6M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65.8%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47857"/>
                          </a:solidFill>
                          <a:latin typeface="Inter"/>
                        </a:rPr>
                        <a:t>+27%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Q4 FY25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$5.1M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66.2%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047857"/>
                          </a:solidFill>
                          <a:latin typeface="Inter"/>
                        </a:rPr>
                        <a:t>+24%</a:t>
                      </a:r>
                    </a:p>
                  </a:txBody>
                  <a:tcPr>
                    <a:noFill/>
                  </a:tcPr>
                </a:tc>
              </a:tr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Q1 FY26 (proj.)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$5.4M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Inter"/>
                        </a:rPr>
                        <a:t>66.5%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B91C1C"/>
                          </a:solidFill>
                          <a:latin typeface="Inter"/>
                        </a:rPr>
                        <a:t>−6%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6196012"/>
            <a:ext cx="10668000" cy="185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6B7280"/>
                </a:solidFill>
                <a:latin typeface="Inter"/>
              </a:rPr>
              <a:t xml:space="preserve">Highlighted row is the strongest YoY in the period. Cell
    background color, header bolding, alignment, and per-cell text color all
    survive into the native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F8FAFC"/>
              </a:gs>
              <a:gs pos="16667">
                <a:srgbClr val="F6F9FC"/>
              </a:gs>
              <a:gs pos="33333">
                <a:srgbClr val="F4F8FD"/>
              </a:gs>
              <a:gs pos="50000">
                <a:srgbClr val="F2F6FE"/>
              </a:gs>
              <a:gs pos="66667">
                <a:srgbClr val="F0F5FE"/>
              </a:gs>
              <a:gs pos="83333">
                <a:srgbClr val="EFF4FF"/>
              </a:gs>
              <a:gs pos="100000">
                <a:srgbClr val="EEF2FF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245387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6366F1"/>
                </a:solidFill>
                <a:latin typeface="Inter"/>
              </a:rPr>
              <a:t>slide 3 · native vs raster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76300"/>
            <a:ext cx="6181576" cy="4762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Inter"/>
              </a:rPr>
              <a:t>Where the matrix draws the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5181600" cy="33623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28600" dist="76200" dir="5400000" algn="ctr" rotWithShape="0">
              <a:srgbClr val="0F172A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38225" y="2181225"/>
            <a:ext cx="1038202" cy="190500"/>
          </a:xfrm>
          <a:prstGeom prst="rect">
            <a:avLst/>
          </a:prstGeom>
          <a:solidFill>
            <a:srgbClr val="DCFCE7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166534"/>
                </a:solidFill>
                <a:latin typeface="Inter"/>
              </a:rPr>
              <a:t>native — editable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2486025"/>
            <a:ext cx="462915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Translatable to PPTX shapes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2809875"/>
            <a:ext cx="46291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 xml:space="preserve">Every primitive PowerPoint understands directly. Edit text, change colors,
        update tables — no pixel surgery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457575"/>
            <a:ext cx="2875359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Inter"/>
              </a:rPr>
              <a:t>Text runs (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color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, 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font-*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>, italic, underline)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667125"/>
            <a:ext cx="44196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Inter"/>
              </a:rPr>
              <a:t>Linear / radial / conic gradients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3971925"/>
            <a:ext cx="1992064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border-radius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+ 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box-shadow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4229100"/>
            <a:ext cx="2397919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&lt;table&gt;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with header rows and spans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4925" y="4486275"/>
            <a:ext cx="350773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clip-path: inset()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/ 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circle()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/ common polygons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695825"/>
            <a:ext cx="44196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Inter"/>
              </a:rPr>
              <a:t>SVG ≤200 primitives + KaTeX / Shiki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400" y="1905000"/>
            <a:ext cx="5181600" cy="33623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28600" dist="76200" dir="5400000" algn="ctr" rotWithShape="0">
              <a:srgbClr val="0F172A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524625" y="2181225"/>
            <a:ext cx="1497974" cy="190500"/>
          </a:xfrm>
          <a:prstGeom prst="rect">
            <a:avLst/>
          </a:prstGeom>
          <a:solidFill>
            <a:srgbClr val="FEE2E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991B1B"/>
                </a:solidFill>
                <a:latin typeface="Inter"/>
              </a:rPr>
              <a:t>raster — preserved visually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486025"/>
            <a:ext cx="462915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Pixel-cropped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809875"/>
            <a:ext cx="46291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 xml:space="preserve">PPTX has no equivalent — slidify embeds a screenshot of the affected region
        so the visual is preserved at the cost of editability.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457575"/>
            <a:ext cx="2817019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CSS 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filter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(blur / brightness / hue-rotate)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714750"/>
            <a:ext cx="2120354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backdrop-filter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(frosted glass)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175" y="3981450"/>
            <a:ext cx="1116355" cy="161925"/>
          </a:xfrm>
          <a:prstGeom prst="rect">
            <a:avLst/>
          </a:prstGeom>
          <a:solidFill>
            <a:srgbClr val="F1F5F9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mix-blend-mode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229100"/>
            <a:ext cx="3165723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background-image: url()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(no fetch+embed yet)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4486275"/>
            <a:ext cx="2794992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Consolas"/>
              </a:rPr>
              <a:t>&lt;canvas&gt;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 / WebGL / Three.js (single frame)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4175" y="4743450"/>
            <a:ext cx="2756743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Inter"/>
              </a:rPr>
              <a:t>3D transforms (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matrix3d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 xml:space="preserve">, </a:t>
            </a:r>
            <a:r>
              <a:rPr sz="975" b="0" i="0" u="none">
                <a:solidFill>
                  <a:srgbClr val="1E293B"/>
                </a:solidFill>
                <a:latin typeface="Consolas"/>
              </a:rPr>
              <a:t>preserve-3d</a:t>
            </a:r>
            <a:r>
              <a:rPr sz="1125" b="0" i="0" u="none">
                <a:solidFill>
                  <a:srgbClr val="1E293B"/>
                </a:solidFill>
                <a:latin typeface="Inter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0625" y="6238875"/>
            <a:ext cx="6470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 xml:space="preserve">Run </a:t>
            </a:r>
            <a:r>
              <a:rPr sz="975" b="0" i="0" u="none">
                <a:solidFill>
                  <a:srgbClr val="64748B"/>
                </a:solidFill>
                <a:latin typeface="Consolas"/>
              </a:rPr>
              <a:t>slidify compat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 xml:space="preserve"> for the full 81-row matrix · </a:t>
            </a:r>
            <a:r>
              <a:rPr sz="975" b="0" i="0" u="none">
                <a:solidFill>
                  <a:srgbClr val="64748B"/>
                </a:solidFill>
                <a:latin typeface="Consolas"/>
              </a:rPr>
              <a:t>--level planned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 xml:space="preserve"> shows the roadmap with implementation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318819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BBF24"/>
                </a:solidFill>
                <a:latin typeface="Inter"/>
              </a:rPr>
              <a:t>slide 4 · roadmap (planned rows)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76300"/>
            <a:ext cx="4978301" cy="4762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Inter"/>
              </a:rPr>
              <a:t>What's next on the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7350"/>
            <a:ext cx="10668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 xml:space="preserve">A subset of the 14 explicit Planned roadmap items in matrix v2 — each
    cites a concrete implementation strategy, not a vague aspiration.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2095500"/>
          <a:ext cx="10668000" cy="3935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556000"/>
                <a:gridCol w="3556000"/>
              </a:tblGrid>
              <a:tr h="562145">
                <a:tc>
                  <a:txBody>
                    <a:bodyPr wrap="square"/>
                    <a:lstStyle/>
                    <a:p>
                      <a:pPr algn="l"/>
                      <a:r>
                        <a:rPr sz="825" b="1">
                          <a:solidFill>
                            <a:srgbClr val="FBBF24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25" b="1">
                          <a:solidFill>
                            <a:srgbClr val="FBBF24"/>
                          </a:solidFill>
                          <a:latin typeface="Inter"/>
                        </a:rPr>
                        <a:t>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25" b="1">
                          <a:solidFill>
                            <a:srgbClr val="FBBF24"/>
                          </a:solidFill>
                          <a:latin typeface="Inter"/>
                        </a:rPr>
                        <a:t>Plan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214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Inter"/>
                        </a:rPr>
                        <a:t>Motion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Inter"/>
                        </a:rPr>
                        <a:t>Framer-Motion → embedded movie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CBD5F5"/>
                          </a:solidFill>
                          <a:latin typeface="Inter"/>
                        </a:rPr>
                        <a:t>Drive Playwright at 30fps over a configurable duration, encode via ffmpeg, embed via add_movie() so PowerPoint plays the animation natively on slide enter.</a:t>
                      </a:r>
                    </a:p>
                  </a:txBody>
                  <a:tcPr>
                    <a:noFill/>
                  </a:tcPr>
                </a:tc>
              </a:tr>
              <a:tr h="56214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Inter"/>
                        </a:rPr>
                        <a:t>3D / WebGL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Inter"/>
                        </a:rPr>
                        <a:t>Three.js canvas → animated GIF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CBD5F5"/>
                          </a:solidFill>
                          <a:latin typeface="Inter"/>
                        </a:rPr>
                        <a:t>data-pptx-record='gif duration=4s fps=30' on canvas; renderer drives requestAnimationFrame N frames, encodes via Pillow, embeds as picture.</a:t>
                      </a:r>
                    </a:p>
                  </a:txBody>
                  <a:tcPr>
                    <a:noFill/>
                  </a:tcPr>
                </a:tc>
              </a:tr>
              <a:tr h="56214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Inter"/>
                        </a:rPr>
                        <a:t>Embeds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Inter"/>
                        </a:rPr>
                        <a:t>YouTube / Vimeo as PPTX online video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CBD5F5"/>
                          </a:solidFill>
                          <a:latin typeface="Inter"/>
                        </a:rPr>
                        <a:t>Detect provider from iframe src, write &lt;p:videoFile r:link='…'&gt; into the slide XML so PowerPoint plays via online-video pane.</a:t>
                      </a:r>
                    </a:p>
                  </a:txBody>
                  <a:tcPr>
                    <a:noFill/>
                  </a:tcPr>
                </a:tc>
              </a:tr>
              <a:tr h="56214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Inter"/>
                        </a:rPr>
                        <a:t>Charts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Inter"/>
                        </a:rPr>
                        <a:t>Chart.js / ECharts → native PPTX chart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CBD5F5"/>
                          </a:solidFill>
                          <a:latin typeface="Inter"/>
                        </a:rPr>
                        <a:t>data-pptx-chart='bar|line|pie' carries series JSON; emitter calls add_chart() so the chart is editable in PowerPoint, not flattened to pixels.</a:t>
                      </a:r>
                    </a:p>
                  </a:txBody>
                  <a:tcPr>
                    <a:noFill/>
                  </a:tcPr>
                </a:tc>
              </a:tr>
              <a:tr h="56214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Inter"/>
                        </a:rPr>
                        <a:t>Slide structure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Inter"/>
                        </a:rPr>
                        <a:t>reveal.js &lt;section&gt; stacks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CBD5F5"/>
                          </a:solidFill>
                          <a:latin typeface="Inter"/>
                        </a:rPr>
                        <a:t>Reveal-aware splitter walks horizontal/vertical section stacks and emits one slide per leaf, honoring data-fragment as stepwise reveals.</a:t>
                      </a:r>
                    </a:p>
                  </a:txBody>
                  <a:tcPr>
                    <a:noFill/>
                  </a:tcPr>
                </a:tc>
              </a:tr>
              <a:tr h="56214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B4FC"/>
                          </a:solidFill>
                          <a:latin typeface="Inter"/>
                        </a:rPr>
                        <a:t>Embeds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Inter"/>
                        </a:rPr>
                        <a:t>Hyperlinks (&lt;a href&gt;)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CBD5F5"/>
                          </a:solidFill>
                          <a:latin typeface="Inter"/>
                        </a:rPr>
                        <a:t>Set run.hyperlink.address on the PPTX run when the source &lt;a&gt; carries a non-fragment href, so links survive into the deck.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E293B"/>
      </a:accent1>
      <a:accent2>
        <a:srgbClr val="0F172A"/>
      </a:accent2>
      <a:accent3>
        <a:srgbClr val="F5F7FF"/>
      </a:accent3>
      <a:accent4>
        <a:srgbClr val="6366F1"/>
      </a:accent4>
      <a:accent5>
        <a:srgbClr val="111827"/>
      </a:accent5>
      <a:accent6>
        <a:srgbClr val="F59E0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