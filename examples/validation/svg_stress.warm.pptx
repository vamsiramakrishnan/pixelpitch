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11582400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F1F5F9"/>
                </a:solidFill>
                <a:latin typeface="Inter"/>
              </a:rPr>
              <a:t>SVG quality stress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23900"/>
            <a:ext cx="2209800" cy="24765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876300"/>
            <a:ext cx="19050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Donut (arc commands)</a:t>
            </a:r>
          </a:p>
        </p:txBody>
      </p:sp>
      <p:sp>
        <p:nvSpPr>
          <p:cNvPr id="6" name="Freeform 5"/>
          <p:cNvSpPr/>
          <p:nvPr/>
        </p:nvSpPr>
        <p:spPr>
          <a:xfrm>
            <a:off x="1409700" y="2057400"/>
            <a:ext cx="762000" cy="762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cubicBezTo>
                  <a:pt x="100000" y="54858"/>
                  <a:pt x="54858" y="100000"/>
                  <a:pt x="0" y="100000"/>
                </a:cubicBezTo>
                <a:close/>
              </a:path>
            </a:pathLst>
          </a:cu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647700" y="2057400"/>
            <a:ext cx="762000" cy="762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100000" y="100000"/>
                </a:lnTo>
                <a:cubicBezTo>
                  <a:pt x="45142" y="100000"/>
                  <a:pt x="0" y="54858"/>
                  <a:pt x="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647700" y="1295400"/>
            <a:ext cx="762000" cy="762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lnTo>
                  <a:pt x="0" y="100000"/>
                </a:lnTo>
                <a:cubicBezTo>
                  <a:pt x="0" y="45142"/>
                  <a:pt x="45142" y="0"/>
                  <a:pt x="100000" y="0"/>
                </a:cubicBezTo>
                <a:close/>
              </a:path>
            </a:pathLst>
          </a:cu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409700" y="1295400"/>
            <a:ext cx="762000" cy="762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0"/>
                </a:lnTo>
                <a:cubicBezTo>
                  <a:pt x="54858" y="0"/>
                  <a:pt x="100000" y="45142"/>
                  <a:pt x="100000" y="10000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38250" y="1885950"/>
            <a:ext cx="342900" cy="3429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819400" y="723900"/>
            <a:ext cx="2261295" cy="13335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971800" y="876300"/>
            <a:ext cx="195649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Icon (viewBox 24, rendered 80)</a:t>
            </a:r>
          </a:p>
        </p:txBody>
      </p:sp>
      <p:sp>
        <p:nvSpPr>
          <p:cNvPr id="13" name="Oval 12"/>
          <p:cNvSpPr/>
          <p:nvPr/>
        </p:nvSpPr>
        <p:spPr>
          <a:xfrm>
            <a:off x="3257550" y="1390650"/>
            <a:ext cx="190500" cy="190500"/>
          </a:xfrm>
          <a:prstGeom prst="ellipse">
            <a:avLst/>
          </a:prstGeom>
          <a:noFill/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3225800" y="1390650"/>
            <a:ext cx="254000" cy="190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lnTo>
                  <a:pt x="37500" y="100000"/>
                </a:lnTo>
                <a:lnTo>
                  <a:pt x="100000" y="0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5385495" y="723900"/>
            <a:ext cx="6019800" cy="24765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537895" y="876300"/>
            <a:ext cx="57150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Dense bar chart (60+ primitives)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18895" y="1200150"/>
            <a:ext cx="0" cy="1619250"/>
          </a:xfrm>
          <a:prstGeom prst="line">
            <a:avLst/>
          </a:prstGeom>
          <a:ln w="95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18895" y="2819400"/>
            <a:ext cx="5238750" cy="0"/>
          </a:xfrm>
          <a:prstGeom prst="line">
            <a:avLst/>
          </a:prstGeom>
          <a:ln w="95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18895" y="1295400"/>
            <a:ext cx="5238750" cy="0"/>
          </a:xfrm>
          <a:prstGeom prst="line">
            <a:avLst/>
          </a:prstGeom>
          <a:ln w="4762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18895" y="1485900"/>
            <a:ext cx="5238750" cy="0"/>
          </a:xfrm>
          <a:prstGeom prst="line">
            <a:avLst/>
          </a:prstGeom>
          <a:ln w="4762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18895" y="1676400"/>
            <a:ext cx="5238750" cy="0"/>
          </a:xfrm>
          <a:prstGeom prst="line">
            <a:avLst/>
          </a:prstGeom>
          <a:ln w="4762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18895" y="1866900"/>
            <a:ext cx="5238750" cy="0"/>
          </a:xfrm>
          <a:prstGeom prst="line">
            <a:avLst/>
          </a:prstGeom>
          <a:ln w="4762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18895" y="2057400"/>
            <a:ext cx="5238750" cy="0"/>
          </a:xfrm>
          <a:prstGeom prst="line">
            <a:avLst/>
          </a:prstGeom>
          <a:ln w="4762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18895" y="2247900"/>
            <a:ext cx="5238750" cy="0"/>
          </a:xfrm>
          <a:prstGeom prst="line">
            <a:avLst/>
          </a:prstGeom>
          <a:ln w="4762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18895" y="2438400"/>
            <a:ext cx="5238750" cy="0"/>
          </a:xfrm>
          <a:prstGeom prst="line">
            <a:avLst/>
          </a:prstGeom>
          <a:ln w="4762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18895" y="2628900"/>
            <a:ext cx="5238750" cy="0"/>
          </a:xfrm>
          <a:prstGeom prst="line">
            <a:avLst/>
          </a:prstGeom>
          <a:ln w="4762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956995" y="1676400"/>
            <a:ext cx="114300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090345" y="1866900"/>
            <a:ext cx="114300" cy="952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223695" y="1581150"/>
            <a:ext cx="114300" cy="1238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357045" y="2057400"/>
            <a:ext cx="114300" cy="762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90395" y="1485900"/>
            <a:ext cx="114300" cy="133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623745" y="1771650"/>
            <a:ext cx="114300" cy="10477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757095" y="1628775"/>
            <a:ext cx="114300" cy="1190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890445" y="1962150"/>
            <a:ext cx="114300" cy="857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023795" y="1438275"/>
            <a:ext cx="114300" cy="1381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7157145" y="1819275"/>
            <a:ext cx="114300" cy="1000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290495" y="1724025"/>
            <a:ext cx="114300" cy="10953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7423845" y="2009775"/>
            <a:ext cx="114300" cy="809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7557195" y="1533525"/>
            <a:ext cx="114300" cy="1285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7690545" y="1914525"/>
            <a:ext cx="114300" cy="904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7823895" y="1628775"/>
            <a:ext cx="114300" cy="1190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957245" y="2105025"/>
            <a:ext cx="114300" cy="7143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090595" y="1581150"/>
            <a:ext cx="114300" cy="1238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8223945" y="1866900"/>
            <a:ext cx="114300" cy="952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8357295" y="1676400"/>
            <a:ext cx="114300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8490645" y="2057400"/>
            <a:ext cx="114300" cy="762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8623995" y="1485900"/>
            <a:ext cx="114300" cy="1333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8757345" y="1771650"/>
            <a:ext cx="114300" cy="1047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8890695" y="1628775"/>
            <a:ext cx="114300" cy="11906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9024045" y="1962150"/>
            <a:ext cx="114300" cy="857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9157395" y="1438275"/>
            <a:ext cx="114300" cy="13811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9290745" y="1819275"/>
            <a:ext cx="114300" cy="10001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9424095" y="1724025"/>
            <a:ext cx="114300" cy="10953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9557445" y="2009775"/>
            <a:ext cx="114300" cy="8096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9690795" y="1533525"/>
            <a:ext cx="114300" cy="12858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9824145" y="1914525"/>
            <a:ext cx="114300" cy="9048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957495" y="1628775"/>
            <a:ext cx="114300" cy="11906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0090845" y="2105025"/>
            <a:ext cx="114300" cy="7143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0224195" y="1581150"/>
            <a:ext cx="114300" cy="1238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0357545" y="1866900"/>
            <a:ext cx="114300" cy="952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0490895" y="1676400"/>
            <a:ext cx="11430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0624245" y="2057400"/>
            <a:ext cx="114300" cy="762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0757595" y="1485900"/>
            <a:ext cx="114300" cy="1333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0890945" y="1771650"/>
            <a:ext cx="114300" cy="1047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1024295" y="1628775"/>
            <a:ext cx="114300" cy="11906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11138595" y="1962150"/>
            <a:ext cx="19050" cy="857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5728395" y="2788920"/>
            <a:ext cx="76200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0" i="0">
                <a:solidFill>
                  <a:srgbClr val="94A3B8"/>
                </a:solidFill>
                <a:latin typeface="Inter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28395" y="2407920"/>
            <a:ext cx="94298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0" i="0">
                <a:solidFill>
                  <a:srgbClr val="94A3B8"/>
                </a:solidFill>
                <a:latin typeface="Inter"/>
              </a:rPr>
              <a:t>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28395" y="2026920"/>
            <a:ext cx="94298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0" i="0">
                <a:solidFill>
                  <a:srgbClr val="94A3B8"/>
                </a:solidFill>
                <a:latin typeface="Inter"/>
              </a:rPr>
              <a:t>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28395" y="1645920"/>
            <a:ext cx="94298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0" i="0">
                <a:solidFill>
                  <a:srgbClr val="94A3B8"/>
                </a:solidFill>
                <a:latin typeface="Inter"/>
              </a:rPr>
              <a:t>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28395" y="1264920"/>
            <a:ext cx="141446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0" i="0">
                <a:solidFill>
                  <a:srgbClr val="94A3B8"/>
                </a:solidFill>
                <a:latin typeface="Inter"/>
              </a:rPr>
              <a:t>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E293B"/>
      </a:accent1>
      <a:accent2>
        <a:srgbClr val="94A3B8"/>
      </a:accent2>
      <a:accent3>
        <a:srgbClr val="0F172A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