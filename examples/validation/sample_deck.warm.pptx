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619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1F2937"/>
                </a:solidFill>
                <a:latin typeface="Inter"/>
              </a:rPr>
              <a:t>slidify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533525"/>
            <a:ext cx="1066800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6B7280"/>
                </a:solidFill>
                <a:latin typeface="Inter"/>
              </a:rPr>
              <a:t>Render → Cluster → Classify → Emit →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00800"/>
            <a:ext cx="157891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9CA3AF"/>
                </a:solidFill>
                <a:latin typeface="Inter"/>
              </a:rPr>
              <a:t>Q1 2026 —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0668000" cy="4286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Inter"/>
              </a:rPr>
              <a:t>Three pillars of editability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343025"/>
            <a:ext cx="3403550" cy="1257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00125" y="1581150"/>
            <a:ext cx="29273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Inter"/>
              </a:rPr>
              <a:t>Native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1905000"/>
            <a:ext cx="29273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B5563"/>
                </a:solidFill>
                <a:latin typeface="Inter"/>
              </a:rPr>
              <a:t>Headlines and body copy stay editable in PowerPoint.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4150" y="1343025"/>
            <a:ext cx="3403550" cy="1257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32275" y="1581150"/>
            <a:ext cx="29273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Inter"/>
              </a:rPr>
              <a:t>Native shapes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275" y="1905000"/>
            <a:ext cx="29273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B5563"/>
                </a:solidFill>
                <a:latin typeface="Inter"/>
              </a:rPr>
              <a:t>Cards, dividers, and rectangles emit as real shapes.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6301" y="1343025"/>
            <a:ext cx="3403699" cy="1257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264426" y="1581150"/>
            <a:ext cx="2927449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Inter"/>
              </a:rPr>
              <a:t>Smart raster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6" y="1905000"/>
            <a:ext cx="292744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B5563"/>
                </a:solidFill>
                <a:latin typeface="Inter"/>
              </a:rPr>
              <a:t>Only complex visuals fall back to raster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4F46E5"/>
              </a:gs>
              <a:gs pos="16667">
                <a:srgbClr val="7243E4"/>
              </a:gs>
              <a:gs pos="33333">
                <a:srgbClr val="9042DD"/>
              </a:gs>
              <a:gs pos="50000">
                <a:srgbClr val="AB41D1"/>
              </a:gs>
              <a:gs pos="66667">
                <a:srgbClr val="C442C1"/>
              </a:gs>
              <a:gs pos="83333">
                <a:srgbClr val="D944AE"/>
              </a:gs>
              <a:gs pos="100000">
                <a:srgbClr val="EC4899"/>
              </a:gs>
            </a:gsLst>
            <a:lin ang="27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2500312"/>
            <a:ext cx="103632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"/>
              </a:rPr>
              <a:t>Closing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05112"/>
            <a:ext cx="9334500" cy="1047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Inter"/>
              </a:rPr>
              <a:t>"Rasterization is the failure mode, not the goal."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57662"/>
            <a:ext cx="103632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"/>
              </a:rPr>
              <a:t>— slidify spec, §0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2937"/>
      </a:accent1>
      <a:accent2>
        <a:srgbClr val="4B5563"/>
      </a:accent2>
      <a:accent3>
        <a:srgbClr val="4F46E5"/>
      </a:accent3>
      <a:accent4>
        <a:srgbClr val="EC4899"/>
      </a:accent4>
      <a:accent5>
        <a:srgbClr val="6B7280"/>
      </a:accent5>
      <a:accent6>
        <a:srgbClr val="9CA3A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