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embeddedFontLst>
    <p:embeddedFont>
      <p:font typeface="Playfair Display" panose="02040603050405020304" charset="0"/>
      <p:regular r:id="rIdSlidifyFont1"/>
      <p:bold r:id="rIdSlidifyFont2"/>
      <p:italic r:id="rIdSlidifyFont3"/>
      <p:boldItalic r:id="rIdSlidifyFont4"/>
    </p:embeddedFont>
    <p:embeddedFont>
      <p:font typeface="Bebas Neue" panose="020B0604020202020204" charset="0"/>
      <p:regular r:id="rIdSlidifyFont5"/>
    </p:embeddedFont>
    <p:embeddedFont>
      <p:font typeface="Source Serif Pro" panose="02040603050405020304" charset="0"/>
      <p:regular r:id="rIdSlidifyFont6"/>
      <p:bold r:id="rIdSlidifyFont7"/>
      <p:italic r:id="rIdSlidifyFont8"/>
    </p:embeddedFont>
    <p:embeddedFont>
      <p:font typeface="JetBrains Mono" panose="020B0609040504020204" charset="0"/>
      <p:regular r:id="rIdSlidifyFont9"/>
      <p:bold r:id="rIdSlidifyFont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Relationship Id="rIdSlidifyFont6" Type="http://schemas.openxmlformats.org/officeDocument/2006/relationships/font" Target="fonts/font6.fntdata"/><Relationship Id="rIdSlidifyFont7" Type="http://schemas.openxmlformats.org/officeDocument/2006/relationships/font" Target="fonts/font7.fntdata"/><Relationship Id="rIdSlidifyFont8" Type="http://schemas.openxmlformats.org/officeDocument/2006/relationships/font" Target="fonts/font8.fntdata"/><Relationship Id="rIdSlidifyFont9" Type="http://schemas.openxmlformats.org/officeDocument/2006/relationships/font" Target="fonts/font9.fntdata"/><Relationship Id="rIdSlidifyFont10" Type="http://schemas.openxmlformats.org/officeDocument/2006/relationships/font" Target="fonts/font1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9167">
                <a:srgbClr val="1B1841"/>
              </a:gs>
              <a:gs pos="18333">
                <a:srgbClr val="171538"/>
              </a:gs>
              <a:gs pos="27500">
                <a:srgbClr val="14132E"/>
              </a:gs>
              <a:gs pos="36667">
                <a:srgbClr val="101025"/>
              </a:gs>
              <a:gs pos="45833">
                <a:srgbClr val="0D0D1C"/>
              </a:gs>
              <a:gs pos="55000">
                <a:srgbClr val="0A0A14"/>
              </a:gs>
              <a:gs pos="62500">
                <a:srgbClr val="080812"/>
              </a:gs>
              <a:gs pos="70000">
                <a:srgbClr val="060610"/>
              </a:gs>
              <a:gs pos="77500">
                <a:srgbClr val="05050E"/>
              </a:gs>
              <a:gs pos="85000">
                <a:srgbClr val="04040C"/>
              </a:gs>
              <a:gs pos="92500">
                <a:srgbClr val="03030A"/>
              </a:gs>
              <a:gs pos="100000">
                <a:srgbClr val="020208"/>
              </a:gs>
            </a:gsLst>
            <a:path path="circle">
              <a:fillToRect l="50000" t="40000" r="50000" b="6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gradFill flip="none" rotWithShape="1">
            <a:gsLst>
              <a:gs pos="0">
                <a:srgbClr val="A78BFA">
                  <a:alpha val="34000"/>
                </a:srgbClr>
              </a:gs>
              <a:gs pos="11667">
                <a:srgbClr val="A78BFA">
                  <a:alpha val="28333"/>
                </a:srgbClr>
              </a:gs>
              <a:gs pos="23333">
                <a:srgbClr val="A78BFA">
                  <a:alpha val="22667"/>
                </a:srgbClr>
              </a:gs>
              <a:gs pos="35000">
                <a:srgbClr val="A78BFA">
                  <a:alpha val="17000"/>
                </a:srgbClr>
              </a:gs>
              <a:gs pos="46667">
                <a:srgbClr val="A78BFA">
                  <a:alpha val="11333"/>
                </a:srgbClr>
              </a:gs>
              <a:gs pos="58333">
                <a:srgbClr val="A78BFA">
                  <a:alpha val="5667"/>
                </a:srgbClr>
              </a:gs>
              <a:gs pos="70000">
                <a:srgbClr val="A78BFA">
                  <a:alpha val="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143000" y="-1714500"/>
            <a:ext cx="6858000" cy="6858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gradFill flip="none" rotWithShape="1">
            <a:gsLst>
              <a:gs pos="0">
                <a:srgbClr val="F472B6">
                  <a:alpha val="30000"/>
                </a:srgbClr>
              </a:gs>
              <a:gs pos="12000">
                <a:srgbClr val="F472B6">
                  <a:alpha val="25000"/>
                </a:srgbClr>
              </a:gs>
              <a:gs pos="24000">
                <a:srgbClr val="F472B6">
                  <a:alpha val="20000"/>
                </a:srgbClr>
              </a:gs>
              <a:gs pos="36000">
                <a:srgbClr val="F472B6">
                  <a:alpha val="15000"/>
                </a:srgbClr>
              </a:gs>
              <a:gs pos="48000">
                <a:srgbClr val="F472B6">
                  <a:alpha val="10000"/>
                </a:srgbClr>
              </a:gs>
              <a:gs pos="60000">
                <a:srgbClr val="F472B6">
                  <a:alpha val="5000"/>
                </a:srgbClr>
              </a:gs>
              <a:gs pos="72000">
                <a:srgbClr val="F472B6">
                  <a:alpha val="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334000" y="571500"/>
            <a:ext cx="8382000" cy="8382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33475" y="170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272665" y="1129665"/>
            <a:ext cx="26670" cy="2667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609975" y="2085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28260" y="1318260"/>
            <a:ext cx="30480" cy="3048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848475" y="170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561070" y="1131570"/>
            <a:ext cx="22860" cy="2286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0273665" y="1891665"/>
            <a:ext cx="26670" cy="2667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1229975" y="132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514475" y="513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035618" y="5702618"/>
            <a:ext cx="24765" cy="24765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562475" y="53244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080760" y="5890260"/>
            <a:ext cx="30480" cy="3048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7800975" y="5514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513570" y="5703570"/>
            <a:ext cx="22860" cy="2286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0848975" y="5133975"/>
            <a:ext cx="19050" cy="1905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"/>
            <a:ext cx="11277600" cy="5943600"/>
          </a:xfrm>
          <a:prstGeom prst="roundRect">
            <a:avLst/>
          </a:prstGeom>
          <a:noFill/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0" y="8001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A78BFA"/>
                </a:solidFill>
                <a:latin typeface="Inter"/>
              </a:rPr>
              <a:t>ISSUE 04 · 2026 · A FILM ABOUT 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2095500"/>
            <a:ext cx="12192000" cy="2667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21000" b="1" i="0" u="none">
                <a:gradFill rotWithShape="1">
                  <a:gsLst>
                    <a:gs pos="0">
                      <a:srgbClr val="60A5FA"/>
                    </a:gs>
                    <a:gs pos="30000">
                      <a:srgbClr val="A78BFA"/>
                    </a:gs>
                    <a:gs pos="65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FUTURE.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4750" y="3429000"/>
            <a:ext cx="114300" cy="3288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SLIDIFY · ATOMIC SEED · RECIPE 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9436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71717A"/>
                </a:solidFill>
                <a:latin typeface="Inter"/>
              </a:rPr>
              <a:t>EDITORIAL · CHAPTER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20617"/>
              </a:gs>
              <a:gs pos="28000">
                <a:srgbClr val="1E1B4B"/>
              </a:gs>
              <a:gs pos="52000">
                <a:srgbClr val="7C3AED"/>
              </a:gs>
              <a:gs pos="75000">
                <a:srgbClr val="DB2777"/>
              </a:gs>
              <a:gs pos="100000">
                <a:srgbClr val="020208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6168182" cy="55054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51000" b="1" i="0" u="none">
                <a:latin typeface="Inte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473250" cy="285750"/>
          </a:xfrm>
          <a:prstGeom prst="rect">
            <a:avLst/>
          </a:prstGeom>
          <a:solidFill>
            <a:srgbClr val="FFFFFF">
              <a:alpha val="8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5F5F7"/>
                </a:solidFill>
                <a:latin typeface="Inter"/>
              </a:rPr>
              <a:t>chapter two of four</a:t>
            </a:r>
          </a:p>
        </p:txBody>
      </p:sp>
      <p:sp>
        <p:nvSpPr>
          <p:cNvPr id="5" name="Oval 4"/>
          <p:cNvSpPr/>
          <p:nvPr/>
        </p:nvSpPr>
        <p:spPr>
          <a:xfrm>
            <a:off x="1057275" y="866775"/>
            <a:ext cx="76200" cy="76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276350"/>
            <a:ext cx="103632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E68A"/>
                </a:solidFill>
                <a:latin typeface="Inter"/>
              </a:rPr>
              <a:t>CHAPTER · 02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2575"/>
            <a:ext cx="6876901" cy="2133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400" b="1" i="0" u="none">
                <a:solidFill>
                  <a:srgbClr val="F5F5F7"/>
                </a:solidFill>
                <a:latin typeface="Inter"/>
              </a:rPr>
              <a:t xml:space="preserve">A new render path that </a:t>
            </a:r>
            <a:r>
              <a:rPr sz="5400" b="1" i="0" u="none">
                <a:gradFill rotWithShape="1">
                  <a:gsLst>
                    <a:gs pos="0">
                      <a:srgbClr val="FDE68A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Inter"/>
              </a:rPr>
              <a:t>stays alive</a:t>
            </a:r>
            <a:r>
              <a:rPr sz="5400" b="1" i="0" u="none">
                <a:solidFill>
                  <a:srgbClr val="F5F5F7"/>
                </a:solidFill>
                <a:latin typeface="Inter"/>
              </a:rPr>
              <a:t xml:space="preserve"> after the meeting.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19525"/>
            <a:ext cx="6286500" cy="8572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 u="none">
                <a:solidFill>
                  <a:srgbClr val="FFFFFF"/>
                </a:solidFill>
                <a:latin typeface="Inter"/>
              </a:rPr>
              <a:t>Render in headless Chromium. Cluster into atomic visual units. Translate gradients, shadows, and shapes into native PPTX. Edit the result in PowerPoint as if a designer authored it by hand.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15050"/>
            <a:ext cx="174887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64253" y="6115050"/>
            <a:ext cx="2013347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02 / 16 · CHAPTER DIVIDER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000000">
                  <a:alpha val="55000"/>
                </a:srgbClr>
              </a:gs>
              <a:gs pos="8333">
                <a:srgbClr val="000000">
                  <a:alpha val="45833"/>
                </a:srgbClr>
              </a:gs>
              <a:gs pos="16667">
                <a:srgbClr val="000000">
                  <a:alpha val="36667"/>
                </a:srgbClr>
              </a:gs>
              <a:gs pos="25000">
                <a:srgbClr val="000000">
                  <a:alpha val="27500"/>
                </a:srgbClr>
              </a:gs>
              <a:gs pos="33333">
                <a:srgbClr val="000000">
                  <a:alpha val="18333"/>
                </a:srgbClr>
              </a:gs>
              <a:gs pos="41667">
                <a:srgbClr val="000000">
                  <a:alpha val="9167"/>
                </a:srgbClr>
              </a:gs>
              <a:gs pos="50000">
                <a:srgbClr val="000000">
                  <a:alpha val="0"/>
                </a:srgbClr>
              </a:gs>
              <a:gs pos="58333">
                <a:srgbClr val="000000">
                  <a:alpha val="9167"/>
                </a:srgbClr>
              </a:gs>
              <a:gs pos="66667">
                <a:srgbClr val="000000">
                  <a:alpha val="18333"/>
                </a:srgbClr>
              </a:gs>
              <a:gs pos="75000">
                <a:srgbClr val="000000">
                  <a:alpha val="27500"/>
                </a:srgbClr>
              </a:gs>
              <a:gs pos="83333">
                <a:srgbClr val="000000">
                  <a:alpha val="36667"/>
                </a:srgbClr>
              </a:gs>
              <a:gs pos="91667">
                <a:srgbClr val="000000">
                  <a:alpha val="45833"/>
                </a:srgbClr>
              </a:gs>
              <a:gs pos="100000">
                <a:srgbClr val="000000">
                  <a:alpha val="55000"/>
                </a:srgbClr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gradFill flip="none"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8000"/>
                </a:srgbClr>
              </a:gs>
            </a:gsLst>
            <a:path path="circle">
              <a:fillToRect l="25000" t="25000" r="75000" b="7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43000" y="914400"/>
            <a:ext cx="9906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DE68A"/>
                </a:solidFill>
                <a:latin typeface="Inter"/>
              </a:rPr>
              <a:t>MANIFESTO · A LUXURY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57300"/>
            <a:ext cx="9231362" cy="192315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650" b="0" i="1" u="none">
                <a:solidFill>
                  <a:srgbClr val="FEF3C7"/>
                </a:solidFill>
                <a:latin typeface="Playfair Display"/>
              </a:rPr>
              <a:t xml:space="preserve">Rasterization is the </a:t>
            </a:r>
            <a:r>
              <a:rPr sz="4650" b="1" i="1" u="none">
                <a:gradFill rotWithShape="1">
                  <a:gsLst>
                    <a:gs pos="0">
                      <a:srgbClr val="FDE68A"/>
                    </a:gs>
                    <a:gs pos="100000">
                      <a:srgbClr val="F472B6"/>
                    </a:gs>
                  </a:gsLst>
                  <a:lin ang="2700000" scaled="0"/>
                </a:gradFill>
                <a:latin typeface="Playfair Display"/>
              </a:rPr>
              <a:t>failure mode,</a:t>
            </a:r>
            <a:r>
              <a:rPr sz="4650" b="0" i="1" u="none">
                <a:solidFill>
                  <a:srgbClr val="FEF3C7"/>
                </a:solidFill>
                <a:latin typeface="Playfair Display"/>
              </a:rPr>
              <a:t xml:space="preserve"> not the goal — every pixel that stays editable compounds across every translation.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37211"/>
            <a:ext cx="381000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DE68A"/>
                </a:solidFill>
                <a:latin typeface="Inter"/>
              </a:rPr>
              <a:t>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3699123"/>
            <a:ext cx="2419201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Vamsi Ramakrishnan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" y="3889623"/>
            <a:ext cx="2419201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Inter"/>
              </a:rPr>
              <a:t>Founder · Pixelpitch Labs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267450"/>
            <a:ext cx="174887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35864" y="6267450"/>
            <a:ext cx="1513136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03 / 16 · MANIFESTO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5800" y="533400"/>
            <a:ext cx="670024" cy="2476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1" u="none">
                <a:solidFill>
                  <a:srgbClr val="06060C"/>
                </a:solidFill>
                <a:latin typeface="Playfair Display"/>
              </a:rPr>
              <a:t xml:space="preserve">atelier </a:t>
            </a:r>
            <a:r>
              <a:rPr sz="1800" b="1" i="0" u="none">
                <a:solidFill>
                  <a:srgbClr val="7C3AED"/>
                </a:solidFill>
                <a:latin typeface="Playfair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9831" y="604838"/>
            <a:ext cx="160779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ISSUE 04 · MMXXVI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9676"/>
            <a:ext cx="7191821" cy="405259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1100" b="0" i="0" u="none">
                <a:solidFill>
                  <a:srgbClr val="06060C"/>
                </a:solidFill>
                <a:latin typeface="Bebas Neue"/>
              </a:rPr>
              <a:t>A FILM</a:t>
            </a:r>
          </a:p>
          <a:p>
            <a:pPr algn="l"/>
            <a:r>
              <a:rPr sz="11100" b="0" i="0" u="none">
                <a:solidFill>
                  <a:srgbClr val="06060C"/>
                </a:solidFill>
                <a:latin typeface="Bebas Neue"/>
              </a:rPr>
              <a:t>ABOUT</a:t>
            </a:r>
          </a:p>
          <a:p>
            <a:pPr algn="l"/>
            <a:r>
              <a:rPr sz="11100" b="0" i="0" u="none">
                <a:solidFill>
                  <a:srgbClr val="DC2626"/>
                </a:solidFill>
                <a:latin typeface="Bebas Neue"/>
              </a:rPr>
              <a:t>SHIPPING.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65923"/>
            <a:ext cx="4953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3F3F46"/>
                </a:solidFill>
                <a:latin typeface="Source Serif Pro"/>
              </a:rPr>
              <a:t>How a small team in Brooklyn built a compiler that turns browsers into editable PowerPoint — and why every screenshot tool was the wrong abstraction.</a:t>
            </a:r>
          </a:p>
        </p:txBody>
      </p:sp>
      <p:sp>
        <p:nvSpPr>
          <p:cNvPr id="7" name="Rounded Rectangle 6"/>
          <p:cNvSpPr/>
          <p:nvPr/>
        </p:nvSpPr>
        <p:spPr>
          <a:gradFill flip="none" rotWithShape="1">
            <a:gsLst>
              <a:gs pos="0">
                <a:srgbClr val="0C4A6E"/>
              </a:gs>
              <a:gs pos="8333">
                <a:srgbClr val="185289"/>
              </a:gs>
              <a:gs pos="16667">
                <a:srgbClr val="2E57A5"/>
              </a:gs>
              <a:gs pos="25000">
                <a:srgbClr val="495ABF"/>
              </a:gs>
              <a:gs pos="33333">
                <a:srgbClr val="665BD6"/>
              </a:gs>
              <a:gs pos="41667">
                <a:srgbClr val="8659E9"/>
              </a:gs>
              <a:gs pos="50000">
                <a:srgbClr val="A855F7"/>
              </a:gs>
              <a:gs pos="58333">
                <a:srgbClr val="B751EA"/>
              </a:gs>
              <a:gs pos="66667">
                <a:srgbClr val="C54EDC"/>
              </a:gs>
              <a:gs pos="75000">
                <a:srgbClr val="D14BCD"/>
              </a:gs>
              <a:gs pos="83333">
                <a:srgbClr val="DC49BC"/>
              </a:gs>
              <a:gs pos="91667">
                <a:srgbClr val="E548AB"/>
              </a:gs>
              <a:gs pos="100000">
                <a:srgbClr val="EC4899"/>
              </a:gs>
            </a:gsLst>
            <a:lin ang="4200000" scaled="0"/>
          </a:gradFill>
          <a:xfrm>
            <a:off x="8258621" y="1355527"/>
            <a:ext cx="3619500" cy="41910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91971" y="5213152"/>
            <a:ext cx="1566862" cy="200025"/>
          </a:xfrm>
          <a:prstGeom prst="rect">
            <a:avLst/>
          </a:prstGeom>
          <a:solidFill>
            <a:srgbClr val="000000">
              <a:alpha val="3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Consolas"/>
              </a:rPr>
              <a:t>04 / SUBJECT · STILL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8621" y="5851327"/>
            <a:ext cx="3250406" cy="322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6060C"/>
                </a:solidFill>
                <a:latin typeface="Source Serif Pro"/>
              </a:rPr>
              <a:t xml:space="preserve">Cover </a:t>
            </a:r>
            <a:r>
              <a:rPr sz="975" b="0" i="1" u="none">
                <a:solidFill>
                  <a:srgbClr val="52525B"/>
                </a:solidFill>
                <a:latin typeface="Source Serif Pro"/>
              </a:rPr>
              <a:t>The render pipeline, photographed in long exposure. By Pixelpitch Labs.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B1841"/>
              </a:gs>
              <a:gs pos="20000">
                <a:srgbClr val="171538"/>
              </a:gs>
              <a:gs pos="30000">
                <a:srgbClr val="14132E"/>
              </a:gs>
              <a:gs pos="40000">
                <a:srgbClr val="101025"/>
              </a:gs>
              <a:gs pos="50000">
                <a:srgbClr val="0D0D1C"/>
              </a:gs>
              <a:gs pos="60000">
                <a:srgbClr val="0A0A14"/>
              </a:gs>
              <a:gs pos="66667">
                <a:srgbClr val="080812"/>
              </a:gs>
              <a:gs pos="73333">
                <a:srgbClr val="060610"/>
              </a:gs>
              <a:gs pos="80000">
                <a:srgbClr val="05050E"/>
              </a:gs>
              <a:gs pos="86667">
                <a:srgbClr val="04040C"/>
              </a:gs>
              <a:gs pos="93333">
                <a:srgbClr val="03030A"/>
              </a:gs>
              <a:gs pos="100000">
                <a:srgbClr val="020208"/>
              </a:gs>
            </a:gsLst>
            <a:path path="circle">
              <a:fillToRect l="80000" t="20000" r="20000" b="8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585549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PRODUCT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5855494" cy="33992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550" b="1" i="0" u="none">
                <a:solidFill>
                  <a:srgbClr val="F5F5F7"/>
                </a:solidFill>
                <a:latin typeface="Inter"/>
              </a:rPr>
              <a:t>A bento of every primitive a deck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0990" y="930473"/>
            <a:ext cx="12814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16 · BENTO</a:t>
            </a:r>
          </a:p>
        </p:txBody>
      </p:sp>
      <p:sp>
        <p:nvSpPr>
          <p:cNvPr id="6" name="Rectangle 5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2149971" y="-1298377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gradFill flip="none" rotWithShape="1">
            <a:gsLst>
              <a:gs pos="0">
                <a:srgbClr val="1E1B4B">
                  <a:alpha val="45000"/>
                </a:srgbClr>
              </a:gs>
              <a:gs pos="16667">
                <a:srgbClr val="1E1B4B">
                  <a:alpha val="37500"/>
                </a:srgbClr>
              </a:gs>
              <a:gs pos="33333">
                <a:srgbClr val="1E1B4B">
                  <a:alpha val="30000"/>
                </a:srgbClr>
              </a:gs>
              <a:gs pos="50000">
                <a:srgbClr val="1E1B4B">
                  <a:alpha val="22500"/>
                </a:srgbClr>
              </a:gs>
              <a:gs pos="66667">
                <a:srgbClr val="1E1B4B">
                  <a:alpha val="15000"/>
                </a:srgbClr>
              </a:gs>
              <a:gs pos="83333">
                <a:srgbClr val="1E1B4B">
                  <a:alpha val="7500"/>
                </a:srgbClr>
              </a:gs>
              <a:gs pos="100000">
                <a:srgbClr val="1E1B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376660" y="-1298377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gradFill flip="none" rotWithShape="1">
            <a:gsLst>
              <a:gs pos="0">
                <a:srgbClr val="A78BFA">
                  <a:alpha val="45000"/>
                </a:srgbClr>
              </a:gs>
              <a:gs pos="16667">
                <a:srgbClr val="A78BFA">
                  <a:alpha val="37500"/>
                </a:srgbClr>
              </a:gs>
              <a:gs pos="33333">
                <a:srgbClr val="A78BFA">
                  <a:alpha val="30000"/>
                </a:srgbClr>
              </a:gs>
              <a:gs pos="50000">
                <a:srgbClr val="A78BFA">
                  <a:alpha val="22500"/>
                </a:srgbClr>
              </a:gs>
              <a:gs pos="66667">
                <a:srgbClr val="A78BFA">
                  <a:alpha val="15000"/>
                </a:srgbClr>
              </a:gs>
              <a:gs pos="83333">
                <a:srgbClr val="A78BFA">
                  <a:alpha val="75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2149971" y="1902023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gradFill flip="none" rotWithShape="1">
            <a:gsLst>
              <a:gs pos="0">
                <a:srgbClr val="FEF3C7">
                  <a:alpha val="45000"/>
                </a:srgbClr>
              </a:gs>
              <a:gs pos="16667">
                <a:srgbClr val="FEF3C7">
                  <a:alpha val="37500"/>
                </a:srgbClr>
              </a:gs>
              <a:gs pos="33333">
                <a:srgbClr val="FEF3C7">
                  <a:alpha val="30000"/>
                </a:srgbClr>
              </a:gs>
              <a:gs pos="50000">
                <a:srgbClr val="FEF3C7">
                  <a:alpha val="22500"/>
                </a:srgbClr>
              </a:gs>
              <a:gs pos="66667">
                <a:srgbClr val="FEF3C7">
                  <a:alpha val="15000"/>
                </a:srgbClr>
              </a:gs>
              <a:gs pos="83333">
                <a:srgbClr val="FEF3C7">
                  <a:alpha val="7500"/>
                </a:srgbClr>
              </a:gs>
              <a:gs pos="100000">
                <a:srgbClr val="FEF3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376660" y="1902023"/>
            <a:ext cx="6400800" cy="64008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gradFill flip="none" rotWithShape="1">
            <a:gsLst>
              <a:gs pos="0">
                <a:srgbClr val="6366F1">
                  <a:alpha val="30000"/>
                </a:srgbClr>
              </a:gs>
              <a:gs pos="16667">
                <a:srgbClr val="8465F0">
                  <a:alpha val="28333"/>
                </a:srgbClr>
              </a:gs>
              <a:gs pos="33333">
                <a:srgbClr val="A065EA">
                  <a:alpha val="26667"/>
                </a:srgbClr>
              </a:gs>
              <a:gs pos="50000">
                <a:srgbClr val="B967E1">
                  <a:alpha val="25000"/>
                </a:srgbClr>
              </a:gs>
              <a:gs pos="66667">
                <a:srgbClr val="CF69D5">
                  <a:alpha val="23333"/>
                </a:srgbClr>
              </a:gs>
              <a:gs pos="83333">
                <a:srgbClr val="E36DC6">
                  <a:alpha val="21667"/>
                </a:srgbClr>
              </a:gs>
              <a:gs pos="100000">
                <a:srgbClr val="F472B6">
                  <a:alpha val="20000"/>
                </a:srgbClr>
              </a:gs>
            </a:gsLst>
            <a:lin ang="4200000" scaled="0"/>
          </a:gradFill>
          <a:xfrm>
            <a:off x="609600" y="1216223"/>
            <a:ext cx="4408289" cy="4572000"/>
          </a:xfrm>
          <a:prstGeom prst="roundRect">
            <a:avLst/>
          </a:prstGeom>
          <a:ln w="9525">
            <a:solidFill>
              <a:srgbClr val="A78BFA"/>
            </a:solidFill>
          </a:ln>
          <a:effectLst>
            <a:outerShdw blurRad="762000" dist="0" dir="0" algn="ctr" rotWithShape="0">
              <a:srgbClr val="8B5CF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9600" y="1216223"/>
            <a:ext cx="4408289" cy="4572000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28675" y="1416248"/>
            <a:ext cx="397013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FEATURED · NATIVE-AREA RATIO</a:t>
            </a:r>
          </a:p>
        </p:txBody>
      </p:sp>
      <p:sp>
        <p:nvSpPr>
          <p:cNvPr id="13" name="Oval 12"/>
          <p:cNvSpPr/>
          <p:nvPr/>
        </p:nvSpPr>
        <p:spPr>
          <a:xfrm>
            <a:off x="885825" y="4113907"/>
            <a:ext cx="495300" cy="495300"/>
          </a:xfrm>
          <a:prstGeom prst="ellipse">
            <a:avLst/>
          </a:prstGeom>
          <a:noFill/>
          <a:ln w="5715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85825" y="4113907"/>
            <a:ext cx="495300" cy="495300"/>
          </a:xfrm>
          <a:prstGeom prst="ellipse">
            <a:avLst/>
          </a:prstGeom>
          <a:noFill/>
          <a:ln w="571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28675" y="4818757"/>
            <a:ext cx="573435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95</a:t>
            </a:r>
            <a:r>
              <a:rPr sz="18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5256907"/>
            <a:ext cx="3970139" cy="3312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of slide area emits as native, editable PPTX shapes — gradients, shadows, text frames, real preset shapes.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1239" y="1216223"/>
            <a:ext cx="3148905" cy="2219325"/>
          </a:xfrm>
          <a:prstGeom prst="roundRect">
            <a:avLst/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  <a:effectLst>
            <a:innerShdw blurRad="0" dist="9525" dir="5400000">
              <a:srgbClr val="FFFFFF">
                <a:alpha val="16000"/>
              </a:srgbClr>
            </a:innerShdw>
            <a:outerShdw blurRad="381000" dist="1524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gradFill flip="none" rotWithShape="1">
            <a:gsLst>
              <a:gs pos="0">
                <a:srgbClr val="ffffff">
                  <a:alpha val="20000"/>
                </a:srgbClr>
              </a:gs>
              <a:gs pos="16667">
                <a:srgbClr val="FFFFFF">
                  <a:alpha val="16667"/>
                </a:srgbClr>
              </a:gs>
              <a:gs pos="33333">
                <a:srgbClr val="FFFFFF">
                  <a:alpha val="13333"/>
                </a:srgbClr>
              </a:gs>
              <a:gs pos="50000">
                <a:srgbClr val="FFFFFF">
                  <a:alpha val="10000"/>
                </a:srgbClr>
              </a:gs>
              <a:gs pos="66667">
                <a:srgbClr val="FFFFFF">
                  <a:alpha val="6667"/>
                </a:srgbClr>
              </a:gs>
              <a:gs pos="83333">
                <a:srgbClr val="FFFFFF">
                  <a:alpha val="3333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xfrm>
            <a:off x="5151239" y="1216223"/>
            <a:ext cx="3148905" cy="99869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151239" y="1216223"/>
            <a:ext cx="3148905" cy="2219325"/>
          </a:xfrm>
          <a:prstGeom prst="rect">
            <a:avLst/>
          </a:prstGeom>
          <a:noFill/>
          <a:ln w="9525">
            <a:solidFill>
              <a:srgbClr val="FFFFFF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151239" y="1216223"/>
            <a:ext cx="3148905" cy="2219325"/>
          </a:xfrm>
          <a:prstGeom prst="rect">
            <a:avLst/>
          </a:prstGeom>
          <a:noFill/>
          <a:ln>
            <a:noFill/>
          </a:ln>
          <a:effectLst>
            <a:innerShdw blurRad="171450" dist="0" dir="0">
              <a:srgbClr val="FFFFFF">
                <a:alpha val="10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370314" y="1416248"/>
            <a:ext cx="271075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▲ ARR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0314" y="2650778"/>
            <a:ext cx="2710755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$12.4M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0314" y="3069878"/>
            <a:ext cx="2710755" cy="16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34D399"/>
                </a:solidFill>
                <a:latin typeface="Inter"/>
              </a:rPr>
              <a:t>+18.2% Q-o-Q</a:t>
            </a:r>
          </a:p>
        </p:txBody>
      </p:sp>
      <p:sp>
        <p:nvSpPr>
          <p:cNvPr id="24" name="Rectangle 23"/>
          <p:cNvSpPr/>
          <p:nvPr/>
        </p:nvSpPr>
        <p:spPr>
          <a:gradFill flip="none" rotWithShape="1">
            <a:gsLst>
              <a:gs pos="0">
                <a:srgbClr val="F5F5F7">
                  <a:alpha val="55000"/>
                </a:srgbClr>
              </a:gs>
              <a:gs pos="16667">
                <a:srgbClr val="F5F5F7">
                  <a:alpha val="45833"/>
                </a:srgbClr>
              </a:gs>
              <a:gs pos="33333">
                <a:srgbClr val="F5F5F7">
                  <a:alpha val="36667"/>
                </a:srgbClr>
              </a:gs>
              <a:gs pos="50000">
                <a:srgbClr val="F5F5F7">
                  <a:alpha val="27500"/>
                </a:srgbClr>
              </a:gs>
              <a:gs pos="66667">
                <a:srgbClr val="F5F5F7">
                  <a:alpha val="18333"/>
                </a:srgbClr>
              </a:gs>
              <a:gs pos="83333">
                <a:srgbClr val="F5F5F7">
                  <a:alpha val="91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7016554" y="-665433"/>
            <a:ext cx="5982638" cy="5982638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gradFill flip="none" rotWithShape="1">
            <a:gsLst>
              <a:gs pos="0">
                <a:srgbClr val="F472B6">
                  <a:alpha val="40000"/>
                </a:srgbClr>
              </a:gs>
              <a:gs pos="6667">
                <a:srgbClr val="E36DC6">
                  <a:alpha val="36000"/>
                </a:srgbClr>
              </a:gs>
              <a:gs pos="13333">
                <a:srgbClr val="CF69D5">
                  <a:alpha val="32000"/>
                </a:srgbClr>
              </a:gs>
              <a:gs pos="20000">
                <a:srgbClr val="B967E1">
                  <a:alpha val="28000"/>
                </a:srgbClr>
              </a:gs>
              <a:gs pos="26667">
                <a:srgbClr val="A065EA">
                  <a:alpha val="24000"/>
                </a:srgbClr>
              </a:gs>
              <a:gs pos="33333">
                <a:srgbClr val="8465F0">
                  <a:alpha val="20000"/>
                </a:srgbClr>
              </a:gs>
              <a:gs pos="40000">
                <a:srgbClr val="6366F1">
                  <a:alpha val="16000"/>
                </a:srgbClr>
              </a:gs>
              <a:gs pos="50000">
                <a:srgbClr val="6446B7">
                  <a:alpha val="22500"/>
                </a:srgbClr>
              </a:gs>
              <a:gs pos="60000">
                <a:srgbClr val="562B7E">
                  <a:alpha val="29000"/>
                </a:srgbClr>
              </a:gs>
              <a:gs pos="70000">
                <a:srgbClr val="40164C">
                  <a:alpha val="35500"/>
                </a:srgbClr>
              </a:gs>
              <a:gs pos="80000">
                <a:srgbClr val="250622">
                  <a:alpha val="42000"/>
                </a:srgbClr>
              </a:gs>
              <a:gs pos="90000">
                <a:srgbClr val="090105">
                  <a:alpha val="48500"/>
                </a:srgbClr>
              </a:gs>
              <a:gs pos="100000">
                <a:srgbClr val="000000">
                  <a:alpha val="55000"/>
                </a:srgbClr>
              </a:gs>
            </a:gsLst>
            <a:path path="circle">
              <a:fillToRect l="50000" t="30000" r="50000" b="70000"/>
            </a:path>
          </a:gradFill>
          <a:xfrm>
            <a:off x="8433495" y="1216223"/>
            <a:ext cx="3148757" cy="2219325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652570" y="1416248"/>
            <a:ext cx="271060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UPTIME · 90D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2570" y="2631728"/>
            <a:ext cx="1044029" cy="4000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99.98</a:t>
            </a:r>
            <a:r>
              <a:rPr sz="1800" b="1" i="0" u="none">
                <a:solidFill>
                  <a:srgbClr val="F5F5F7"/>
                </a:solidFill>
                <a:latin typeface="Inter"/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2570" y="3069878"/>
            <a:ext cx="2710607" cy="1656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5,182 of 5,184 deploys passed SSIM ≥ 0.95.</a:t>
            </a:r>
          </a:p>
        </p:txBody>
      </p:sp>
      <p:sp>
        <p:nvSpPr>
          <p:cNvPr id="29" name="Rectangle 28"/>
          <p:cNvSpPr/>
          <p:nvPr/>
        </p:nvSpPr>
        <p:spPr>
          <a:gradFill flip="none" rotWithShape="1">
            <a:gsLst>
              <a:gs pos="0">
                <a:srgbClr val="F5F5F7">
                  <a:alpha val="40000"/>
                </a:srgbClr>
              </a:gs>
              <a:gs pos="16667">
                <a:srgbClr val="F5F5F7">
                  <a:alpha val="33333"/>
                </a:srgbClr>
              </a:gs>
              <a:gs pos="33333">
                <a:srgbClr val="F5F5F7">
                  <a:alpha val="26667"/>
                </a:srgbClr>
              </a:gs>
              <a:gs pos="50000">
                <a:srgbClr val="F5F5F7">
                  <a:alpha val="20000"/>
                </a:srgbClr>
              </a:gs>
              <a:gs pos="66667">
                <a:srgbClr val="F5F5F7">
                  <a:alpha val="13333"/>
                </a:srgbClr>
              </a:gs>
              <a:gs pos="83333">
                <a:srgbClr val="F5F5F7">
                  <a:alpha val="6667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017585" y="1031647"/>
            <a:ext cx="5803993" cy="580399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gradFill flip="none" rotWithShape="1">
            <a:gsLst>
              <a:gs pos="0">
                <a:srgbClr val="1E1B4B">
                  <a:alpha val="35000"/>
                </a:srgbClr>
              </a:gs>
              <a:gs pos="16667">
                <a:srgbClr val="1E1B4B">
                  <a:alpha val="29167"/>
                </a:srgbClr>
              </a:gs>
              <a:gs pos="33333">
                <a:srgbClr val="1E1B4B">
                  <a:alpha val="23333"/>
                </a:srgbClr>
              </a:gs>
              <a:gs pos="50000">
                <a:srgbClr val="1E1B4B">
                  <a:alpha val="17500"/>
                </a:srgbClr>
              </a:gs>
              <a:gs pos="66667">
                <a:srgbClr val="1E1B4B">
                  <a:alpha val="11667"/>
                </a:srgbClr>
              </a:gs>
              <a:gs pos="83333">
                <a:srgbClr val="1E1B4B">
                  <a:alpha val="5833"/>
                </a:srgbClr>
              </a:gs>
              <a:gs pos="100000">
                <a:srgbClr val="1E1B4B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3823695" y="1615343"/>
            <a:ext cx="6126437" cy="6126437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gradFill flip="none" rotWithShape="1">
            <a:gsLst>
              <a:gs pos="0">
                <a:srgbClr val="A78BFA">
                  <a:alpha val="40000"/>
                </a:srgbClr>
              </a:gs>
              <a:gs pos="16667">
                <a:srgbClr val="A78BFA">
                  <a:alpha val="33333"/>
                </a:srgbClr>
              </a:gs>
              <a:gs pos="33333">
                <a:srgbClr val="A78BFA">
                  <a:alpha val="26667"/>
                </a:srgbClr>
              </a:gs>
              <a:gs pos="50000">
                <a:srgbClr val="A78BFA">
                  <a:alpha val="20000"/>
                </a:srgbClr>
              </a:gs>
              <a:gs pos="66667">
                <a:srgbClr val="A78BFA">
                  <a:alpha val="13333"/>
                </a:srgbClr>
              </a:gs>
              <a:gs pos="83333">
                <a:srgbClr val="A78BFA">
                  <a:alpha val="6667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4726539" y="2521482"/>
            <a:ext cx="5803993" cy="580399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gradFill flip="none" rotWithShape="1">
            <a:gsLst>
              <a:gs pos="0">
                <a:srgbClr val="6366F1">
                  <a:alpha val="20000"/>
                </a:srgbClr>
              </a:gs>
              <a:gs pos="30000">
                <a:srgbClr val="A78BFA">
                  <a:alpha val="10000"/>
                </a:srgbClr>
              </a:gs>
              <a:gs pos="60000">
                <a:srgbClr val="F472B6">
                  <a:alpha val="18000"/>
                </a:srgbClr>
              </a:gs>
              <a:gs pos="100000">
                <a:srgbClr val="FB923C">
                  <a:alpha val="10000"/>
                </a:srgbClr>
              </a:gs>
            </a:gsLst>
            <a:lin ang="5400000" scaled="0"/>
          </a:gradFill>
          <a:xfrm>
            <a:off x="5113472" y="3514627"/>
            <a:ext cx="3224440" cy="2327868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339394" y="3722175"/>
            <a:ext cx="2712761" cy="199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▲ DECKS / WEEK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82478" y="4955953"/>
            <a:ext cx="2721736" cy="45633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850" b="1" i="0" u="none">
                <a:solidFill>
                  <a:srgbClr val="F5F5F7"/>
                </a:solidFill>
                <a:latin typeface="Inter"/>
              </a:rPr>
              <a:t>1,184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7104" y="5374798"/>
            <a:ext cx="2714885" cy="2601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A1A1AA"/>
                </a:solidFill>
                <a:latin typeface="Inter"/>
              </a:rPr>
              <a:t>Across 318 teams in production.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33495" y="3568898"/>
            <a:ext cx="3148757" cy="2219325"/>
          </a:xfrm>
          <a:prstGeom prst="roundRect">
            <a:avLst/>
          </a:prstGeom>
          <a:solidFill>
            <a:srgbClr val="050510"/>
          </a:solidFill>
          <a:ln w="9525">
            <a:solidFill>
              <a:srgbClr val="FFFFFF"/>
            </a:solidFill>
          </a:ln>
          <a:effectLst>
            <a:innerShdw blurRad="76200" dist="19050" dir="5400000">
              <a:srgbClr val="000000">
                <a:alpha val="5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8433495" y="3568898"/>
            <a:ext cx="3148757" cy="2219325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652570" y="3768923"/>
            <a:ext cx="271060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$ slidify --quiet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2570" y="4895255"/>
            <a:ext cx="1303586" cy="65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Consolas"/>
              </a:rPr>
              <a:t># compose from atoms</a:t>
            </a:r>
          </a:p>
          <a:p>
            <a:pPr algn="l"/>
            <a:r>
              <a:rPr sz="825" b="0" i="0" u="none">
                <a:solidFill>
                  <a:srgbClr val="C084FC"/>
                </a:solidFill>
                <a:latin typeface="Consolas"/>
              </a:rPr>
              <a:t>deck</a:t>
            </a:r>
            <a:r>
              <a:rPr sz="825" b="0" i="0" u="none">
                <a:solidFill>
                  <a:srgbClr val="34D399"/>
                </a:solidFill>
                <a:latin typeface="Consolas"/>
              </a:rPr>
              <a:t>.compose(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 xml:space="preserve">  "hero", "bento")</a:t>
            </a:r>
          </a:p>
          <a:p>
            <a:pPr algn="l"/>
            <a:r>
              <a:rPr sz="825" b="0" i="0" u="none">
                <a:solidFill>
                  <a:srgbClr val="34D399"/>
                </a:solidFill>
                <a:latin typeface="Consolas"/>
              </a:rPr>
              <a:t xml:space="preserve">
        → out.pptx ✓
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1107" y="6515100"/>
            <a:ext cx="106129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05 / 16 · BENTO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702275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PRODUCT ·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"/>
            <a:ext cx="7022753" cy="3000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06060C"/>
                </a:solidFill>
                <a:latin typeface="Inter"/>
              </a:rPr>
              <a:t>Every cluster routed to a native primitive — annotated.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2659" y="814388"/>
            <a:ext cx="149974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06 / 16 · ANATOMY</a:t>
            </a:r>
          </a:p>
        </p:txBody>
      </p:sp>
      <p:sp>
        <p:nvSpPr>
          <p:cNvPr id="7" name="Freeform 6"/>
          <p:cNvSpPr/>
          <p:nvPr/>
        </p:nvSpPr>
        <p:spPr>
          <a:xfrm>
            <a:off x="1943100" y="2052638"/>
            <a:ext cx="22860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33333" y="23077"/>
                </a:lnTo>
                <a:lnTo>
                  <a:pt x="10000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191000" y="3252788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7943850" y="2052638"/>
            <a:ext cx="2286000" cy="12382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lnTo>
                  <a:pt x="62500" y="30769"/>
                </a:lnTo>
                <a:lnTo>
                  <a:pt x="0" y="10000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905750" y="3252788"/>
            <a:ext cx="76200" cy="76200"/>
          </a:xfrm>
          <a:prstGeom prst="ellipse">
            <a:avLst/>
          </a:prstGeom>
          <a:solidFill>
            <a:srgbClr val="F472B6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57350" y="4148138"/>
            <a:ext cx="257175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40741" y="66667"/>
                </a:lnTo>
                <a:lnTo>
                  <a:pt x="100000" y="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191000" y="4110038"/>
            <a:ext cx="76200" cy="76200"/>
          </a:xfrm>
          <a:prstGeom prst="ellipse">
            <a:avLst/>
          </a:prstGeom>
          <a:solidFill>
            <a:srgbClr val="34D399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7943850" y="4148138"/>
            <a:ext cx="2571750" cy="571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lnTo>
                  <a:pt x="55556" y="66667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905750" y="4110038"/>
            <a:ext cx="76200" cy="76200"/>
          </a:xfrm>
          <a:prstGeom prst="ellipse">
            <a:avLst/>
          </a:prstGeom>
          <a:solidFill>
            <a:srgbClr val="34D399"/>
          </a:solidFill>
          <a:ln w="14288">
            <a:solidFill>
              <a:srgbClr val="060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 14"/>
          <p:cNvCxnSpPr/>
          <p:nvPr/>
        </p:nvCxnSpPr>
        <p:spPr>
          <a:xfrm>
            <a:off x="4229100" y="5195888"/>
            <a:ext cx="3714750" cy="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29100" y="5138738"/>
            <a:ext cx="0" cy="11430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43850" y="5138738"/>
            <a:ext cx="0" cy="114300"/>
          </a:xfrm>
          <a:prstGeom prst="line">
            <a:avLst/>
          </a:prstGeom>
          <a:ln w="9525">
            <a:solidFill>
              <a:srgbClr val="060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23773" y="5064442"/>
            <a:ext cx="1325404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06060C"/>
                </a:solidFill>
                <a:latin typeface="Inter"/>
              </a:rPr>
              <a:t>540 PX · NATIVE PICTURE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4725" y="2409825"/>
            <a:ext cx="5162550" cy="23336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>
            <a:outerShdw blurRad="571500" dist="2286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524250" y="2419350"/>
            <a:ext cx="5143500" cy="409575"/>
          </a:xfrm>
          <a:prstGeom prst="rect">
            <a:avLst/>
          </a:prstGeom>
          <a:solidFill>
            <a:srgbClr val="F4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638550" y="2566988"/>
            <a:ext cx="104775" cy="104775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819525" y="2566988"/>
            <a:ext cx="104775" cy="104775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4000500" y="2566988"/>
            <a:ext cx="104775" cy="104775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181475" y="2505075"/>
            <a:ext cx="1288373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52525B"/>
                </a:solidFill>
                <a:latin typeface="Inter"/>
              </a:rPr>
              <a:t>slidify.sh / atomic-seed</a:t>
            </a:r>
          </a:p>
        </p:txBody>
      </p:sp>
      <p:sp>
        <p:nvSpPr>
          <p:cNvPr id="25" name="TextBox 24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4200000" scaled="0"/>
          </a:gradFill>
          <a:xfrm>
            <a:off x="3524250" y="2828925"/>
            <a:ext cx="5143500" cy="19050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Inter"/>
              </a:rPr>
              <a:t>slidify · atomic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1804988"/>
            <a:ext cx="1018133" cy="31432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CHROME 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1976438"/>
            <a:ext cx="827633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Consolas"/>
              </a:rPr>
              <a:t>→ NativeShape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8051" y="1804988"/>
            <a:ext cx="850999" cy="31432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URL 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3301" y="1976438"/>
            <a:ext cx="66049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Consolas"/>
              </a:rPr>
              <a:t>→ NativeText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4471988"/>
            <a:ext cx="1511498" cy="31432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HERO GRADIENT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4643438"/>
            <a:ext cx="1320998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Consolas"/>
              </a:rPr>
              <a:t>→ NativeShape · gradFill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7536" y="4471988"/>
            <a:ext cx="1401514" cy="31432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AFAF7"/>
                </a:solidFill>
                <a:latin typeface="Inter"/>
              </a:rPr>
              <a:t>CTA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2786" y="4643438"/>
            <a:ext cx="121101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Consolas"/>
              </a:rPr>
              <a:t>→ NativeText · per-run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5151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095" y="6515100"/>
            <a:ext cx="12503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06 / 16 · ANATOMY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00" y="457200"/>
            <a:ext cx="10972800" cy="3905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6767215" cy="2667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800" b="1" i="0" u="none">
                <a:solidFill>
                  <a:srgbClr val="67E8F9"/>
                </a:solidFill>
                <a:latin typeface="Consolas"/>
              </a:rPr>
              <a:t>$ slidify spec --version 0.4 --target landing-page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7527" y="619125"/>
            <a:ext cx="1844873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 xml:space="preserve">REV · </a:t>
            </a:r>
            <a:r>
              <a:rPr sz="800" b="1" i="0" u="none">
                <a:solidFill>
                  <a:srgbClr val="A78BFA"/>
                </a:solidFill>
                <a:latin typeface="Consolas"/>
              </a:rPr>
              <a:t>04.A</a:t>
            </a:r>
            <a:r>
              <a:rPr sz="800" b="1" i="0" u="none">
                <a:solidFill>
                  <a:srgbClr val="67E8F9"/>
                </a:solidFill>
                <a:latin typeface="Consolas"/>
              </a:rPr>
              <a:t xml:space="preserve"> · 2026·05·01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019175"/>
            <a:ext cx="5891510" cy="4953000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633" y="2029042"/>
            <a:ext cx="4061445" cy="2707630"/>
          </a:xfrm>
          <a:prstGeom prst="rect">
            <a:avLst/>
          </a:prstGeom>
          <a:noFill/>
          <a:ln w="14288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975904" y="2480314"/>
            <a:ext cx="3158902" cy="1353815"/>
          </a:xfrm>
          <a:prstGeom prst="rect">
            <a:avLst/>
          </a:prstGeom>
          <a:noFill/>
          <a:ln w="19050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975904" y="4059765"/>
            <a:ext cx="1353815" cy="451272"/>
          </a:xfrm>
          <a:prstGeom prst="round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975904" y="4059765"/>
            <a:ext cx="1353815" cy="451272"/>
          </a:xfrm>
          <a:prstGeom prst="roundRect">
            <a:avLst/>
          </a:prstGeom>
          <a:noFill/>
          <a:ln w="14288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 11"/>
          <p:cNvCxnSpPr/>
          <p:nvPr/>
        </p:nvCxnSpPr>
        <p:spPr>
          <a:xfrm>
            <a:off x="1524633" y="1803406"/>
            <a:ext cx="4061445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24633" y="1735715"/>
            <a:ext cx="0" cy="135382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86078" y="1735715"/>
            <a:ext cx="0" cy="135382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98997" y="2029042"/>
            <a:ext cx="0" cy="270763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231306" y="2029042"/>
            <a:ext cx="135381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31306" y="4736672"/>
            <a:ext cx="135381" cy="0"/>
          </a:xfrm>
          <a:prstGeom prst="line">
            <a:avLst/>
          </a:prstGeom>
          <a:ln w="9525">
            <a:solidFill>
              <a:srgbClr val="67E8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57225" y="1161635"/>
            <a:ext cx="381000" cy="381000"/>
          </a:xfrm>
          <a:prstGeom prst="ellipse">
            <a:avLst/>
          </a:prstGeom>
          <a:noFill/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52475" y="1256885"/>
            <a:ext cx="190500" cy="190500"/>
          </a:xfrm>
          <a:prstGeom prst="ellipse">
            <a:avLst/>
          </a:prstGeom>
          <a:noFill/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onnector 19"/>
          <p:cNvCxnSpPr/>
          <p:nvPr/>
        </p:nvCxnSpPr>
        <p:spPr>
          <a:xfrm>
            <a:off x="554398" y="1352135"/>
            <a:ext cx="586654" cy="0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7725" y="1058808"/>
            <a:ext cx="0" cy="586653"/>
          </a:xfrm>
          <a:prstGeom prst="line">
            <a:avLst/>
          </a:prstGeom>
          <a:ln w="9525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90961" y="3102399"/>
            <a:ext cx="1728788" cy="2619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1" i="0">
                <a:solidFill>
                  <a:srgbClr val="67E8F9"/>
                </a:solidFill>
                <a:latin typeface="Consolas"/>
              </a:rPr>
              <a:t>slide.compose()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8241" y="4257989"/>
            <a:ext cx="749141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67E8F9"/>
                </a:solidFill>
                <a:latin typeface="Consolas"/>
              </a:rPr>
              <a:t>CTA · TACTILE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3663" y="1629332"/>
            <a:ext cx="403384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67E8F9"/>
                </a:solidFill>
                <a:latin typeface="Consolas"/>
              </a:rPr>
              <a:t>1280 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482" y="3299037"/>
            <a:ext cx="345758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>
                <a:solidFill>
                  <a:srgbClr val="67E8F9"/>
                </a:solidFill>
                <a:latin typeface="Consolas"/>
              </a:rPr>
              <a:t>720 PX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2560" y="1019175"/>
            <a:ext cx="4909840" cy="1574750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853535" y="1200150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FRAME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3535" y="1381125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viewport.w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9668" y="1381125"/>
            <a:ext cx="481757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1280 PX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3535" y="1558230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viewport.h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8427" y="1558230"/>
            <a:ext cx="41299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720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3535" y="1735336"/>
            <a:ext cx="61942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safe-area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6819" y="1735336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1136 × 510 PX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2560" y="2708225"/>
            <a:ext cx="4909840" cy="1574750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853535" y="2889200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EMIT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3535" y="3070175"/>
            <a:ext cx="116993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native_area_ratio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88427" y="3070175"/>
            <a:ext cx="412998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34D399"/>
                </a:solidFill>
                <a:latin typeface="Consolas"/>
              </a:rPr>
              <a:t>≥ 0.95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3535" y="3247281"/>
            <a:ext cx="96351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fonts.embedded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13244" y="3247281"/>
            <a:ext cx="68818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9 families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3535" y="3424386"/>
            <a:ext cx="757089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tier-0 hits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2002" y="3424386"/>
            <a:ext cx="61942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247 / 318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2560" y="4397276"/>
            <a:ext cx="4909840" cy="1574899"/>
          </a:xfrm>
          <a:prstGeom prst="roundRect">
            <a:avLst/>
          </a:prstGeom>
          <a:solidFill>
            <a:srgbClr val="67E8F9">
              <a:alpha val="4000"/>
            </a:srgbClr>
          </a:solidFill>
          <a:ln w="9525">
            <a:solidFill>
              <a:srgbClr val="67E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6853535" y="4578251"/>
            <a:ext cx="454789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COMPOSITION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3535" y="4759226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atoms / slide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57334" y="4759226"/>
            <a:ext cx="344091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4 — 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3535" y="4936331"/>
            <a:ext cx="96351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axes / cluster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94852" y="4936331"/>
            <a:ext cx="20657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≤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3535" y="5113437"/>
            <a:ext cx="894606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Consolas"/>
              </a:rPr>
              <a:t>z-stack depth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94852" y="5113437"/>
            <a:ext cx="206573" cy="1771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67E8F9"/>
                </a:solidFill>
                <a:latin typeface="Consolas"/>
              </a:rPr>
              <a:t>≤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581775"/>
            <a:ext cx="141535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SLIDIFY · BLUEPRINT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92482" y="6581775"/>
            <a:ext cx="14899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67E8F9"/>
                </a:solidFill>
                <a:latin typeface="Consolas"/>
              </a:rPr>
              <a:t>07 / 16 · SPEC SHEET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B1841"/>
              </a:gs>
              <a:gs pos="20000">
                <a:srgbClr val="171538"/>
              </a:gs>
              <a:gs pos="30000">
                <a:srgbClr val="14132E"/>
              </a:gs>
              <a:gs pos="40000">
                <a:srgbClr val="101025"/>
              </a:gs>
              <a:gs pos="50000">
                <a:srgbClr val="0D0D1C"/>
              </a:gs>
              <a:gs pos="60000">
                <a:srgbClr val="0A0A14"/>
              </a:gs>
              <a:gs pos="66667">
                <a:srgbClr val="080812"/>
              </a:gs>
              <a:gs pos="73333">
                <a:srgbClr val="060610"/>
              </a:gs>
              <a:gs pos="80000">
                <a:srgbClr val="05050E"/>
              </a:gs>
              <a:gs pos="86667">
                <a:srgbClr val="04040C"/>
              </a:gs>
              <a:gs pos="93333">
                <a:srgbClr val="03030A"/>
              </a:gs>
              <a:gs pos="100000">
                <a:srgbClr val="020208"/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595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534769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PIPELINE ·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"/>
            <a:ext cx="5347692" cy="3000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Render. Cluster. Classify. Emit. — looped.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7840" y="814388"/>
            <a:ext cx="195456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16 · PROCESS RING</a:t>
            </a:r>
          </a:p>
        </p:txBody>
      </p:sp>
      <p:sp>
        <p:nvSpPr>
          <p:cNvPr id="7" name="Oval 6"/>
          <p:cNvSpPr/>
          <p:nvPr/>
        </p:nvSpPr>
        <p:spPr>
          <a:xfrm>
            <a:off x="4191000" y="1795462"/>
            <a:ext cx="3810000" cy="3810000"/>
          </a:xfrm>
          <a:prstGeom prst="ellipse">
            <a:avLst/>
          </a:prstGeom>
          <a:noFill/>
          <a:ln w="19050">
            <a:solidFill>
              <a:srgbClr val="A78BFA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038850" y="1738312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943850" y="3643312"/>
            <a:ext cx="114300" cy="11430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038850" y="5548312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133850" y="3643312"/>
            <a:ext cx="114300" cy="1143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/>
        </p:nvSpPr>
        <p:spPr>
          <a:xfrm>
            <a:off x="6096000" y="19859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cubicBezTo>
                  <a:pt x="54858" y="0"/>
                  <a:pt x="100000" y="45142"/>
                  <a:pt x="100000" y="100000"/>
                </a:cubicBezTo>
              </a:path>
            </a:pathLst>
          </a:custGeom>
          <a:noFill/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6096000" y="37004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0"/>
                </a:moveTo>
                <a:cubicBezTo>
                  <a:pt x="100000" y="54858"/>
                  <a:pt x="54858" y="100000"/>
                  <a:pt x="0" y="100000"/>
                </a:cubicBezTo>
              </a:path>
            </a:pathLst>
          </a:custGeom>
          <a:noFill/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4381500" y="37004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100000" y="100000"/>
                </a:moveTo>
                <a:cubicBezTo>
                  <a:pt x="45142" y="100000"/>
                  <a:pt x="0" y="54858"/>
                  <a:pt x="0" y="0"/>
                </a:cubicBezTo>
              </a:path>
            </a:pathLst>
          </a:cu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4381500" y="1985962"/>
            <a:ext cx="1714500" cy="1714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0" y="45142"/>
                  <a:pt x="45142" y="0"/>
                  <a:pt x="100000" y="0"/>
                </a:cubicBezTo>
              </a:path>
            </a:pathLst>
          </a:custGeom>
          <a:noFill/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772025" y="2967335"/>
            <a:ext cx="2647950" cy="1466255"/>
          </a:xfrm>
          <a:prstGeom prst="roundRect">
            <a:avLst/>
          </a:prstGeom>
          <a:solidFill>
            <a:srgbClr val="000000">
              <a:alpha val="55000"/>
            </a:srgbClr>
          </a:solidFill>
          <a:ln w="9525">
            <a:solidFill>
              <a:srgbClr val="A78BFA"/>
            </a:solidFill>
          </a:ln>
          <a:effectLst>
            <a:innerShdw blurRad="0" dist="9525" dir="5400000">
              <a:srgbClr val="FFFFFF">
                <a:alpha val="10000"/>
              </a:srgbClr>
            </a:innerShdw>
            <a:outerShdw blurRad="381000" dist="152400" dir="5400000" algn="ctr" rotWithShape="0">
              <a:srgbClr val="6366F1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772025" y="2967335"/>
            <a:ext cx="2647950" cy="1466255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953000" y="3148310"/>
            <a:ext cx="22860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Consolas"/>
              </a:rPr>
              <a:t>$ slidify convert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3000" y="3310235"/>
            <a:ext cx="2286000" cy="2381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34D399"/>
                </a:solidFill>
                <a:latin typeface="Consolas"/>
              </a:rPr>
              <a:t>native_area_ratio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0" y="3643610"/>
            <a:ext cx="2286000" cy="3619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ctr"/>
            <a:r>
              <a:rPr sz="2400" b="1" i="0" u="none">
                <a:solidFill>
                  <a:srgbClr val="34D399"/>
                </a:solidFill>
                <a:latin typeface="Consolas"/>
              </a:rPr>
              <a:t>0.97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4100810"/>
            <a:ext cx="2286000" cy="1518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Inter"/>
              </a:rPr>
              <a:t>23 s · 12 slides · 0 raster fallbacks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86375" y="1147762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915025" y="1147762"/>
            <a:ext cx="361950" cy="361950"/>
          </a:xfrm>
          <a:prstGeom prst="rect">
            <a:avLst/>
          </a:prstGeom>
          <a:solidFill>
            <a:srgbClr val="A78BFA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6375" y="1585912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6375" y="1785938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Headless Chromium captures resolved pixel layout.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86950" y="3229570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0515600" y="3229570"/>
            <a:ext cx="361950" cy="361950"/>
          </a:xfrm>
          <a:prstGeom prst="rect">
            <a:avLst/>
          </a:prstGeom>
          <a:solidFill>
            <a:srgbClr val="C084FC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6950" y="3667720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Cluster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6950" y="3867745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DOM elements grouped into atomic visual units.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86375" y="5311378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915025" y="5311378"/>
            <a:ext cx="361950" cy="361950"/>
          </a:xfrm>
          <a:prstGeom prst="rect">
            <a:avLst/>
          </a:prstGeom>
          <a:solidFill>
            <a:srgbClr val="F472B6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6375" y="5749528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Classify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6375" y="5949553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Tier-0 atom registry → tier-1 rules → tier-2 heuristics.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229570"/>
            <a:ext cx="1619250" cy="9417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1314450" y="3229570"/>
            <a:ext cx="361950" cy="361950"/>
          </a:xfrm>
          <a:prstGeom prst="rect">
            <a:avLst/>
          </a:prstGeom>
          <a:solidFill>
            <a:srgbClr val="FB923C"/>
          </a:solidFill>
          <a:effectLst>
            <a:outerShdw blurRad="0" dist="0" dir="0" algn="ctr" rotWithShape="0">
              <a:srgbClr val="0A0A14"/>
            </a:outerShdw>
          </a:effectLst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667720"/>
            <a:ext cx="1619250" cy="1619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 i="0" u="none">
                <a:solidFill>
                  <a:srgbClr val="F5F5F7"/>
                </a:solidFill>
                <a:latin typeface="Inter"/>
              </a:rPr>
              <a:t>Emit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867745"/>
            <a:ext cx="1619250" cy="303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0" i="0" u="none">
                <a:solidFill>
                  <a:srgbClr val="A1A1AA"/>
                </a:solidFill>
                <a:latin typeface="Inter"/>
              </a:rPr>
              <a:t>python-pptx writes native shapes with EMU precision.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57225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50500" y="6572250"/>
            <a:ext cx="16319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08 / 16 · PROCESS 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A78BFA">
                  <a:alpha val="6000"/>
                </a:srgbClr>
              </a:gs>
              <a:gs pos="100000">
                <a:srgbClr val="A78BFA">
                  <a:alpha val="6000"/>
                </a:srgbClr>
              </a:gs>
            </a:gsLst>
            <a:lin ang="162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09600" y="457200"/>
            <a:ext cx="10972800" cy="6048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6789093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Consolas"/>
              </a:rPr>
              <a:t>$ slidify ticker --live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38175"/>
            <a:ext cx="6789093" cy="3000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Live deployment tape — every commit, every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6671" y="814388"/>
            <a:ext cx="1545729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Consolas"/>
              </a:rPr>
              <a:t>09 / 16 · 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362075"/>
            <a:ext cx="9133582" cy="20002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90575" y="1362075"/>
            <a:ext cx="454075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0850" y="1362075"/>
            <a:ext cx="79459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2,184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843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3799" y="1362075"/>
            <a:ext cx="454075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4073" y="1362075"/>
            <a:ext cx="56763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14k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4104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0060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BUG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6927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472B6"/>
                </a:solidFill>
                <a:latin typeface="Consolas"/>
              </a:rPr>
              <a:t>▼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9995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5951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2818" y="1362075"/>
            <a:ext cx="9081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99.98%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3368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9323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P95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6191" y="1362075"/>
            <a:ext cx="794593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248ms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3184" y="1362075"/>
            <a:ext cx="113556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3F3F46"/>
                </a:solidFill>
                <a:latin typeface="Consolas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9140" y="1362075"/>
            <a:ext cx="340668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Consolas"/>
              </a:rPr>
              <a:t>ARR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6008" y="1362075"/>
            <a:ext cx="908149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Consolas"/>
              </a:rPr>
              <a:t>▲ $14.2M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862138"/>
            <a:ext cx="10972800" cy="533400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1A1AA"/>
                </a:solidFill>
                <a:latin typeface="Consolas"/>
              </a:rPr>
              <a:t>v0.4.2 atoms.yaml · v0.4.1 longshadow recipe · v0.4.0 atomic seed · v0.3.9 anim capture · v0.3.8 native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575" y="2057400"/>
            <a:ext cx="849362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Consolas"/>
              </a:rPr>
              <a:t>CHANGELOG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600" y="2528888"/>
            <a:ext cx="3568601" cy="21526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09600" y="2528888"/>
            <a:ext cx="3568601" cy="2152650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90575" y="2690812"/>
            <a:ext cx="320665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▲ DEPLOYS · 24H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575" y="3328988"/>
            <a:ext cx="3206651" cy="3429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34D399"/>
                </a:solidFill>
                <a:latin typeface="Consolas"/>
              </a:rPr>
              <a:t>312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575" y="4214812"/>
            <a:ext cx="2018556" cy="280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Consolas"/>
              </a:rPr>
              <a:t>across us-east, eu-west, apac</a:t>
            </a:r>
          </a:p>
          <a:p>
            <a:pPr algn="l"/>
            <a:r>
              <a:rPr sz="825" b="0" i="0" u="none">
                <a:solidFill>
                  <a:srgbClr val="A1A1AA"/>
                </a:solidFill>
                <a:latin typeface="Consolas"/>
              </a:rPr>
              <a:t>0 rollbacks · 0 SSIM regressions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11551" y="2528888"/>
            <a:ext cx="3568750" cy="21526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4311551" y="2528888"/>
            <a:ext cx="3568750" cy="2152650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492526" y="2690812"/>
            <a:ext cx="3206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⌁ ACTIVE COMPILES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2526" y="3357562"/>
            <a:ext cx="3206800" cy="3429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F5F5F7"/>
                </a:solidFill>
                <a:latin typeface="Consolas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2526" y="4262438"/>
            <a:ext cx="883444" cy="257175"/>
          </a:xfrm>
          <a:prstGeom prst="rect">
            <a:avLst/>
          </a:prstGeom>
          <a:solidFill>
            <a:srgbClr val="34D399">
              <a:alpha val="10000"/>
            </a:srgbClr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34D399"/>
                </a:solidFill>
                <a:latin typeface="Consolas"/>
              </a:rPr>
              <a:t>HEALTHY</a:t>
            </a:r>
          </a:p>
        </p:txBody>
      </p:sp>
      <p:sp>
        <p:nvSpPr>
          <p:cNvPr id="38" name="Oval 37"/>
          <p:cNvSpPr/>
          <p:nvPr/>
        </p:nvSpPr>
        <p:spPr>
          <a:xfrm>
            <a:off x="4606826" y="4362450"/>
            <a:ext cx="57150" cy="5715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8013650" y="2528888"/>
            <a:ext cx="3568601" cy="2152650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8013650" y="2528888"/>
            <a:ext cx="3568601" cy="2152650"/>
          </a:xfrm>
          <a:prstGeom prst="rect">
            <a:avLst/>
          </a:prstGeom>
          <a:noFill/>
          <a:ln>
            <a:noFill/>
          </a:ln>
          <a:effectLst>
            <a:innerShdw blurRad="95250" dist="0" dir="0">
              <a:srgbClr val="000000">
                <a:alpha val="35000"/>
              </a:srgb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8194625" y="2690812"/>
            <a:ext cx="320665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Consolas"/>
              </a:rPr>
              <a:t>▼ ERROR BUDGET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4625" y="3328988"/>
            <a:ext cx="3206651" cy="3429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700" b="1" i="0" u="none">
                <a:solidFill>
                  <a:srgbClr val="F472B6"/>
                </a:solidFill>
                <a:latin typeface="Consolas"/>
              </a:rPr>
              <a:t>0.02%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4625" y="4214812"/>
            <a:ext cx="1892498" cy="280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Consolas"/>
              </a:rPr>
              <a:t>3 retries · all auto-recovered</a:t>
            </a:r>
          </a:p>
          <a:p>
            <a:pPr algn="l"/>
            <a:r>
              <a:rPr sz="825" b="0" i="0" u="none">
                <a:solidFill>
                  <a:srgbClr val="A1A1AA"/>
                </a:solidFill>
                <a:latin typeface="Consolas"/>
              </a:rPr>
              <a:t>SLA · 99.95% met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6581775"/>
            <a:ext cx="172075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Consolas"/>
              </a:rPr>
              <a:t>SLIDIFY · ATOMIC SEED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7789" y="6581775"/>
            <a:ext cx="1884611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Consolas"/>
              </a:rPr>
              <a:t>09 / 16 · TICKER · LIVE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gradFill flip="none" rotWithShape="1">
            <a:gsLst>
              <a:gs pos="0">
                <a:srgbClr val="000000">
                  <a:alpha val="10000"/>
                </a:srgbClr>
              </a:gs>
              <a:gs pos="100000">
                <a:srgbClr val="000000">
                  <a:alpha val="10000"/>
                </a:srgbClr>
              </a:gs>
            </a:gsLst>
            <a:path path="circle">
              <a:fillToRect l="25000" t="25000" r="75000" b="75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609600"/>
            <a:ext cx="20679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DISPLAY · 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3528" y="609600"/>
            <a:ext cx="186407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10 / 16 · LONGSHADOW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480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35337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4194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3051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908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30765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622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28479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7C2D12"/>
                </a:solidFill>
                <a:latin typeface="Bebas Neue"/>
              </a:rPr>
              <a:t>SOLAR.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33675"/>
            <a:ext cx="6625382" cy="16764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5000" b="1" i="0" u="none">
                <a:solidFill>
                  <a:srgbClr val="FEF3C7"/>
                </a:solidFill>
                <a:latin typeface="Bebas Neue"/>
              </a:rPr>
              <a:t>SOLAR.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74171"/>
            <a:ext cx="6477000" cy="7456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EF3C7"/>
                </a:solidFill>
                <a:latin typeface="Inter"/>
              </a:rPr>
              <a:t>A type treatment that survives the round-trip. Eight stacked spans, each translated 12 px on both axes — emitted as nine native text frames, fully editable, zero rasterization.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4008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SLIDIFY · ATOMIC 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0590" y="6400800"/>
            <a:ext cx="250701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10 / 16 · LONGSHADOW · BILLBOARD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C1023"/>
              </a:gs>
              <a:gs pos="11667">
                <a:srgbClr val="0B0E1F"/>
              </a:gs>
              <a:gs pos="23333">
                <a:srgbClr val="0A0C1B"/>
              </a:gs>
              <a:gs pos="35000">
                <a:srgbClr val="090A17"/>
              </a:gs>
              <a:gs pos="46667">
                <a:srgbClr val="080913"/>
              </a:gs>
              <a:gs pos="58333">
                <a:srgbClr val="070710"/>
              </a:gs>
              <a:gs pos="70000">
                <a:srgbClr val="06060C"/>
              </a:gs>
              <a:gs pos="75000">
                <a:srgbClr val="05050B"/>
              </a:gs>
              <a:gs pos="80000">
                <a:srgbClr val="04040B"/>
              </a:gs>
              <a:gs pos="85000">
                <a:srgbClr val="04040A"/>
              </a:gs>
              <a:gs pos="90000">
                <a:srgbClr val="030309"/>
              </a:gs>
              <a:gs pos="95000">
                <a:srgbClr val="020209"/>
              </a:gs>
              <a:gs pos="100000">
                <a:srgbClr val="020208"/>
              </a:gs>
            </a:gsLst>
            <a:path path="circle">
              <a:fillToRect l="30000" t="0" r="70000" b="10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3400" y="457200"/>
            <a:ext cx="11125200" cy="5561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3400" y="457200"/>
            <a:ext cx="614570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PIPELINE ·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628650"/>
            <a:ext cx="6145709" cy="27994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Editability dashboard — last 90 days, every cluster.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32789" y="794296"/>
            <a:ext cx="172581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11 / 16 · DASHBOARD</a:t>
            </a:r>
          </a:p>
        </p:txBody>
      </p:sp>
      <p:sp>
        <p:nvSpPr>
          <p:cNvPr id="7" name="Freeform 6"/>
          <p:cNvSpPr/>
          <p:nvPr/>
        </p:nvSpPr>
        <p:spPr>
          <a:xfrm>
            <a:off x="1365093" y="2246809"/>
            <a:ext cx="2614083" cy="130704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cubicBezTo>
                  <a:pt x="0" y="45142"/>
                  <a:pt x="22571" y="0"/>
                  <a:pt x="50000" y="0"/>
                </a:cubicBezTo>
                <a:cubicBezTo>
                  <a:pt x="77429" y="0"/>
                  <a:pt x="100000" y="45142"/>
                  <a:pt x="100000" y="100000"/>
                </a:cubicBezTo>
              </a:path>
            </a:pathLst>
          </a:custGeom>
          <a:noFill/>
          <a:ln w="190500">
            <a:solidFill>
              <a:srgbClr val="FFFFFF">
                <a:alpha val="1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270289" y="1912259"/>
            <a:ext cx="2487696" cy="1641592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3811" y="100000"/>
                </a:moveTo>
                <a:cubicBezTo>
                  <a:pt x="0" y="62921"/>
                  <a:pt x="13979" y="26547"/>
                  <a:pt x="37141" y="13273"/>
                </a:cubicBezTo>
                <a:cubicBezTo>
                  <a:pt x="60304" y="0"/>
                  <a:pt x="86667" y="13256"/>
                  <a:pt x="100000" y="44878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672260" y="2563250"/>
            <a:ext cx="171450" cy="171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085395" y="2926047"/>
            <a:ext cx="1173480" cy="666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201" b="1" i="0">
                <a:solidFill>
                  <a:srgbClr val="F5F5F7"/>
                </a:solidFill>
                <a:latin typeface="Inter"/>
              </a:rPr>
              <a:t>0.97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2311" y="3570572"/>
            <a:ext cx="979646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A78BFA"/>
                </a:solidFill>
                <a:latin typeface="Inter"/>
              </a:rPr>
              <a:t>NATIVE_AREA_RATIO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4244" y="1327696"/>
            <a:ext cx="2890391" cy="1235869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144244" y="1327696"/>
            <a:ext cx="289039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▲ ARR · MAY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4244" y="2053977"/>
            <a:ext cx="90175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50" b="1" i="0" u="none">
                <a:solidFill>
                  <a:srgbClr val="F5F5F7"/>
                </a:solidFill>
                <a:latin typeface="Inter"/>
              </a:rPr>
              <a:t>$14.2M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2194" y="2101602"/>
            <a:ext cx="207466" cy="2476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34D399"/>
                </a:solidFill>
                <a:latin typeface="Inter"/>
              </a:rPr>
              <a:t>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860" y="2168277"/>
            <a:ext cx="504081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Inter"/>
              </a:rPr>
              <a:t>+18.2%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4244" y="2406402"/>
            <a:ext cx="2890391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34D399"/>
                </a:solidFill>
                <a:latin typeface="Inter"/>
              </a:rPr>
              <a:t>vs Apr · best month on record</a:t>
            </a:r>
          </a:p>
        </p:txBody>
      </p:sp>
      <p:sp>
        <p:nvSpPr>
          <p:cNvPr id="18" name="Freeform 17"/>
          <p:cNvSpPr/>
          <p:nvPr/>
        </p:nvSpPr>
        <p:spPr>
          <a:xfrm>
            <a:off x="8747194" y="1510385"/>
            <a:ext cx="2532221" cy="70123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10769" y="86111"/>
                </a:lnTo>
                <a:lnTo>
                  <a:pt x="21538" y="94444"/>
                </a:lnTo>
                <a:lnTo>
                  <a:pt x="32308" y="58333"/>
                </a:lnTo>
                <a:lnTo>
                  <a:pt x="43077" y="69444"/>
                </a:lnTo>
                <a:lnTo>
                  <a:pt x="53846" y="33333"/>
                </a:lnTo>
                <a:lnTo>
                  <a:pt x="64615" y="41667"/>
                </a:lnTo>
                <a:lnTo>
                  <a:pt x="75385" y="19444"/>
                </a:lnTo>
                <a:lnTo>
                  <a:pt x="86154" y="13889"/>
                </a:lnTo>
                <a:lnTo>
                  <a:pt x="100000" y="0"/>
                </a:lnTo>
              </a:path>
            </a:pathLst>
          </a:custGeom>
          <a:noFill/>
          <a:ln w="23812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8747194" y="1510385"/>
            <a:ext cx="2532221" cy="896017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78261"/>
                </a:moveTo>
                <a:lnTo>
                  <a:pt x="10769" y="67391"/>
                </a:lnTo>
                <a:lnTo>
                  <a:pt x="21538" y="73913"/>
                </a:lnTo>
                <a:lnTo>
                  <a:pt x="32308" y="45652"/>
                </a:lnTo>
                <a:lnTo>
                  <a:pt x="43077" y="54348"/>
                </a:lnTo>
                <a:lnTo>
                  <a:pt x="53846" y="26087"/>
                </a:lnTo>
                <a:lnTo>
                  <a:pt x="64615" y="32609"/>
                </a:lnTo>
                <a:lnTo>
                  <a:pt x="75385" y="15217"/>
                </a:lnTo>
                <a:lnTo>
                  <a:pt x="86154" y="10870"/>
                </a:ln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34D39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1241316" y="1472285"/>
            <a:ext cx="76200" cy="76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438430" y="3871953"/>
            <a:ext cx="123955" cy="17707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615508" y="3765706"/>
            <a:ext cx="123955" cy="283325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792587" y="3818830"/>
            <a:ext cx="123955" cy="23020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969665" y="3659459"/>
            <a:ext cx="123955" cy="3895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146744" y="3588628"/>
            <a:ext cx="123955" cy="46040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323822" y="3500088"/>
            <a:ext cx="123955" cy="54894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500900" y="3535504"/>
            <a:ext cx="123955" cy="513527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6677979" y="3411549"/>
            <a:ext cx="123955" cy="63748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855057" y="3358426"/>
            <a:ext cx="123955" cy="69060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032136" y="3305302"/>
            <a:ext cx="123955" cy="743729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209214" y="3269886"/>
            <a:ext cx="123955" cy="779145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386292" y="3216763"/>
            <a:ext cx="123955" cy="832269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563371" y="3181347"/>
            <a:ext cx="123955" cy="86768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533400" y="4609058"/>
            <a:ext cx="7701260" cy="1471612"/>
          </a:xfrm>
          <a:prstGeom prst="round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733425" y="4790033"/>
            <a:ext cx="730121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1A1AA"/>
                </a:solidFill>
                <a:latin typeface="Inter"/>
              </a:rPr>
              <a:t>HEATMAP · ATOM HIT-RATE BY AXIS · 12 WEEKS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3425" y="4990058"/>
            <a:ext cx="582216" cy="1143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1344216" y="4990058"/>
            <a:ext cx="582216" cy="11430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1955006" y="4990058"/>
            <a:ext cx="582216" cy="1143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2565797" y="4990058"/>
            <a:ext cx="582216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3176588" y="4990058"/>
            <a:ext cx="582216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3787378" y="4990058"/>
            <a:ext cx="582364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4398318" y="4990058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5009108" y="4990058"/>
            <a:ext cx="582216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5619899" y="4990058"/>
            <a:ext cx="582216" cy="1143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ounded Rectangle 44"/>
          <p:cNvSpPr/>
          <p:nvPr/>
        </p:nvSpPr>
        <p:spPr>
          <a:xfrm>
            <a:off x="6230689" y="4990058"/>
            <a:ext cx="582216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45"/>
          <p:cNvSpPr/>
          <p:nvPr/>
        </p:nvSpPr>
        <p:spPr>
          <a:xfrm>
            <a:off x="6841480" y="4990058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7452271" y="4990058"/>
            <a:ext cx="582364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733425" y="5132933"/>
            <a:ext cx="582216" cy="1143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/>
          <p:cNvSpPr/>
          <p:nvPr/>
        </p:nvSpPr>
        <p:spPr>
          <a:xfrm>
            <a:off x="1344216" y="5132933"/>
            <a:ext cx="582216" cy="1143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/>
          <p:cNvSpPr/>
          <p:nvPr/>
        </p:nvSpPr>
        <p:spPr>
          <a:xfrm>
            <a:off x="1955006" y="5132933"/>
            <a:ext cx="582216" cy="11430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ounded Rectangle 50"/>
          <p:cNvSpPr/>
          <p:nvPr/>
        </p:nvSpPr>
        <p:spPr>
          <a:xfrm>
            <a:off x="2565797" y="5132933"/>
            <a:ext cx="582216" cy="1143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3176588" y="5132933"/>
            <a:ext cx="582216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3787378" y="5132933"/>
            <a:ext cx="582364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4398318" y="5132933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5009108" y="5132933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5619899" y="5132933"/>
            <a:ext cx="582216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/>
          <p:cNvSpPr/>
          <p:nvPr/>
        </p:nvSpPr>
        <p:spPr>
          <a:xfrm>
            <a:off x="6230689" y="5132933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/>
          <p:cNvSpPr/>
          <p:nvPr/>
        </p:nvSpPr>
        <p:spPr>
          <a:xfrm>
            <a:off x="6841480" y="5132933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ounded Rectangle 58"/>
          <p:cNvSpPr/>
          <p:nvPr/>
        </p:nvSpPr>
        <p:spPr>
          <a:xfrm>
            <a:off x="7452271" y="5132933"/>
            <a:ext cx="582364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/>
          <p:cNvSpPr/>
          <p:nvPr/>
        </p:nvSpPr>
        <p:spPr>
          <a:xfrm>
            <a:off x="733425" y="5275808"/>
            <a:ext cx="582216" cy="1143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/>
          <p:cNvSpPr/>
          <p:nvPr/>
        </p:nvSpPr>
        <p:spPr>
          <a:xfrm>
            <a:off x="1344216" y="5275808"/>
            <a:ext cx="582216" cy="114300"/>
          </a:xfrm>
          <a:prstGeom prst="round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/>
          <p:cNvSpPr/>
          <p:nvPr/>
        </p:nvSpPr>
        <p:spPr>
          <a:xfrm>
            <a:off x="1955006" y="5275808"/>
            <a:ext cx="582216" cy="1143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/>
          <p:cNvSpPr/>
          <p:nvPr/>
        </p:nvSpPr>
        <p:spPr>
          <a:xfrm>
            <a:off x="2565797" y="5275808"/>
            <a:ext cx="582216" cy="11430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/>
          <p:cNvSpPr/>
          <p:nvPr/>
        </p:nvSpPr>
        <p:spPr>
          <a:xfrm>
            <a:off x="3176588" y="5275808"/>
            <a:ext cx="582216" cy="1143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/>
          <p:cNvSpPr/>
          <p:nvPr/>
        </p:nvSpPr>
        <p:spPr>
          <a:xfrm>
            <a:off x="3787378" y="5275808"/>
            <a:ext cx="582364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4398318" y="5275808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xfrm>
            <a:off x="5009108" y="5275808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ounded Rectangle 67"/>
          <p:cNvSpPr/>
          <p:nvPr/>
        </p:nvSpPr>
        <p:spPr>
          <a:xfrm>
            <a:off x="5619899" y="5275808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6230689" y="5275808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/>
          <p:cNvSpPr/>
          <p:nvPr/>
        </p:nvSpPr>
        <p:spPr>
          <a:xfrm>
            <a:off x="6841480" y="5275808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7452271" y="5275808"/>
            <a:ext cx="582364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/>
          <p:cNvSpPr/>
          <p:nvPr/>
        </p:nvSpPr>
        <p:spPr>
          <a:xfrm>
            <a:off x="733425" y="5418683"/>
            <a:ext cx="582216" cy="1143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ounded Rectangle 72"/>
          <p:cNvSpPr/>
          <p:nvPr/>
        </p:nvSpPr>
        <p:spPr>
          <a:xfrm>
            <a:off x="1344216" y="5418683"/>
            <a:ext cx="582216" cy="1143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73"/>
          <p:cNvSpPr/>
          <p:nvPr/>
        </p:nvSpPr>
        <p:spPr>
          <a:xfrm>
            <a:off x="1955006" y="5418683"/>
            <a:ext cx="582216" cy="11430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74"/>
          <p:cNvSpPr/>
          <p:nvPr/>
        </p:nvSpPr>
        <p:spPr>
          <a:xfrm>
            <a:off x="2565797" y="5418683"/>
            <a:ext cx="582216" cy="1143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/>
          <p:cNvSpPr/>
          <p:nvPr/>
        </p:nvSpPr>
        <p:spPr>
          <a:xfrm>
            <a:off x="3176588" y="5418683"/>
            <a:ext cx="582216" cy="1143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ounded Rectangle 76"/>
          <p:cNvSpPr/>
          <p:nvPr/>
        </p:nvSpPr>
        <p:spPr>
          <a:xfrm>
            <a:off x="3787378" y="5418683"/>
            <a:ext cx="582364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ounded Rectangle 77"/>
          <p:cNvSpPr/>
          <p:nvPr/>
        </p:nvSpPr>
        <p:spPr>
          <a:xfrm>
            <a:off x="4398318" y="5418683"/>
            <a:ext cx="582216" cy="1143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ounded Rectangle 78"/>
          <p:cNvSpPr/>
          <p:nvPr/>
        </p:nvSpPr>
        <p:spPr>
          <a:xfrm>
            <a:off x="5009108" y="5418683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ounded Rectangle 79"/>
          <p:cNvSpPr/>
          <p:nvPr/>
        </p:nvSpPr>
        <p:spPr>
          <a:xfrm>
            <a:off x="5619899" y="5418683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ounded Rectangle 80"/>
          <p:cNvSpPr/>
          <p:nvPr/>
        </p:nvSpPr>
        <p:spPr>
          <a:xfrm>
            <a:off x="6230689" y="5418683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ounded Rectangle 81"/>
          <p:cNvSpPr/>
          <p:nvPr/>
        </p:nvSpPr>
        <p:spPr>
          <a:xfrm>
            <a:off x="6841480" y="5418683"/>
            <a:ext cx="582216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ounded Rectangle 82"/>
          <p:cNvSpPr/>
          <p:nvPr/>
        </p:nvSpPr>
        <p:spPr>
          <a:xfrm>
            <a:off x="7452271" y="5418683"/>
            <a:ext cx="582364" cy="1143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/>
          <p:cNvSpPr txBox="1"/>
          <p:nvPr/>
        </p:nvSpPr>
        <p:spPr>
          <a:xfrm>
            <a:off x="733425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17650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01876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86101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70178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W09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54403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W11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38629" y="5590133"/>
            <a:ext cx="196007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52525B"/>
                </a:solidFill>
                <a:latin typeface="Consolas"/>
              </a:rPr>
              <a:t>W12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3425" y="5742533"/>
            <a:ext cx="730121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A1A1AA"/>
                </a:solidFill>
                <a:latin typeface="Inter"/>
              </a:rPr>
              <a:t>comp · bg · type · surf · — coverage 76% → 96%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3400" y="65913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11395" y="6591300"/>
            <a:ext cx="14472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11 / 16 ·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FAFAF7"/>
              </a:gs>
              <a:gs pos="16667">
                <a:srgbClr val="F9F8F4"/>
              </a:gs>
              <a:gs pos="33333">
                <a:srgbClr val="F8F7F1"/>
              </a:gs>
              <a:gs pos="50000">
                <a:srgbClr val="F7F5EE"/>
              </a:gs>
              <a:gs pos="66667">
                <a:srgbClr val="F6F4EC"/>
              </a:gs>
              <a:gs pos="83333">
                <a:srgbClr val="F6F2E9"/>
              </a:gs>
              <a:gs pos="100000">
                <a:srgbClr val="F5F0E6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5234" y="1203638"/>
            <a:ext cx="467731" cy="52642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DE68A"/>
                </a:solidFill>
                <a:latin typeface="Inter"/>
              </a:rPr>
              <a:t>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6239" y="5138263"/>
            <a:ext cx="440922" cy="5057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1" i="0" u="none">
                <a:solidFill>
                  <a:srgbClr val="FDE68A"/>
                </a:solidFill>
                <a:latin typeface="Inter"/>
              </a:rPr>
              <a:t>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607442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VOICES · LOVED BY DESIGNERS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9125"/>
            <a:ext cx="6074420" cy="3143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06060C"/>
                </a:solidFill>
                <a:latin typeface="Inter"/>
              </a:rPr>
              <a:t xml:space="preserve">"It's the first deck tool that </a:t>
            </a:r>
            <a:r>
              <a:rPr sz="2250" b="1" i="1" u="none">
                <a:solidFill>
                  <a:srgbClr val="7C3AED"/>
                </a:solidFill>
                <a:latin typeface="Playfair Display"/>
              </a:rPr>
              <a:t>respects</a:t>
            </a:r>
            <a:r>
              <a:rPr sz="2250" b="1" i="0" u="none">
                <a:solidFill>
                  <a:srgbClr val="06060C"/>
                </a:solidFill>
                <a:latin typeface="Inter"/>
              </a:rPr>
              <a:t xml:space="preserve"> typography."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1206" y="814388"/>
            <a:ext cx="193119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12 / 16 · TESTIMONIALS</a:t>
            </a:r>
          </a:p>
        </p:txBody>
      </p:sp>
      <p:sp>
        <p:nvSpPr>
          <p:cNvPr id="8" name="Rectangle 7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573345" y="-1041001"/>
            <a:ext cx="5008876" cy="50088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gradFill flip="none" rotWithShape="1">
            <a:gsLst>
              <a:gs pos="0">
                <a:srgbClr val="06060C">
                  <a:alpha val="45000"/>
                </a:srgbClr>
              </a:gs>
              <a:gs pos="16667">
                <a:srgbClr val="06060C">
                  <a:alpha val="37500"/>
                </a:srgbClr>
              </a:gs>
              <a:gs pos="33333">
                <a:srgbClr val="06060C">
                  <a:alpha val="30000"/>
                </a:srgbClr>
              </a:gs>
              <a:gs pos="50000">
                <a:srgbClr val="06060C">
                  <a:alpha val="22500"/>
                </a:srgbClr>
              </a:gs>
              <a:gs pos="66667">
                <a:srgbClr val="06060C">
                  <a:alpha val="15000"/>
                </a:srgbClr>
              </a:gs>
              <a:gs pos="83333">
                <a:srgbClr val="06060C">
                  <a:alpha val="7500"/>
                </a:srgbClr>
              </a:gs>
              <a:gs pos="100000">
                <a:srgbClr val="06060C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288869" y="-1041001"/>
            <a:ext cx="5008876" cy="50088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gradFill flip="none" rotWithShape="1">
            <a:gsLst>
              <a:gs pos="0">
                <a:srgbClr val="67E8F9">
                  <a:alpha val="45000"/>
                </a:srgbClr>
              </a:gs>
              <a:gs pos="16667">
                <a:srgbClr val="67E8F9">
                  <a:alpha val="37500"/>
                </a:srgbClr>
              </a:gs>
              <a:gs pos="33333">
                <a:srgbClr val="67E8F9">
                  <a:alpha val="30000"/>
                </a:srgbClr>
              </a:gs>
              <a:gs pos="50000">
                <a:srgbClr val="67E8F9">
                  <a:alpha val="22500"/>
                </a:srgbClr>
              </a:gs>
              <a:gs pos="66667">
                <a:srgbClr val="67E8F9">
                  <a:alpha val="15000"/>
                </a:srgbClr>
              </a:gs>
              <a:gs pos="83333">
                <a:srgbClr val="67E8F9">
                  <a:alpha val="7500"/>
                </a:srgbClr>
              </a:gs>
              <a:gs pos="100000">
                <a:srgbClr val="67E8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573345" y="880350"/>
            <a:ext cx="5008876" cy="50088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gradFill flip="none" rotWithShape="1">
            <a:gsLst>
              <a:gs pos="0">
                <a:srgbClr val="F472B6">
                  <a:alpha val="45000"/>
                </a:srgbClr>
              </a:gs>
              <a:gs pos="16667">
                <a:srgbClr val="F472B6">
                  <a:alpha val="37500"/>
                </a:srgbClr>
              </a:gs>
              <a:gs pos="33333">
                <a:srgbClr val="F472B6">
                  <a:alpha val="30000"/>
                </a:srgbClr>
              </a:gs>
              <a:gs pos="50000">
                <a:srgbClr val="F472B6">
                  <a:alpha val="22500"/>
                </a:srgbClr>
              </a:gs>
              <a:gs pos="66667">
                <a:srgbClr val="F472B6">
                  <a:alpha val="15000"/>
                </a:srgbClr>
              </a:gs>
              <a:gs pos="83333">
                <a:srgbClr val="F472B6">
                  <a:alpha val="750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1288869" y="880350"/>
            <a:ext cx="5008876" cy="5008876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73316" y="1051718"/>
            <a:ext cx="3577768" cy="27447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42900" dist="171450" dir="5400000" algn="ctr" rotWithShape="0">
              <a:srgbClr val="000000">
                <a:alpha val="8000"/>
              </a:srgbClr>
            </a:outerShdw>
            <a:outerShdw blurRad="38100" dist="19050" dir="5400000" algn="ctr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73316" y="1051718"/>
            <a:ext cx="3577768" cy="2744788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4200000" scaled="0"/>
          </a:gradFill>
          <a:xfrm>
            <a:off x="749486" y="1227889"/>
            <a:ext cx="3192981" cy="123085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165756" y="1609947"/>
            <a:ext cx="360442" cy="466733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Playfair Display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24" y="2503741"/>
            <a:ext cx="3177822" cy="6881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27272A"/>
                </a:solidFill>
                <a:latin typeface="Source Serif Pro"/>
              </a:rPr>
              <a:t>"We replaced screenshots with slidify and our investor decks now ship in PowerPoint as if a designer touched every gradient. Nothing about the deck rasterizes."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602" y="3236880"/>
            <a:ext cx="3168248" cy="3453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Mira Okafor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858" y="3389220"/>
            <a:ext cx="3163993" cy="193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Head of Brand · Vector Labs</a:t>
            </a:r>
          </a:p>
        </p:txBody>
      </p:sp>
      <p:sp>
        <p:nvSpPr>
          <p:cNvPr id="19" name="Rectangle 18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199987" y="-998989"/>
            <a:ext cx="4958561" cy="495856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gradFill flip="none" rotWithShape="1">
            <a:gsLst>
              <a:gs pos="0">
                <a:srgbClr val="06060C">
                  <a:alpha val="45000"/>
                </a:srgbClr>
              </a:gs>
              <a:gs pos="16667">
                <a:srgbClr val="06060C">
                  <a:alpha val="37500"/>
                </a:srgbClr>
              </a:gs>
              <a:gs pos="33333">
                <a:srgbClr val="06060C">
                  <a:alpha val="30000"/>
                </a:srgbClr>
              </a:gs>
              <a:gs pos="50000">
                <a:srgbClr val="06060C">
                  <a:alpha val="22500"/>
                </a:srgbClr>
              </a:gs>
              <a:gs pos="66667">
                <a:srgbClr val="06060C">
                  <a:alpha val="15000"/>
                </a:srgbClr>
              </a:gs>
              <a:gs pos="83333">
                <a:srgbClr val="06060C">
                  <a:alpha val="7500"/>
                </a:srgbClr>
              </a:gs>
              <a:gs pos="100000">
                <a:srgbClr val="06060C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033451" y="-998989"/>
            <a:ext cx="4958561" cy="495856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gradFill flip="none" rotWithShape="1">
            <a:gsLst>
              <a:gs pos="0">
                <a:srgbClr val="67E8F9">
                  <a:alpha val="45000"/>
                </a:srgbClr>
              </a:gs>
              <a:gs pos="16667">
                <a:srgbClr val="67E8F9">
                  <a:alpha val="37500"/>
                </a:srgbClr>
              </a:gs>
              <a:gs pos="33333">
                <a:srgbClr val="67E8F9">
                  <a:alpha val="30000"/>
                </a:srgbClr>
              </a:gs>
              <a:gs pos="50000">
                <a:srgbClr val="67E8F9">
                  <a:alpha val="22500"/>
                </a:srgbClr>
              </a:gs>
              <a:gs pos="66667">
                <a:srgbClr val="67E8F9">
                  <a:alpha val="15000"/>
                </a:srgbClr>
              </a:gs>
              <a:gs pos="83333">
                <a:srgbClr val="67E8F9">
                  <a:alpha val="7500"/>
                </a:srgbClr>
              </a:gs>
              <a:gs pos="100000">
                <a:srgbClr val="67E8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2199987" y="888653"/>
            <a:ext cx="4958561" cy="495856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gradFill flip="none" rotWithShape="1">
            <a:gsLst>
              <a:gs pos="0">
                <a:srgbClr val="F472B6">
                  <a:alpha val="45000"/>
                </a:srgbClr>
              </a:gs>
              <a:gs pos="16667">
                <a:srgbClr val="F472B6">
                  <a:alpha val="37500"/>
                </a:srgbClr>
              </a:gs>
              <a:gs pos="33333">
                <a:srgbClr val="F472B6">
                  <a:alpha val="30000"/>
                </a:srgbClr>
              </a:gs>
              <a:gs pos="50000">
                <a:srgbClr val="F472B6">
                  <a:alpha val="22500"/>
                </a:srgbClr>
              </a:gs>
              <a:gs pos="66667">
                <a:srgbClr val="F472B6">
                  <a:alpha val="15000"/>
                </a:srgbClr>
              </a:gs>
              <a:gs pos="83333">
                <a:srgbClr val="F472B6">
                  <a:alpha val="750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033451" y="888653"/>
            <a:ext cx="4958561" cy="495856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4325085" y="1075796"/>
            <a:ext cx="3541829" cy="269663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42900" dist="171450" dir="5400000" algn="ctr" rotWithShape="0">
              <a:srgbClr val="000000">
                <a:alpha val="8000"/>
              </a:srgbClr>
            </a:outerShdw>
            <a:outerShdw blurRad="38100" dist="19050" dir="5400000" algn="ctr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325085" y="1075796"/>
            <a:ext cx="3541829" cy="2696632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gradFill flip="none" rotWithShape="1">
            <a:gsLst>
              <a:gs pos="0">
                <a:srgbClr val="FB923C"/>
              </a:gs>
              <a:gs pos="16667">
                <a:srgbClr val="F78331"/>
              </a:gs>
              <a:gs pos="33333">
                <a:srgbClr val="F37328"/>
              </a:gs>
              <a:gs pos="50000">
                <a:srgbClr val="EE6322"/>
              </a:gs>
              <a:gs pos="66667">
                <a:srgbClr val="E95120"/>
              </a:gs>
              <a:gs pos="83333">
                <a:srgbClr val="E33E22"/>
              </a:gs>
              <a:gs pos="100000">
                <a:srgbClr val="DC2626"/>
              </a:gs>
            </a:gsLst>
            <a:lin ang="4200000" scaled="0"/>
          </a:gradFill>
          <a:xfrm>
            <a:off x="4515137" y="1249624"/>
            <a:ext cx="3177950" cy="1187041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004861" y="1613225"/>
            <a:ext cx="198502" cy="459838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Playfair Display"/>
              </a:rPr>
              <a:t>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4897" y="2525849"/>
            <a:ext cx="3170370" cy="644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27272A"/>
                </a:solidFill>
                <a:latin typeface="Source Serif Pro"/>
              </a:rPr>
              <a:t>"The atom catalog is the missing UI grammar. Once you start composing in atoms, you stop fighting PowerPoint forever — every slide stays editable."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9444" y="3259203"/>
            <a:ext cx="3165583" cy="3013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Jordan Liu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9444" y="3411588"/>
            <a:ext cx="3163455" cy="1489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Design Engineer · Modular</a:t>
            </a:r>
          </a:p>
        </p:txBody>
      </p:sp>
      <p:sp>
        <p:nvSpPr>
          <p:cNvPr id="30" name="Rectangle 29"/>
          <p:cNvSpPr/>
          <p:nvPr/>
        </p:nvSpPr>
        <p:spPr>
          <a:gradFill flip="none" rotWithShape="1">
            <a:gsLst>
              <a:gs pos="0">
                <a:srgbClr val="F5F5F7">
                  <a:alpha val="45000"/>
                </a:srgbClr>
              </a:gs>
              <a:gs pos="16667">
                <a:srgbClr val="F5F5F7">
                  <a:alpha val="37500"/>
                </a:srgbClr>
              </a:gs>
              <a:gs pos="33333">
                <a:srgbClr val="F5F5F7">
                  <a:alpha val="30000"/>
                </a:srgbClr>
              </a:gs>
              <a:gs pos="50000">
                <a:srgbClr val="F5F5F7">
                  <a:alpha val="22500"/>
                </a:srgbClr>
              </a:gs>
              <a:gs pos="66667">
                <a:srgbClr val="F5F5F7">
                  <a:alpha val="15000"/>
                </a:srgbClr>
              </a:gs>
              <a:gs pos="83333">
                <a:srgbClr val="F5F5F7">
                  <a:alpha val="7500"/>
                </a:srgbClr>
              </a:gs>
              <a:gs pos="100000">
                <a:srgbClr val="F5F5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953840" y="-977733"/>
            <a:ext cx="4933041" cy="493304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gradFill flip="none" rotWithShape="1">
            <a:gsLst>
              <a:gs pos="0">
                <a:srgbClr val="06060C">
                  <a:alpha val="45000"/>
                </a:srgbClr>
              </a:gs>
              <a:gs pos="16667">
                <a:srgbClr val="06060C">
                  <a:alpha val="37500"/>
                </a:srgbClr>
              </a:gs>
              <a:gs pos="33333">
                <a:srgbClr val="06060C">
                  <a:alpha val="30000"/>
                </a:srgbClr>
              </a:gs>
              <a:gs pos="50000">
                <a:srgbClr val="06060C">
                  <a:alpha val="22500"/>
                </a:srgbClr>
              </a:gs>
              <a:gs pos="66667">
                <a:srgbClr val="06060C">
                  <a:alpha val="15000"/>
                </a:srgbClr>
              </a:gs>
              <a:gs pos="83333">
                <a:srgbClr val="06060C">
                  <a:alpha val="7500"/>
                </a:srgbClr>
              </a:gs>
              <a:gs pos="100000">
                <a:srgbClr val="06060C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8772720" y="-977733"/>
            <a:ext cx="4933041" cy="493304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gradFill flip="none" rotWithShape="1">
            <a:gsLst>
              <a:gs pos="0">
                <a:srgbClr val="67E8F9">
                  <a:alpha val="45000"/>
                </a:srgbClr>
              </a:gs>
              <a:gs pos="16667">
                <a:srgbClr val="67E8F9">
                  <a:alpha val="37500"/>
                </a:srgbClr>
              </a:gs>
              <a:gs pos="33333">
                <a:srgbClr val="67E8F9">
                  <a:alpha val="30000"/>
                </a:srgbClr>
              </a:gs>
              <a:gs pos="50000">
                <a:srgbClr val="67E8F9">
                  <a:alpha val="22500"/>
                </a:srgbClr>
              </a:gs>
              <a:gs pos="66667">
                <a:srgbClr val="67E8F9">
                  <a:alpha val="15000"/>
                </a:srgbClr>
              </a:gs>
              <a:gs pos="83333">
                <a:srgbClr val="67E8F9">
                  <a:alpha val="7500"/>
                </a:srgbClr>
              </a:gs>
              <a:gs pos="100000">
                <a:srgbClr val="67E8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953840" y="892917"/>
            <a:ext cx="4933041" cy="493304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gradFill flip="none" rotWithShape="1">
            <a:gsLst>
              <a:gs pos="0">
                <a:srgbClr val="F472B6">
                  <a:alpha val="45000"/>
                </a:srgbClr>
              </a:gs>
              <a:gs pos="16667">
                <a:srgbClr val="F472B6">
                  <a:alpha val="37500"/>
                </a:srgbClr>
              </a:gs>
              <a:gs pos="33333">
                <a:srgbClr val="F472B6">
                  <a:alpha val="30000"/>
                </a:srgbClr>
              </a:gs>
              <a:gs pos="50000">
                <a:srgbClr val="F472B6">
                  <a:alpha val="22500"/>
                </a:srgbClr>
              </a:gs>
              <a:gs pos="66667">
                <a:srgbClr val="F472B6">
                  <a:alpha val="15000"/>
                </a:srgbClr>
              </a:gs>
              <a:gs pos="83333">
                <a:srgbClr val="F472B6">
                  <a:alpha val="750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8772720" y="892917"/>
            <a:ext cx="4933041" cy="4933041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8068000" y="1087934"/>
            <a:ext cx="3523601" cy="26723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342900" dist="171450" dir="5400000" algn="ctr" rotWithShape="0">
              <a:srgbClr val="000000">
                <a:alpha val="8000"/>
              </a:srgbClr>
            </a:outerShdw>
            <a:outerShdw blurRad="38100" dist="19050" dir="5400000" algn="ctr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068000" y="1087934"/>
            <a:ext cx="3523601" cy="2672356"/>
          </a:xfrm>
          <a:prstGeom prst="rect">
            <a:avLst/>
          </a:prstGeom>
          <a:noFill/>
          <a:ln w="9525">
            <a:solidFill>
              <a:srgbClr val="FFFFFF">
                <a:alpha val="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gradFill flip="none" rotWithShape="1">
            <a:gsLst>
              <a:gs pos="0">
                <a:srgbClr val="0EA5E9"/>
              </a:gs>
              <a:gs pos="16667">
                <a:srgbClr val="00B0E3"/>
              </a:gs>
              <a:gs pos="33333">
                <a:srgbClr val="00B9D9"/>
              </a:gs>
              <a:gs pos="50000">
                <a:srgbClr val="00C2CD"/>
              </a:gs>
              <a:gs pos="66667">
                <a:srgbClr val="00C9BD"/>
              </a:gs>
              <a:gs pos="83333">
                <a:srgbClr val="00CFAC"/>
              </a:gs>
              <a:gs pos="100000">
                <a:srgbClr val="34D399"/>
              </a:gs>
            </a:gsLst>
            <a:lin ang="4200000" scaled="0"/>
          </a:gradFill>
          <a:xfrm>
            <a:off x="8240642" y="1260577"/>
            <a:ext cx="3170203" cy="1165049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9705907" y="1613682"/>
            <a:ext cx="239674" cy="45884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150" b="1" i="0" u="none">
                <a:solidFill>
                  <a:srgbClr val="FFFFFF"/>
                </a:solidFill>
                <a:latin typeface="Playfair Display"/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9553" y="2536896"/>
            <a:ext cx="3166412" cy="6221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27272A"/>
                </a:solidFill>
                <a:latin typeface="Source Serif Pro"/>
              </a:rPr>
              <a:t>"95% native_area_ratio across 1,184 decks a week. The pipeline is the only thing standing between our team and another animated GIF career."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4673" y="3270303"/>
            <a:ext cx="3164018" cy="2792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Thiago Sousa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5737" y="3422700"/>
            <a:ext cx="3162954" cy="126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DesignOps · Atelier 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4014788"/>
            <a:ext cx="361950" cy="361950"/>
          </a:xfrm>
          <a:prstGeom prst="rect">
            <a:avLst/>
          </a:prstGeom>
          <a:solidFill>
            <a:srgbClr val="A78BF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500" y="4014788"/>
            <a:ext cx="339258" cy="361950"/>
          </a:xfrm>
          <a:prstGeom prst="rect">
            <a:avLst/>
          </a:prstGeom>
          <a:solidFill>
            <a:srgbClr val="F472B6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JL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95400" y="4014788"/>
            <a:ext cx="361950" cy="361950"/>
          </a:xfrm>
          <a:prstGeom prst="rect">
            <a:avLst/>
          </a:prstGeom>
          <a:solidFill>
            <a:srgbClr val="FB923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MK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38300" y="4014788"/>
            <a:ext cx="361950" cy="361950"/>
          </a:xfrm>
          <a:prstGeom prst="rect">
            <a:avLst/>
          </a:prstGeom>
          <a:solidFill>
            <a:srgbClr val="34D39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1200" y="4014788"/>
            <a:ext cx="361950" cy="361950"/>
          </a:xfrm>
          <a:prstGeom prst="rect">
            <a:avLst/>
          </a:prstGeom>
          <a:solidFill>
            <a:srgbClr val="0EA5E9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FFFFF"/>
                </a:solidFill>
                <a:latin typeface="Inter"/>
              </a:rPr>
              <a:t>PA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24100" y="4014788"/>
            <a:ext cx="361950" cy="361950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DE68A"/>
                </a:solidFill>
                <a:latin typeface="Inter"/>
              </a:rPr>
              <a:t>+318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76550" y="4129088"/>
            <a:ext cx="2166789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6060C"/>
                </a:solidFill>
                <a:latin typeface="Inter"/>
              </a:rPr>
              <a:t>318 teams</a:t>
            </a:r>
            <a:r>
              <a:rPr sz="900" b="1" i="0" u="none">
                <a:solidFill>
                  <a:srgbClr val="52525B"/>
                </a:solidFill>
                <a:latin typeface="Inter"/>
              </a:rPr>
              <a:t xml:space="preserve"> · 1,184 decks / week · NPS 76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39474" y="4143375"/>
            <a:ext cx="174292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71717A"/>
                </a:solidFill>
                <a:latin typeface="Inter"/>
              </a:rPr>
              <a:t>★ ★ ★ ★ ★  ·  G2 · 4.9 /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57225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73866" y="6572250"/>
            <a:ext cx="160853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12 / 16 · TESTIMONIALS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A1740"/>
              </a:gs>
              <a:gs pos="20000">
                <a:srgbClr val="161434"/>
              </a:gs>
              <a:gs pos="30000">
                <a:srgbClr val="11102A"/>
              </a:gs>
              <a:gs pos="40000">
                <a:srgbClr val="0D0D1F"/>
              </a:gs>
              <a:gs pos="50000">
                <a:srgbClr val="090915"/>
              </a:gs>
              <a:gs pos="60000">
                <a:srgbClr val="06060C"/>
              </a:gs>
              <a:gs pos="66667">
                <a:srgbClr val="05050B"/>
              </a:gs>
              <a:gs pos="73333">
                <a:srgbClr val="04040B"/>
              </a:gs>
              <a:gs pos="80000">
                <a:srgbClr val="04040A"/>
              </a:gs>
              <a:gs pos="86667">
                <a:srgbClr val="030309"/>
              </a:gs>
              <a:gs pos="93333">
                <a:srgbClr val="020209"/>
              </a:gs>
              <a:gs pos="100000">
                <a:srgbClr val="020208"/>
              </a:gs>
            </a:gsLst>
            <a:path path="circle">
              <a:fillToRect l="70000" t="50000" r="3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Connector 2"/>
          <p:cNvCxnSpPr/>
          <p:nvPr/>
        </p:nvCxnSpPr>
        <p:spPr>
          <a:xfrm>
            <a:off x="381000" y="1143000"/>
            <a:ext cx="1333500" cy="0"/>
          </a:xfrm>
          <a:prstGeom prst="line">
            <a:avLst/>
          </a:prstGeom>
          <a:ln w="9525">
            <a:solidFill>
              <a:srgbClr val="A78BFA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81000" y="1905000"/>
            <a:ext cx="1714500" cy="0"/>
          </a:xfrm>
          <a:prstGeom prst="line">
            <a:avLst/>
          </a:prstGeom>
          <a:ln w="9525">
            <a:solidFill>
              <a:srgbClr val="A78BFA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81000" y="2667000"/>
            <a:ext cx="1143000" cy="0"/>
          </a:xfrm>
          <a:prstGeom prst="line">
            <a:avLst/>
          </a:prstGeom>
          <a:ln w="9525">
            <a:solidFill>
              <a:srgbClr val="A78BFA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1000" y="3429000"/>
            <a:ext cx="1905000" cy="0"/>
          </a:xfrm>
          <a:prstGeom prst="line">
            <a:avLst/>
          </a:prstGeom>
          <a:ln w="9525">
            <a:solidFill>
              <a:srgbClr val="A78BFA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81000" y="4191000"/>
            <a:ext cx="1524000" cy="0"/>
          </a:xfrm>
          <a:prstGeom prst="line">
            <a:avLst/>
          </a:prstGeom>
          <a:ln w="9525">
            <a:solidFill>
              <a:srgbClr val="A78BFA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1000" y="4953000"/>
            <a:ext cx="1333500" cy="0"/>
          </a:xfrm>
          <a:prstGeom prst="line">
            <a:avLst/>
          </a:prstGeom>
          <a:ln w="9525">
            <a:solidFill>
              <a:srgbClr val="A78BFA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1000" y="5715000"/>
            <a:ext cx="1714500" cy="0"/>
          </a:xfrm>
          <a:prstGeom prst="line">
            <a:avLst/>
          </a:prstGeom>
          <a:ln w="9525">
            <a:solidFill>
              <a:srgbClr val="A78BFA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1500" y="1524000"/>
            <a:ext cx="1333500" cy="0"/>
          </a:xfrm>
          <a:prstGeom prst="line">
            <a:avLst/>
          </a:prstGeom>
          <a:ln w="14288">
            <a:solidFill>
              <a:srgbClr val="F472B6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1500" y="3048000"/>
            <a:ext cx="1524000" cy="0"/>
          </a:xfrm>
          <a:prstGeom prst="line">
            <a:avLst/>
          </a:prstGeom>
          <a:ln w="14288">
            <a:solidFill>
              <a:srgbClr val="F472B6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1500" y="4572000"/>
            <a:ext cx="1333500" cy="0"/>
          </a:xfrm>
          <a:prstGeom prst="line">
            <a:avLst/>
          </a:prstGeom>
          <a:ln w="14288">
            <a:solidFill>
              <a:srgbClr val="F472B6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09600"/>
            <a:ext cx="164127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MOTION · IMPLIED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1886" y="609600"/>
            <a:ext cx="118571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13 / 16 · ECHO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4100" b="1" i="0" u="none">
                <a:solidFill>
                  <a:srgbClr val="60A5FA"/>
                </a:solidFill>
                <a:latin typeface="Inter"/>
              </a:rPr>
              <a:t>RUSH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41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4100" b="1" i="0" u="none">
                <a:solidFill>
                  <a:srgbClr val="A78BFA"/>
                </a:solidFill>
                <a:latin typeface="Inter"/>
              </a:rPr>
              <a:t>RUSH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4100" b="1" i="0" u="none">
                <a:solidFill>
                  <a:srgbClr val="F472B6"/>
                </a:solidFill>
                <a:latin typeface="Inter"/>
              </a:rPr>
              <a:t>RUSH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4100" b="1" i="0" u="none">
                <a:solidFill>
                  <a:srgbClr val="F472B6"/>
                </a:solidFill>
                <a:latin typeface="Inter"/>
              </a:rPr>
              <a:t>RUSH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578447"/>
            <a:ext cx="4715917" cy="170110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14100" b="1" i="0" u="none">
                <a:gradFill rotWithShape="1">
                  <a:gsLst>
                    <a:gs pos="0">
                      <a:srgbClr val="60A5FA"/>
                    </a:gs>
                    <a:gs pos="35000">
                      <a:srgbClr val="A78BFA"/>
                    </a:gs>
                    <a:gs pos="70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RUSH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86350"/>
            <a:ext cx="5170140" cy="704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nter"/>
              </a:rPr>
              <a:t xml:space="preserve">Same word, six native text frames, decreasing opacity, increasing offset. </a:t>
            </a:r>
            <a:r>
              <a:rPr sz="1350" b="1" i="0" u="none">
                <a:solidFill>
                  <a:srgbClr val="F5F5F7"/>
                </a:solidFill>
                <a:latin typeface="Inter"/>
              </a:rPr>
              <a:t>Editable in PowerPoint as six independent runs.</a:t>
            </a:r>
            <a:r>
              <a:rPr sz="1350" b="0" i="0" u="none">
                <a:solidFill>
                  <a:srgbClr val="FFFFFF"/>
                </a:solidFill>
                <a:latin typeface="Inter"/>
              </a:rPr>
              <a:t xml:space="preserve"> No `filter: blur` — no raster.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4008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5339" y="6400800"/>
            <a:ext cx="16622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13 / 16 · ECHO · MOTION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8742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7239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C3AED"/>
                </a:solidFill>
                <a:latin typeface="Inter"/>
              </a:rPr>
              <a:t>FULL-BLEED · MARQUEE 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"/>
            <a:ext cx="7239000" cy="55989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06060C"/>
                </a:solidFill>
                <a:latin typeface="Inter"/>
              </a:rPr>
              <a:t>Edge-to-edge type bands. Each band is one editable native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3311" y="1074241"/>
            <a:ext cx="151908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14 / 16 · MARQUEE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17166"/>
            <a:ext cx="12192000" cy="1009650"/>
          </a:xfrm>
          <a:prstGeom prst="rect">
            <a:avLst/>
          </a:prstGeom>
          <a:solidFill>
            <a:srgbClr val="060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8600" y="1702891"/>
            <a:ext cx="1973163" cy="838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600" b="0" i="0" u="none">
                <a:solidFill>
                  <a:srgbClr val="FEF3C7"/>
                </a:solidFill>
                <a:latin typeface="Bebas Neue"/>
              </a:rPr>
              <a:t>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6563" y="1893391"/>
            <a:ext cx="156567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FEF3C7"/>
                </a:solidFill>
                <a:latin typeface="Bebas Neue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7930" y="1645741"/>
            <a:ext cx="3506688" cy="94297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600" b="0" i="0" u="none">
                <a:solidFill>
                  <a:srgbClr val="FB923C"/>
                </a:solidFill>
                <a:latin typeface="Bebas Neue"/>
              </a:rPr>
              <a:t>ITERATE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9419" y="1893391"/>
            <a:ext cx="156567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FEF3C7"/>
                </a:solidFill>
                <a:latin typeface="Bebas Neue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0786" y="1702891"/>
            <a:ext cx="1973163" cy="838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600" b="0" i="0" u="none">
                <a:solidFill>
                  <a:srgbClr val="FEF3C7"/>
                </a:solidFill>
                <a:latin typeface="Bebas Neue"/>
              </a:rPr>
              <a:t>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2626816"/>
            <a:ext cx="12192000" cy="1000125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2722066"/>
            <a:ext cx="2854523" cy="800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300" b="0" i="0" u="none">
                <a:solidFill>
                  <a:srgbClr val="06060C"/>
                </a:solidFill>
                <a:latin typeface="Bebas Neue"/>
              </a:rPr>
              <a:t>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7923" y="2893516"/>
            <a:ext cx="156270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06060C"/>
                </a:solidFill>
                <a:latin typeface="Bebas Neue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8993" y="2674441"/>
            <a:ext cx="3841105" cy="89535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300" b="0" i="0" u="none">
                <a:solidFill>
                  <a:srgbClr val="7C3AED"/>
                </a:solidFill>
                <a:latin typeface="Bebas Neue"/>
              </a:rPr>
              <a:t>EDITABLE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4898" y="2893516"/>
            <a:ext cx="156270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06060C"/>
                </a:solidFill>
                <a:latin typeface="Bebas Neue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5968" y="2722066"/>
            <a:ext cx="2854523" cy="8001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300" b="0" i="0" u="none">
                <a:solidFill>
                  <a:srgbClr val="06060C"/>
                </a:solidFill>
                <a:latin typeface="Bebas Neue"/>
              </a:rPr>
              <a:t>NATIVE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626941"/>
            <a:ext cx="12192000" cy="10001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228600" y="3741241"/>
            <a:ext cx="3240584" cy="762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000" b="0" i="0" u="none">
                <a:solidFill>
                  <a:srgbClr val="FFFFFF"/>
                </a:solidFill>
                <a:latin typeface="Bebas Neue"/>
              </a:rPr>
              <a:t>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3984" y="3893641"/>
            <a:ext cx="156121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  <a:latin typeface="Bebas Neue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4904" y="3693616"/>
            <a:ext cx="3583335" cy="8477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000" b="0" i="0" u="none">
                <a:solidFill>
                  <a:srgbClr val="FDE68A"/>
                </a:solidFill>
                <a:latin typeface="Bebas Neue"/>
              </a:rPr>
              <a:t>CLUSTER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3039" y="3893641"/>
            <a:ext cx="156121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FFFFFF"/>
                </a:solidFill>
                <a:latin typeface="Bebas Neue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3960" y="3741241"/>
            <a:ext cx="1835497" cy="762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000" b="0" i="0" u="none">
                <a:solidFill>
                  <a:srgbClr val="FFFFFF"/>
                </a:solidFill>
                <a:latin typeface="Bebas Neue"/>
              </a:rPr>
              <a:t>EMIT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627066"/>
            <a:ext cx="12192000" cy="1000125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228600" y="4741366"/>
            <a:ext cx="2906167" cy="762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000" b="0" i="0" u="none">
                <a:solidFill>
                  <a:srgbClr val="06060C"/>
                </a:solidFill>
                <a:latin typeface="Bebas Neue"/>
              </a:rPr>
              <a:t>SLIDIFY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9567" y="4893766"/>
            <a:ext cx="156121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06060C"/>
                </a:solidFill>
                <a:latin typeface="Bebas Neue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0488" y="4693741"/>
            <a:ext cx="1070818" cy="847725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000" b="0" i="0" u="none">
                <a:solidFill>
                  <a:srgbClr val="DC2626"/>
                </a:solidFill>
                <a:latin typeface="Bebas Neue"/>
              </a:rPr>
              <a:t>0.4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106" y="4893766"/>
            <a:ext cx="156121" cy="4572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3600" b="0" i="0" u="none">
                <a:solidFill>
                  <a:srgbClr val="06060C"/>
                </a:solidFill>
                <a:latin typeface="Bebas Neue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7027" y="4741366"/>
            <a:ext cx="1710482" cy="76200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6000" b="0" i="0" u="none">
                <a:solidFill>
                  <a:srgbClr val="06060C"/>
                </a:solidFill>
                <a:latin typeface="Bebas Neue"/>
              </a:rPr>
              <a:t>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5855791"/>
            <a:ext cx="1218181" cy="238125"/>
          </a:xfrm>
          <a:prstGeom prst="rect">
            <a:avLst/>
          </a:prstGeom>
          <a:solidFill>
            <a:srgbClr val="06060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FEF3C7"/>
                </a:solidFill>
                <a:latin typeface="Inter"/>
              </a:rPr>
              <a:t>⏵ MOTION · IMPLIED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4095" y="5908179"/>
            <a:ext cx="4298305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52525B"/>
                </a:solidFill>
                <a:latin typeface="Inter"/>
              </a:rPr>
              <a:t>4 BANDS  ·  4 NATIVE TEXT FRAMES  ·  0 RASTER PASSES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61035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SLIDIFY · ATOMIC SEED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2457" y="6610350"/>
            <a:ext cx="168994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71717A"/>
                </a:solidFill>
                <a:latin typeface="Inter"/>
              </a:rPr>
              <a:t>14 / 16 · MARQUEE WALL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0A0A14"/>
              </a:gs>
              <a:gs pos="8333">
                <a:srgbClr val="090913"/>
              </a:gs>
              <a:gs pos="16667">
                <a:srgbClr val="090911"/>
              </a:gs>
              <a:gs pos="25000">
                <a:srgbClr val="080810"/>
              </a:gs>
              <a:gs pos="33333">
                <a:srgbClr val="07070F"/>
              </a:gs>
              <a:gs pos="41667">
                <a:srgbClr val="07070D"/>
              </a:gs>
              <a:gs pos="50000">
                <a:srgbClr val="06060C"/>
              </a:gs>
              <a:gs pos="58333">
                <a:srgbClr val="05050B"/>
              </a:gs>
              <a:gs pos="66667">
                <a:srgbClr val="04040B"/>
              </a:gs>
              <a:gs pos="75000">
                <a:srgbClr val="04040A"/>
              </a:gs>
              <a:gs pos="83333">
                <a:srgbClr val="030309"/>
              </a:gs>
              <a:gs pos="91667">
                <a:srgbClr val="020209"/>
              </a:gs>
              <a:gs pos="100000">
                <a:srgbClr val="020208"/>
              </a:gs>
            </a:gsLst>
            <a:lin ang="5400000" scaled="0"/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457200"/>
            <a:ext cx="10972800" cy="5942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705177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CREDITS · TEAM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28650"/>
            <a:ext cx="7051774" cy="279946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The atomic seed was authored by a small Brooklyn 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2639" y="794296"/>
            <a:ext cx="11797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15 / 16 ·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222921"/>
            <a:ext cx="1717625" cy="1326803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6667">
                <a:srgbClr val="B786F4"/>
              </a:gs>
              <a:gs pos="33333">
                <a:srgbClr val="C581EC"/>
              </a:gs>
              <a:gs pos="50000">
                <a:srgbClr val="D37DE1"/>
              </a:gs>
              <a:gs pos="66667">
                <a:srgbClr val="DF78D5"/>
              </a:gs>
              <a:gs pos="83333">
                <a:srgbClr val="EA75C6"/>
              </a:gs>
              <a:gs pos="100000">
                <a:srgbClr val="F472B6"/>
              </a:gs>
            </a:gsLst>
            <a:lin ang="4200000" scaled="0"/>
          </a:gradFill>
          <a:xfrm>
            <a:off x="1144488" y="1365796"/>
            <a:ext cx="647700" cy="6477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655" y="2089696"/>
            <a:ext cx="1223516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Vamsi Ramakrishnan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035" y="2302073"/>
            <a:ext cx="1332756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FOUNDER · COMPILER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0575" y="1222921"/>
            <a:ext cx="1717625" cy="1326803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gradFill flip="none" rotWithShape="1">
            <a:gsLst>
              <a:gs pos="0">
                <a:srgbClr val="FB923C"/>
              </a:gs>
              <a:gs pos="16667">
                <a:srgbClr val="F78331"/>
              </a:gs>
              <a:gs pos="33333">
                <a:srgbClr val="F37328"/>
              </a:gs>
              <a:gs pos="50000">
                <a:srgbClr val="EE6322"/>
              </a:gs>
              <a:gs pos="66667">
                <a:srgbClr val="E95120"/>
              </a:gs>
              <a:gs pos="83333">
                <a:srgbClr val="E33E22"/>
              </a:gs>
              <a:gs pos="100000">
                <a:srgbClr val="DC2626"/>
              </a:gs>
            </a:gsLst>
            <a:lin ang="4200000" scaled="0"/>
          </a:gradFill>
          <a:xfrm>
            <a:off x="2995464" y="1365796"/>
            <a:ext cx="647700" cy="6477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JL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9007" y="2089696"/>
            <a:ext cx="620613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Jordan Liu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0464" y="2302073"/>
            <a:ext cx="111784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DESIGN ENGINEER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1551" y="1222921"/>
            <a:ext cx="1717625" cy="1326803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gradFill flip="none" rotWithShape="1">
            <a:gsLst>
              <a:gs pos="0">
                <a:srgbClr val="0EA5E9"/>
              </a:gs>
              <a:gs pos="16667">
                <a:srgbClr val="00B0E3"/>
              </a:gs>
              <a:gs pos="33333">
                <a:srgbClr val="00B9D9"/>
              </a:gs>
              <a:gs pos="50000">
                <a:srgbClr val="00C2CD"/>
              </a:gs>
              <a:gs pos="66667">
                <a:srgbClr val="00C9BD"/>
              </a:gs>
              <a:gs pos="83333">
                <a:srgbClr val="00CFAC"/>
              </a:gs>
              <a:gs pos="100000">
                <a:srgbClr val="34D399"/>
              </a:gs>
            </a:gsLst>
            <a:lin ang="4200000" scaled="0"/>
          </a:gradFill>
          <a:xfrm>
            <a:off x="4846439" y="1365796"/>
            <a:ext cx="647700" cy="6477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MK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141" y="2089696"/>
            <a:ext cx="648295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Mira Kovač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0714" y="2302073"/>
            <a:ext cx="81929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TYPOGRAPHY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2526" y="1222921"/>
            <a:ext cx="1717774" cy="1326803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gradFill flip="none" rotWithShape="1">
            <a:gsLst>
              <a:gs pos="0">
                <a:srgbClr val="FDE68A"/>
              </a:gs>
              <a:gs pos="16667">
                <a:srgbClr val="FDD979"/>
              </a:gs>
              <a:gs pos="33333">
                <a:srgbClr val="FECB69"/>
              </a:gs>
              <a:gs pos="50000">
                <a:srgbClr val="FEBE5A"/>
              </a:gs>
              <a:gs pos="66667">
                <a:srgbClr val="FEAF4D"/>
              </a:gs>
              <a:gs pos="83333">
                <a:srgbClr val="FDA143"/>
              </a:gs>
              <a:gs pos="100000">
                <a:srgbClr val="FB923C"/>
              </a:gs>
            </a:gsLst>
            <a:lin ang="4200000" scaled="0"/>
          </a:gradFill>
          <a:xfrm>
            <a:off x="6697563" y="1365796"/>
            <a:ext cx="647700" cy="6477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2852" y="2089696"/>
            <a:ext cx="796975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Thiago Sousa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584" y="2302073"/>
            <a:ext cx="7035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DESIGNOPS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3650" y="1222921"/>
            <a:ext cx="1717625" cy="1326803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gradFill flip="none" rotWithShape="1">
            <a:gsLst>
              <a:gs pos="0">
                <a:srgbClr val="67E8F9"/>
              </a:gs>
              <a:gs pos="16667">
                <a:srgbClr val="38D5FF"/>
              </a:gs>
              <a:gs pos="33333">
                <a:srgbClr val="15BEFF"/>
              </a:gs>
              <a:gs pos="50000">
                <a:srgbClr val="2DA3FF"/>
              </a:gs>
              <a:gs pos="66667">
                <a:srgbClr val="4E85FF"/>
              </a:gs>
              <a:gs pos="83333">
                <a:srgbClr val="6963FF"/>
              </a:gs>
              <a:gs pos="100000">
                <a:srgbClr val="7C3AED"/>
              </a:gs>
            </a:gsLst>
            <a:lin ang="4200000" scaled="0"/>
          </a:gradFill>
          <a:xfrm>
            <a:off x="8548539" y="1365796"/>
            <a:ext cx="647700" cy="6477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0170" y="2089696"/>
            <a:ext cx="744438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Priya Ananth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4223" y="2302073"/>
            <a:ext cx="65648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RENDERER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64626" y="1222921"/>
            <a:ext cx="1717625" cy="1326803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gradFill flip="none" rotWithShape="1">
            <a:gsLst>
              <a:gs pos="0">
                <a:srgbClr val="06060C"/>
              </a:gs>
              <a:gs pos="16667">
                <a:srgbClr val="13102C"/>
              </a:gs>
              <a:gs pos="33333">
                <a:srgbClr val="241A4E"/>
              </a:gs>
              <a:gs pos="50000">
                <a:srgbClr val="372374"/>
              </a:gs>
              <a:gs pos="66667">
                <a:srgbClr val="4C2C9B"/>
              </a:gs>
              <a:gs pos="83333">
                <a:srgbClr val="6333C3"/>
              </a:gs>
              <a:gs pos="100000">
                <a:srgbClr val="7C3AED"/>
              </a:gs>
            </a:gsLst>
            <a:lin ang="4200000" scaled="0"/>
          </a:gradFill>
          <a:xfrm>
            <a:off x="10399514" y="1365796"/>
            <a:ext cx="647700" cy="6477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Playfair Display"/>
              </a:rPr>
              <a:t>+12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1940" y="2089696"/>
            <a:ext cx="882848" cy="1361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F5F5F7"/>
                </a:solidFill>
                <a:latin typeface="Inter"/>
              </a:rPr>
              <a:t>17 contributors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2985" y="2302073"/>
            <a:ext cx="130075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A1A1AA"/>
                </a:solidFill>
                <a:latin typeface="Inter"/>
              </a:rPr>
              <a:t>SHIPPING SINCE 2024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600" y="2778323"/>
            <a:ext cx="10972800" cy="733425"/>
          </a:xfrm>
          <a:prstGeom prst="roundRect">
            <a:avLst/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828675" y="2959298"/>
            <a:ext cx="105346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A78BFA"/>
                </a:solidFill>
                <a:latin typeface="Inter"/>
              </a:rPr>
              <a:t>BACKED BY · TRUSTED BY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75" y="3183136"/>
            <a:ext cx="11668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1A1AA"/>
                </a:solidFill>
                <a:latin typeface="Inter"/>
              </a:rPr>
              <a:t>VECTOR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66938" y="3159323"/>
            <a:ext cx="1166812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 i="0" u="none">
                <a:solidFill>
                  <a:srgbClr val="A1A1AA"/>
                </a:solidFill>
                <a:latin typeface="Playfair Display"/>
              </a:rPr>
              <a:t>Modular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5200" y="3178373"/>
            <a:ext cx="116681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A1A1AA"/>
                </a:solidFill>
                <a:latin typeface="Consolas"/>
              </a:rPr>
              <a:t>atelier/04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3462" y="3183136"/>
            <a:ext cx="11668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1A1AA"/>
                </a:solidFill>
                <a:latin typeface="Inter"/>
              </a:rPr>
              <a:t>PIXELPITCH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725" y="3159323"/>
            <a:ext cx="1166812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 i="0" u="none">
                <a:solidFill>
                  <a:srgbClr val="A1A1AA"/>
                </a:solidFill>
                <a:latin typeface="Playfair Display"/>
              </a:rPr>
              <a:t>Drafting Co.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9988" y="3178373"/>
            <a:ext cx="116681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A1A1AA"/>
                </a:solidFill>
                <a:latin typeface="Consolas"/>
              </a:rPr>
              <a:t>render.sh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8250" y="3183136"/>
            <a:ext cx="1166812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 u="none">
                <a:solidFill>
                  <a:srgbClr val="A1A1AA"/>
                </a:solidFill>
                <a:latin typeface="Inter"/>
              </a:rPr>
              <a:t>NORTHFIELD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6512" y="3159323"/>
            <a:ext cx="1166812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 i="0" u="none">
                <a:solidFill>
                  <a:srgbClr val="A1A1AA"/>
                </a:solidFill>
                <a:latin typeface="Playfair Display"/>
              </a:rPr>
              <a:t>Studio Eight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5913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873" y="6591300"/>
            <a:ext cx="97452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15 / 16 ·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flip="none" rotWithShape="1">
            <a:gsLst>
              <a:gs pos="0">
                <a:srgbClr val="1E1B4B"/>
              </a:gs>
              <a:gs pos="10000">
                <a:srgbClr val="1B1841"/>
              </a:gs>
              <a:gs pos="20000">
                <a:srgbClr val="171538"/>
              </a:gs>
              <a:gs pos="30000">
                <a:srgbClr val="14132E"/>
              </a:gs>
              <a:gs pos="40000">
                <a:srgbClr val="101025"/>
              </a:gs>
              <a:gs pos="50000">
                <a:srgbClr val="0D0D1C"/>
              </a:gs>
              <a:gs pos="60000">
                <a:srgbClr val="0A0A14"/>
              </a:gs>
              <a:gs pos="66667">
                <a:srgbClr val="080812"/>
              </a:gs>
              <a:gs pos="73333">
                <a:srgbClr val="060610"/>
              </a:gs>
              <a:gs pos="80000">
                <a:srgbClr val="05050E"/>
              </a:gs>
              <a:gs pos="86667">
                <a:srgbClr val="04040C"/>
              </a:gs>
              <a:gs pos="93333">
                <a:srgbClr val="03030A"/>
              </a:gs>
              <a:gs pos="100000">
                <a:srgbClr val="020208"/>
              </a:gs>
            </a:gsLst>
            <a:path path="circle">
              <a:fillToRect l="50000" t="50000" r="50000" b="50000"/>
            </a:path>
          </a:gradFill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gradFill flip="none" rotWithShape="1">
            <a:gsLst>
              <a:gs pos="0">
                <a:srgbClr val="A78BFA">
                  <a:alpha val="34000"/>
                </a:srgbClr>
              </a:gs>
              <a:gs pos="11667">
                <a:srgbClr val="A78BFA">
                  <a:alpha val="28333"/>
                </a:srgbClr>
              </a:gs>
              <a:gs pos="23333">
                <a:srgbClr val="A78BFA">
                  <a:alpha val="22667"/>
                </a:srgbClr>
              </a:gs>
              <a:gs pos="35000">
                <a:srgbClr val="A78BFA">
                  <a:alpha val="17000"/>
                </a:srgbClr>
              </a:gs>
              <a:gs pos="46667">
                <a:srgbClr val="A78BFA">
                  <a:alpha val="11333"/>
                </a:srgbClr>
              </a:gs>
              <a:gs pos="58333">
                <a:srgbClr val="A78BFA">
                  <a:alpha val="5667"/>
                </a:srgbClr>
              </a:gs>
              <a:gs pos="70000">
                <a:srgbClr val="A78BFA">
                  <a:alpha val="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-1143000" y="-1714500"/>
            <a:ext cx="6858000" cy="6858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gradFill flip="none" rotWithShape="1">
            <a:gsLst>
              <a:gs pos="0">
                <a:srgbClr val="F472B6">
                  <a:alpha val="32000"/>
                </a:srgbClr>
              </a:gs>
              <a:gs pos="12000">
                <a:srgbClr val="F472B6">
                  <a:alpha val="26667"/>
                </a:srgbClr>
              </a:gs>
              <a:gs pos="24000">
                <a:srgbClr val="F472B6">
                  <a:alpha val="21333"/>
                </a:srgbClr>
              </a:gs>
              <a:gs pos="36000">
                <a:srgbClr val="F472B6">
                  <a:alpha val="16000"/>
                </a:srgbClr>
              </a:gs>
              <a:gs pos="48000">
                <a:srgbClr val="F472B6">
                  <a:alpha val="10667"/>
                </a:srgbClr>
              </a:gs>
              <a:gs pos="60000">
                <a:srgbClr val="F472B6">
                  <a:alpha val="5333"/>
                </a:srgbClr>
              </a:gs>
              <a:gs pos="72000">
                <a:srgbClr val="F472B6">
                  <a:alpha val="0"/>
                </a:srgbClr>
              </a:gs>
              <a:gs pos="100000">
                <a:srgbClr val="F472B6">
                  <a:alpha val="0"/>
                </a:srgbClr>
              </a:gs>
            </a:gsLst>
            <a:path path="circle">
              <a:fillToRect l="50000" t="50000" r="50000" b="50000"/>
            </a:path>
          </a:gradFill>
          <a:xfrm>
            <a:off x="5334000" y="571500"/>
            <a:ext cx="8382000" cy="8382000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001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A78BFA"/>
                </a:solidFill>
                <a:latin typeface="Inter"/>
              </a:rPr>
              <a:t>FINAL · CHAPTER FOUR · GO BUILD</a:t>
            </a:r>
          </a:p>
        </p:txBody>
      </p:sp>
      <p:sp>
        <p:nvSpPr>
          <p:cNvPr id="6" name="Oval 5"/>
          <p:cNvSpPr/>
          <p:nvPr/>
        </p:nvSpPr>
        <p:spPr>
          <a:xfrm>
            <a:off x="10401300" y="533400"/>
            <a:ext cx="1066800" cy="1066800"/>
          </a:xfrm>
          <a:prstGeom prst="ellipse">
            <a:avLst/>
          </a:prstGeom>
          <a:noFill/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515600" y="647700"/>
            <a:ext cx="838200" cy="838200"/>
          </a:xfrm>
          <a:prstGeom prst="ellipse">
            <a:avLst/>
          </a:prstGeom>
          <a:noFill/>
          <a:ln w="952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696337" y="937260"/>
            <a:ext cx="476726" cy="1547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75" b="1" i="0">
                <a:solidFill>
                  <a:srgbClr val="F472B6"/>
                </a:solidFill>
                <a:latin typeface="Inter"/>
              </a:rPr>
              <a:t>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75382" y="1089660"/>
            <a:ext cx="518636" cy="1309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>
                <a:solidFill>
                  <a:srgbClr val="F472B6"/>
                </a:solidFill>
                <a:latin typeface="Inter"/>
              </a:rPr>
              <a:t>2026 · 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02345"/>
            <a:ext cx="114300" cy="2526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78BFA"/>
                </a:solidFill>
                <a:latin typeface="Inter"/>
              </a:rPr>
              <a:t>RECIPE 16 OF 16 · CLOSING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537543"/>
            <a:ext cx="10363200" cy="378291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141786" y="1423243"/>
            <a:ext cx="7908429" cy="24010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9300" b="1" i="0" u="none">
                <a:gradFill rotWithShape="1">
                  <a:gsLst>
                    <a:gs pos="0">
                      <a:srgbClr val="60A5FA"/>
                    </a:gs>
                    <a:gs pos="30000">
                      <a:srgbClr val="A78BFA"/>
                    </a:gs>
                    <a:gs pos="65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Go build a deck</a:t>
            </a:r>
          </a:p>
          <a:p>
            <a:pPr algn="ctr"/>
            <a:r>
              <a:rPr sz="9300" b="1" i="0" u="none">
                <a:gradFill rotWithShape="1">
                  <a:gsLst>
                    <a:gs pos="0">
                      <a:srgbClr val="60A5FA"/>
                    </a:gs>
                    <a:gs pos="30000">
                      <a:srgbClr val="A78BFA"/>
                    </a:gs>
                    <a:gs pos="65000">
                      <a:srgbClr val="F472B6"/>
                    </a:gs>
                    <a:gs pos="100000">
                      <a:srgbClr val="FB923C"/>
                    </a:gs>
                  </a:gsLst>
                  <a:lin ang="2700000" scaled="0"/>
                </a:gradFill>
                <a:latin typeface="Inter"/>
              </a:rPr>
              <a:t>that stays alive.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3780" y="3977432"/>
            <a:ext cx="7424291" cy="4953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500" b="1" i="0" u="none">
                <a:solidFill>
                  <a:srgbClr val="F5F5F7"/>
                </a:solidFill>
                <a:latin typeface="Inter"/>
              </a:rPr>
              <a:t>slidify@0.4 ships today.</a:t>
            </a:r>
            <a:r>
              <a:rPr sz="1500" b="0" i="0" u="none">
                <a:solidFill>
                  <a:srgbClr val="FFFFFF"/>
                </a:solidFill>
                <a:latin typeface="Inter"/>
              </a:rPr>
              <a:t xml:space="preserve"> Sixteen recipes, seventy atoms, eight typographic registers — every pixel native, every word editable.</a:t>
            </a:r>
          </a:p>
        </p:txBody>
      </p:sp>
      <p:sp>
        <p:nvSpPr>
          <p:cNvPr id="14" name="TextBox 13"/>
          <p:cNvSpPr txBox="1"/>
          <p:nvPr/>
        </p:nvSpPr>
        <p:spPr>
          <a:gradFill flip="none" rotWithShape="1">
            <a:gsLst>
              <a:gs pos="0">
                <a:srgbClr val="F472B6"/>
              </a:gs>
              <a:gs pos="16667">
                <a:srgbClr val="FC73A2"/>
              </a:gs>
              <a:gs pos="33333">
                <a:srgbClr val="FF768D"/>
              </a:gs>
              <a:gs pos="50000">
                <a:srgbClr val="FF7B79"/>
              </a:gs>
              <a:gs pos="66667">
                <a:srgbClr val="FF8164"/>
              </a:gs>
              <a:gs pos="83333">
                <a:srgbClr val="FF8950"/>
              </a:gs>
              <a:gs pos="100000">
                <a:srgbClr val="FB923C"/>
              </a:gs>
            </a:gsLst>
            <a:lin ang="4200000" scaled="0"/>
          </a:gradFill>
          <a:xfrm>
            <a:off x="5587603" y="4958507"/>
            <a:ext cx="177552" cy="200025"/>
          </a:xfrm>
          <a:prstGeom prst="rect">
            <a:avLst/>
          </a:prstGeom>
          <a:effectLst>
            <a:innerShdw blurRad="0" dist="9525" dir="5400000">
              <a:srgbClr val="FFFFFF">
                <a:alpha val="45000"/>
              </a:srgbClr>
            </a:innerShdw>
            <a:outerShdw blurRad="266700" dist="114300" dir="5400000" algn="ctr" rotWithShape="0">
              <a:srgbClr val="F472B6">
                <a:alpha val="40000"/>
              </a:srgbClr>
            </a:outerShdw>
          </a:effectLst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 i="0" u="none">
                <a:solidFill>
                  <a:srgbClr val="1E1B4B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7603" y="4958507"/>
            <a:ext cx="177552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 i="0" u="none">
                <a:solidFill>
                  <a:srgbClr val="1E1B4B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3780" y="4810869"/>
            <a:ext cx="1893391" cy="495300"/>
          </a:xfrm>
          <a:prstGeom prst="rect">
            <a:avLst/>
          </a:prstGeom>
          <a:solidFill>
            <a:srgbClr val="FFFFFF">
              <a:alpha val="5000"/>
            </a:srgbClr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 u="none">
                <a:solidFill>
                  <a:srgbClr val="F5F5F7"/>
                </a:solidFill>
                <a:latin typeface="Inter"/>
              </a:rPr>
              <a:t>Read the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905500"/>
            <a:ext cx="12192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25" b="1" i="0" u="none">
                <a:solidFill>
                  <a:srgbClr val="71717A"/>
                </a:solidFill>
                <a:latin typeface="Inter"/>
              </a:rPr>
              <a:t>$ uv add slidify · $ slidify deck.html out.pptx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160302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SLIDIFY · ATOMIC 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3898" y="6400800"/>
            <a:ext cx="152370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16 / 16 · CLOSING CTA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06060C"/>
      </a:accent2>
      <a:accent3>
        <a:srgbClr val="F472B6"/>
      </a:accent3>
      <a:accent4>
        <a:srgbClr val="A78BFA"/>
      </a:accent4>
      <a:accent5>
        <a:srgbClr val="67E8F9"/>
      </a:accent5>
      <a:accent6>
        <a:srgbClr val="52525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