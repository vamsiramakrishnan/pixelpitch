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embeddedFontLst>
    <p:embeddedFont>
      <p:font typeface="Playfair Display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Bebas Neue" panose="020B0604020202020204" charset="0"/>
      <p:regular r:id="rIdSlidifyFont5"/>
    </p:embeddedFont>
    <p:embeddedFont>
      <p:font typeface="Source Serif Pro" panose="02040603050405020304" charset="0"/>
      <p:regular r:id="rIdSlidifyFont6"/>
      <p:bold r:id="rIdSlidifyFont7"/>
      <p:italic r:id="rIdSlidifyFont8"/>
    </p:embeddedFont>
    <p:embeddedFont>
      <p:font typeface="JetBrains Mono" panose="020B0609040504020204" charset="0"/>
      <p:regular r:id="rIdSlidifyFont9"/>
      <p:bold r:id="rIdSlidify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80812"/>
              </a:gs>
              <a:gs pos="70000">
                <a:srgbClr val="060610"/>
              </a:gs>
              <a:gs pos="77500">
                <a:srgbClr val="05050E"/>
              </a:gs>
              <a:gs pos="85000">
                <a:srgbClr val="04040C"/>
              </a:gs>
              <a:gs pos="92500">
                <a:srgbClr val="03030A"/>
              </a:gs>
              <a:gs pos="100000">
                <a:srgbClr val="020208"/>
              </a:gs>
            </a:gsLst>
            <a:path path="circle">
              <a:fillToRect l="50000" t="40000" r="50000" b="6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0000"/>
                </a:srgbClr>
              </a:gs>
              <a:gs pos="12000">
                <a:srgbClr val="F472B6">
                  <a:alpha val="25000"/>
                </a:srgbClr>
              </a:gs>
              <a:gs pos="24000">
                <a:srgbClr val="F472B6">
                  <a:alpha val="20000"/>
                </a:srgbClr>
              </a:gs>
              <a:gs pos="36000">
                <a:srgbClr val="F472B6">
                  <a:alpha val="15000"/>
                </a:srgbClr>
              </a:gs>
              <a:gs pos="48000">
                <a:srgbClr val="F472B6">
                  <a:alpha val="10000"/>
                </a:srgbClr>
              </a:gs>
              <a:gs pos="60000">
                <a:srgbClr val="F472B6">
                  <a:alpha val="5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33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272665" y="1129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609975" y="2085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28260" y="1318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848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561070" y="1131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73665" y="1891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229975" y="132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5144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3035618" y="5702618"/>
            <a:ext cx="24765" cy="24765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562475" y="53244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080760" y="5890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800975" y="551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513570" y="5703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08489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"/>
            <a:ext cx="11277600" cy="59436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ISSUE 04 · 2026 · A FILM ABOUT 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2095500"/>
            <a:ext cx="12192000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10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FUTURE.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0" y="3429000"/>
            <a:ext cx="114300" cy="3288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SLIDIFY · ATOMIC SEED · RECIPE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9436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EDITORIAL · CHAPTER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2000">
                <a:srgbClr val="7C3AED"/>
              </a:gs>
              <a:gs pos="75000">
                <a:srgbClr val="DB2777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168182" cy="55054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1000" b="1" i="0" u="none"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9675" y="838200"/>
            <a:ext cx="1035100" cy="1333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chapter two of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76350"/>
            <a:ext cx="10363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CHAPTER ·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2575"/>
            <a:ext cx="6876901" cy="213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A new render path that </a:t>
            </a:r>
            <a:r>
              <a:rPr sz="54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stays alive</a:t>
            </a:r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19525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Inter"/>
              </a:rPr>
              <a:t>Render in headless Chromium. Cluster into atomic visual units. Translate gradients, shadows, and shapes into native PPTX. Edit the result in PowerPoint as if a designer authored it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150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4253" y="6115050"/>
            <a:ext cx="201334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02 / 16 · CHAPTER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8333">
                <a:srgbClr val="000000">
                  <a:alpha val="45833"/>
                </a:srgbClr>
              </a:gs>
              <a:gs pos="16667">
                <a:srgbClr val="000000">
                  <a:alpha val="36667"/>
                </a:srgbClr>
              </a:gs>
              <a:gs pos="25000">
                <a:srgbClr val="000000">
                  <a:alpha val="27500"/>
                </a:srgbClr>
              </a:gs>
              <a:gs pos="33333">
                <a:srgbClr val="000000">
                  <a:alpha val="18333"/>
                </a:srgbClr>
              </a:gs>
              <a:gs pos="41667">
                <a:srgbClr val="000000">
                  <a:alpha val="9167"/>
                </a:srgbClr>
              </a:gs>
              <a:gs pos="50000">
                <a:srgbClr val="000000">
                  <a:alpha val="0"/>
                </a:srgbClr>
              </a:gs>
              <a:gs pos="58333">
                <a:srgbClr val="000000">
                  <a:alpha val="9167"/>
                </a:srgbClr>
              </a:gs>
              <a:gs pos="66667">
                <a:srgbClr val="000000">
                  <a:alpha val="18333"/>
                </a:srgbClr>
              </a:gs>
              <a:gs pos="75000">
                <a:srgbClr val="000000">
                  <a:alpha val="27500"/>
                </a:srgbClr>
              </a:gs>
              <a:gs pos="83333">
                <a:srgbClr val="000000">
                  <a:alpha val="36667"/>
                </a:srgbClr>
              </a:gs>
              <a:gs pos="91667">
                <a:srgbClr val="000000">
                  <a:alpha val="45833"/>
                </a:srgbClr>
              </a:gs>
              <a:gs pos="100000">
                <a:srgbClr val="000000">
                  <a:alpha val="5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8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43000" y="914400"/>
            <a:ext cx="9906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MANIFESTO · A LUXURY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57300"/>
            <a:ext cx="9231362" cy="19231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Rasterization is the </a:t>
            </a:r>
            <a:r>
              <a:rPr sz="4650" b="1" i="1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Playfair Display"/>
              </a:rPr>
              <a:t>failure mode,</a:t>
            </a:r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 not the goal — every pixel that stays editable compounds across every translation.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37211"/>
            <a:ext cx="381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3699123"/>
            <a:ext cx="2419201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Vamsi Ramakrishnan</a:t>
            </a:r>
            <a:r>
              <a:rPr sz="975" b="0" i="0" u="none">
                <a:solidFill>
                  <a:srgbClr val="FFFFFF"/>
                </a:solidFill>
                <a:latin typeface="Inter"/>
              </a:rPr>
              <a:t>Founder · Pixelpitch Labs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2674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5864" y="6267450"/>
            <a:ext cx="15131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03 / 16 ·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533400"/>
            <a:ext cx="67002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1" u="none">
                <a:solidFill>
                  <a:srgbClr val="06060C"/>
                </a:solidFill>
                <a:latin typeface="Playfair Display"/>
              </a:rPr>
              <a:t xml:space="preserve">atelier </a:t>
            </a:r>
            <a:r>
              <a:rPr sz="1800" b="1" i="0" u="none">
                <a:solidFill>
                  <a:srgbClr val="7C3AED"/>
                </a:solidFill>
                <a:latin typeface="Playfair Display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9831" y="604838"/>
            <a:ext cx="16077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ISSUE 04 · MMXXVI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9676"/>
            <a:ext cx="7191821" cy="40525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 FILM</a:t>
            </a:r>
          </a:p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ABOUT</a:t>
            </a:r>
          </a:p>
          <a:p>
            <a:pPr algn="l"/>
            <a:r>
              <a:rPr sz="11100" b="0" i="0" u="none">
                <a:solidFill>
                  <a:srgbClr val="DC2626"/>
                </a:solidFill>
                <a:latin typeface="Bebas Neue"/>
              </a:rPr>
              <a:t>SHIPPING.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65923"/>
            <a:ext cx="4953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F3F46"/>
                </a:solidFill>
                <a:latin typeface="Source Serif Pro"/>
              </a:rPr>
              <a:t>How a small team in Brooklyn built a compiler that turns browsers into editable PowerPoint — and why every screenshot tool was the wrong abstraction.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57825"/>
            <a:ext cx="4953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In this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6769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04" y="56769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Why presentations were broken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8202" y="56769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483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704" y="58483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Render. Cluster. Classify. Emit.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202" y="58483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198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704" y="60198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The atomic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8202" y="60198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12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704" y="61912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 landing page in twelve atoms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8202" y="61912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62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C4A6E"/>
              </a:gs>
              <a:gs pos="8333">
                <a:srgbClr val="185289"/>
              </a:gs>
              <a:gs pos="16667">
                <a:srgbClr val="2E57A5"/>
              </a:gs>
              <a:gs pos="25000">
                <a:srgbClr val="495ABF"/>
              </a:gs>
              <a:gs pos="33333">
                <a:srgbClr val="665BD6"/>
              </a:gs>
              <a:gs pos="41667">
                <a:srgbClr val="8659E9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8258621" y="1355527"/>
            <a:ext cx="3619500" cy="4191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8391971" y="5213152"/>
            <a:ext cx="1566862" cy="200025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04 / SUBJECT · STILL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621" y="5851327"/>
            <a:ext cx="3250406" cy="322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Source Serif Pro"/>
              </a:rPr>
              <a:t xml:space="preserve">Cover </a:t>
            </a:r>
            <a:r>
              <a:rPr sz="975" b="0" i="1" u="none">
                <a:solidFill>
                  <a:srgbClr val="52525B"/>
                </a:solidFill>
                <a:latin typeface="Source Serif Pro"/>
              </a:rPr>
              <a:t>The render pipeline, photographed in long exposure. By Pixelpitch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80000" t="20000" r="20000" b="8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58554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PRODUCT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5855494" cy="3399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A bento of every primitive a deck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0990" y="930473"/>
            <a:ext cx="12814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>
                  <a:alpha val="45000"/>
                </a:srgbClr>
              </a:gs>
              <a:gs pos="16667">
                <a:srgbClr val="1E1B4B">
                  <a:alpha val="37500"/>
                </a:srgbClr>
              </a:gs>
              <a:gs pos="33333">
                <a:srgbClr val="1E1B4B">
                  <a:alpha val="30000"/>
                </a:srgbClr>
              </a:gs>
              <a:gs pos="50000">
                <a:srgbClr val="1E1B4B">
                  <a:alpha val="22500"/>
                </a:srgbClr>
              </a:gs>
              <a:gs pos="66667">
                <a:srgbClr val="1E1B4B">
                  <a:alpha val="15000"/>
                </a:srgbClr>
              </a:gs>
              <a:gs pos="83333">
                <a:srgbClr val="1E1B4B">
                  <a:alpha val="7500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FEF3C7">
                  <a:alpha val="45000"/>
                </a:srgbClr>
              </a:gs>
              <a:gs pos="16667">
                <a:srgbClr val="FEF3C7">
                  <a:alpha val="37500"/>
                </a:srgbClr>
              </a:gs>
              <a:gs pos="33333">
                <a:srgbClr val="FEF3C7">
                  <a:alpha val="30000"/>
                </a:srgbClr>
              </a:gs>
              <a:gs pos="50000">
                <a:srgbClr val="FEF3C7">
                  <a:alpha val="22500"/>
                </a:srgbClr>
              </a:gs>
              <a:gs pos="66667">
                <a:srgbClr val="FEF3C7">
                  <a:alpha val="15000"/>
                </a:srgbClr>
              </a:gs>
              <a:gs pos="83333">
                <a:srgbClr val="FEF3C7">
                  <a:alpha val="7500"/>
                </a:srgbClr>
              </a:gs>
              <a:gs pos="100000">
                <a:srgbClr val="FEF3C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609600" y="1216223"/>
            <a:ext cx="4408289" cy="457200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09600" y="1216223"/>
            <a:ext cx="4408289" cy="4572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1416248"/>
            <a:ext cx="39701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3" name="Oval 12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28675" y="4818757"/>
            <a:ext cx="5734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95</a:t>
            </a:r>
            <a:r>
              <a:rPr sz="18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256907"/>
            <a:ext cx="3970139" cy="331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of slide area emits as native, editable PPTX shapes — gradients, shadows, text frames, real preset shapes.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1239" y="1216223"/>
            <a:ext cx="3148905" cy="2219325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151239" y="1216223"/>
            <a:ext cx="3148905" cy="9986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70314" y="1416248"/>
            <a:ext cx="27107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314" y="2650778"/>
            <a:ext cx="271075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0314" y="3069878"/>
            <a:ext cx="2710755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4D399"/>
                </a:solidFill>
                <a:latin typeface="Inter"/>
              </a:rPr>
              <a:t>+18.2% Q-o-Q</a:t>
            </a:r>
          </a:p>
        </p:txBody>
      </p:sp>
      <p:sp>
        <p:nvSpPr>
          <p:cNvPr id="24" name="Rectangle 23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016554" y="-665433"/>
            <a:ext cx="5982638" cy="59826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472B6">
                  <a:alpha val="40000"/>
                </a:srgbClr>
              </a:gs>
              <a:gs pos="6667">
                <a:srgbClr val="E36DC6">
                  <a:alpha val="36000"/>
                </a:srgbClr>
              </a:gs>
              <a:gs pos="13333">
                <a:srgbClr val="CF69D5">
                  <a:alpha val="32000"/>
                </a:srgbClr>
              </a:gs>
              <a:gs pos="20000">
                <a:srgbClr val="B967E1">
                  <a:alpha val="28000"/>
                </a:srgbClr>
              </a:gs>
              <a:gs pos="26667">
                <a:srgbClr val="A065EA">
                  <a:alpha val="24000"/>
                </a:srgbClr>
              </a:gs>
              <a:gs pos="33333">
                <a:srgbClr val="8465F0">
                  <a:alpha val="20000"/>
                </a:srgbClr>
              </a:gs>
              <a:gs pos="40000">
                <a:srgbClr val="6366F1">
                  <a:alpha val="16000"/>
                </a:srgbClr>
              </a:gs>
              <a:gs pos="50000">
                <a:srgbClr val="6446B7">
                  <a:alpha val="22500"/>
                </a:srgbClr>
              </a:gs>
              <a:gs pos="60000">
                <a:srgbClr val="562B7E">
                  <a:alpha val="29000"/>
                </a:srgbClr>
              </a:gs>
              <a:gs pos="70000">
                <a:srgbClr val="40164C">
                  <a:alpha val="35500"/>
                </a:srgbClr>
              </a:gs>
              <a:gs pos="80000">
                <a:srgbClr val="250622">
                  <a:alpha val="42000"/>
                </a:srgbClr>
              </a:gs>
              <a:gs pos="90000">
                <a:srgbClr val="090105">
                  <a:alpha val="48500"/>
                </a:srgbClr>
              </a:gs>
              <a:gs pos="100000">
                <a:srgbClr val="000000">
                  <a:alpha val="55000"/>
                </a:srgbClr>
              </a:gs>
            </a:gsLst>
            <a:path path="circle">
              <a:fillToRect l="50000" t="30000" r="50000" b="70000"/>
            </a:path>
          </a:gradFill>
          <a:xfrm>
            <a:off x="8433495" y="1216223"/>
            <a:ext cx="3148757" cy="22193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652570" y="1416248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UPTIME · 90D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2570" y="2631728"/>
            <a:ext cx="1044029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99.98</a:t>
            </a:r>
            <a:r>
              <a:rPr sz="1800" b="1" i="0" u="none">
                <a:solidFill>
                  <a:srgbClr val="F5F5F7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2570" y="3069878"/>
            <a:ext cx="2710607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5,182 of 5,184 deploys passed SSIM ≥ 0.95.</a:t>
            </a:r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017585" y="1031647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1E1B4B">
                  <a:alpha val="35000"/>
                </a:srgbClr>
              </a:gs>
              <a:gs pos="16667">
                <a:srgbClr val="1E1B4B">
                  <a:alpha val="29167"/>
                </a:srgbClr>
              </a:gs>
              <a:gs pos="33333">
                <a:srgbClr val="1E1B4B">
                  <a:alpha val="23333"/>
                </a:srgbClr>
              </a:gs>
              <a:gs pos="50000">
                <a:srgbClr val="1E1B4B">
                  <a:alpha val="17500"/>
                </a:srgbClr>
              </a:gs>
              <a:gs pos="66667">
                <a:srgbClr val="1E1B4B">
                  <a:alpha val="11667"/>
                </a:srgbClr>
              </a:gs>
              <a:gs pos="83333">
                <a:srgbClr val="1E1B4B">
                  <a:alpha val="5833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23695" y="1615343"/>
            <a:ext cx="6126437" cy="612643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16667">
                <a:srgbClr val="A78BFA">
                  <a:alpha val="33333"/>
                </a:srgbClr>
              </a:gs>
              <a:gs pos="33333">
                <a:srgbClr val="A78BFA">
                  <a:alpha val="26667"/>
                </a:srgbClr>
              </a:gs>
              <a:gs pos="50000">
                <a:srgbClr val="A78BFA">
                  <a:alpha val="20000"/>
                </a:srgbClr>
              </a:gs>
              <a:gs pos="66667">
                <a:srgbClr val="A78BFA">
                  <a:alpha val="13333"/>
                </a:srgbClr>
              </a:gs>
              <a:gs pos="83333">
                <a:srgbClr val="A78BFA">
                  <a:alpha val="6667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726539" y="2521482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5113472" y="3514627"/>
            <a:ext cx="3224440" cy="2327868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339394" y="3722175"/>
            <a:ext cx="2712761" cy="199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DECKS /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82478" y="4955953"/>
            <a:ext cx="2721736" cy="4563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1,184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7104" y="5374798"/>
            <a:ext cx="2714885" cy="2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Across 318 teams in production.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3495" y="3568898"/>
            <a:ext cx="3148757" cy="2219325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433495" y="3568898"/>
            <a:ext cx="3148757" cy="221932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52570" y="3768923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$ slidify --quiet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2570" y="4895255"/>
            <a:ext cx="1303586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deck</a:t>
            </a:r>
            <a:r>
              <a:rPr sz="825" b="0" i="0" u="none">
                <a:solidFill>
                  <a:srgbClr val="34D399"/>
                </a:solidFill>
                <a:latin typeface="Consolas"/>
              </a:rPr>
              <a:t>.compose(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  "hero", "bento")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
        → out.pptx ✓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1107" y="6515100"/>
            <a:ext cx="10612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702275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PRODUCT ·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02275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>Every cluster routed to a native primitive — annotated.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82659" y="814388"/>
            <a:ext cx="14997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  <p:sp>
        <p:nvSpPr>
          <p:cNvPr id="7" name="Freeform 6"/>
          <p:cNvSpPr/>
          <p:nvPr/>
        </p:nvSpPr>
        <p:spPr>
          <a:xfrm>
            <a:off x="194310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33333" y="23077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19100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94385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62500" y="30769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90575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6573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40741" y="66667"/>
                </a:lnTo>
                <a:lnTo>
                  <a:pt x="10000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19100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79438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55556" y="6666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90575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 14"/>
          <p:cNvCxnSpPr/>
          <p:nvPr/>
        </p:nvCxnSpPr>
        <p:spPr>
          <a:xfrm>
            <a:off x="4229100" y="5195888"/>
            <a:ext cx="3714750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2910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4385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23773" y="5064442"/>
            <a:ext cx="132540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540 PX · NATIVE PICTURE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4725" y="2409825"/>
            <a:ext cx="5162550" cy="233362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>
            <a:outerShdw blurRad="571500" dist="2286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24250" y="2419350"/>
            <a:ext cx="5143500" cy="409575"/>
          </a:xfrm>
          <a:prstGeom prst="rect">
            <a:avLst/>
          </a:prstGeom>
          <a:solidFill>
            <a:srgbClr val="F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638550" y="2566988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3819525" y="2566988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000500" y="2566988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181475" y="2505075"/>
            <a:ext cx="1288373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slidify.sh / atomic-seed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3524250" y="2828925"/>
            <a:ext cx="5143500" cy="1905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852612"/>
            <a:ext cx="827633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CHROME BAR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3301" y="1852612"/>
            <a:ext cx="660499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URL FIELD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519612"/>
            <a:ext cx="1320998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HERO GRADIENT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 · gradFill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2786" y="4519612"/>
            <a:ext cx="1211014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CTA TEXT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 · per-run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095" y="6515100"/>
            <a:ext cx="12503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676721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67E8F9"/>
                </a:solidFill>
                <a:latin typeface="Consolas"/>
              </a:rPr>
              <a:t>$ slidify spec --version 0.4 --target landing-page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527" y="619125"/>
            <a:ext cx="184487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REV · 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04.A</a:t>
            </a:r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 · 2026·05·01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019175"/>
            <a:ext cx="5891510" cy="495300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59061" y="1598852"/>
            <a:ext cx="3405993" cy="27715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5656" y="3050964"/>
            <a:ext cx="1619399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67E8F9"/>
                </a:solidFill>
                <a:latin typeface="Consolas"/>
              </a:rPr>
              <a:t>slide.compose()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913" y="4227509"/>
            <a:ext cx="89868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7E8F9"/>
                </a:solidFill>
                <a:latin typeface="Consolas"/>
              </a:rPr>
              <a:t>CTA · TACTILE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6577" y="1598852"/>
            <a:ext cx="4431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061" y="3189451"/>
            <a:ext cx="142875" cy="3811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3535" y="1200150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853535" y="1381125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9668" y="1381125"/>
            <a:ext cx="481757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3535" y="1558230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88427" y="1558230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3535" y="173533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safe-area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6819" y="173533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1136 × 510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3535" y="120015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3535" y="2889200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853535" y="3070175"/>
            <a:ext cx="116993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native_area_ratio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88427" y="3070175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34D399"/>
                </a:solidFill>
                <a:latin typeface="Consolas"/>
              </a:rPr>
              <a:t>≥ 0.95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3535" y="324728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fonts.embedded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13244" y="3247281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9 families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3535" y="3424386"/>
            <a:ext cx="757089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tier-0 hits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2002" y="342438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247 / 318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3535" y="288920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EMIT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3535" y="4578251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853535" y="475922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atoms / slide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57334" y="4759226"/>
            <a:ext cx="34409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4 —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3535" y="493633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axes / cluster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94852" y="4936331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3535" y="5113437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z-stack depth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94852" y="5113437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3535" y="4578251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COMPOSITION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81775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SLIDIFY · BLUEPRINT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92482" y="6581775"/>
            <a:ext cx="14899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07 / 16 · SPEC 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534769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5347692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Render. Cluster. Classify. Emit. — looped.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7840" y="814388"/>
            <a:ext cx="19545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  <p:sp>
        <p:nvSpPr>
          <p:cNvPr id="6" name="Oval 5"/>
          <p:cNvSpPr/>
          <p:nvPr/>
        </p:nvSpPr>
        <p:spPr>
          <a:xfrm>
            <a:off x="4191000" y="1795462"/>
            <a:ext cx="3810000" cy="3810000"/>
          </a:xfrm>
          <a:prstGeom prst="ellipse">
            <a:avLst/>
          </a:prstGeom>
          <a:noFill/>
          <a:ln w="19050">
            <a:solidFill>
              <a:srgbClr val="A78BFA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038850" y="1738312"/>
            <a:ext cx="114300" cy="1143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7943850" y="3643312"/>
            <a:ext cx="114300" cy="11430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038850" y="5548312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133850" y="3643312"/>
            <a:ext cx="114300" cy="1143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0960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cubicBezTo>
                  <a:pt x="54858" y="0"/>
                  <a:pt x="100000" y="45142"/>
                  <a:pt x="100000" y="100000"/>
                </a:cubicBezTo>
              </a:path>
            </a:pathLst>
          </a:custGeom>
          <a:noFill/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0960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cubicBezTo>
                  <a:pt x="100000" y="54858"/>
                  <a:pt x="54858" y="100000"/>
                  <a:pt x="0" y="100000"/>
                </a:cubicBezTo>
              </a:path>
            </a:pathLst>
          </a:custGeom>
          <a:noFill/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43815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cubicBezTo>
                  <a:pt x="45142" y="100000"/>
                  <a:pt x="0" y="54858"/>
                  <a:pt x="0" y="0"/>
                </a:cubicBezTo>
              </a:path>
            </a:pathLst>
          </a:cu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3815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45142" y="0"/>
                  <a:pt x="100000" y="0"/>
                </a:cubicBezTo>
              </a:path>
            </a:pathLst>
          </a:custGeom>
          <a:noFill/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772025" y="2967335"/>
            <a:ext cx="2647950" cy="1466255"/>
          </a:xfrm>
          <a:prstGeom prst="roundRect">
            <a:avLst/>
          </a:prstGeom>
          <a:solidFill>
            <a:srgbClr val="000000">
              <a:alpha val="55000"/>
            </a:srgbClr>
          </a:solidFill>
          <a:ln w="9525">
            <a:solidFill>
              <a:srgbClr val="A78BFA"/>
            </a:solidFill>
          </a:ln>
          <a:effectLst>
            <a:innerShdw blurRad="0" dist="9525" dir="5400000">
              <a:srgbClr val="FFFFFF">
                <a:alpha val="10000"/>
              </a:srgbClr>
            </a:innerShdw>
            <a:outerShdw blurRad="381000" dist="152400" dir="5400000" algn="ctr" rotWithShape="0">
              <a:srgbClr val="6366F1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772025" y="2967335"/>
            <a:ext cx="2647950" cy="146625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953000" y="314831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Consolas"/>
              </a:rPr>
              <a:t>$ slidify convert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310235"/>
            <a:ext cx="2286000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34D399"/>
                </a:solidFill>
                <a:latin typeface="Consolas"/>
              </a:rPr>
              <a:t>native_area_ratio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3643610"/>
            <a:ext cx="2286000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400" b="1" i="0" u="none">
                <a:solidFill>
                  <a:srgbClr val="34D399"/>
                </a:solidFill>
                <a:latin typeface="Consolas"/>
              </a:rPr>
              <a:t>0.97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4100810"/>
            <a:ext cx="22860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FFFFFF"/>
                </a:solidFill>
                <a:latin typeface="Inter"/>
              </a:rPr>
              <a:t>23 s · 12 slides · 0 raster fallbacks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86375" y="1147762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915025" y="1147762"/>
            <a:ext cx="361950" cy="36195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6375" y="1585912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6375" y="1785938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Headless Chromium captures resolved pixel layout.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8695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515600" y="3229570"/>
            <a:ext cx="361950" cy="36195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DOM elements grouped into atomic visual units.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86375" y="5311378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915025" y="5311378"/>
            <a:ext cx="361950" cy="36195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5" y="5749528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6375" y="5949553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Tier-0 atom registry → tier-1 rules → tier-2 heuristics.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314450" y="3229570"/>
            <a:ext cx="361950" cy="36195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python-pptx writes native shapes with EMU precision.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0500" y="6572250"/>
            <a:ext cx="1631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6000"/>
                </a:srgbClr>
              </a:gs>
              <a:gs pos="100000">
                <a:srgbClr val="A78BFA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67890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Consolas"/>
              </a:rPr>
              <a:t>$ slidify ticker --live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8175"/>
            <a:ext cx="678909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Live deployment tape — every commit, every region.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6671" y="814388"/>
            <a:ext cx="15457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75" y="1362075"/>
            <a:ext cx="9133582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90575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0850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2,184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843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3799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4073" y="1362075"/>
            <a:ext cx="56763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14k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10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06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6927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472B6"/>
                </a:solidFill>
                <a:latin typeface="Consolas"/>
              </a:rPr>
              <a:t>▼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9995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951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281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99.98%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3368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9323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P95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6191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248ms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318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914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600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$14.2M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" y="2057400"/>
            <a:ext cx="11362432" cy="1428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Consolas"/>
              </a:rPr>
              <a:t xml:space="preserve">CHANGELOG </a:t>
            </a:r>
            <a:r>
              <a:rPr sz="975" b="1" i="0" u="none">
                <a:solidFill>
                  <a:srgbClr val="A1A1AA"/>
                </a:solidFill>
                <a:latin typeface="Consolas"/>
              </a:rPr>
              <a:t xml:space="preserve">
      v0.4.2 atoms.yaml · v0.4.1 longshadow recipe · v0.4.0 atomic seed · v0.3.9 anim capture · v0.3.8 native tables
   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0960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9057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▲ DEPLOYS · 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57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34D399"/>
                </a:solidFill>
                <a:latin typeface="Consolas"/>
              </a:rPr>
              <a:t>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575" y="4214812"/>
            <a:ext cx="2018556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across us-east, eu-west, apac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0 rollbacks · 0 SSIM regressions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1551" y="2528888"/>
            <a:ext cx="3568750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311551" y="2528888"/>
            <a:ext cx="3568750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492526" y="2690812"/>
            <a:ext cx="3206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⌁ ACTIVE COMPILES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2526" y="3357562"/>
            <a:ext cx="3206800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Consolas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0176" y="4338638"/>
            <a:ext cx="521494" cy="104775"/>
          </a:xfrm>
          <a:prstGeom prst="rect">
            <a:avLst/>
          </a:prstGeom>
          <a:solidFill>
            <a:srgbClr val="34D3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Consolas"/>
              </a:rPr>
              <a:t>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365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01365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19462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▼ ERROR BUDGET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62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472B6"/>
                </a:solidFill>
                <a:latin typeface="Consolas"/>
              </a:rPr>
              <a:t>0.02%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625" y="4214812"/>
            <a:ext cx="1892498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3 retries · all auto-recovered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SLA · 99.95% met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81775"/>
            <a:ext cx="172075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SLIDIFY · ATOMIC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7789" y="6581775"/>
            <a:ext cx="18846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 ·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7C2D12"/>
              </a:gs>
              <a:gs pos="35000">
                <a:srgbClr val="DC2626"/>
              </a:gs>
              <a:gs pos="65000">
                <a:srgbClr val="FB923C"/>
              </a:gs>
              <a:gs pos="100000">
                <a:srgbClr val="FBBF24"/>
              </a:gs>
            </a:gsLst>
            <a:lin ang="4500000" scaled="0"/>
          </a:gradFill>
          <a:xfrm>
            <a:off x="914400" y="609600"/>
            <a:ext cx="10363200" cy="5905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828800" y="36480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4500" y="35337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4194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900" y="33051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908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300" y="30765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622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479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9600"/>
            <a:ext cx="20679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DISPLAY · CHAPTER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3528" y="609600"/>
            <a:ext cx="18640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336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FEF3C7"/>
                </a:solidFill>
                <a:latin typeface="Bebas Neue"/>
              </a:rPr>
              <a:t>SOLAR.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74171"/>
            <a:ext cx="6477000" cy="7456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EF3C7"/>
                </a:solidFill>
                <a:latin typeface="Inter"/>
              </a:rPr>
              <a:t>A type treatment that survives the round-trip. Eight stacked spans, each translated 12 px on both axes — emitted as nine native text frames, fully editable, zero rasterization.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SLIDIFY · ATOMIC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590" y="6400800"/>
            <a:ext cx="25070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 · BILLBOARD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C1023"/>
              </a:gs>
              <a:gs pos="11667">
                <a:srgbClr val="0B0E1F"/>
              </a:gs>
              <a:gs pos="23333">
                <a:srgbClr val="0A0C1B"/>
              </a:gs>
              <a:gs pos="35000">
                <a:srgbClr val="090A17"/>
              </a:gs>
              <a:gs pos="46667">
                <a:srgbClr val="080913"/>
              </a:gs>
              <a:gs pos="58333">
                <a:srgbClr val="070710"/>
              </a:gs>
              <a:gs pos="70000">
                <a:srgbClr val="06060C"/>
              </a:gs>
              <a:gs pos="75000">
                <a:srgbClr val="05050B"/>
              </a:gs>
              <a:gs pos="80000">
                <a:srgbClr val="04040B"/>
              </a:gs>
              <a:gs pos="85000">
                <a:srgbClr val="04040A"/>
              </a:gs>
              <a:gs pos="90000">
                <a:srgbClr val="030309"/>
              </a:gs>
              <a:gs pos="95000">
                <a:srgbClr val="020209"/>
              </a:gs>
              <a:gs pos="100000">
                <a:srgbClr val="020208"/>
              </a:gs>
            </a:gsLst>
            <a:path path="circle">
              <a:fillToRect l="30000" t="0" r="7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61457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28650"/>
            <a:ext cx="6145709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Editability dashboard — last 90 days, every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32789" y="794296"/>
            <a:ext cx="17258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465F0">
                  <a:alpha val="18333"/>
                </a:srgbClr>
              </a:gs>
              <a:gs pos="33333">
                <a:srgbClr val="A065EA">
                  <a:alpha val="16667"/>
                </a:srgbClr>
              </a:gs>
              <a:gs pos="50000">
                <a:srgbClr val="B967E1">
                  <a:alpha val="15000"/>
                </a:srgbClr>
              </a:gs>
              <a:gs pos="66667">
                <a:srgbClr val="CF69D5">
                  <a:alpha val="13333"/>
                </a:srgbClr>
              </a:gs>
              <a:gs pos="83333">
                <a:srgbClr val="E36DC6">
                  <a:alpha val="11667"/>
                </a:srgbClr>
              </a:gs>
              <a:gs pos="100000">
                <a:srgbClr val="F472B6">
                  <a:alpha val="10000"/>
                </a:srgbClr>
              </a:gs>
            </a:gsLst>
            <a:lin ang="4200000" scaled="0"/>
          </a:gradFill>
          <a:xfrm>
            <a:off x="733425" y="1327696"/>
            <a:ext cx="3877419" cy="2963614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3425" y="4186535"/>
            <a:ext cx="597545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3370" y="4186535"/>
            <a:ext cx="646956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RASTER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726" y="4186535"/>
            <a:ext cx="894011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Inter"/>
              </a:rPr>
              <a:t>SLA · ≥ 0.95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425" y="1327696"/>
            <a:ext cx="387741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425" y="1432471"/>
            <a:ext cx="3877419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Gauge across 5,184 deploys · 90d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3223" y="2847942"/>
            <a:ext cx="929323" cy="628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0.97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6436" y="3559142"/>
            <a:ext cx="165139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NATIVE_AREA_RATIO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4244" y="1327696"/>
            <a:ext cx="2890391" cy="1235869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144244" y="2053977"/>
            <a:ext cx="90175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$14.2M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2194" y="2101602"/>
            <a:ext cx="207466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860" y="2168277"/>
            <a:ext cx="5040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4244" y="1327696"/>
            <a:ext cx="28903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 · MAY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4244" y="2406402"/>
            <a:ext cx="2890391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34D399"/>
                </a:solidFill>
                <a:latin typeface="Inter"/>
              </a:rPr>
              <a:t>vs Apr · best month on record</a:t>
            </a:r>
          </a:p>
        </p:txBody>
      </p:sp>
      <p:sp>
        <p:nvSpPr>
          <p:cNvPr id="20" name="Freeform 19"/>
          <p:cNvSpPr/>
          <p:nvPr/>
        </p:nvSpPr>
        <p:spPr>
          <a:xfrm>
            <a:off x="8747194" y="1510385"/>
            <a:ext cx="2532221" cy="70123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769" y="86111"/>
                </a:lnTo>
                <a:lnTo>
                  <a:pt x="21538" y="94444"/>
                </a:lnTo>
                <a:lnTo>
                  <a:pt x="32308" y="58333"/>
                </a:lnTo>
                <a:lnTo>
                  <a:pt x="43077" y="69444"/>
                </a:lnTo>
                <a:lnTo>
                  <a:pt x="53846" y="33333"/>
                </a:lnTo>
                <a:lnTo>
                  <a:pt x="64615" y="41667"/>
                </a:lnTo>
                <a:lnTo>
                  <a:pt x="75385" y="19444"/>
                </a:lnTo>
                <a:lnTo>
                  <a:pt x="86154" y="13889"/>
                </a:lnTo>
                <a:lnTo>
                  <a:pt x="100000" y="0"/>
                </a:lnTo>
              </a:path>
            </a:pathLst>
          </a:custGeom>
          <a:noFill/>
          <a:ln w="23812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8747194" y="1510385"/>
            <a:ext cx="2532221" cy="89601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8261"/>
                </a:moveTo>
                <a:lnTo>
                  <a:pt x="10769" y="67391"/>
                </a:lnTo>
                <a:lnTo>
                  <a:pt x="21538" y="73913"/>
                </a:lnTo>
                <a:lnTo>
                  <a:pt x="32308" y="45652"/>
                </a:lnTo>
                <a:lnTo>
                  <a:pt x="43077" y="54348"/>
                </a:lnTo>
                <a:lnTo>
                  <a:pt x="53846" y="26087"/>
                </a:lnTo>
                <a:lnTo>
                  <a:pt x="64615" y="32609"/>
                </a:lnTo>
                <a:lnTo>
                  <a:pt x="75385" y="15217"/>
                </a:lnTo>
                <a:lnTo>
                  <a:pt x="86154" y="10870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4D39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11241316" y="147228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38430" y="3871953"/>
            <a:ext cx="123955" cy="17707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5615508" y="3765706"/>
            <a:ext cx="123955" cy="28332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792587" y="3818830"/>
            <a:ext cx="123955" cy="23020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969665" y="3659459"/>
            <a:ext cx="123955" cy="3895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146744" y="3588628"/>
            <a:ext cx="123955" cy="4604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323822" y="3500088"/>
            <a:ext cx="123955" cy="5489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500900" y="3535504"/>
            <a:ext cx="123955" cy="51352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677979" y="3411549"/>
            <a:ext cx="123955" cy="63748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855057" y="3358426"/>
            <a:ext cx="123955" cy="69060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7032136" y="3305302"/>
            <a:ext cx="123955" cy="74372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7209214" y="3269886"/>
            <a:ext cx="123955" cy="779145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7386292" y="3216763"/>
            <a:ext cx="123955" cy="83226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7563371" y="3181347"/>
            <a:ext cx="123955" cy="86768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33425" y="4790033"/>
            <a:ext cx="7301210" cy="1109662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733425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17650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1876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6101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70178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4403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8629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425" y="4790033"/>
            <a:ext cx="73012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HEATMAP · ATOM HIT-RATE BY AXIS · 12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3425" y="5742533"/>
            <a:ext cx="7301210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comp · bg · type · surf · — coverage 76% → 96%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4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1395" y="6591300"/>
            <a:ext cx="1447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FAFAF7"/>
              </a:gs>
              <a:gs pos="16667">
                <a:srgbClr val="F9F8F4"/>
              </a:gs>
              <a:gs pos="33333">
                <a:srgbClr val="F8F7F1"/>
              </a:gs>
              <a:gs pos="50000">
                <a:srgbClr val="F7F5EE"/>
              </a:gs>
              <a:gs pos="66667">
                <a:srgbClr val="F6F4EC"/>
              </a:gs>
              <a:gs pos="83333">
                <a:srgbClr val="F6F2E9"/>
              </a:gs>
              <a:gs pos="100000">
                <a:srgbClr val="F5F0E6"/>
              </a:gs>
            </a:gsLst>
            <a:lin ang="5400000" scaled="0"/>
          </a:gradFill>
          <a:xfrm>
            <a:off x="185234" y="457200"/>
            <a:ext cx="11731927" cy="62293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876550" y="4129088"/>
            <a:ext cx="21667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318 teams</a:t>
            </a:r>
            <a:r>
              <a:rPr sz="900" b="1" i="0" u="none">
                <a:solidFill>
                  <a:srgbClr val="52525B"/>
                </a:solidFill>
                <a:latin typeface="Inter"/>
              </a:rPr>
              <a:t xml:space="preserve"> · 1,184 decks / week · NPS 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234" y="1203638"/>
            <a:ext cx="467731" cy="5264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6239" y="5138263"/>
            <a:ext cx="440922" cy="505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57200"/>
            <a:ext cx="607442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VOICES · LOVED BY DESIGNERS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28650"/>
            <a:ext cx="6074420" cy="3000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"It's the first deck tool that </a:t>
            </a:r>
            <a:r>
              <a:rPr sz="2250" b="1" i="1" u="none">
                <a:solidFill>
                  <a:srgbClr val="7C3AED"/>
                </a:solidFill>
                <a:latin typeface="Playfair Display"/>
              </a:rPr>
              <a:t>respects</a:t>
            </a:r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 typography."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206" y="814388"/>
            <a:ext cx="19311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5756" y="1609947"/>
            <a:ext cx="360442" cy="4667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124" y="2503741"/>
            <a:ext cx="3177822" cy="688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"We replaced screenshots with slidify and our investor decks now ship in PowerPoint as if a designer touched every gradient. Nothing about the deck rasterizes."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602" y="3236880"/>
            <a:ext cx="3168248" cy="3453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Mira Okafor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Head of Brand · Vector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4861" y="1613225"/>
            <a:ext cx="198502" cy="459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4897" y="2525849"/>
            <a:ext cx="3170370" cy="644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"The atom catalog is the missing UI grammar. Once you start composing in atoms, you stop fighting PowerPoint forever — every slide stays editable."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9444" y="3259203"/>
            <a:ext cx="3165583" cy="301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Jordan Liu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 Engineer · Modular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5907" y="1613682"/>
            <a:ext cx="239674" cy="458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553" y="2536896"/>
            <a:ext cx="3166412" cy="622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"95% native_area_ratio across 1,184 decks a week. The pipeline is the only thing standing between our team and another animated GIF career."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4673" y="3270303"/>
            <a:ext cx="3164018" cy="279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Thiago Sousa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DesignOps · Atelier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JL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83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2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DE68A"/>
                </a:solidFill>
                <a:latin typeface="Inter"/>
              </a:rPr>
              <a:t>+318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9474" y="4143375"/>
            <a:ext cx="174292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★ ★ ★ ★ ★  ·  G2 · 4.9 /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3866" y="6572250"/>
            <a:ext cx="16085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A1740"/>
              </a:gs>
              <a:gs pos="20000">
                <a:srgbClr val="161434"/>
              </a:gs>
              <a:gs pos="30000">
                <a:srgbClr val="11102A"/>
              </a:gs>
              <a:gs pos="40000">
                <a:srgbClr val="0D0D1F"/>
              </a:gs>
              <a:gs pos="50000">
                <a:srgbClr val="090915"/>
              </a:gs>
              <a:gs pos="60000">
                <a:srgbClr val="06060C"/>
              </a:gs>
              <a:gs pos="66667">
                <a:srgbClr val="05050B"/>
              </a:gs>
              <a:gs pos="73333">
                <a:srgbClr val="04040B"/>
              </a:gs>
              <a:gs pos="80000">
                <a:srgbClr val="04040A"/>
              </a:gs>
              <a:gs pos="86667">
                <a:srgbClr val="030309"/>
              </a:gs>
              <a:gs pos="93333">
                <a:srgbClr val="020209"/>
              </a:gs>
              <a:gs pos="100000">
                <a:srgbClr val="020208"/>
              </a:gs>
            </a:gsLst>
            <a:path path="circle">
              <a:fillToRect l="70000" t="50000" r="30000" b="50000"/>
            </a:path>
          </a:gradFill>
          <a:xfrm>
            <a:off x="114300" y="609600"/>
            <a:ext cx="11163300" cy="5905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4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60A5FA"/>
                </a:solidFill>
                <a:latin typeface="Inter"/>
              </a:rPr>
              <a:t>RUSH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9600"/>
            <a:ext cx="16412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MOTION · IMPLIED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1886" y="609600"/>
            <a:ext cx="118571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RUSH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57775"/>
            <a:ext cx="5334000" cy="771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Same word, six native text frames, decreasing opacity, increasing offset. 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Editable in PowerPoint as six independent runs.</a:t>
            </a:r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 No `filter: blur` — no raster.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5339" y="6400800"/>
            <a:ext cx="16622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 · 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FULL-BLEED · MARQUEE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239000" cy="5598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06060C"/>
                </a:solidFill>
                <a:latin typeface="Inter"/>
              </a:rPr>
              <a:t>Edge-to-edge type bands. Each band is one editable native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63311" y="1074241"/>
            <a:ext cx="1519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645741"/>
            <a:ext cx="8985349" cy="9429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28600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6563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7930" y="1645741"/>
            <a:ext cx="3506688" cy="942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B923C"/>
                </a:solidFill>
                <a:latin typeface="Bebas Neue"/>
              </a:rPr>
              <a:t>ITERATE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419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0786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3693616"/>
            <a:ext cx="10190857" cy="847725"/>
          </a:xfrm>
          <a:prstGeom prst="rect">
            <a:avLst/>
          </a:prstGeom>
          <a:solidFill>
            <a:srgbClr val="7C3AED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28600" y="3741241"/>
            <a:ext cx="3240584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RENDER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3984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4904" y="3693616"/>
            <a:ext cx="3583335" cy="847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DE68A"/>
                </a:solidFill>
                <a:latin typeface="Bebas Neue"/>
              </a:rPr>
              <a:t>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3039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3960" y="3741241"/>
            <a:ext cx="1835497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EMIT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693741"/>
            <a:ext cx="7218908" cy="847725"/>
          </a:xfrm>
          <a:prstGeom prst="rect">
            <a:avLst/>
          </a:prstGeom>
          <a:solidFill>
            <a:srgbClr val="FDE68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28600" y="4741366"/>
            <a:ext cx="2906167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9567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0488" y="4693741"/>
            <a:ext cx="1070818" cy="847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DC2626"/>
                </a:solidFill>
                <a:latin typeface="Bebas Neue"/>
              </a:rPr>
              <a:t>0.4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106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7027" y="4741366"/>
            <a:ext cx="1710482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55791"/>
            <a:ext cx="1218181" cy="2381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⏵ MOTION · IMPLIED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6103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92457" y="6610350"/>
            <a:ext cx="1689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 WALL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A0A14"/>
              </a:gs>
              <a:gs pos="8333">
                <a:srgbClr val="090913"/>
              </a:gs>
              <a:gs pos="16667">
                <a:srgbClr val="090911"/>
              </a:gs>
              <a:gs pos="25000">
                <a:srgbClr val="080810"/>
              </a:gs>
              <a:gs pos="33333">
                <a:srgbClr val="07070F"/>
              </a:gs>
              <a:gs pos="41667">
                <a:srgbClr val="07070D"/>
              </a:gs>
              <a:gs pos="50000">
                <a:srgbClr val="06060C"/>
              </a:gs>
              <a:gs pos="58333">
                <a:srgbClr val="05050B"/>
              </a:gs>
              <a:gs pos="66667">
                <a:srgbClr val="04040B"/>
              </a:gs>
              <a:gs pos="75000">
                <a:srgbClr val="04040A"/>
              </a:gs>
              <a:gs pos="83333">
                <a:srgbClr val="030309"/>
              </a:gs>
              <a:gs pos="91667">
                <a:srgbClr val="020209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0517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CREDITS · TEAM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051774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The atomic seed was authored by a small Brooklyn 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2639" y="794296"/>
            <a:ext cx="1179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2035" y="1365796"/>
            <a:ext cx="1332756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56655" y="2089696"/>
            <a:ext cx="122351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035" y="2302073"/>
            <a:ext cx="133275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FOUNDER · 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4488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VR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0464" y="1365796"/>
            <a:ext cx="111784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09007" y="2089696"/>
            <a:ext cx="620613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Jordan Liu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0464" y="2302073"/>
            <a:ext cx="1117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5464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JL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0714" y="1365796"/>
            <a:ext cx="819299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846141" y="2089696"/>
            <a:ext cx="64829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Mira Kovač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0714" y="2302073"/>
            <a:ext cx="81929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TYPOGRAPHY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439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MK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2852" y="1365796"/>
            <a:ext cx="796975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622852" y="2089696"/>
            <a:ext cx="79697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Thiago Sousa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9584" y="2302073"/>
            <a:ext cx="7035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7563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0170" y="1365796"/>
            <a:ext cx="74443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500170" y="2089696"/>
            <a:ext cx="74443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Priya Ananth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4223" y="2302073"/>
            <a:ext cx="6564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RENDERER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8539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2985" y="1365796"/>
            <a:ext cx="130075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281940" y="2089696"/>
            <a:ext cx="88284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17 contributors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2985" y="2302073"/>
            <a:ext cx="130075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SHIPPING SINCE 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99514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+12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2778323"/>
            <a:ext cx="10972800" cy="7334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2959298"/>
            <a:ext cx="105346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BACKED BY · TRUSTED BY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75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6938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Modular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5200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atelier/04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3462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PIXELPITCH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725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Drafting 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988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render.sh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8250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NORTHFIELD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6512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Studio 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873" y="6591300"/>
            <a:ext cx="974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2000"/>
                </a:srgbClr>
              </a:gs>
              <a:gs pos="12000">
                <a:srgbClr val="F472B6">
                  <a:alpha val="26667"/>
                </a:srgbClr>
              </a:gs>
              <a:gs pos="24000">
                <a:srgbClr val="F472B6">
                  <a:alpha val="21333"/>
                </a:srgbClr>
              </a:gs>
              <a:gs pos="36000">
                <a:srgbClr val="F472B6">
                  <a:alpha val="16000"/>
                </a:srgbClr>
              </a:gs>
              <a:gs pos="48000">
                <a:srgbClr val="F472B6">
                  <a:alpha val="10667"/>
                </a:srgbClr>
              </a:gs>
              <a:gs pos="60000">
                <a:srgbClr val="F472B6">
                  <a:alpha val="5333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FINAL · CHAPTER FOUR · GO BUILD</a:t>
            </a:r>
          </a:p>
        </p:txBody>
      </p:sp>
      <p:sp>
        <p:nvSpPr>
          <p:cNvPr id="6" name="Oval 5"/>
          <p:cNvSpPr/>
          <p:nvPr/>
        </p:nvSpPr>
        <p:spPr>
          <a:xfrm>
            <a:off x="10401300" y="533400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15600" y="647700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696337" y="937260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5382" y="108966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02345"/>
            <a:ext cx="114300" cy="252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RECIPE 16 OF 16 · CLOSING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537543"/>
            <a:ext cx="10363200" cy="3782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141786" y="1423243"/>
            <a:ext cx="7908429" cy="24010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Go build a deck</a:t>
            </a:r>
          </a:p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that stays alive.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780" y="3977432"/>
            <a:ext cx="7424291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 i="0" u="none">
                <a:solidFill>
                  <a:srgbClr val="F5F5F7"/>
                </a:solidFill>
                <a:latin typeface="Inter"/>
              </a:rPr>
              <a:t>slidify@0.4 ships today.</a:t>
            </a:r>
            <a:r>
              <a:rPr sz="1500" b="0" i="0" u="none">
                <a:solidFill>
                  <a:srgbClr val="FFFFFF"/>
                </a:solidFill>
                <a:latin typeface="Inter"/>
              </a:rPr>
              <a:t xml:space="preserve"> Sixteen recipes, seventy atoms, eight typographic registers — every pixel native, every word editable.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4200000" scaled="0"/>
          </a:gradFill>
          <a:xfrm>
            <a:off x="4104829" y="4796582"/>
            <a:ext cx="1936552" cy="52387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66700" dist="114300" dir="5400000" algn="ctr" rotWithShape="0">
              <a:srgbClr val="F472B6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104829" y="4796582"/>
            <a:ext cx="1936552" cy="26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104829" y="4796582"/>
            <a:ext cx="1936552" cy="523875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193780" y="4810869"/>
            <a:ext cx="1893391" cy="4953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9055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$ uv add slidify · $ slidify deck.html out.pptx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898" y="6400800"/>
            <a:ext cx="15237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16 / 16 · CLOSING CTA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06060C"/>
      </a:accent2>
      <a:accent3>
        <a:srgbClr val="F472B6"/>
      </a:accent3>
      <a:accent4>
        <a:srgbClr val="67E8F9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