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vnd.openxmlformats-officedocument.obfuscatedFont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2000" cy="6858000" type="screen4x3"/>
  <p:notesSz cx="6858000" cy="9144000"/>
  <p:embeddedFontLst>
    <p:embeddedFont>
      <p:font typeface="Playfair Display" panose="02040603050405020304" charset="0"/>
      <p:regular r:id="rIdSlidifyFont1"/>
      <p:bold r:id="rIdSlidifyFont2"/>
      <p:italic r:id="rIdSlidifyFont3"/>
      <p:boldItalic r:id="rIdSlidifyFont4"/>
    </p:embeddedFont>
    <p:embeddedFont>
      <p:font typeface="Bebas Neue" panose="020B0604020202020204" charset="0"/>
      <p:regular r:id="rIdSlidifyFont5"/>
    </p:embeddedFont>
    <p:embeddedFont>
      <p:font typeface="Source Serif Pro" panose="02040603050405020304" charset="0"/>
      <p:regular r:id="rIdSlidifyFont6"/>
      <p:bold r:id="rIdSlidifyFont7"/>
      <p:italic r:id="rIdSlidifyFont8"/>
    </p:embeddedFont>
    <p:embeddedFont>
      <p:font typeface="JetBrains Mono" panose="020B0609040504020204" charset="0"/>
      <p:regular r:id="rIdSlidifyFont9"/>
      <p:bold r:id="rIdSlidifyFont10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SlidifyFont1" Type="http://schemas.openxmlformats.org/officeDocument/2006/relationships/font" Target="fonts/font1.fntdata"/><Relationship Id="rIdSlidifyFont2" Type="http://schemas.openxmlformats.org/officeDocument/2006/relationships/font" Target="fonts/font2.fntdata"/><Relationship Id="rIdSlidifyFont3" Type="http://schemas.openxmlformats.org/officeDocument/2006/relationships/font" Target="fonts/font3.fntdata"/><Relationship Id="rIdSlidifyFont4" Type="http://schemas.openxmlformats.org/officeDocument/2006/relationships/font" Target="fonts/font4.fntdata"/><Relationship Id="rIdSlidifyFont5" Type="http://schemas.openxmlformats.org/officeDocument/2006/relationships/font" Target="fonts/font5.fntdata"/><Relationship Id="rIdSlidifyFont6" Type="http://schemas.openxmlformats.org/officeDocument/2006/relationships/font" Target="fonts/font6.fntdata"/><Relationship Id="rIdSlidifyFont7" Type="http://schemas.openxmlformats.org/officeDocument/2006/relationships/font" Target="fonts/font7.fntdata"/><Relationship Id="rIdSlidifyFont8" Type="http://schemas.openxmlformats.org/officeDocument/2006/relationships/font" Target="fonts/font8.fntdata"/><Relationship Id="rIdSlidifyFont9" Type="http://schemas.openxmlformats.org/officeDocument/2006/relationships/font" Target="fonts/font9.fntdata"/><Relationship Id="rIdSlidifyFont10" Type="http://schemas.openxmlformats.org/officeDocument/2006/relationships/font" Target="fonts/font10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gradFill flip="none" rotWithShape="1">
            <a:gsLst>
              <a:gs pos="0">
                <a:srgbClr val="1E1B4B"/>
              </a:gs>
              <a:gs pos="9167">
                <a:srgbClr val="1B1841"/>
              </a:gs>
              <a:gs pos="18333">
                <a:srgbClr val="171538"/>
              </a:gs>
              <a:gs pos="27500">
                <a:srgbClr val="14132E"/>
              </a:gs>
              <a:gs pos="36667">
                <a:srgbClr val="101025"/>
              </a:gs>
              <a:gs pos="45833">
                <a:srgbClr val="0D0D1C"/>
              </a:gs>
              <a:gs pos="55000">
                <a:srgbClr val="0A0A14"/>
              </a:gs>
              <a:gs pos="62500">
                <a:srgbClr val="080812"/>
              </a:gs>
              <a:gs pos="70000">
                <a:srgbClr val="060610"/>
              </a:gs>
              <a:gs pos="77500">
                <a:srgbClr val="05050E"/>
              </a:gs>
              <a:gs pos="85000">
                <a:srgbClr val="04040C"/>
              </a:gs>
              <a:gs pos="92500">
                <a:srgbClr val="03030A"/>
              </a:gs>
              <a:gs pos="100000">
                <a:srgbClr val="020208"/>
              </a:gs>
            </a:gsLst>
            <a:path path="circle">
              <a:fillToRect l="50000" t="40000" r="50000" b="60000"/>
            </a:path>
          </a:gradFill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/>
          <p:cNvSpPr/>
          <p:nvPr/>
        </p:nvSpPr>
        <p:spPr>
          <a:gradFill flip="none" rotWithShape="1">
            <a:gsLst>
              <a:gs pos="0">
                <a:srgbClr val="A78BFA">
                  <a:alpha val="34000"/>
                </a:srgbClr>
              </a:gs>
              <a:gs pos="11667">
                <a:srgbClr val="A78BFA">
                  <a:alpha val="28333"/>
                </a:srgbClr>
              </a:gs>
              <a:gs pos="23333">
                <a:srgbClr val="A78BFA">
                  <a:alpha val="22667"/>
                </a:srgbClr>
              </a:gs>
              <a:gs pos="35000">
                <a:srgbClr val="A78BFA">
                  <a:alpha val="17000"/>
                </a:srgbClr>
              </a:gs>
              <a:gs pos="46667">
                <a:srgbClr val="A78BFA">
                  <a:alpha val="11333"/>
                </a:srgbClr>
              </a:gs>
              <a:gs pos="58333">
                <a:srgbClr val="A78BFA">
                  <a:alpha val="5667"/>
                </a:srgbClr>
              </a:gs>
              <a:gs pos="70000">
                <a:srgbClr val="A78BFA">
                  <a:alpha val="0"/>
                </a:srgbClr>
              </a:gs>
              <a:gs pos="100000">
                <a:srgbClr val="A78BFA">
                  <a:alpha val="0"/>
                </a:srgbClr>
              </a:gs>
            </a:gsLst>
            <a:path path="circle">
              <a:fillToRect l="50000" t="50000" r="50000" b="50000"/>
            </a:path>
          </a:gradFill>
          <a:xfrm>
            <a:off x="-1143000" y="-1714500"/>
            <a:ext cx="6858000" cy="685800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/>
          <p:cNvSpPr/>
          <p:nvPr/>
        </p:nvSpPr>
        <p:spPr>
          <a:gradFill flip="none" rotWithShape="1">
            <a:gsLst>
              <a:gs pos="0">
                <a:srgbClr val="F472B6">
                  <a:alpha val="30000"/>
                </a:srgbClr>
              </a:gs>
              <a:gs pos="12000">
                <a:srgbClr val="F472B6">
                  <a:alpha val="25000"/>
                </a:srgbClr>
              </a:gs>
              <a:gs pos="24000">
                <a:srgbClr val="F472B6">
                  <a:alpha val="20000"/>
                </a:srgbClr>
              </a:gs>
              <a:gs pos="36000">
                <a:srgbClr val="F472B6">
                  <a:alpha val="15000"/>
                </a:srgbClr>
              </a:gs>
              <a:gs pos="48000">
                <a:srgbClr val="F472B6">
                  <a:alpha val="10000"/>
                </a:srgbClr>
              </a:gs>
              <a:gs pos="60000">
                <a:srgbClr val="F472B6">
                  <a:alpha val="5000"/>
                </a:srgbClr>
              </a:gs>
              <a:gs pos="72000">
                <a:srgbClr val="F472B6">
                  <a:alpha val="0"/>
                </a:srgbClr>
              </a:gs>
              <a:gs pos="100000">
                <a:srgbClr val="F472B6">
                  <a:alpha val="0"/>
                </a:srgbClr>
              </a:gs>
            </a:gsLst>
            <a:path path="circle">
              <a:fillToRect l="50000" t="50000" r="50000" b="50000"/>
            </a:path>
          </a:gradFill>
          <a:xfrm>
            <a:off x="5334000" y="571500"/>
            <a:ext cx="8382000" cy="838200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1133475" y="1704975"/>
            <a:ext cx="19050" cy="19050"/>
          </a:xfrm>
          <a:prstGeom prst="ellipse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2272665" y="1129665"/>
            <a:ext cx="26670" cy="26670"/>
          </a:xfrm>
          <a:prstGeom prst="ellipse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3609975" y="2085975"/>
            <a:ext cx="19050" cy="19050"/>
          </a:xfrm>
          <a:prstGeom prst="ellipse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5128260" y="1318260"/>
            <a:ext cx="30480" cy="30480"/>
          </a:xfrm>
          <a:prstGeom prst="ellipse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6848475" y="1704975"/>
            <a:ext cx="19050" cy="19050"/>
          </a:xfrm>
          <a:prstGeom prst="ellipse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8561070" y="1131570"/>
            <a:ext cx="22860" cy="22860"/>
          </a:xfrm>
          <a:prstGeom prst="ellipse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10273665" y="1891665"/>
            <a:ext cx="26670" cy="26670"/>
          </a:xfrm>
          <a:prstGeom prst="ellipse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11229975" y="1323975"/>
            <a:ext cx="19050" cy="19050"/>
          </a:xfrm>
          <a:prstGeom prst="ellipse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1514475" y="5133975"/>
            <a:ext cx="19050" cy="19050"/>
          </a:xfrm>
          <a:prstGeom prst="ellipse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3035618" y="5702618"/>
            <a:ext cx="24765" cy="24765"/>
          </a:xfrm>
          <a:prstGeom prst="ellipse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4562475" y="5324475"/>
            <a:ext cx="19050" cy="19050"/>
          </a:xfrm>
          <a:prstGeom prst="ellipse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/>
          <p:cNvSpPr/>
          <p:nvPr/>
        </p:nvSpPr>
        <p:spPr>
          <a:xfrm>
            <a:off x="6080760" y="5890260"/>
            <a:ext cx="30480" cy="30480"/>
          </a:xfrm>
          <a:prstGeom prst="ellipse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/>
          <p:cNvSpPr/>
          <p:nvPr/>
        </p:nvSpPr>
        <p:spPr>
          <a:xfrm>
            <a:off x="7800975" y="5514975"/>
            <a:ext cx="19050" cy="19050"/>
          </a:xfrm>
          <a:prstGeom prst="ellipse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/>
          <p:cNvSpPr/>
          <p:nvPr/>
        </p:nvSpPr>
        <p:spPr>
          <a:xfrm>
            <a:off x="9513570" y="5703570"/>
            <a:ext cx="22860" cy="22860"/>
          </a:xfrm>
          <a:prstGeom prst="ellipse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/>
          <p:cNvSpPr/>
          <p:nvPr/>
        </p:nvSpPr>
        <p:spPr>
          <a:xfrm>
            <a:off x="10848975" y="5133975"/>
            <a:ext cx="19050" cy="19050"/>
          </a:xfrm>
          <a:prstGeom prst="ellipse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ounded Rectangle 19"/>
          <p:cNvSpPr/>
          <p:nvPr/>
        </p:nvSpPr>
        <p:spPr>
          <a:xfrm>
            <a:off x="457200" y="457200"/>
            <a:ext cx="11277600" cy="5943600"/>
          </a:xfrm>
          <a:prstGeom prst="roundRect">
            <a:avLst/>
          </a:prstGeom>
          <a:noFill/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/>
          <p:cNvSpPr txBox="1"/>
          <p:nvPr/>
        </p:nvSpPr>
        <p:spPr>
          <a:xfrm>
            <a:off x="0" y="800100"/>
            <a:ext cx="12192000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25" b="1" i="0" u="none">
                <a:solidFill>
                  <a:srgbClr val="A78BFA"/>
                </a:solidFill>
                <a:latin typeface="Inter"/>
              </a:rPr>
              <a:t>ISSUE 04 · 2026 · A FILM ABOUT SHIPPING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0" y="2095500"/>
            <a:ext cx="12192000" cy="266700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ctr"/>
            <a:r>
              <a:rPr sz="21000" b="1" i="0" u="none">
                <a:gradFill rotWithShape="1">
                  <a:gsLst>
                    <a:gs pos="0">
                      <a:srgbClr val="60A5FA"/>
                    </a:gs>
                    <a:gs pos="30000">
                      <a:srgbClr val="A78BFA"/>
                    </a:gs>
                    <a:gs pos="65000">
                      <a:srgbClr val="F472B6"/>
                    </a:gs>
                    <a:gs pos="100000">
                      <a:srgbClr val="FB923C"/>
                    </a:gs>
                  </a:gsLst>
                  <a:lin ang="2700000" scaled="0"/>
                </a:gradFill>
                <a:latin typeface="Inter"/>
              </a:rPr>
              <a:t>FUTURE.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34750" y="3429000"/>
            <a:ext cx="114300" cy="32880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A78BFA"/>
                </a:solidFill>
                <a:latin typeface="Inter"/>
              </a:rPr>
              <a:t>SLIDIFY · ATOMIC SEED · RECIPE 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0" y="5943600"/>
            <a:ext cx="12192000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25" b="1" i="0" u="none">
                <a:solidFill>
                  <a:srgbClr val="71717A"/>
                </a:solidFill>
                <a:latin typeface="Inter"/>
              </a:rPr>
              <a:t>EDITORIAL · CHAPTER ONE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gradFill flip="none" rotWithShape="1">
            <a:gsLst>
              <a:gs pos="0">
                <a:srgbClr val="020617"/>
              </a:gs>
              <a:gs pos="28000">
                <a:srgbClr val="1E1B4B"/>
              </a:gs>
              <a:gs pos="52000">
                <a:srgbClr val="7C3AED"/>
              </a:gs>
              <a:gs pos="75000">
                <a:srgbClr val="DB2777"/>
              </a:gs>
              <a:gs pos="100000">
                <a:srgbClr val="020208"/>
              </a:gs>
            </a:gsLst>
            <a:lin ang="5400000" scaled="0"/>
          </a:gradFill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6168182" cy="550545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51000" b="1" i="0" u="none">
                <a:latin typeface="Inter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09675" y="838200"/>
            <a:ext cx="1035100" cy="133350"/>
          </a:xfrm>
          <a:prstGeom prst="rect">
            <a:avLst/>
          </a:prstGeom>
          <a:solidFill>
            <a:srgbClr val="FFFFFF">
              <a:alpha val="8000"/>
            </a:srgbClr>
          </a:solidFill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 i="0" u="none">
                <a:solidFill>
                  <a:srgbClr val="F5F5F7"/>
                </a:solidFill>
                <a:latin typeface="Inter"/>
              </a:rPr>
              <a:t>chapter two of four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276350"/>
            <a:ext cx="10363200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FDE68A"/>
                </a:solidFill>
                <a:latin typeface="Inter"/>
              </a:rPr>
              <a:t>CHAPTER · 02 /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552575"/>
            <a:ext cx="6876901" cy="21336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5400" b="1" i="0" u="none">
                <a:solidFill>
                  <a:srgbClr val="F5F5F7"/>
                </a:solidFill>
                <a:latin typeface="Inter"/>
              </a:rPr>
              <a:t xml:space="preserve">A new render path that </a:t>
            </a:r>
            <a:r>
              <a:rPr sz="5400" b="1" i="0" u="none">
                <a:gradFill rotWithShape="1">
                  <a:gsLst>
                    <a:gs pos="0">
                      <a:srgbClr val="FDE68A"/>
                    </a:gs>
                    <a:gs pos="100000">
                      <a:srgbClr val="F472B6"/>
                    </a:gs>
                  </a:gsLst>
                  <a:lin ang="2700000" scaled="0"/>
                </a:gradFill>
                <a:latin typeface="Inter"/>
              </a:rPr>
              <a:t>stays alive</a:t>
            </a:r>
            <a:r>
              <a:rPr sz="5400" b="1" i="0" u="none">
                <a:solidFill>
                  <a:srgbClr val="F5F5F7"/>
                </a:solidFill>
                <a:latin typeface="Inter"/>
              </a:rPr>
              <a:t xml:space="preserve"> after the meeting.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819525"/>
            <a:ext cx="6286500" cy="85725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500" b="0" i="0" u="none">
                <a:solidFill>
                  <a:srgbClr val="FFFFFF"/>
                </a:solidFill>
                <a:latin typeface="Inter"/>
              </a:rPr>
              <a:t>Render in headless Chromium. Cluster into atomic visual units. Translate gradients, shadows, and shapes into native PPTX. Edit the result in PowerPoint as if a designer authored it by hand.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115050"/>
            <a:ext cx="1748879" cy="133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 i="0" u="none">
                <a:solidFill>
                  <a:srgbClr val="FFFFFF"/>
                </a:solidFill>
                <a:latin typeface="Inter"/>
              </a:rPr>
              <a:t>SLIDIFY · ATOMIC SEED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64253" y="6115050"/>
            <a:ext cx="2013347" cy="133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 i="0" u="none">
                <a:solidFill>
                  <a:srgbClr val="FFFFFF"/>
                </a:solidFill>
                <a:latin typeface="Inter"/>
              </a:rPr>
              <a:t>02 / 16 · CHAPTER DIVIDER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gradFill flip="none" rotWithShape="1">
            <a:gsLst>
              <a:gs pos="0">
                <a:srgbClr val="000000">
                  <a:alpha val="55000"/>
                </a:srgbClr>
              </a:gs>
              <a:gs pos="8333">
                <a:srgbClr val="000000">
                  <a:alpha val="45833"/>
                </a:srgbClr>
              </a:gs>
              <a:gs pos="16667">
                <a:srgbClr val="000000">
                  <a:alpha val="36667"/>
                </a:srgbClr>
              </a:gs>
              <a:gs pos="25000">
                <a:srgbClr val="000000">
                  <a:alpha val="27500"/>
                </a:srgbClr>
              </a:gs>
              <a:gs pos="33333">
                <a:srgbClr val="000000">
                  <a:alpha val="18333"/>
                </a:srgbClr>
              </a:gs>
              <a:gs pos="41667">
                <a:srgbClr val="000000">
                  <a:alpha val="9167"/>
                </a:srgbClr>
              </a:gs>
              <a:gs pos="50000">
                <a:srgbClr val="000000">
                  <a:alpha val="0"/>
                </a:srgbClr>
              </a:gs>
              <a:gs pos="58333">
                <a:srgbClr val="000000">
                  <a:alpha val="9167"/>
                </a:srgbClr>
              </a:gs>
              <a:gs pos="66667">
                <a:srgbClr val="000000">
                  <a:alpha val="18333"/>
                </a:srgbClr>
              </a:gs>
              <a:gs pos="75000">
                <a:srgbClr val="000000">
                  <a:alpha val="27500"/>
                </a:srgbClr>
              </a:gs>
              <a:gs pos="83333">
                <a:srgbClr val="000000">
                  <a:alpha val="36667"/>
                </a:srgbClr>
              </a:gs>
              <a:gs pos="91667">
                <a:srgbClr val="000000">
                  <a:alpha val="45833"/>
                </a:srgbClr>
              </a:gs>
              <a:gs pos="100000">
                <a:srgbClr val="000000">
                  <a:alpha val="55000"/>
                </a:srgbClr>
              </a:gs>
            </a:gsLst>
            <a:lin ang="5400000" scaled="0"/>
          </a:gradFill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gradFill flip="none" rotWithShape="1">
            <a:gsLst>
              <a:gs pos="0">
                <a:srgbClr val="FFFFFF">
                  <a:alpha val="8000"/>
                </a:srgbClr>
              </a:gs>
              <a:gs pos="100000">
                <a:srgbClr val="FFFFFF">
                  <a:alpha val="8000"/>
                </a:srgbClr>
              </a:gs>
            </a:gsLst>
            <a:path path="circle">
              <a:fillToRect l="25000" t="25000" r="75000" b="75000"/>
            </a:path>
          </a:gradFill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143000" y="914400"/>
            <a:ext cx="9906000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FDE68A"/>
                </a:solidFill>
                <a:latin typeface="Inter"/>
              </a:rPr>
              <a:t>MANIFESTO · A LUXURY POSITION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257300"/>
            <a:ext cx="9231362" cy="1923157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4650" b="0" i="1" u="none">
                <a:solidFill>
                  <a:srgbClr val="FEF3C7"/>
                </a:solidFill>
                <a:latin typeface="Playfair Display"/>
              </a:rPr>
              <a:t xml:space="preserve">Rasterization is the </a:t>
            </a:r>
            <a:r>
              <a:rPr sz="4650" b="1" i="1" u="none">
                <a:gradFill rotWithShape="1">
                  <a:gsLst>
                    <a:gs pos="0">
                      <a:srgbClr val="FDE68A"/>
                    </a:gs>
                    <a:gs pos="100000">
                      <a:srgbClr val="F472B6"/>
                    </a:gs>
                  </a:gsLst>
                  <a:lin ang="2700000" scaled="0"/>
                </a:gradFill>
                <a:latin typeface="Playfair Display"/>
              </a:rPr>
              <a:t>failure mode,</a:t>
            </a:r>
            <a:r>
              <a:rPr sz="4650" b="0" i="1" u="none">
                <a:solidFill>
                  <a:srgbClr val="FEF3C7"/>
                </a:solidFill>
                <a:latin typeface="Playfair Display"/>
              </a:rPr>
              <a:t xml:space="preserve"> not the goal — every pixel that stays editable compounds across every translation.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3637211"/>
            <a:ext cx="381000" cy="45720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3600" b="1" i="0" u="none">
                <a:solidFill>
                  <a:srgbClr val="FDE68A"/>
                </a:solidFill>
                <a:latin typeface="Inter"/>
              </a:rPr>
              <a:t>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5450" y="3699123"/>
            <a:ext cx="2419201" cy="3333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 u="none">
                <a:solidFill>
                  <a:srgbClr val="FFFFFF"/>
                </a:solidFill>
                <a:latin typeface="Inter"/>
              </a:rPr>
              <a:t>Vamsi Ramakrishnan</a:t>
            </a:r>
            <a:r>
              <a:rPr sz="975" b="0" i="0" u="none">
                <a:solidFill>
                  <a:srgbClr val="FFFFFF"/>
                </a:solidFill>
                <a:latin typeface="Inter"/>
              </a:rPr>
              <a:t>Founder · Pixelpitch Labs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6267450"/>
            <a:ext cx="1748879" cy="133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 i="0" u="none">
                <a:solidFill>
                  <a:srgbClr val="FFFFFF"/>
                </a:solidFill>
                <a:latin typeface="Inter"/>
              </a:rPr>
              <a:t>SLIDIFY · ATOMIC SEED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35864" y="6267450"/>
            <a:ext cx="1513136" cy="133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 i="0" u="none">
                <a:solidFill>
                  <a:srgbClr val="FFFFFF"/>
                </a:solidFill>
                <a:latin typeface="Inter"/>
              </a:rPr>
              <a:t>03 / 16 · MANIFESTO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685800" y="533400"/>
            <a:ext cx="670024" cy="24765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1800" b="1" i="1" u="none">
                <a:solidFill>
                  <a:srgbClr val="06060C"/>
                </a:solidFill>
                <a:latin typeface="Playfair Display"/>
              </a:rPr>
              <a:t xml:space="preserve">atelier </a:t>
            </a:r>
            <a:r>
              <a:rPr sz="1800" b="1" i="0" u="none">
                <a:solidFill>
                  <a:srgbClr val="7C3AED"/>
                </a:solidFill>
                <a:latin typeface="Playfair Display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69831" y="604838"/>
            <a:ext cx="1607790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7C3AED"/>
                </a:solidFill>
                <a:latin typeface="Inter"/>
              </a:rPr>
              <a:t>ISSUE 04 · MMXXVI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9676"/>
            <a:ext cx="7191821" cy="405259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1100" b="0" i="0" u="none">
                <a:solidFill>
                  <a:srgbClr val="06060C"/>
                </a:solidFill>
                <a:latin typeface="Bebas Neue"/>
              </a:rPr>
              <a:t>A FILM</a:t>
            </a:r>
          </a:p>
          <a:p>
            <a:pPr algn="l"/>
            <a:r>
              <a:rPr sz="11100" b="0" i="0" u="none">
                <a:solidFill>
                  <a:srgbClr val="06060C"/>
                </a:solidFill>
                <a:latin typeface="Bebas Neue"/>
              </a:rPr>
              <a:t>ABOUT</a:t>
            </a:r>
          </a:p>
          <a:p>
            <a:pPr algn="l"/>
            <a:r>
              <a:rPr sz="11100" b="0" i="0" u="none">
                <a:solidFill>
                  <a:srgbClr val="DC2626"/>
                </a:solidFill>
                <a:latin typeface="Bebas Neue"/>
              </a:rPr>
              <a:t>SHIPPING.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765923"/>
            <a:ext cx="4953000" cy="4286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25" b="0" i="0" u="none">
                <a:solidFill>
                  <a:srgbClr val="3F3F46"/>
                </a:solidFill>
                <a:latin typeface="Source Serif Pro"/>
              </a:rPr>
              <a:t>How a small team in Brooklyn built a compiler that turns browsers into editable PowerPoint — and why every screenshot tool was the wrong abstraction.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5457825"/>
            <a:ext cx="4953000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7C3AED"/>
                </a:solidFill>
                <a:latin typeface="Inter"/>
              </a:rPr>
              <a:t>In this issue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5676900"/>
            <a:ext cx="145554" cy="133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 i="0" u="none">
                <a:solidFill>
                  <a:srgbClr val="7C3AED"/>
                </a:solidFill>
                <a:latin typeface="Inter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4704" y="5676900"/>
            <a:ext cx="4280148" cy="133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 i="0" u="none">
                <a:solidFill>
                  <a:srgbClr val="06060C"/>
                </a:solidFill>
                <a:latin typeface="Inter"/>
              </a:rPr>
              <a:t>Why presentations were broken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78202" y="5676900"/>
            <a:ext cx="260598" cy="133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 i="0" u="none">
                <a:solidFill>
                  <a:srgbClr val="71717A"/>
                </a:solidFill>
                <a:latin typeface="Inter"/>
              </a:rPr>
              <a:t>p. 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5848350"/>
            <a:ext cx="145554" cy="133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 i="0" u="none">
                <a:solidFill>
                  <a:srgbClr val="7C3AED"/>
                </a:solidFill>
                <a:latin typeface="Inter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4704" y="5848350"/>
            <a:ext cx="4280148" cy="133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 i="0" u="none">
                <a:solidFill>
                  <a:srgbClr val="06060C"/>
                </a:solidFill>
                <a:latin typeface="Inter"/>
              </a:rPr>
              <a:t>Render. Cluster. Classify. Emit.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78202" y="5848350"/>
            <a:ext cx="260598" cy="133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 i="0" u="none">
                <a:solidFill>
                  <a:srgbClr val="71717A"/>
                </a:solidFill>
                <a:latin typeface="Inter"/>
              </a:rPr>
              <a:t>p. 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019800"/>
            <a:ext cx="145554" cy="133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 i="0" u="none">
                <a:solidFill>
                  <a:srgbClr val="7C3AED"/>
                </a:solidFill>
                <a:latin typeface="Inter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4704" y="6019800"/>
            <a:ext cx="4280148" cy="133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 i="0" u="none">
                <a:solidFill>
                  <a:srgbClr val="06060C"/>
                </a:solidFill>
                <a:latin typeface="Inter"/>
              </a:rPr>
              <a:t>The atomic seed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78202" y="6019800"/>
            <a:ext cx="260598" cy="133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 i="0" u="none">
                <a:solidFill>
                  <a:srgbClr val="71717A"/>
                </a:solidFill>
                <a:latin typeface="Inter"/>
              </a:rPr>
              <a:t>p. 44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191250"/>
            <a:ext cx="145554" cy="133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 i="0" u="none">
                <a:solidFill>
                  <a:srgbClr val="7C3AED"/>
                </a:solidFill>
                <a:latin typeface="Inter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4704" y="6191250"/>
            <a:ext cx="4280148" cy="133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 i="0" u="none">
                <a:solidFill>
                  <a:srgbClr val="06060C"/>
                </a:solidFill>
                <a:latin typeface="Inter"/>
              </a:rPr>
              <a:t>A landing page in twelve atoms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78202" y="6191250"/>
            <a:ext cx="260598" cy="133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 i="0" u="none">
                <a:solidFill>
                  <a:srgbClr val="71717A"/>
                </a:solidFill>
                <a:latin typeface="Inter"/>
              </a:rPr>
              <a:t>p. 62</a:t>
            </a:r>
          </a:p>
        </p:txBody>
      </p:sp>
      <p:sp>
        <p:nvSpPr>
          <p:cNvPr id="20" name="Rounded Rectangle 19"/>
          <p:cNvSpPr/>
          <p:nvPr/>
        </p:nvSpPr>
        <p:spPr>
          <a:gradFill flip="none" rotWithShape="1">
            <a:gsLst>
              <a:gs pos="0">
                <a:srgbClr val="0C4A6E"/>
              </a:gs>
              <a:gs pos="8333">
                <a:srgbClr val="185289"/>
              </a:gs>
              <a:gs pos="16667">
                <a:srgbClr val="2E57A5"/>
              </a:gs>
              <a:gs pos="25000">
                <a:srgbClr val="495ABF"/>
              </a:gs>
              <a:gs pos="33333">
                <a:srgbClr val="665BD6"/>
              </a:gs>
              <a:gs pos="41667">
                <a:srgbClr val="8659E9"/>
              </a:gs>
              <a:gs pos="50000">
                <a:srgbClr val="A855F7"/>
              </a:gs>
              <a:gs pos="58333">
                <a:srgbClr val="B751EA"/>
              </a:gs>
              <a:gs pos="66667">
                <a:srgbClr val="C54EDC"/>
              </a:gs>
              <a:gs pos="75000">
                <a:srgbClr val="D14BCD"/>
              </a:gs>
              <a:gs pos="83333">
                <a:srgbClr val="DC49BC"/>
              </a:gs>
              <a:gs pos="91667">
                <a:srgbClr val="E548AB"/>
              </a:gs>
              <a:gs pos="100000">
                <a:srgbClr val="EC4899"/>
              </a:gs>
            </a:gsLst>
            <a:lin ang="4200000" scaled="0"/>
          </a:gradFill>
          <a:xfrm>
            <a:off x="8258621" y="1355527"/>
            <a:ext cx="3619500" cy="4191000"/>
          </a:xfrm>
          <a:prstGeom prst="round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/>
          <p:cNvSpPr txBox="1"/>
          <p:nvPr/>
        </p:nvSpPr>
        <p:spPr>
          <a:xfrm>
            <a:off x="8391971" y="5213152"/>
            <a:ext cx="1566862" cy="200025"/>
          </a:xfrm>
          <a:prstGeom prst="rect">
            <a:avLst/>
          </a:prstGeom>
          <a:solidFill>
            <a:srgbClr val="000000">
              <a:alpha val="30000"/>
            </a:srgbClr>
          </a:solidFill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FFFFFF"/>
                </a:solidFill>
                <a:latin typeface="Consolas"/>
              </a:rPr>
              <a:t>04 / SUBJECT · STILL ·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58621" y="5851327"/>
            <a:ext cx="3250406" cy="32236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06060C"/>
                </a:solidFill>
                <a:latin typeface="Source Serif Pro"/>
              </a:rPr>
              <a:t xml:space="preserve">Cover </a:t>
            </a:r>
            <a:r>
              <a:rPr sz="975" b="0" i="1" u="none">
                <a:solidFill>
                  <a:srgbClr val="52525B"/>
                </a:solidFill>
                <a:latin typeface="Source Serif Pro"/>
              </a:rPr>
              <a:t>The render pipeline, photographed in long exposure. By Pixelpitch Labs.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gradFill flip="none" rotWithShape="1">
            <a:gsLst>
              <a:gs pos="0">
                <a:srgbClr val="1E1B4B"/>
              </a:gs>
              <a:gs pos="10000">
                <a:srgbClr val="1B1841"/>
              </a:gs>
              <a:gs pos="20000">
                <a:srgbClr val="171538"/>
              </a:gs>
              <a:gs pos="30000">
                <a:srgbClr val="14132E"/>
              </a:gs>
              <a:gs pos="40000">
                <a:srgbClr val="101025"/>
              </a:gs>
              <a:gs pos="50000">
                <a:srgbClr val="0D0D1C"/>
              </a:gs>
              <a:gs pos="60000">
                <a:srgbClr val="0A0A14"/>
              </a:gs>
              <a:gs pos="66667">
                <a:srgbClr val="080812"/>
              </a:gs>
              <a:gs pos="73333">
                <a:srgbClr val="060610"/>
              </a:gs>
              <a:gs pos="80000">
                <a:srgbClr val="05050E"/>
              </a:gs>
              <a:gs pos="86667">
                <a:srgbClr val="04040C"/>
              </a:gs>
              <a:gs pos="93333">
                <a:srgbClr val="03030A"/>
              </a:gs>
              <a:gs pos="100000">
                <a:srgbClr val="020208"/>
              </a:gs>
            </a:gsLst>
            <a:path path="circle">
              <a:fillToRect l="80000" t="20000" r="20000" b="80000"/>
            </a:path>
          </a:gradFill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609600" y="533400"/>
            <a:ext cx="5855494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A78BFA"/>
                </a:solidFill>
                <a:latin typeface="Inter"/>
              </a:rPr>
              <a:t>PRODUCT ·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704850"/>
            <a:ext cx="5855494" cy="339923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2550" b="1" i="0" u="none">
                <a:solidFill>
                  <a:srgbClr val="F5F5F7"/>
                </a:solidFill>
                <a:latin typeface="Inter"/>
              </a:rPr>
              <a:t>A bento of every primitive a deck needs.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00990" y="930473"/>
            <a:ext cx="1281410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52525B"/>
                </a:solidFill>
                <a:latin typeface="Inter"/>
              </a:rPr>
              <a:t>05 / 16 · BENTO</a:t>
            </a:r>
          </a:p>
        </p:txBody>
      </p:sp>
      <p:sp>
        <p:nvSpPr>
          <p:cNvPr id="6" name="Rectangle 5"/>
          <p:cNvSpPr/>
          <p:nvPr/>
        </p:nvSpPr>
        <p:spPr>
          <a:gradFill flip="none" rotWithShape="1">
            <a:gsLst>
              <a:gs pos="0">
                <a:srgbClr val="F5F5F7">
                  <a:alpha val="45000"/>
                </a:srgbClr>
              </a:gs>
              <a:gs pos="16667">
                <a:srgbClr val="F5F5F7">
                  <a:alpha val="37500"/>
                </a:srgbClr>
              </a:gs>
              <a:gs pos="33333">
                <a:srgbClr val="F5F5F7">
                  <a:alpha val="30000"/>
                </a:srgbClr>
              </a:gs>
              <a:gs pos="50000">
                <a:srgbClr val="F5F5F7">
                  <a:alpha val="22500"/>
                </a:srgbClr>
              </a:gs>
              <a:gs pos="66667">
                <a:srgbClr val="F5F5F7">
                  <a:alpha val="15000"/>
                </a:srgbClr>
              </a:gs>
              <a:gs pos="83333">
                <a:srgbClr val="F5F5F7">
                  <a:alpha val="7500"/>
                </a:srgbClr>
              </a:gs>
              <a:gs pos="100000">
                <a:srgbClr val="F5F5F7">
                  <a:alpha val="0"/>
                </a:srgbClr>
              </a:gs>
            </a:gsLst>
            <a:path path="circle">
              <a:fillToRect l="50000" t="50000" r="50000" b="50000"/>
            </a:path>
          </a:gradFill>
          <a:xfrm>
            <a:off x="-2149971" y="-1298377"/>
            <a:ext cx="6400800" cy="64008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gradFill flip="none" rotWithShape="1">
            <a:gsLst>
              <a:gs pos="0">
                <a:srgbClr val="1E1B4B">
                  <a:alpha val="45000"/>
                </a:srgbClr>
              </a:gs>
              <a:gs pos="16667">
                <a:srgbClr val="1E1B4B">
                  <a:alpha val="37500"/>
                </a:srgbClr>
              </a:gs>
              <a:gs pos="33333">
                <a:srgbClr val="1E1B4B">
                  <a:alpha val="30000"/>
                </a:srgbClr>
              </a:gs>
              <a:gs pos="50000">
                <a:srgbClr val="1E1B4B">
                  <a:alpha val="22500"/>
                </a:srgbClr>
              </a:gs>
              <a:gs pos="66667">
                <a:srgbClr val="1E1B4B">
                  <a:alpha val="15000"/>
                </a:srgbClr>
              </a:gs>
              <a:gs pos="83333">
                <a:srgbClr val="1E1B4B">
                  <a:alpha val="7500"/>
                </a:srgbClr>
              </a:gs>
              <a:gs pos="100000">
                <a:srgbClr val="1E1B4B">
                  <a:alpha val="0"/>
                </a:srgbClr>
              </a:gs>
            </a:gsLst>
            <a:path path="circle">
              <a:fillToRect l="50000" t="50000" r="50000" b="50000"/>
            </a:path>
          </a:gradFill>
          <a:xfrm>
            <a:off x="1376660" y="-1298377"/>
            <a:ext cx="6400800" cy="64008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gradFill flip="none" rotWithShape="1">
            <a:gsLst>
              <a:gs pos="0">
                <a:srgbClr val="A78BFA">
                  <a:alpha val="45000"/>
                </a:srgbClr>
              </a:gs>
              <a:gs pos="16667">
                <a:srgbClr val="A78BFA">
                  <a:alpha val="37500"/>
                </a:srgbClr>
              </a:gs>
              <a:gs pos="33333">
                <a:srgbClr val="A78BFA">
                  <a:alpha val="30000"/>
                </a:srgbClr>
              </a:gs>
              <a:gs pos="50000">
                <a:srgbClr val="A78BFA">
                  <a:alpha val="22500"/>
                </a:srgbClr>
              </a:gs>
              <a:gs pos="66667">
                <a:srgbClr val="A78BFA">
                  <a:alpha val="15000"/>
                </a:srgbClr>
              </a:gs>
              <a:gs pos="83333">
                <a:srgbClr val="A78BFA">
                  <a:alpha val="7500"/>
                </a:srgbClr>
              </a:gs>
              <a:gs pos="100000">
                <a:srgbClr val="A78BFA">
                  <a:alpha val="0"/>
                </a:srgbClr>
              </a:gs>
            </a:gsLst>
            <a:path path="circle">
              <a:fillToRect l="50000" t="50000" r="50000" b="50000"/>
            </a:path>
          </a:gradFill>
          <a:xfrm>
            <a:off x="-2149971" y="1902023"/>
            <a:ext cx="6400800" cy="64008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gradFill flip="none" rotWithShape="1">
            <a:gsLst>
              <a:gs pos="0">
                <a:srgbClr val="FEF3C7">
                  <a:alpha val="45000"/>
                </a:srgbClr>
              </a:gs>
              <a:gs pos="16667">
                <a:srgbClr val="FEF3C7">
                  <a:alpha val="37500"/>
                </a:srgbClr>
              </a:gs>
              <a:gs pos="33333">
                <a:srgbClr val="FEF3C7">
                  <a:alpha val="30000"/>
                </a:srgbClr>
              </a:gs>
              <a:gs pos="50000">
                <a:srgbClr val="FEF3C7">
                  <a:alpha val="22500"/>
                </a:srgbClr>
              </a:gs>
              <a:gs pos="66667">
                <a:srgbClr val="FEF3C7">
                  <a:alpha val="15000"/>
                </a:srgbClr>
              </a:gs>
              <a:gs pos="83333">
                <a:srgbClr val="FEF3C7">
                  <a:alpha val="7500"/>
                </a:srgbClr>
              </a:gs>
              <a:gs pos="100000">
                <a:srgbClr val="FEF3C7">
                  <a:alpha val="0"/>
                </a:srgbClr>
              </a:gs>
            </a:gsLst>
            <a:path path="circle">
              <a:fillToRect l="50000" t="50000" r="50000" b="50000"/>
            </a:path>
          </a:gradFill>
          <a:xfrm>
            <a:off x="1376660" y="1902023"/>
            <a:ext cx="6400800" cy="64008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gradFill flip="none" rotWithShape="1">
            <a:gsLst>
              <a:gs pos="0">
                <a:srgbClr val="6366F1">
                  <a:alpha val="30000"/>
                </a:srgbClr>
              </a:gs>
              <a:gs pos="16667">
                <a:srgbClr val="8465F0">
                  <a:alpha val="28333"/>
                </a:srgbClr>
              </a:gs>
              <a:gs pos="33333">
                <a:srgbClr val="A065EA">
                  <a:alpha val="26667"/>
                </a:srgbClr>
              </a:gs>
              <a:gs pos="50000">
                <a:srgbClr val="B967E1">
                  <a:alpha val="25000"/>
                </a:srgbClr>
              </a:gs>
              <a:gs pos="66667">
                <a:srgbClr val="CF69D5">
                  <a:alpha val="23333"/>
                </a:srgbClr>
              </a:gs>
              <a:gs pos="83333">
                <a:srgbClr val="E36DC6">
                  <a:alpha val="21667"/>
                </a:srgbClr>
              </a:gs>
              <a:gs pos="100000">
                <a:srgbClr val="F472B6">
                  <a:alpha val="20000"/>
                </a:srgbClr>
              </a:gs>
            </a:gsLst>
            <a:lin ang="4200000" scaled="0"/>
          </a:gradFill>
          <a:xfrm>
            <a:off x="609600" y="1216223"/>
            <a:ext cx="4408289" cy="4572000"/>
          </a:xfrm>
          <a:prstGeom prst="roundRect">
            <a:avLst/>
          </a:prstGeom>
          <a:ln w="9525">
            <a:solidFill>
              <a:srgbClr val="A78BFA"/>
            </a:solidFill>
          </a:ln>
          <a:effectLst>
            <a:outerShdw blurRad="762000" dist="0" dir="0" algn="ctr" rotWithShape="0">
              <a:srgbClr val="8B5CF6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609600" y="1216223"/>
            <a:ext cx="4408289" cy="4572000"/>
          </a:xfrm>
          <a:prstGeom prst="rect">
            <a:avLst/>
          </a:prstGeom>
          <a:noFill/>
          <a:ln w="9525">
            <a:solidFill>
              <a:srgbClr val="FFFFFF">
                <a:alpha val="6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28675" y="1416248"/>
            <a:ext cx="3970139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A1A1AA"/>
                </a:solidFill>
                <a:latin typeface="Inter"/>
              </a:rPr>
              <a:t>FEATURED · NATIVE-AREA RATIO</a:t>
            </a:r>
          </a:p>
        </p:txBody>
      </p:sp>
      <p:sp>
        <p:nvSpPr>
          <p:cNvPr id="13" name="Oval 12"/>
          <p:cNvSpPr/>
          <p:nvPr/>
        </p:nvSpPr>
        <p:spPr>
          <a:xfrm>
            <a:off x="885825" y="4113907"/>
            <a:ext cx="495300" cy="495300"/>
          </a:xfrm>
          <a:prstGeom prst="ellipse">
            <a:avLst/>
          </a:prstGeom>
          <a:noFill/>
          <a:ln w="57150">
            <a:solidFill>
              <a:srgbClr val="FFFFFF">
                <a:alpha val="12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885825" y="4113907"/>
            <a:ext cx="495300" cy="495300"/>
          </a:xfrm>
          <a:prstGeom prst="ellipse">
            <a:avLst/>
          </a:prstGeom>
          <a:noFill/>
          <a:ln w="571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828675" y="4818757"/>
            <a:ext cx="573435" cy="40005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2850" b="1" i="0" u="none">
                <a:solidFill>
                  <a:srgbClr val="F5F5F7"/>
                </a:solidFill>
                <a:latin typeface="Inter"/>
              </a:rPr>
              <a:t>95</a:t>
            </a:r>
            <a:r>
              <a:rPr sz="1800" b="1" i="0" u="none">
                <a:solidFill>
                  <a:srgbClr val="A78BFA"/>
                </a:solidFill>
                <a:latin typeface="Inter"/>
              </a:rPr>
              <a:t>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8675" y="5256907"/>
            <a:ext cx="3970139" cy="3312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 u="none">
                <a:solidFill>
                  <a:srgbClr val="A1A1AA"/>
                </a:solidFill>
                <a:latin typeface="Inter"/>
              </a:rPr>
              <a:t>of slide area emits as native, editable PPTX shapes — gradients, shadows, text frames, real preset shapes.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51239" y="1216223"/>
            <a:ext cx="3148905" cy="2219325"/>
          </a:xfrm>
          <a:prstGeom prst="roundRect">
            <a:avLst/>
          </a:prstGeom>
          <a:solidFill>
            <a:srgbClr val="FFFFFF">
              <a:alpha val="6000"/>
            </a:srgbClr>
          </a:solidFill>
          <a:ln w="9525">
            <a:solidFill>
              <a:srgbClr val="FFFFFF"/>
            </a:solidFill>
          </a:ln>
          <a:effectLst>
            <a:innerShdw blurRad="0" dist="9525" dir="5400000">
              <a:srgbClr val="FFFFFF">
                <a:alpha val="16000"/>
              </a:srgbClr>
            </a:innerShdw>
            <a:outerShdw blurRad="381000" dist="152400" dir="5400000" algn="ctr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gradFill flip="none" rotWithShape="1">
            <a:gsLst>
              <a:gs pos="0">
                <a:srgbClr val="ffffff">
                  <a:alpha val="20000"/>
                </a:srgbClr>
              </a:gs>
              <a:gs pos="16667">
                <a:srgbClr val="FFFFFF">
                  <a:alpha val="16667"/>
                </a:srgbClr>
              </a:gs>
              <a:gs pos="33333">
                <a:srgbClr val="FFFFFF">
                  <a:alpha val="13333"/>
                </a:srgbClr>
              </a:gs>
              <a:gs pos="50000">
                <a:srgbClr val="FFFFFF">
                  <a:alpha val="10000"/>
                </a:srgbClr>
              </a:gs>
              <a:gs pos="66667">
                <a:srgbClr val="FFFFFF">
                  <a:alpha val="6667"/>
                </a:srgbClr>
              </a:gs>
              <a:gs pos="83333">
                <a:srgbClr val="FFFFFF">
                  <a:alpha val="3333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xfrm>
            <a:off x="5151239" y="1216223"/>
            <a:ext cx="3148905" cy="998696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5151239" y="1216223"/>
            <a:ext cx="3148905" cy="2219325"/>
          </a:xfrm>
          <a:prstGeom prst="rect">
            <a:avLst/>
          </a:prstGeom>
          <a:noFill/>
          <a:ln w="9525">
            <a:solidFill>
              <a:srgbClr val="FFFFFF">
                <a:alpha val="1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5151239" y="1216223"/>
            <a:ext cx="3148905" cy="2219325"/>
          </a:xfrm>
          <a:prstGeom prst="rect">
            <a:avLst/>
          </a:prstGeom>
          <a:noFill/>
          <a:ln>
            <a:noFill/>
          </a:ln>
          <a:effectLst>
            <a:innerShdw blurRad="171450" dist="0" dir="0">
              <a:srgbClr val="FFFFFF">
                <a:alpha val="10000"/>
              </a:srgbClr>
            </a:inn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/>
          <p:cNvSpPr txBox="1"/>
          <p:nvPr/>
        </p:nvSpPr>
        <p:spPr>
          <a:xfrm>
            <a:off x="5370314" y="1416248"/>
            <a:ext cx="2710755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A1A1AA"/>
                </a:solidFill>
                <a:latin typeface="Inter"/>
              </a:rPr>
              <a:t>▲ ARR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70314" y="2650778"/>
            <a:ext cx="2710755" cy="36195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2850" b="1" i="0" u="none">
                <a:solidFill>
                  <a:srgbClr val="F5F5F7"/>
                </a:solidFill>
                <a:latin typeface="Inter"/>
              </a:rPr>
              <a:t>$12.4M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70314" y="3069878"/>
            <a:ext cx="2710755" cy="1656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 i="0" u="none">
                <a:solidFill>
                  <a:srgbClr val="34D399"/>
                </a:solidFill>
                <a:latin typeface="Inter"/>
              </a:rPr>
              <a:t>+18.2% Q-o-Q</a:t>
            </a:r>
          </a:p>
        </p:txBody>
      </p:sp>
      <p:sp>
        <p:nvSpPr>
          <p:cNvPr id="24" name="Rectangle 23"/>
          <p:cNvSpPr/>
          <p:nvPr/>
        </p:nvSpPr>
        <p:spPr>
          <a:gradFill flip="none" rotWithShape="1">
            <a:gsLst>
              <a:gs pos="0">
                <a:srgbClr val="F5F5F7">
                  <a:alpha val="55000"/>
                </a:srgbClr>
              </a:gs>
              <a:gs pos="16667">
                <a:srgbClr val="F5F5F7">
                  <a:alpha val="45833"/>
                </a:srgbClr>
              </a:gs>
              <a:gs pos="33333">
                <a:srgbClr val="F5F5F7">
                  <a:alpha val="36667"/>
                </a:srgbClr>
              </a:gs>
              <a:gs pos="50000">
                <a:srgbClr val="F5F5F7">
                  <a:alpha val="27500"/>
                </a:srgbClr>
              </a:gs>
              <a:gs pos="66667">
                <a:srgbClr val="F5F5F7">
                  <a:alpha val="18333"/>
                </a:srgbClr>
              </a:gs>
              <a:gs pos="83333">
                <a:srgbClr val="F5F5F7">
                  <a:alpha val="9167"/>
                </a:srgbClr>
              </a:gs>
              <a:gs pos="100000">
                <a:srgbClr val="F5F5F7">
                  <a:alpha val="0"/>
                </a:srgbClr>
              </a:gs>
            </a:gsLst>
            <a:path path="circle">
              <a:fillToRect l="50000" t="50000" r="50000" b="50000"/>
            </a:path>
          </a:gradFill>
          <a:xfrm>
            <a:off x="7016554" y="-665433"/>
            <a:ext cx="5982638" cy="5982638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ounded Rectangle 24"/>
          <p:cNvSpPr/>
          <p:nvPr/>
        </p:nvSpPr>
        <p:spPr>
          <a:gradFill flip="none" rotWithShape="1">
            <a:gsLst>
              <a:gs pos="0">
                <a:srgbClr val="F472B6">
                  <a:alpha val="40000"/>
                </a:srgbClr>
              </a:gs>
              <a:gs pos="6667">
                <a:srgbClr val="E36DC6">
                  <a:alpha val="36000"/>
                </a:srgbClr>
              </a:gs>
              <a:gs pos="13333">
                <a:srgbClr val="CF69D5">
                  <a:alpha val="32000"/>
                </a:srgbClr>
              </a:gs>
              <a:gs pos="20000">
                <a:srgbClr val="B967E1">
                  <a:alpha val="28000"/>
                </a:srgbClr>
              </a:gs>
              <a:gs pos="26667">
                <a:srgbClr val="A065EA">
                  <a:alpha val="24000"/>
                </a:srgbClr>
              </a:gs>
              <a:gs pos="33333">
                <a:srgbClr val="8465F0">
                  <a:alpha val="20000"/>
                </a:srgbClr>
              </a:gs>
              <a:gs pos="40000">
                <a:srgbClr val="6366F1">
                  <a:alpha val="16000"/>
                </a:srgbClr>
              </a:gs>
              <a:gs pos="50000">
                <a:srgbClr val="6446B7">
                  <a:alpha val="22500"/>
                </a:srgbClr>
              </a:gs>
              <a:gs pos="60000">
                <a:srgbClr val="562B7E">
                  <a:alpha val="29000"/>
                </a:srgbClr>
              </a:gs>
              <a:gs pos="70000">
                <a:srgbClr val="40164C">
                  <a:alpha val="35500"/>
                </a:srgbClr>
              </a:gs>
              <a:gs pos="80000">
                <a:srgbClr val="250622">
                  <a:alpha val="42000"/>
                </a:srgbClr>
              </a:gs>
              <a:gs pos="90000">
                <a:srgbClr val="090105">
                  <a:alpha val="48500"/>
                </a:srgbClr>
              </a:gs>
              <a:gs pos="100000">
                <a:srgbClr val="000000">
                  <a:alpha val="55000"/>
                </a:srgbClr>
              </a:gs>
            </a:gsLst>
            <a:path path="circle">
              <a:fillToRect l="50000" t="30000" r="50000" b="70000"/>
            </a:path>
          </a:gradFill>
          <a:xfrm>
            <a:off x="8433495" y="1216223"/>
            <a:ext cx="3148757" cy="2219325"/>
          </a:xfrm>
          <a:prstGeom prst="roundRect">
            <a:avLst/>
          </a:prstGeom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8652570" y="1416248"/>
            <a:ext cx="2710607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A1A1AA"/>
                </a:solidFill>
                <a:latin typeface="Inter"/>
              </a:rPr>
              <a:t>UPTIME · 90D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52570" y="2631728"/>
            <a:ext cx="1044029" cy="40005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2850" b="1" i="0" u="none">
                <a:solidFill>
                  <a:srgbClr val="F5F5F7"/>
                </a:solidFill>
                <a:latin typeface="Inter"/>
              </a:rPr>
              <a:t>99.98</a:t>
            </a:r>
            <a:r>
              <a:rPr sz="1800" b="1" i="0" u="none">
                <a:solidFill>
                  <a:srgbClr val="F5F5F7"/>
                </a:solidFill>
                <a:latin typeface="Inter"/>
              </a:rPr>
              <a:t>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52570" y="3069878"/>
            <a:ext cx="2710607" cy="1656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 i="0" u="none">
                <a:solidFill>
                  <a:srgbClr val="A1A1AA"/>
                </a:solidFill>
                <a:latin typeface="Inter"/>
              </a:rPr>
              <a:t>5,182 of 5,184 deploys passed SSIM ≥ 0.95.</a:t>
            </a:r>
          </a:p>
        </p:txBody>
      </p:sp>
      <p:sp>
        <p:nvSpPr>
          <p:cNvPr id="29" name="Rectangle 28"/>
          <p:cNvSpPr/>
          <p:nvPr/>
        </p:nvSpPr>
        <p:spPr>
          <a:gradFill flip="none" rotWithShape="1">
            <a:gsLst>
              <a:gs pos="0">
                <a:srgbClr val="F5F5F7">
                  <a:alpha val="40000"/>
                </a:srgbClr>
              </a:gs>
              <a:gs pos="16667">
                <a:srgbClr val="F5F5F7">
                  <a:alpha val="33333"/>
                </a:srgbClr>
              </a:gs>
              <a:gs pos="33333">
                <a:srgbClr val="F5F5F7">
                  <a:alpha val="26667"/>
                </a:srgbClr>
              </a:gs>
              <a:gs pos="50000">
                <a:srgbClr val="F5F5F7">
                  <a:alpha val="20000"/>
                </a:srgbClr>
              </a:gs>
              <a:gs pos="66667">
                <a:srgbClr val="F5F5F7">
                  <a:alpha val="13333"/>
                </a:srgbClr>
              </a:gs>
              <a:gs pos="83333">
                <a:srgbClr val="F5F5F7">
                  <a:alpha val="6667"/>
                </a:srgbClr>
              </a:gs>
              <a:gs pos="100000">
                <a:srgbClr val="F5F5F7">
                  <a:alpha val="0"/>
                </a:srgbClr>
              </a:gs>
            </a:gsLst>
            <a:path path="circle">
              <a:fillToRect l="50000" t="50000" r="50000" b="50000"/>
            </a:path>
          </a:gradFill>
          <a:xfrm>
            <a:off x="3017585" y="1031647"/>
            <a:ext cx="5803993" cy="5803993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gradFill flip="none" rotWithShape="1">
            <a:gsLst>
              <a:gs pos="0">
                <a:srgbClr val="1E1B4B">
                  <a:alpha val="35000"/>
                </a:srgbClr>
              </a:gs>
              <a:gs pos="16667">
                <a:srgbClr val="1E1B4B">
                  <a:alpha val="29167"/>
                </a:srgbClr>
              </a:gs>
              <a:gs pos="33333">
                <a:srgbClr val="1E1B4B">
                  <a:alpha val="23333"/>
                </a:srgbClr>
              </a:gs>
              <a:gs pos="50000">
                <a:srgbClr val="1E1B4B">
                  <a:alpha val="17500"/>
                </a:srgbClr>
              </a:gs>
              <a:gs pos="66667">
                <a:srgbClr val="1E1B4B">
                  <a:alpha val="11667"/>
                </a:srgbClr>
              </a:gs>
              <a:gs pos="83333">
                <a:srgbClr val="1E1B4B">
                  <a:alpha val="5833"/>
                </a:srgbClr>
              </a:gs>
              <a:gs pos="100000">
                <a:srgbClr val="1E1B4B">
                  <a:alpha val="0"/>
                </a:srgbClr>
              </a:gs>
            </a:gsLst>
            <a:path path="circle">
              <a:fillToRect l="50000" t="50000" r="50000" b="50000"/>
            </a:path>
          </a:gradFill>
          <a:xfrm>
            <a:off x="3823695" y="1615343"/>
            <a:ext cx="6126437" cy="6126437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/>
          <p:cNvSpPr/>
          <p:nvPr/>
        </p:nvSpPr>
        <p:spPr>
          <a:gradFill flip="none" rotWithShape="1">
            <a:gsLst>
              <a:gs pos="0">
                <a:srgbClr val="A78BFA">
                  <a:alpha val="40000"/>
                </a:srgbClr>
              </a:gs>
              <a:gs pos="16667">
                <a:srgbClr val="A78BFA">
                  <a:alpha val="33333"/>
                </a:srgbClr>
              </a:gs>
              <a:gs pos="33333">
                <a:srgbClr val="A78BFA">
                  <a:alpha val="26667"/>
                </a:srgbClr>
              </a:gs>
              <a:gs pos="50000">
                <a:srgbClr val="A78BFA">
                  <a:alpha val="20000"/>
                </a:srgbClr>
              </a:gs>
              <a:gs pos="66667">
                <a:srgbClr val="A78BFA">
                  <a:alpha val="13333"/>
                </a:srgbClr>
              </a:gs>
              <a:gs pos="83333">
                <a:srgbClr val="A78BFA">
                  <a:alpha val="6667"/>
                </a:srgbClr>
              </a:gs>
              <a:gs pos="100000">
                <a:srgbClr val="A78BFA">
                  <a:alpha val="0"/>
                </a:srgbClr>
              </a:gs>
            </a:gsLst>
            <a:path path="circle">
              <a:fillToRect l="50000" t="50000" r="50000" b="50000"/>
            </a:path>
          </a:gradFill>
          <a:xfrm>
            <a:off x="4726539" y="2521482"/>
            <a:ext cx="5803993" cy="5803993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ounded Rectangle 31"/>
          <p:cNvSpPr/>
          <p:nvPr/>
        </p:nvSpPr>
        <p:spPr>
          <a:gradFill flip="none" rotWithShape="1">
            <a:gsLst>
              <a:gs pos="0">
                <a:srgbClr val="6366F1">
                  <a:alpha val="20000"/>
                </a:srgbClr>
              </a:gs>
              <a:gs pos="30000">
                <a:srgbClr val="A78BFA">
                  <a:alpha val="10000"/>
                </a:srgbClr>
              </a:gs>
              <a:gs pos="60000">
                <a:srgbClr val="F472B6">
                  <a:alpha val="18000"/>
                </a:srgbClr>
              </a:gs>
              <a:gs pos="100000">
                <a:srgbClr val="FB923C">
                  <a:alpha val="10000"/>
                </a:srgbClr>
              </a:gs>
            </a:gsLst>
            <a:lin ang="5400000" scaled="0"/>
          </a:gradFill>
          <a:xfrm>
            <a:off x="5113472" y="3514627"/>
            <a:ext cx="3224440" cy="2327868"/>
          </a:xfrm>
          <a:prstGeom prst="roundRect">
            <a:avLst/>
          </a:prstGeom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/>
          <p:cNvSpPr txBox="1"/>
          <p:nvPr/>
        </p:nvSpPr>
        <p:spPr>
          <a:xfrm>
            <a:off x="5339394" y="3722175"/>
            <a:ext cx="2712761" cy="1993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A1A1AA"/>
                </a:solidFill>
                <a:latin typeface="Inter"/>
              </a:rPr>
              <a:t>▲ DECKS / WEEK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82478" y="4955953"/>
            <a:ext cx="2721736" cy="456333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2850" b="1" i="0" u="none">
                <a:solidFill>
                  <a:srgbClr val="F5F5F7"/>
                </a:solidFill>
                <a:latin typeface="Inter"/>
              </a:rPr>
              <a:t>1,184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97104" y="5374798"/>
            <a:ext cx="2714885" cy="26014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 u="none">
                <a:solidFill>
                  <a:srgbClr val="A1A1AA"/>
                </a:solidFill>
                <a:latin typeface="Inter"/>
              </a:rPr>
              <a:t>Across 318 teams in production.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433495" y="3568898"/>
            <a:ext cx="3148757" cy="2219325"/>
          </a:xfrm>
          <a:prstGeom prst="roundRect">
            <a:avLst/>
          </a:prstGeom>
          <a:solidFill>
            <a:srgbClr val="050510"/>
          </a:solidFill>
          <a:ln w="9525">
            <a:solidFill>
              <a:srgbClr val="FFFFFF"/>
            </a:solidFill>
          </a:ln>
          <a:effectLst>
            <a:innerShdw blurRad="76200" dist="19050" dir="5400000">
              <a:srgbClr val="000000">
                <a:alpha val="55000"/>
              </a:srgbClr>
            </a:inn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/>
          <p:cNvSpPr/>
          <p:nvPr/>
        </p:nvSpPr>
        <p:spPr>
          <a:xfrm>
            <a:off x="8433495" y="3568898"/>
            <a:ext cx="3148757" cy="2219325"/>
          </a:xfrm>
          <a:prstGeom prst="rect">
            <a:avLst/>
          </a:prstGeom>
          <a:noFill/>
          <a:ln>
            <a:noFill/>
          </a:ln>
          <a:effectLst>
            <a:innerShdw blurRad="95250" dist="0" dir="0">
              <a:srgbClr val="000000">
                <a:alpha val="35000"/>
              </a:srgbClr>
            </a:inn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/>
          <p:cNvSpPr txBox="1"/>
          <p:nvPr/>
        </p:nvSpPr>
        <p:spPr>
          <a:xfrm>
            <a:off x="8652570" y="3768923"/>
            <a:ext cx="2710607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71717A"/>
                </a:solidFill>
                <a:latin typeface="Consolas"/>
              </a:rPr>
              <a:t>$ slidify --quiet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52570" y="4895255"/>
            <a:ext cx="1303586" cy="6578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0" i="0" u="none">
                <a:solidFill>
                  <a:srgbClr val="52525B"/>
                </a:solidFill>
                <a:latin typeface="Consolas"/>
              </a:rPr>
              <a:t># compose from atoms</a:t>
            </a:r>
          </a:p>
          <a:p>
            <a:pPr algn="l"/>
            <a:r>
              <a:rPr sz="825" b="0" i="0" u="none">
                <a:solidFill>
                  <a:srgbClr val="C084FC"/>
                </a:solidFill>
                <a:latin typeface="Consolas"/>
              </a:rPr>
              <a:t>deck</a:t>
            </a:r>
            <a:r>
              <a:rPr sz="825" b="0" i="0" u="none">
                <a:solidFill>
                  <a:srgbClr val="34D399"/>
                </a:solidFill>
                <a:latin typeface="Consolas"/>
              </a:rPr>
              <a:t>.compose(</a:t>
            </a:r>
          </a:p>
          <a:p>
            <a:pPr algn="l"/>
            <a:r>
              <a:rPr sz="825" b="0" i="0" u="none">
                <a:solidFill>
                  <a:srgbClr val="34D399"/>
                </a:solidFill>
                <a:latin typeface="Consolas"/>
              </a:rPr>
              <a:t xml:space="preserve">  "hero", "bento")</a:t>
            </a:r>
          </a:p>
          <a:p>
            <a:pPr algn="l"/>
            <a:r>
              <a:rPr sz="825" b="0" i="0" u="none">
                <a:solidFill>
                  <a:srgbClr val="34D399"/>
                </a:solidFill>
                <a:latin typeface="Consolas"/>
              </a:rPr>
              <a:t xml:space="preserve">
        → out.pptx ✓
      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9600" y="6515100"/>
            <a:ext cx="1603028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52525B"/>
                </a:solidFill>
                <a:latin typeface="Inter"/>
              </a:rPr>
              <a:t>SLIDIFY · ATOMIC SEED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21107" y="6515100"/>
            <a:ext cx="1061293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52525B"/>
                </a:solidFill>
                <a:latin typeface="Inter"/>
              </a:rPr>
              <a:t>05 / 16 · BENTO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9600" y="457200"/>
            <a:ext cx="7022753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7C3AED"/>
                </a:solidFill>
                <a:latin typeface="Inter"/>
              </a:rPr>
              <a:t>PRODUCT · ANATOMY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28650"/>
            <a:ext cx="7022753" cy="300038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2250" b="1" i="0" u="none">
                <a:solidFill>
                  <a:srgbClr val="06060C"/>
                </a:solidFill>
                <a:latin typeface="Inter"/>
              </a:rPr>
              <a:t>Every cluster routed to a native primitive — annotated.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82659" y="814388"/>
            <a:ext cx="1499741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71717A"/>
                </a:solidFill>
                <a:latin typeface="Inter"/>
              </a:rPr>
              <a:t>06 / 16 · ANATOMY</a:t>
            </a:r>
          </a:p>
        </p:txBody>
      </p:sp>
      <p:sp>
        <p:nvSpPr>
          <p:cNvPr id="7" name="Freeform 6"/>
          <p:cNvSpPr/>
          <p:nvPr/>
        </p:nvSpPr>
        <p:spPr>
          <a:xfrm>
            <a:off x="1943100" y="2052638"/>
            <a:ext cx="2286000" cy="123825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33333" y="23077"/>
                </a:lnTo>
                <a:lnTo>
                  <a:pt x="100000" y="100000"/>
                </a:lnTo>
              </a:path>
            </a:pathLst>
          </a:custGeom>
          <a:noFill/>
          <a:ln w="11430">
            <a:solidFill>
              <a:srgbClr val="0606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4191000" y="3252788"/>
            <a:ext cx="76200" cy="76200"/>
          </a:xfrm>
          <a:prstGeom prst="ellipse">
            <a:avLst/>
          </a:prstGeom>
          <a:solidFill>
            <a:srgbClr val="F472B6"/>
          </a:solidFill>
          <a:ln w="14288">
            <a:solidFill>
              <a:srgbClr val="0606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8"/>
          <p:cNvSpPr/>
          <p:nvPr/>
        </p:nvSpPr>
        <p:spPr>
          <a:xfrm>
            <a:off x="7943850" y="2052638"/>
            <a:ext cx="2286000" cy="123825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100000" y="0"/>
                </a:moveTo>
                <a:lnTo>
                  <a:pt x="62500" y="30769"/>
                </a:lnTo>
                <a:lnTo>
                  <a:pt x="0" y="100000"/>
                </a:lnTo>
              </a:path>
            </a:pathLst>
          </a:custGeom>
          <a:noFill/>
          <a:ln w="11430">
            <a:solidFill>
              <a:srgbClr val="0606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7905750" y="3252788"/>
            <a:ext cx="76200" cy="76200"/>
          </a:xfrm>
          <a:prstGeom prst="ellipse">
            <a:avLst/>
          </a:prstGeom>
          <a:solidFill>
            <a:srgbClr val="F472B6"/>
          </a:solidFill>
          <a:ln w="14288">
            <a:solidFill>
              <a:srgbClr val="0606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10"/>
          <p:cNvSpPr/>
          <p:nvPr/>
        </p:nvSpPr>
        <p:spPr>
          <a:xfrm>
            <a:off x="1657350" y="4148138"/>
            <a:ext cx="2571750" cy="5715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100000"/>
                </a:moveTo>
                <a:lnTo>
                  <a:pt x="40741" y="66667"/>
                </a:lnTo>
                <a:lnTo>
                  <a:pt x="100000" y="0"/>
                </a:lnTo>
              </a:path>
            </a:pathLst>
          </a:custGeom>
          <a:noFill/>
          <a:ln w="11430">
            <a:solidFill>
              <a:srgbClr val="0606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4191000" y="4110038"/>
            <a:ext cx="76200" cy="76200"/>
          </a:xfrm>
          <a:prstGeom prst="ellipse">
            <a:avLst/>
          </a:prstGeom>
          <a:solidFill>
            <a:srgbClr val="34D399"/>
          </a:solidFill>
          <a:ln w="14288">
            <a:solidFill>
              <a:srgbClr val="0606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12"/>
          <p:cNvSpPr/>
          <p:nvPr/>
        </p:nvSpPr>
        <p:spPr>
          <a:xfrm>
            <a:off x="7943850" y="4148138"/>
            <a:ext cx="2571750" cy="5715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100000" y="100000"/>
                </a:moveTo>
                <a:lnTo>
                  <a:pt x="55556" y="66667"/>
                </a:lnTo>
                <a:lnTo>
                  <a:pt x="0" y="0"/>
                </a:lnTo>
              </a:path>
            </a:pathLst>
          </a:custGeom>
          <a:noFill/>
          <a:ln w="11430">
            <a:solidFill>
              <a:srgbClr val="0606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7905750" y="4110038"/>
            <a:ext cx="76200" cy="76200"/>
          </a:xfrm>
          <a:prstGeom prst="ellipse">
            <a:avLst/>
          </a:prstGeom>
          <a:solidFill>
            <a:srgbClr val="34D399"/>
          </a:solidFill>
          <a:ln w="14288">
            <a:solidFill>
              <a:srgbClr val="0606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Connector 14"/>
          <p:cNvCxnSpPr/>
          <p:nvPr/>
        </p:nvCxnSpPr>
        <p:spPr>
          <a:xfrm>
            <a:off x="4229100" y="5195888"/>
            <a:ext cx="3714750" cy="0"/>
          </a:xfrm>
          <a:prstGeom prst="line">
            <a:avLst/>
          </a:prstGeom>
          <a:ln w="9525">
            <a:solidFill>
              <a:srgbClr val="0606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229100" y="5138738"/>
            <a:ext cx="0" cy="114300"/>
          </a:xfrm>
          <a:prstGeom prst="line">
            <a:avLst/>
          </a:prstGeom>
          <a:ln w="9525">
            <a:solidFill>
              <a:srgbClr val="0606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943850" y="5138738"/>
            <a:ext cx="0" cy="114300"/>
          </a:xfrm>
          <a:prstGeom prst="line">
            <a:avLst/>
          </a:prstGeom>
          <a:ln w="9525">
            <a:solidFill>
              <a:srgbClr val="0606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423773" y="5064442"/>
            <a:ext cx="1325404" cy="13096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25" b="1" i="0">
                <a:solidFill>
                  <a:srgbClr val="06060C"/>
                </a:solidFill>
                <a:latin typeface="Inter"/>
              </a:rPr>
              <a:t>540 PX · NATIVE PICTURE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514725" y="2409825"/>
            <a:ext cx="5162550" cy="2333625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  <a:effectLst>
            <a:outerShdw blurRad="571500" dist="228600" dir="5400000" algn="ctr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3524250" y="2419350"/>
            <a:ext cx="5143500" cy="409575"/>
          </a:xfrm>
          <a:prstGeom prst="rect">
            <a:avLst/>
          </a:prstGeom>
          <a:solidFill>
            <a:srgbClr val="F4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/>
          <p:cNvSpPr/>
          <p:nvPr/>
        </p:nvSpPr>
        <p:spPr>
          <a:xfrm>
            <a:off x="3638550" y="2566988"/>
            <a:ext cx="104775" cy="104775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/>
          <p:cNvSpPr/>
          <p:nvPr/>
        </p:nvSpPr>
        <p:spPr>
          <a:xfrm>
            <a:off x="3819525" y="2566988"/>
            <a:ext cx="104775" cy="104775"/>
          </a:xfrm>
          <a:prstGeom prst="ellipse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/>
          <p:cNvSpPr/>
          <p:nvPr/>
        </p:nvSpPr>
        <p:spPr>
          <a:xfrm>
            <a:off x="4000500" y="2566988"/>
            <a:ext cx="104775" cy="104775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181475" y="2505075"/>
            <a:ext cx="1288373" cy="228600"/>
          </a:xfrm>
          <a:prstGeom prst="rect">
            <a:avLst/>
          </a:prstGeom>
          <a:solidFill>
            <a:srgbClr val="FFFFFF"/>
          </a:solidFill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0" i="0" u="none">
                <a:solidFill>
                  <a:srgbClr val="52525B"/>
                </a:solidFill>
                <a:latin typeface="Inter"/>
              </a:rPr>
              <a:t>slidify.sh / atomic-seed</a:t>
            </a:r>
          </a:p>
        </p:txBody>
      </p:sp>
      <p:sp>
        <p:nvSpPr>
          <p:cNvPr id="25" name="TextBox 24"/>
          <p:cNvSpPr txBox="1"/>
          <p:nvPr/>
        </p:nvSpPr>
        <p:spPr>
          <a:gradFill flip="none" rotWithShape="1">
            <a:gsLst>
              <a:gs pos="0">
                <a:srgbClr val="A78BFA"/>
              </a:gs>
              <a:gs pos="16667">
                <a:srgbClr val="B786F4"/>
              </a:gs>
              <a:gs pos="33333">
                <a:srgbClr val="C581EC"/>
              </a:gs>
              <a:gs pos="50000">
                <a:srgbClr val="D37DE1"/>
              </a:gs>
              <a:gs pos="66667">
                <a:srgbClr val="DF78D5"/>
              </a:gs>
              <a:gs pos="83333">
                <a:srgbClr val="EA75C6"/>
              </a:gs>
              <a:gs pos="100000">
                <a:srgbClr val="F472B6"/>
              </a:gs>
            </a:gsLst>
            <a:lin ang="4200000" scaled="0"/>
          </a:gradFill>
          <a:xfrm>
            <a:off x="3524250" y="2828925"/>
            <a:ext cx="5143500" cy="1905000"/>
          </a:xfrm>
          <a:prstGeom prst="rect">
            <a:avLst/>
          </a:prstGeom>
        </p:spPr>
        <p:txBody>
          <a:bodyPr wrap="square" lIns="0" rIns="0" tIns="0" bIns="0">
            <a:normAutofit/>
          </a:bodyPr>
          <a:lstStyle/>
          <a:p>
            <a:pPr algn="l"/>
            <a:r>
              <a:rPr sz="2400" b="1" i="0" u="none">
                <a:solidFill>
                  <a:srgbClr val="FFFFFF"/>
                </a:solidFill>
                <a:latin typeface="Inter"/>
              </a:rPr>
              <a:t>slidify · atomic seed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1852612"/>
            <a:ext cx="827633" cy="219075"/>
          </a:xfrm>
          <a:prstGeom prst="rect">
            <a:avLst/>
          </a:prstGeom>
          <a:solidFill>
            <a:srgbClr val="06060C"/>
          </a:solidFill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FAFAF7"/>
                </a:solidFill>
                <a:latin typeface="Inter"/>
              </a:rPr>
              <a:t>CHROME BAR</a:t>
            </a:r>
            <a:r>
              <a:rPr sz="800" b="1" i="0" u="none">
                <a:solidFill>
                  <a:srgbClr val="A78BFA"/>
                </a:solidFill>
                <a:latin typeface="Consolas"/>
              </a:rPr>
              <a:t>→ NativeShape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93301" y="1852612"/>
            <a:ext cx="660499" cy="219075"/>
          </a:xfrm>
          <a:prstGeom prst="rect">
            <a:avLst/>
          </a:prstGeom>
          <a:solidFill>
            <a:srgbClr val="06060C"/>
          </a:solidFill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FAFAF7"/>
                </a:solidFill>
                <a:latin typeface="Inter"/>
              </a:rPr>
              <a:t>URL FIELD</a:t>
            </a:r>
            <a:r>
              <a:rPr sz="800" b="1" i="0" u="none">
                <a:solidFill>
                  <a:srgbClr val="A78BFA"/>
                </a:solidFill>
                <a:latin typeface="Consolas"/>
              </a:rPr>
              <a:t>→ NativeText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200" y="4519612"/>
            <a:ext cx="1320998" cy="219075"/>
          </a:xfrm>
          <a:prstGeom prst="rect">
            <a:avLst/>
          </a:prstGeom>
          <a:solidFill>
            <a:srgbClr val="06060C"/>
          </a:solidFill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FAFAF7"/>
                </a:solidFill>
                <a:latin typeface="Inter"/>
              </a:rPr>
              <a:t>HERO GRADIENT</a:t>
            </a:r>
            <a:r>
              <a:rPr sz="800" b="1" i="0" u="none">
                <a:solidFill>
                  <a:srgbClr val="A78BFA"/>
                </a:solidFill>
                <a:latin typeface="Consolas"/>
              </a:rPr>
              <a:t>→ NativeShape · gradFill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42786" y="4519612"/>
            <a:ext cx="1211014" cy="219075"/>
          </a:xfrm>
          <a:prstGeom prst="rect">
            <a:avLst/>
          </a:prstGeom>
          <a:solidFill>
            <a:srgbClr val="06060C"/>
          </a:solidFill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FAFAF7"/>
                </a:solidFill>
                <a:latin typeface="Inter"/>
              </a:rPr>
              <a:t>CTA TEXT</a:t>
            </a:r>
            <a:r>
              <a:rPr sz="800" b="1" i="0" u="none">
                <a:solidFill>
                  <a:srgbClr val="A78BFA"/>
                </a:solidFill>
                <a:latin typeface="Consolas"/>
              </a:rPr>
              <a:t>→ NativeText · per-run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9600" y="6515100"/>
            <a:ext cx="1603028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71717A"/>
                </a:solidFill>
                <a:latin typeface="Inter"/>
              </a:rPr>
              <a:t>SLIDIFY · ATOMIC SEED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32095" y="6515100"/>
            <a:ext cx="1250305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71717A"/>
                </a:solidFill>
                <a:latin typeface="Inter"/>
              </a:rPr>
              <a:t>06 / 16 · ANATOMY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9600" y="457200"/>
            <a:ext cx="6767215" cy="26670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1800" b="1" i="0" u="none">
                <a:solidFill>
                  <a:srgbClr val="67E8F9"/>
                </a:solidFill>
                <a:latin typeface="Consolas"/>
              </a:rPr>
              <a:t>$ slidify spec --version 0.4 --target landing-page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37527" y="619125"/>
            <a:ext cx="1844873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67E8F9"/>
                </a:solidFill>
                <a:latin typeface="Consolas"/>
              </a:rPr>
              <a:t xml:space="preserve">REV · </a:t>
            </a:r>
            <a:r>
              <a:rPr sz="800" b="1" i="0" u="none">
                <a:solidFill>
                  <a:srgbClr val="A78BFA"/>
                </a:solidFill>
                <a:latin typeface="Consolas"/>
              </a:rPr>
              <a:t>04.A</a:t>
            </a:r>
            <a:r>
              <a:rPr sz="800" b="1" i="0" u="none">
                <a:solidFill>
                  <a:srgbClr val="67E8F9"/>
                </a:solidFill>
                <a:latin typeface="Consolas"/>
              </a:rPr>
              <a:t xml:space="preserve"> · 2026·05·01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600" y="1019175"/>
            <a:ext cx="5891510" cy="4953000"/>
          </a:xfrm>
          <a:prstGeom prst="roundRect">
            <a:avLst/>
          </a:prstGeom>
          <a:solidFill>
            <a:srgbClr val="67E8F9">
              <a:alpha val="4000"/>
            </a:srgbClr>
          </a:solidFill>
          <a:ln w="9525">
            <a:solidFill>
              <a:srgbClr val="67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524633" y="2029042"/>
            <a:ext cx="4061445" cy="2707630"/>
          </a:xfrm>
          <a:prstGeom prst="rect">
            <a:avLst/>
          </a:prstGeom>
          <a:noFill/>
          <a:ln w="14288">
            <a:solidFill>
              <a:srgbClr val="67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975904" y="2480314"/>
            <a:ext cx="3158902" cy="1353815"/>
          </a:xfrm>
          <a:prstGeom prst="rect">
            <a:avLst/>
          </a:prstGeom>
          <a:noFill/>
          <a:ln w="19050">
            <a:solidFill>
              <a:srgbClr val="67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1975904" y="4059765"/>
            <a:ext cx="1353815" cy="451272"/>
          </a:xfrm>
          <a:prstGeom prst="roundRect">
            <a:avLst/>
          </a:prstGeom>
          <a:solidFill>
            <a:srgbClr val="67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1975904" y="4059765"/>
            <a:ext cx="1353815" cy="451272"/>
          </a:xfrm>
          <a:prstGeom prst="roundRect">
            <a:avLst/>
          </a:prstGeom>
          <a:noFill/>
          <a:ln w="14288">
            <a:solidFill>
              <a:srgbClr val="67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Connector 10"/>
          <p:cNvCxnSpPr/>
          <p:nvPr/>
        </p:nvCxnSpPr>
        <p:spPr>
          <a:xfrm>
            <a:off x="1524633" y="1803406"/>
            <a:ext cx="4061445" cy="0"/>
          </a:xfrm>
          <a:prstGeom prst="line">
            <a:avLst/>
          </a:prstGeom>
          <a:ln w="9525">
            <a:solidFill>
              <a:srgbClr val="67E8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524633" y="1735715"/>
            <a:ext cx="0" cy="135382"/>
          </a:xfrm>
          <a:prstGeom prst="line">
            <a:avLst/>
          </a:prstGeom>
          <a:ln w="9525">
            <a:solidFill>
              <a:srgbClr val="67E8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586078" y="1735715"/>
            <a:ext cx="0" cy="135382"/>
          </a:xfrm>
          <a:prstGeom prst="line">
            <a:avLst/>
          </a:prstGeom>
          <a:ln w="9525">
            <a:solidFill>
              <a:srgbClr val="67E8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298997" y="2029042"/>
            <a:ext cx="0" cy="2707630"/>
          </a:xfrm>
          <a:prstGeom prst="line">
            <a:avLst/>
          </a:prstGeom>
          <a:ln w="9525">
            <a:solidFill>
              <a:srgbClr val="67E8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231306" y="2029042"/>
            <a:ext cx="135381" cy="0"/>
          </a:xfrm>
          <a:prstGeom prst="line">
            <a:avLst/>
          </a:prstGeom>
          <a:ln w="9525">
            <a:solidFill>
              <a:srgbClr val="67E8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231306" y="4736672"/>
            <a:ext cx="135381" cy="0"/>
          </a:xfrm>
          <a:prstGeom prst="line">
            <a:avLst/>
          </a:prstGeom>
          <a:ln w="9525">
            <a:solidFill>
              <a:srgbClr val="67E8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657225" y="1161635"/>
            <a:ext cx="381000" cy="381000"/>
          </a:xfrm>
          <a:prstGeom prst="ellipse">
            <a:avLst/>
          </a:prstGeom>
          <a:noFill/>
          <a:ln w="9525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/>
          <p:cNvSpPr/>
          <p:nvPr/>
        </p:nvSpPr>
        <p:spPr>
          <a:xfrm>
            <a:off x="752475" y="1256885"/>
            <a:ext cx="190500" cy="190500"/>
          </a:xfrm>
          <a:prstGeom prst="ellipse">
            <a:avLst/>
          </a:prstGeom>
          <a:noFill/>
          <a:ln w="9525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Connector 18"/>
          <p:cNvCxnSpPr/>
          <p:nvPr/>
        </p:nvCxnSpPr>
        <p:spPr>
          <a:xfrm>
            <a:off x="554398" y="1352135"/>
            <a:ext cx="586654" cy="0"/>
          </a:xfrm>
          <a:prstGeom prst="line">
            <a:avLst/>
          </a:prstGeom>
          <a:ln w="9525">
            <a:solidFill>
              <a:srgbClr val="A78B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47725" y="1058808"/>
            <a:ext cx="0" cy="586653"/>
          </a:xfrm>
          <a:prstGeom prst="line">
            <a:avLst/>
          </a:prstGeom>
          <a:ln w="9525">
            <a:solidFill>
              <a:srgbClr val="A78B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2690961" y="3102399"/>
            <a:ext cx="1728788" cy="26193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50" b="1" i="0">
                <a:solidFill>
                  <a:srgbClr val="67E8F9"/>
                </a:solidFill>
                <a:latin typeface="Consolas"/>
              </a:rPr>
              <a:t>slide.compose()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78241" y="4257989"/>
            <a:ext cx="749141" cy="13096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25" b="1" i="0">
                <a:solidFill>
                  <a:srgbClr val="67E8F9"/>
                </a:solidFill>
                <a:latin typeface="Consolas"/>
              </a:rPr>
              <a:t>CTA · TACTILE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53663" y="1629332"/>
            <a:ext cx="403384" cy="13096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25" b="0" i="0">
                <a:solidFill>
                  <a:srgbClr val="67E8F9"/>
                </a:solidFill>
                <a:latin typeface="Consolas"/>
              </a:rPr>
              <a:t>1280 PX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0482" y="3299037"/>
            <a:ext cx="345758" cy="13096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25" b="0" i="0">
                <a:solidFill>
                  <a:srgbClr val="67E8F9"/>
                </a:solidFill>
                <a:latin typeface="Consolas"/>
              </a:rPr>
              <a:t>720 PX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3535" y="1200150"/>
            <a:ext cx="4547890" cy="712291"/>
          </a:xfrm>
          <a:prstGeom prst="rect">
            <a:avLst/>
          </a:prstGeom>
          <a:solidFill>
            <a:srgbClr val="67E8F9">
              <a:alpha val="4000"/>
            </a:srgbClr>
          </a:solidFill>
        </p:spPr>
        <p:txBody>
          <a:bodyPr wrap="square" lIns="0" rIns="0" tIns="0" bIns="0">
            <a:spAutoFit/>
          </a:bodyPr>
          <a:lstStyle/>
          <a:p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6853535" y="1381125"/>
            <a:ext cx="688181" cy="1771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Consolas"/>
              </a:rPr>
              <a:t>viewport.w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19668" y="1381125"/>
            <a:ext cx="481757" cy="1771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 i="0" u="none">
                <a:solidFill>
                  <a:srgbClr val="67E8F9"/>
                </a:solidFill>
                <a:latin typeface="Consolas"/>
              </a:rPr>
              <a:t>1280 PX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3535" y="1558230"/>
            <a:ext cx="688181" cy="1771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Consolas"/>
              </a:rPr>
              <a:t>viewport.h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88427" y="1558230"/>
            <a:ext cx="412998" cy="1771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 i="0" u="none">
                <a:solidFill>
                  <a:srgbClr val="67E8F9"/>
                </a:solidFill>
                <a:latin typeface="Consolas"/>
              </a:rPr>
              <a:t>720 PX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3535" y="1735336"/>
            <a:ext cx="619423" cy="1771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Consolas"/>
              </a:rPr>
              <a:t>safe-area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06819" y="1735336"/>
            <a:ext cx="894606" cy="1771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 i="0" u="none">
                <a:solidFill>
                  <a:srgbClr val="67E8F9"/>
                </a:solidFill>
                <a:latin typeface="Consolas"/>
              </a:rPr>
              <a:t>1136 × 510 PX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3535" y="1200150"/>
            <a:ext cx="4547890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67E8F9"/>
                </a:solidFill>
                <a:latin typeface="Consolas"/>
              </a:rPr>
              <a:t>FRAME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3535" y="2889200"/>
            <a:ext cx="4547890" cy="712291"/>
          </a:xfrm>
          <a:prstGeom prst="rect">
            <a:avLst/>
          </a:prstGeom>
          <a:solidFill>
            <a:srgbClr val="67E8F9">
              <a:alpha val="4000"/>
            </a:srgbClr>
          </a:solidFill>
        </p:spPr>
        <p:txBody>
          <a:bodyPr wrap="square" lIns="0" rIns="0" tIns="0" bIns="0">
            <a:spAutoFit/>
          </a:bodyPr>
          <a:lstStyle/>
          <a:p>
            <a:endParaRPr lang="en-US"/>
          </a:p>
        </p:txBody>
      </p:sp>
      <p:sp>
        <p:nvSpPr>
          <p:cNvPr id="34" name="TextBox 33"/>
          <p:cNvSpPr txBox="1"/>
          <p:nvPr/>
        </p:nvSpPr>
        <p:spPr>
          <a:xfrm>
            <a:off x="6853535" y="3070175"/>
            <a:ext cx="1169938" cy="1771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Consolas"/>
              </a:rPr>
              <a:t>native_area_ratio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88427" y="3070175"/>
            <a:ext cx="412998" cy="1771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 i="0" u="none">
                <a:solidFill>
                  <a:srgbClr val="34D399"/>
                </a:solidFill>
                <a:latin typeface="Consolas"/>
              </a:rPr>
              <a:t>≥ 0.95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3535" y="3247281"/>
            <a:ext cx="963513" cy="1771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Consolas"/>
              </a:rPr>
              <a:t>fonts.embedded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13244" y="3247281"/>
            <a:ext cx="688181" cy="1771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 i="0" u="none">
                <a:solidFill>
                  <a:srgbClr val="67E8F9"/>
                </a:solidFill>
                <a:latin typeface="Consolas"/>
              </a:rPr>
              <a:t>9 families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3535" y="3424386"/>
            <a:ext cx="757089" cy="1771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Consolas"/>
              </a:rPr>
              <a:t>tier-0 hits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782002" y="3424386"/>
            <a:ext cx="619423" cy="1771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 i="0" u="none">
                <a:solidFill>
                  <a:srgbClr val="67E8F9"/>
                </a:solidFill>
                <a:latin typeface="Consolas"/>
              </a:rPr>
              <a:t>247 / 318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3535" y="2889200"/>
            <a:ext cx="4547890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67E8F9"/>
                </a:solidFill>
                <a:latin typeface="Consolas"/>
              </a:rPr>
              <a:t>EMIT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3535" y="4578251"/>
            <a:ext cx="4547890" cy="712291"/>
          </a:xfrm>
          <a:prstGeom prst="rect">
            <a:avLst/>
          </a:prstGeom>
          <a:solidFill>
            <a:srgbClr val="67E8F9">
              <a:alpha val="4000"/>
            </a:srgbClr>
          </a:solidFill>
        </p:spPr>
        <p:txBody>
          <a:bodyPr wrap="square" lIns="0" rIns="0" tIns="0" bIns="0">
            <a:spAutoFit/>
          </a:bodyPr>
          <a:lstStyle/>
          <a:p>
            <a:endParaRPr lang="en-US"/>
          </a:p>
        </p:txBody>
      </p:sp>
      <p:sp>
        <p:nvSpPr>
          <p:cNvPr id="42" name="TextBox 41"/>
          <p:cNvSpPr txBox="1"/>
          <p:nvPr/>
        </p:nvSpPr>
        <p:spPr>
          <a:xfrm>
            <a:off x="6853535" y="4759226"/>
            <a:ext cx="894606" cy="1771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Consolas"/>
              </a:rPr>
              <a:t>atoms / slide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057334" y="4759226"/>
            <a:ext cx="344091" cy="1771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 i="0" u="none">
                <a:solidFill>
                  <a:srgbClr val="67E8F9"/>
                </a:solidFill>
                <a:latin typeface="Consolas"/>
              </a:rPr>
              <a:t>4 — 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3535" y="4936331"/>
            <a:ext cx="963513" cy="1771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Consolas"/>
              </a:rPr>
              <a:t>axes / cluster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194852" y="4936331"/>
            <a:ext cx="206573" cy="1771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 i="0" u="none">
                <a:solidFill>
                  <a:srgbClr val="67E8F9"/>
                </a:solidFill>
                <a:latin typeface="Consolas"/>
              </a:rPr>
              <a:t>≤ 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3535" y="5113437"/>
            <a:ext cx="894606" cy="1771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Consolas"/>
              </a:rPr>
              <a:t>z-stack depth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194852" y="5113437"/>
            <a:ext cx="206573" cy="1771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 i="0" u="none">
                <a:solidFill>
                  <a:srgbClr val="67E8F9"/>
                </a:solidFill>
                <a:latin typeface="Consolas"/>
              </a:rPr>
              <a:t>≤ 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53535" y="4578251"/>
            <a:ext cx="4547890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67E8F9"/>
                </a:solidFill>
                <a:latin typeface="Consolas"/>
              </a:rPr>
              <a:t>COMPOSITION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09600" y="6581775"/>
            <a:ext cx="1415355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67E8F9"/>
                </a:solidFill>
                <a:latin typeface="Consolas"/>
              </a:rPr>
              <a:t>SLIDIFY · BLUEPRINT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092482" y="6581775"/>
            <a:ext cx="1489918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67E8F9"/>
                </a:solidFill>
                <a:latin typeface="Consolas"/>
              </a:rPr>
              <a:t>07 / 16 · SPEC SHEET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gradFill flip="none" rotWithShape="1">
            <a:gsLst>
              <a:gs pos="0">
                <a:srgbClr val="1E1B4B"/>
              </a:gs>
              <a:gs pos="10000">
                <a:srgbClr val="1B1841"/>
              </a:gs>
              <a:gs pos="20000">
                <a:srgbClr val="171538"/>
              </a:gs>
              <a:gs pos="30000">
                <a:srgbClr val="14132E"/>
              </a:gs>
              <a:gs pos="40000">
                <a:srgbClr val="101025"/>
              </a:gs>
              <a:gs pos="50000">
                <a:srgbClr val="0D0D1C"/>
              </a:gs>
              <a:gs pos="60000">
                <a:srgbClr val="0A0A14"/>
              </a:gs>
              <a:gs pos="66667">
                <a:srgbClr val="080812"/>
              </a:gs>
              <a:gs pos="73333">
                <a:srgbClr val="060610"/>
              </a:gs>
              <a:gs pos="80000">
                <a:srgbClr val="05050E"/>
              </a:gs>
              <a:gs pos="86667">
                <a:srgbClr val="04040C"/>
              </a:gs>
              <a:gs pos="93333">
                <a:srgbClr val="03030A"/>
              </a:gs>
              <a:gs pos="100000">
                <a:srgbClr val="020208"/>
              </a:gs>
            </a:gsLst>
            <a:path path="circle">
              <a:fillToRect l="50000" t="50000" r="50000" b="50000"/>
            </a:path>
          </a:gradFill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609600" y="457200"/>
            <a:ext cx="5347692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A78BFA"/>
                </a:solidFill>
                <a:latin typeface="Inter"/>
              </a:rPr>
              <a:t>PIPELINE · LIVE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28650"/>
            <a:ext cx="5347692" cy="300038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2250" b="1" i="0" u="none">
                <a:solidFill>
                  <a:srgbClr val="F5F5F7"/>
                </a:solidFill>
                <a:latin typeface="Inter"/>
              </a:rPr>
              <a:t>Render. Cluster. Classify. Emit. — looped.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27840" y="814388"/>
            <a:ext cx="1954560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52525B"/>
                </a:solidFill>
                <a:latin typeface="Inter"/>
              </a:rPr>
              <a:t>08 / 16 · PROCESS RING</a:t>
            </a:r>
          </a:p>
        </p:txBody>
      </p:sp>
      <p:sp>
        <p:nvSpPr>
          <p:cNvPr id="6" name="Oval 5"/>
          <p:cNvSpPr/>
          <p:nvPr/>
        </p:nvSpPr>
        <p:spPr>
          <a:xfrm>
            <a:off x="4191000" y="1795462"/>
            <a:ext cx="3810000" cy="3810000"/>
          </a:xfrm>
          <a:prstGeom prst="ellipse">
            <a:avLst/>
          </a:prstGeom>
          <a:noFill/>
          <a:ln w="19050">
            <a:solidFill>
              <a:srgbClr val="A78BFA">
                <a:alpha val="3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6038850" y="1738312"/>
            <a:ext cx="114300" cy="11430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7943850" y="3643312"/>
            <a:ext cx="114300" cy="114300"/>
          </a:xfrm>
          <a:prstGeom prst="ellipse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6038850" y="5548312"/>
            <a:ext cx="114300" cy="114300"/>
          </a:xfrm>
          <a:prstGeom prst="ellipse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4133850" y="3643312"/>
            <a:ext cx="114300" cy="114300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10"/>
          <p:cNvSpPr/>
          <p:nvPr/>
        </p:nvSpPr>
        <p:spPr>
          <a:xfrm>
            <a:off x="6096000" y="1985962"/>
            <a:ext cx="1714500" cy="17145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cubicBezTo>
                  <a:pt x="54858" y="0"/>
                  <a:pt x="100000" y="45142"/>
                  <a:pt x="100000" y="100000"/>
                </a:cubicBezTo>
              </a:path>
            </a:pathLst>
          </a:custGeom>
          <a:noFill/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11"/>
          <p:cNvSpPr/>
          <p:nvPr/>
        </p:nvSpPr>
        <p:spPr>
          <a:xfrm>
            <a:off x="6096000" y="3700462"/>
            <a:ext cx="1714500" cy="17145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100000" y="0"/>
                </a:moveTo>
                <a:cubicBezTo>
                  <a:pt x="100000" y="54858"/>
                  <a:pt x="54858" y="100000"/>
                  <a:pt x="0" y="100000"/>
                </a:cubicBezTo>
              </a:path>
            </a:pathLst>
          </a:custGeom>
          <a:noFill/>
          <a:ln w="1905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12"/>
          <p:cNvSpPr/>
          <p:nvPr/>
        </p:nvSpPr>
        <p:spPr>
          <a:xfrm>
            <a:off x="4381500" y="3700462"/>
            <a:ext cx="1714500" cy="17145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100000" y="100000"/>
                </a:moveTo>
                <a:cubicBezTo>
                  <a:pt x="45142" y="100000"/>
                  <a:pt x="0" y="54858"/>
                  <a:pt x="0" y="0"/>
                </a:cubicBezTo>
              </a:path>
            </a:pathLst>
          </a:custGeom>
          <a:noFill/>
          <a:ln w="19050"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 13"/>
          <p:cNvSpPr/>
          <p:nvPr/>
        </p:nvSpPr>
        <p:spPr>
          <a:xfrm>
            <a:off x="4381500" y="1985962"/>
            <a:ext cx="1714500" cy="17145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100000"/>
                </a:moveTo>
                <a:cubicBezTo>
                  <a:pt x="0" y="45142"/>
                  <a:pt x="45142" y="0"/>
                  <a:pt x="100000" y="0"/>
                </a:cubicBezTo>
              </a:path>
            </a:pathLst>
          </a:custGeom>
          <a:noFill/>
          <a:ln w="1905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ounded Rectangle 14"/>
          <p:cNvSpPr/>
          <p:nvPr/>
        </p:nvSpPr>
        <p:spPr>
          <a:xfrm>
            <a:off x="4772025" y="2967335"/>
            <a:ext cx="2647950" cy="1466255"/>
          </a:xfrm>
          <a:prstGeom prst="roundRect">
            <a:avLst/>
          </a:prstGeom>
          <a:solidFill>
            <a:srgbClr val="000000">
              <a:alpha val="55000"/>
            </a:srgbClr>
          </a:solidFill>
          <a:ln w="9525">
            <a:solidFill>
              <a:srgbClr val="A78BFA"/>
            </a:solidFill>
          </a:ln>
          <a:effectLst>
            <a:innerShdw blurRad="0" dist="9525" dir="5400000">
              <a:srgbClr val="FFFFFF">
                <a:alpha val="10000"/>
              </a:srgbClr>
            </a:innerShdw>
            <a:outerShdw blurRad="381000" dist="152400" dir="5400000" algn="ctr" rotWithShape="0">
              <a:srgbClr val="6366F1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4772025" y="2967335"/>
            <a:ext cx="2647950" cy="1466255"/>
          </a:xfrm>
          <a:prstGeom prst="rect">
            <a:avLst/>
          </a:prstGeom>
          <a:noFill/>
          <a:ln>
            <a:noFill/>
          </a:ln>
          <a:effectLst>
            <a:innerShdw blurRad="95250" dist="0" dir="0">
              <a:srgbClr val="000000">
                <a:alpha val="35000"/>
              </a:srgbClr>
            </a:inn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4953000" y="3148310"/>
            <a:ext cx="2286000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00" b="1" i="0" u="none">
                <a:solidFill>
                  <a:srgbClr val="A1A1AA"/>
                </a:solidFill>
                <a:latin typeface="Consolas"/>
              </a:rPr>
              <a:t>$ slidify convert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53000" y="3310235"/>
            <a:ext cx="2286000" cy="238125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ctr"/>
            <a:r>
              <a:rPr sz="1650" b="1" i="0" u="none">
                <a:solidFill>
                  <a:srgbClr val="34D399"/>
                </a:solidFill>
                <a:latin typeface="Consolas"/>
              </a:rPr>
              <a:t>native_area_ratio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53000" y="3643610"/>
            <a:ext cx="2286000" cy="36195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ctr"/>
            <a:r>
              <a:rPr sz="2400" b="1" i="0" u="none">
                <a:solidFill>
                  <a:srgbClr val="34D399"/>
                </a:solidFill>
                <a:latin typeface="Consolas"/>
              </a:rPr>
              <a:t>0.97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53000" y="4100810"/>
            <a:ext cx="2286000" cy="1518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25" b="0" i="0" u="none">
                <a:solidFill>
                  <a:srgbClr val="FFFFFF"/>
                </a:solidFill>
                <a:latin typeface="Inter"/>
              </a:rPr>
              <a:t>23 s · 12 slides · 0 raster fallbacks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286375" y="1147762"/>
            <a:ext cx="1619250" cy="94178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/>
          <p:cNvSpPr txBox="1"/>
          <p:nvPr/>
        </p:nvSpPr>
        <p:spPr>
          <a:xfrm>
            <a:off x="5915025" y="1147762"/>
            <a:ext cx="361950" cy="361950"/>
          </a:xfrm>
          <a:prstGeom prst="rect">
            <a:avLst/>
          </a:prstGeom>
          <a:solidFill>
            <a:srgbClr val="A78BFA"/>
          </a:solidFill>
          <a:effectLst>
            <a:outerShdw blurRad="0" dist="0" dir="0" algn="ctr" rotWithShape="0">
              <a:srgbClr val="0A0A14"/>
            </a:outerShdw>
          </a:effectLst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 i="0" u="none">
                <a:solidFill>
                  <a:srgbClr val="0A0A0F"/>
                </a:solidFill>
                <a:latin typeface="Inter"/>
              </a:rPr>
              <a:t>01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6375" y="1585912"/>
            <a:ext cx="1619250" cy="1619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25" b="1" i="0" u="none">
                <a:solidFill>
                  <a:srgbClr val="F5F5F7"/>
                </a:solidFill>
                <a:latin typeface="Inter"/>
              </a:rPr>
              <a:t>Render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86375" y="1785938"/>
            <a:ext cx="1619250" cy="30360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25" b="0" i="0" u="none">
                <a:solidFill>
                  <a:srgbClr val="A1A1AA"/>
                </a:solidFill>
                <a:latin typeface="Inter"/>
              </a:rPr>
              <a:t>Headless Chromium captures resolved pixel layout.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886950" y="3229570"/>
            <a:ext cx="1619250" cy="94178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10515600" y="3229570"/>
            <a:ext cx="361950" cy="361950"/>
          </a:xfrm>
          <a:prstGeom prst="rect">
            <a:avLst/>
          </a:prstGeom>
          <a:solidFill>
            <a:srgbClr val="C084FC"/>
          </a:solidFill>
          <a:effectLst>
            <a:outerShdw blurRad="0" dist="0" dir="0" algn="ctr" rotWithShape="0">
              <a:srgbClr val="0A0A14"/>
            </a:outerShdw>
          </a:effectLst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 i="0" u="none">
                <a:solidFill>
                  <a:srgbClr val="0A0A0F"/>
                </a:solidFill>
                <a:latin typeface="Inter"/>
              </a:rPr>
              <a:t>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86950" y="3667720"/>
            <a:ext cx="1619250" cy="1619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25" b="1" i="0" u="none">
                <a:solidFill>
                  <a:srgbClr val="F5F5F7"/>
                </a:solidFill>
                <a:latin typeface="Inter"/>
              </a:rPr>
              <a:t>Cluster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86950" y="3867745"/>
            <a:ext cx="1619250" cy="30360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25" b="0" i="0" u="none">
                <a:solidFill>
                  <a:srgbClr val="A1A1AA"/>
                </a:solidFill>
                <a:latin typeface="Inter"/>
              </a:rPr>
              <a:t>DOM elements grouped into atomic visual units.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286375" y="5311378"/>
            <a:ext cx="1619250" cy="94178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/>
          <p:cNvSpPr txBox="1"/>
          <p:nvPr/>
        </p:nvSpPr>
        <p:spPr>
          <a:xfrm>
            <a:off x="5915025" y="5311378"/>
            <a:ext cx="361950" cy="361950"/>
          </a:xfrm>
          <a:prstGeom prst="rect">
            <a:avLst/>
          </a:prstGeom>
          <a:solidFill>
            <a:srgbClr val="F472B6"/>
          </a:solidFill>
          <a:effectLst>
            <a:outerShdw blurRad="0" dist="0" dir="0" algn="ctr" rotWithShape="0">
              <a:srgbClr val="0A0A14"/>
            </a:outerShdw>
          </a:effectLst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 i="0" u="none">
                <a:solidFill>
                  <a:srgbClr val="0A0A0F"/>
                </a:solidFill>
                <a:latin typeface="Inter"/>
              </a:rPr>
              <a:t>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86375" y="5749528"/>
            <a:ext cx="1619250" cy="1619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25" b="1" i="0" u="none">
                <a:solidFill>
                  <a:srgbClr val="F5F5F7"/>
                </a:solidFill>
                <a:latin typeface="Inter"/>
              </a:rPr>
              <a:t>Classify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86375" y="5949553"/>
            <a:ext cx="1619250" cy="30360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25" b="0" i="0" u="none">
                <a:solidFill>
                  <a:srgbClr val="A1A1AA"/>
                </a:solidFill>
                <a:latin typeface="Inter"/>
              </a:rPr>
              <a:t>Tier-0 atom registry → tier-1 rules → tier-2 heuristics.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5800" y="3229570"/>
            <a:ext cx="1619250" cy="94178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/>
          <p:cNvSpPr txBox="1"/>
          <p:nvPr/>
        </p:nvSpPr>
        <p:spPr>
          <a:xfrm>
            <a:off x="1314450" y="3229570"/>
            <a:ext cx="361950" cy="361950"/>
          </a:xfrm>
          <a:prstGeom prst="rect">
            <a:avLst/>
          </a:prstGeom>
          <a:solidFill>
            <a:srgbClr val="FB923C"/>
          </a:solidFill>
          <a:effectLst>
            <a:outerShdw blurRad="0" dist="0" dir="0" algn="ctr" rotWithShape="0">
              <a:srgbClr val="0A0A14"/>
            </a:outerShdw>
          </a:effectLst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 i="0" u="none">
                <a:solidFill>
                  <a:srgbClr val="0A0A0F"/>
                </a:solidFill>
                <a:latin typeface="Inter"/>
              </a:rPr>
              <a:t>04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3667720"/>
            <a:ext cx="1619250" cy="1619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25" b="1" i="0" u="none">
                <a:solidFill>
                  <a:srgbClr val="F5F5F7"/>
                </a:solidFill>
                <a:latin typeface="Inter"/>
              </a:rPr>
              <a:t>Emit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3867745"/>
            <a:ext cx="1619250" cy="30360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25" b="0" i="0" u="none">
                <a:solidFill>
                  <a:srgbClr val="A1A1AA"/>
                </a:solidFill>
                <a:latin typeface="Inter"/>
              </a:rPr>
              <a:t>python-pptx writes native shapes with EMU precision.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9600" y="6572250"/>
            <a:ext cx="1603028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52525B"/>
                </a:solidFill>
                <a:latin typeface="Inter"/>
              </a:rPr>
              <a:t>SLIDIFY · ATOMIC SEED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50500" y="6572250"/>
            <a:ext cx="1631900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52525B"/>
                </a:solidFill>
                <a:latin typeface="Inter"/>
              </a:rPr>
              <a:t>08 / 16 · PROCESS RING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202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gradFill flip="none" rotWithShape="1">
            <a:gsLst>
              <a:gs pos="0">
                <a:srgbClr val="A78BFA">
                  <a:alpha val="6000"/>
                </a:srgbClr>
              </a:gs>
              <a:gs pos="100000">
                <a:srgbClr val="A78BFA">
                  <a:alpha val="6000"/>
                </a:srgbClr>
              </a:gs>
            </a:gsLst>
            <a:lin ang="16200000" scaled="0"/>
          </a:gradFill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609600" y="457200"/>
            <a:ext cx="6789093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A78BFA"/>
                </a:solidFill>
                <a:latin typeface="Consolas"/>
              </a:rPr>
              <a:t>$ slidify ticker --live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38175"/>
            <a:ext cx="6789093" cy="300038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2250" b="1" i="0" u="none">
                <a:solidFill>
                  <a:srgbClr val="F5F5F7"/>
                </a:solidFill>
                <a:latin typeface="Inter"/>
              </a:rPr>
              <a:t>Live deployment tape — every commit, every region.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36671" y="814388"/>
            <a:ext cx="1545729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52525B"/>
                </a:solidFill>
                <a:latin typeface="Consolas"/>
              </a:rPr>
              <a:t>09 / 16 · TICKER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0575" y="1362075"/>
            <a:ext cx="9133582" cy="200025"/>
          </a:xfrm>
          <a:prstGeom prst="rect">
            <a:avLst/>
          </a:prstGeom>
          <a:solidFill>
            <a:srgbClr val="FFFFFF">
              <a:alpha val="4000"/>
            </a:srgbClr>
          </a:solidFill>
        </p:spPr>
        <p:txBody>
          <a:bodyPr wrap="square" lIns="0" rIns="0" tIns="0" bIns="0">
            <a:spAutoFit/>
          </a:bodyPr>
          <a:lstStyle/>
          <a:p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790575" y="1362075"/>
            <a:ext cx="454075" cy="2000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1" i="0" u="none">
                <a:solidFill>
                  <a:srgbClr val="F5F5F7"/>
                </a:solidFill>
                <a:latin typeface="Consolas"/>
              </a:rPr>
              <a:t>SHIP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0850" y="1362075"/>
            <a:ext cx="794593" cy="2000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1" i="0" u="none">
                <a:solidFill>
                  <a:srgbClr val="34D399"/>
                </a:solidFill>
                <a:latin typeface="Consolas"/>
              </a:rPr>
              <a:t>▲ 2,184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67843" y="1362075"/>
            <a:ext cx="113556" cy="2000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 i="0" u="none">
                <a:solidFill>
                  <a:srgbClr val="3F3F46"/>
                </a:solidFill>
                <a:latin typeface="Consolas"/>
              </a:rPr>
              <a:t>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33799" y="1362075"/>
            <a:ext cx="454075" cy="2000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1" i="0" u="none">
                <a:solidFill>
                  <a:srgbClr val="F5F5F7"/>
                </a:solidFill>
                <a:latin typeface="Consolas"/>
              </a:rPr>
              <a:t>STAR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64073" y="1362075"/>
            <a:ext cx="567630" cy="2000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1" i="0" u="none">
                <a:solidFill>
                  <a:srgbClr val="34D399"/>
                </a:solidFill>
                <a:latin typeface="Consolas"/>
              </a:rPr>
              <a:t>▲ 14k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84104" y="1362075"/>
            <a:ext cx="113556" cy="2000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 i="0" u="none">
                <a:solidFill>
                  <a:srgbClr val="3F3F46"/>
                </a:solidFill>
                <a:latin typeface="Consolas"/>
              </a:rPr>
              <a:t>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50060" y="1362075"/>
            <a:ext cx="340668" cy="2000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1" i="0" u="none">
                <a:solidFill>
                  <a:srgbClr val="F5F5F7"/>
                </a:solidFill>
                <a:latin typeface="Consolas"/>
              </a:rPr>
              <a:t>BUG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66927" y="1362075"/>
            <a:ext cx="340668" cy="2000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1" i="0" u="none">
                <a:solidFill>
                  <a:srgbClr val="F472B6"/>
                </a:solidFill>
                <a:latin typeface="Consolas"/>
              </a:rPr>
              <a:t>▼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59995" y="1362075"/>
            <a:ext cx="113556" cy="2000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 i="0" u="none">
                <a:solidFill>
                  <a:srgbClr val="3F3F46"/>
                </a:solidFill>
                <a:latin typeface="Consolas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25951" y="1362075"/>
            <a:ext cx="340668" cy="2000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1" i="0" u="none">
                <a:solidFill>
                  <a:srgbClr val="F5F5F7"/>
                </a:solidFill>
                <a:latin typeface="Consolas"/>
              </a:rPr>
              <a:t>NET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42818" y="1362075"/>
            <a:ext cx="908149" cy="2000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1" i="0" u="none">
                <a:solidFill>
                  <a:srgbClr val="34D399"/>
                </a:solidFill>
                <a:latin typeface="Consolas"/>
              </a:rPr>
              <a:t>▲ 99.98%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03368" y="1362075"/>
            <a:ext cx="113556" cy="2000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 i="0" u="none">
                <a:solidFill>
                  <a:srgbClr val="3F3F46"/>
                </a:solidFill>
                <a:latin typeface="Consolas"/>
              </a:rPr>
              <a:t>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69323" y="1362075"/>
            <a:ext cx="340668" cy="2000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1" i="0" u="none">
                <a:solidFill>
                  <a:srgbClr val="F5F5F7"/>
                </a:solidFill>
                <a:latin typeface="Consolas"/>
              </a:rPr>
              <a:t>P95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86191" y="1362075"/>
            <a:ext cx="794593" cy="2000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1" i="0" u="none">
                <a:solidFill>
                  <a:srgbClr val="34D399"/>
                </a:solidFill>
                <a:latin typeface="Consolas"/>
              </a:rPr>
              <a:t>▲ 248ms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33184" y="1362075"/>
            <a:ext cx="113556" cy="2000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 i="0" u="none">
                <a:solidFill>
                  <a:srgbClr val="3F3F46"/>
                </a:solidFill>
                <a:latin typeface="Consolas"/>
              </a:rPr>
              <a:t>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9140" y="1362075"/>
            <a:ext cx="340668" cy="2000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1" i="0" u="none">
                <a:solidFill>
                  <a:srgbClr val="F5F5F7"/>
                </a:solidFill>
                <a:latin typeface="Consolas"/>
              </a:rPr>
              <a:t>ARR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16008" y="1362075"/>
            <a:ext cx="908149" cy="2000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1" i="0" u="none">
                <a:solidFill>
                  <a:srgbClr val="34D399"/>
                </a:solidFill>
                <a:latin typeface="Consolas"/>
              </a:rPr>
              <a:t>▲ $14.2M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0575" y="2057400"/>
            <a:ext cx="11362432" cy="142875"/>
          </a:xfrm>
          <a:prstGeom prst="rect">
            <a:avLst/>
          </a:prstGeom>
          <a:solidFill>
            <a:srgbClr val="FFFFFF">
              <a:alpha val="4000"/>
            </a:srgbClr>
          </a:solidFill>
        </p:spPr>
        <p:txBody>
          <a:bodyPr wrap="non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A78BFA"/>
                </a:solidFill>
                <a:latin typeface="Consolas"/>
              </a:rPr>
              <a:t xml:space="preserve">CHANGELOG </a:t>
            </a:r>
            <a:r>
              <a:rPr sz="975" b="1" i="0" u="none">
                <a:solidFill>
                  <a:srgbClr val="A1A1AA"/>
                </a:solidFill>
                <a:latin typeface="Consolas"/>
              </a:rPr>
              <a:t xml:space="preserve">
      v0.4.2 atoms.yaml · v0.4.1 longshadow recipe · v0.4.0 atomic seed · v0.3.9 anim capture · v0.3.8 native tables
    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9600" y="2528888"/>
            <a:ext cx="3568601" cy="2152650"/>
          </a:xfrm>
          <a:prstGeom prst="roundRect">
            <a:avLst/>
          </a:prstGeom>
          <a:solidFill>
            <a:srgbClr val="FFFFFF">
              <a:alpha val="4000"/>
            </a:srgbClr>
          </a:solidFill>
          <a:ln w="952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609600" y="2528888"/>
            <a:ext cx="3568601" cy="2152650"/>
          </a:xfrm>
          <a:prstGeom prst="rect">
            <a:avLst/>
          </a:prstGeom>
          <a:noFill/>
          <a:ln>
            <a:noFill/>
          </a:ln>
          <a:effectLst>
            <a:innerShdw blurRad="95250" dist="0" dir="0">
              <a:srgbClr val="000000">
                <a:alpha val="35000"/>
              </a:srgbClr>
            </a:inn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/>
          <p:cNvSpPr txBox="1"/>
          <p:nvPr/>
        </p:nvSpPr>
        <p:spPr>
          <a:xfrm>
            <a:off x="790575" y="2690812"/>
            <a:ext cx="3206651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71717A"/>
                </a:solidFill>
                <a:latin typeface="Consolas"/>
              </a:rPr>
              <a:t>▲ DEPLOYS · 24H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0575" y="3328988"/>
            <a:ext cx="3206651" cy="34290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2700" b="1" i="0" u="none">
                <a:solidFill>
                  <a:srgbClr val="34D399"/>
                </a:solidFill>
                <a:latin typeface="Consolas"/>
              </a:rPr>
              <a:t>312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0575" y="4214812"/>
            <a:ext cx="2018556" cy="2809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0" i="0" u="none">
                <a:solidFill>
                  <a:srgbClr val="A1A1AA"/>
                </a:solidFill>
                <a:latin typeface="Consolas"/>
              </a:rPr>
              <a:t>across us-east, eu-west, apac</a:t>
            </a:r>
          </a:p>
          <a:p>
            <a:pPr algn="l"/>
            <a:r>
              <a:rPr sz="825" b="0" i="0" u="none">
                <a:solidFill>
                  <a:srgbClr val="A1A1AA"/>
                </a:solidFill>
                <a:latin typeface="Consolas"/>
              </a:rPr>
              <a:t>0 rollbacks · 0 SSIM regressions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11551" y="2528888"/>
            <a:ext cx="3568750" cy="2152650"/>
          </a:xfrm>
          <a:prstGeom prst="roundRect">
            <a:avLst/>
          </a:prstGeom>
          <a:solidFill>
            <a:srgbClr val="FFFFFF">
              <a:alpha val="4000"/>
            </a:srgbClr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4311551" y="2528888"/>
            <a:ext cx="3568750" cy="2152650"/>
          </a:xfrm>
          <a:prstGeom prst="rect">
            <a:avLst/>
          </a:prstGeom>
          <a:noFill/>
          <a:ln>
            <a:noFill/>
          </a:ln>
          <a:effectLst>
            <a:innerShdw blurRad="95250" dist="0" dir="0">
              <a:srgbClr val="000000">
                <a:alpha val="35000"/>
              </a:srgbClr>
            </a:inn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/>
          <p:cNvSpPr txBox="1"/>
          <p:nvPr/>
        </p:nvSpPr>
        <p:spPr>
          <a:xfrm>
            <a:off x="4492526" y="2690812"/>
            <a:ext cx="3206800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71717A"/>
                </a:solidFill>
                <a:latin typeface="Consolas"/>
              </a:rPr>
              <a:t>⌁ ACTIVE COMPILES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92526" y="3357562"/>
            <a:ext cx="3206800" cy="34290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2700" b="1" i="0" u="none">
                <a:solidFill>
                  <a:srgbClr val="F5F5F7"/>
                </a:solidFill>
                <a:latin typeface="Consolas"/>
              </a:rPr>
              <a:t>14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40176" y="4338638"/>
            <a:ext cx="521494" cy="104775"/>
          </a:xfrm>
          <a:prstGeom prst="rect">
            <a:avLst/>
          </a:prstGeom>
          <a:solidFill>
            <a:srgbClr val="34D399">
              <a:alpha val="10000"/>
            </a:srgbClr>
          </a:solidFill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34D399"/>
                </a:solidFill>
                <a:latin typeface="Consolas"/>
              </a:rPr>
              <a:t>HEALTHY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13650" y="2528888"/>
            <a:ext cx="3568601" cy="2152650"/>
          </a:xfrm>
          <a:prstGeom prst="roundRect">
            <a:avLst/>
          </a:prstGeom>
          <a:solidFill>
            <a:srgbClr val="FFFFFF">
              <a:alpha val="4000"/>
            </a:srgbClr>
          </a:solidFill>
          <a:ln w="9525"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/>
          <p:cNvSpPr/>
          <p:nvPr/>
        </p:nvSpPr>
        <p:spPr>
          <a:xfrm>
            <a:off x="8013650" y="2528888"/>
            <a:ext cx="3568601" cy="2152650"/>
          </a:xfrm>
          <a:prstGeom prst="rect">
            <a:avLst/>
          </a:prstGeom>
          <a:noFill/>
          <a:ln>
            <a:noFill/>
          </a:ln>
          <a:effectLst>
            <a:innerShdw blurRad="95250" dist="0" dir="0">
              <a:srgbClr val="000000">
                <a:alpha val="35000"/>
              </a:srgbClr>
            </a:inn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/>
          <p:cNvSpPr txBox="1"/>
          <p:nvPr/>
        </p:nvSpPr>
        <p:spPr>
          <a:xfrm>
            <a:off x="8194625" y="2690812"/>
            <a:ext cx="3206651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71717A"/>
                </a:solidFill>
                <a:latin typeface="Consolas"/>
              </a:rPr>
              <a:t>▼ ERROR BUDGET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94625" y="3328988"/>
            <a:ext cx="3206651" cy="34290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2700" b="1" i="0" u="none">
                <a:solidFill>
                  <a:srgbClr val="F472B6"/>
                </a:solidFill>
                <a:latin typeface="Consolas"/>
              </a:rPr>
              <a:t>0.02%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94625" y="4214812"/>
            <a:ext cx="1892498" cy="2809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0" i="0" u="none">
                <a:solidFill>
                  <a:srgbClr val="A1A1AA"/>
                </a:solidFill>
                <a:latin typeface="Consolas"/>
              </a:rPr>
              <a:t>3 retries · all auto-recovered</a:t>
            </a:r>
          </a:p>
          <a:p>
            <a:pPr algn="l"/>
            <a:r>
              <a:rPr sz="825" b="0" i="0" u="none">
                <a:solidFill>
                  <a:srgbClr val="A1A1AA"/>
                </a:solidFill>
                <a:latin typeface="Consolas"/>
              </a:rPr>
              <a:t>SLA · 99.95% met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9600" y="6581775"/>
            <a:ext cx="1720751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52525B"/>
                </a:solidFill>
                <a:latin typeface="Consolas"/>
              </a:rPr>
              <a:t>SLIDIFY · ATOMIC SEED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97789" y="6581775"/>
            <a:ext cx="1884611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52525B"/>
                </a:solidFill>
                <a:latin typeface="Consolas"/>
              </a:rPr>
              <a:t>09 / 16 · TICKER · LIVE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0A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gradFill flip="none" rotWithShape="1">
            <a:gsLst>
              <a:gs pos="0">
                <a:srgbClr val="7C2D12"/>
              </a:gs>
              <a:gs pos="35000">
                <a:srgbClr val="DC2626"/>
              </a:gs>
              <a:gs pos="65000">
                <a:srgbClr val="FB923C"/>
              </a:gs>
              <a:gs pos="100000">
                <a:srgbClr val="FBBF24"/>
              </a:gs>
            </a:gsLst>
            <a:lin ang="4500000" scaled="0"/>
          </a:gradFill>
          <a:xfrm>
            <a:off x="914400" y="609600"/>
            <a:ext cx="10363200" cy="5905500"/>
          </a:xfrm>
          <a:prstGeom prst="rect">
            <a:avLst/>
          </a:prstGeom>
        </p:spPr>
        <p:txBody>
          <a:bodyPr wrap="square" lIns="0" rIns="0" tIns="0" bIns="0">
            <a:normAutofit/>
          </a:bodyPr>
          <a:lstStyle/>
          <a:p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1828800" y="3648075"/>
            <a:ext cx="6625382" cy="1676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5000" b="1" i="0" u="none">
                <a:solidFill>
                  <a:srgbClr val="7C2D12"/>
                </a:solidFill>
                <a:latin typeface="Bebas Neue"/>
              </a:rPr>
              <a:t>SOLAR.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14500" y="3533775"/>
            <a:ext cx="6625382" cy="1676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5000" b="1" i="0" u="none">
                <a:solidFill>
                  <a:srgbClr val="7C2D12"/>
                </a:solidFill>
                <a:latin typeface="Bebas Neue"/>
              </a:rPr>
              <a:t>SOLAR.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3419475"/>
            <a:ext cx="6625382" cy="1676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5000" b="1" i="0" u="none">
                <a:solidFill>
                  <a:srgbClr val="7C2D12"/>
                </a:solidFill>
                <a:latin typeface="Bebas Neue"/>
              </a:rPr>
              <a:t>SOLAR.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85900" y="3305175"/>
            <a:ext cx="6625382" cy="1676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5000" b="1" i="0" u="none">
                <a:solidFill>
                  <a:srgbClr val="7C2D12"/>
                </a:solidFill>
                <a:latin typeface="Bebas Neue"/>
              </a:rPr>
              <a:t>SOLAR.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190875"/>
            <a:ext cx="6625382" cy="1676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5000" b="1" i="0" u="none">
                <a:solidFill>
                  <a:srgbClr val="7C2D12"/>
                </a:solidFill>
                <a:latin typeface="Bebas Neue"/>
              </a:rPr>
              <a:t>SOLAR.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57300" y="3076575"/>
            <a:ext cx="6625382" cy="1676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5000" b="1" i="0" u="none">
                <a:solidFill>
                  <a:srgbClr val="7C2D12"/>
                </a:solidFill>
                <a:latin typeface="Bebas Neue"/>
              </a:rPr>
              <a:t>SOLAR.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962275"/>
            <a:ext cx="6625382" cy="1676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5000" b="1" i="0" u="none">
                <a:solidFill>
                  <a:srgbClr val="7C2D12"/>
                </a:solidFill>
                <a:latin typeface="Bebas Neue"/>
              </a:rPr>
              <a:t>SOLAR.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8700" y="2847975"/>
            <a:ext cx="6625382" cy="1676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5000" b="1" i="0" u="none">
                <a:solidFill>
                  <a:srgbClr val="7C2D12"/>
                </a:solidFill>
                <a:latin typeface="Bebas Neue"/>
              </a:rPr>
              <a:t>SOLAR.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609600"/>
            <a:ext cx="2067967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FEF3C7"/>
                </a:solidFill>
                <a:latin typeface="Inter"/>
              </a:rPr>
              <a:t>DISPLAY · CHAPTER 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3528" y="609600"/>
            <a:ext cx="1864072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FEF3C7"/>
                </a:solidFill>
                <a:latin typeface="Inter"/>
              </a:rPr>
              <a:t>10 / 16 · LONGSHADOW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733675"/>
            <a:ext cx="6625382" cy="1676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5000" b="1" i="0" u="none">
                <a:solidFill>
                  <a:srgbClr val="FEF3C7"/>
                </a:solidFill>
                <a:latin typeface="Bebas Neue"/>
              </a:rPr>
              <a:t>SOLAR.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274171"/>
            <a:ext cx="6477000" cy="74562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 u="none">
                <a:solidFill>
                  <a:srgbClr val="FEF3C7"/>
                </a:solidFill>
                <a:latin typeface="Inter"/>
              </a:rPr>
              <a:t>A type treatment that survives the round-trip. Eight stacked spans, each translated 12 px on both axes — emitted as nine native text frames, fully editable, zero rasterization.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6400800"/>
            <a:ext cx="1603028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FEF3C7"/>
                </a:solidFill>
                <a:latin typeface="Inter"/>
              </a:rPr>
              <a:t>SLIDIFY · ATOMIC SEED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0590" y="6400800"/>
            <a:ext cx="2507010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FEF3C7"/>
                </a:solidFill>
                <a:latin typeface="Inter"/>
              </a:rPr>
              <a:t>10 / 16 · LONGSHADOW · BILLBOARD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gradFill flip="none" rotWithShape="1">
            <a:gsLst>
              <a:gs pos="0">
                <a:srgbClr val="0C1023"/>
              </a:gs>
              <a:gs pos="11667">
                <a:srgbClr val="0B0E1F"/>
              </a:gs>
              <a:gs pos="23333">
                <a:srgbClr val="0A0C1B"/>
              </a:gs>
              <a:gs pos="35000">
                <a:srgbClr val="090A17"/>
              </a:gs>
              <a:gs pos="46667">
                <a:srgbClr val="080913"/>
              </a:gs>
              <a:gs pos="58333">
                <a:srgbClr val="070710"/>
              </a:gs>
              <a:gs pos="70000">
                <a:srgbClr val="06060C"/>
              </a:gs>
              <a:gs pos="75000">
                <a:srgbClr val="05050B"/>
              </a:gs>
              <a:gs pos="80000">
                <a:srgbClr val="04040B"/>
              </a:gs>
              <a:gs pos="85000">
                <a:srgbClr val="04040A"/>
              </a:gs>
              <a:gs pos="90000">
                <a:srgbClr val="030309"/>
              </a:gs>
              <a:gs pos="95000">
                <a:srgbClr val="020209"/>
              </a:gs>
              <a:gs pos="100000">
                <a:srgbClr val="020208"/>
              </a:gs>
            </a:gsLst>
            <a:path path="circle">
              <a:fillToRect l="30000" t="0" r="70000" b="100000"/>
            </a:path>
          </a:gradFill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533400" y="457200"/>
            <a:ext cx="6145709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A78BFA"/>
                </a:solidFill>
                <a:latin typeface="Inter"/>
              </a:rPr>
              <a:t>PIPELINE · OBSERVABILITY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628650"/>
            <a:ext cx="6145709" cy="279946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2100" b="1" i="0" u="none">
                <a:solidFill>
                  <a:srgbClr val="F5F5F7"/>
                </a:solidFill>
                <a:latin typeface="Inter"/>
              </a:rPr>
              <a:t>Editability dashboard — last 90 days, every cluster.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32789" y="794296"/>
            <a:ext cx="1725811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52525B"/>
                </a:solidFill>
                <a:latin typeface="Inter"/>
              </a:rPr>
              <a:t>11 / 16 · DASHBOARD</a:t>
            </a:r>
          </a:p>
        </p:txBody>
      </p:sp>
      <p:sp>
        <p:nvSpPr>
          <p:cNvPr id="6" name="TextBox 5"/>
          <p:cNvSpPr txBox="1"/>
          <p:nvPr/>
        </p:nvSpPr>
        <p:spPr>
          <a:gradFill flip="none" rotWithShape="1">
            <a:gsLst>
              <a:gs pos="0">
                <a:srgbClr val="6366F1">
                  <a:alpha val="20000"/>
                </a:srgbClr>
              </a:gs>
              <a:gs pos="16667">
                <a:srgbClr val="8465F0">
                  <a:alpha val="18333"/>
                </a:srgbClr>
              </a:gs>
              <a:gs pos="33333">
                <a:srgbClr val="A065EA">
                  <a:alpha val="16667"/>
                </a:srgbClr>
              </a:gs>
              <a:gs pos="50000">
                <a:srgbClr val="B967E1">
                  <a:alpha val="15000"/>
                </a:srgbClr>
              </a:gs>
              <a:gs pos="66667">
                <a:srgbClr val="CF69D5">
                  <a:alpha val="13333"/>
                </a:srgbClr>
              </a:gs>
              <a:gs pos="83333">
                <a:srgbClr val="E36DC6">
                  <a:alpha val="11667"/>
                </a:srgbClr>
              </a:gs>
              <a:gs pos="100000">
                <a:srgbClr val="F472B6">
                  <a:alpha val="10000"/>
                </a:srgbClr>
              </a:gs>
            </a:gsLst>
            <a:lin ang="4200000" scaled="0"/>
          </a:gradFill>
          <a:xfrm>
            <a:off x="733425" y="1327696"/>
            <a:ext cx="3877419" cy="2963614"/>
          </a:xfrm>
          <a:prstGeom prst="rect">
            <a:avLst/>
          </a:prstGeom>
        </p:spPr>
        <p:txBody>
          <a:bodyPr wrap="square" lIns="0" rIns="0" tIns="0" bIns="0">
            <a:normAutofit/>
          </a:bodyPr>
          <a:lstStyle/>
          <a:p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733425" y="4186535"/>
            <a:ext cx="597545" cy="10819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71717A"/>
                </a:solidFill>
                <a:latin typeface="Inter"/>
              </a:rPr>
              <a:t>NATIVE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83370" y="4186535"/>
            <a:ext cx="646956" cy="10819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71717A"/>
                </a:solidFill>
                <a:latin typeface="Inter"/>
              </a:rPr>
              <a:t>RASTER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2726" y="4186535"/>
            <a:ext cx="894011" cy="10819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34D399"/>
                </a:solidFill>
                <a:latin typeface="Inter"/>
              </a:rPr>
              <a:t>SLA · ≥ 0.95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3425" y="1327696"/>
            <a:ext cx="3877419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A1A1AA"/>
                </a:solidFill>
                <a:latin typeface="Inter"/>
              </a:rPr>
              <a:t>FEATURED · NATIVE-AREA RATIO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425" y="1432471"/>
            <a:ext cx="3877419" cy="1571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0" i="0" u="none">
                <a:solidFill>
                  <a:srgbClr val="A1A1AA"/>
                </a:solidFill>
                <a:latin typeface="Inter"/>
              </a:rPr>
              <a:t>Gauge across 5,184 deploys · 90d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13223" y="2847942"/>
            <a:ext cx="929323" cy="6286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4200" b="1" i="0" u="none">
                <a:solidFill>
                  <a:srgbClr val="F5F5F7"/>
                </a:solidFill>
                <a:latin typeface="Inter"/>
              </a:rPr>
              <a:t>0.97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46436" y="3559142"/>
            <a:ext cx="1651397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F5F5F7"/>
                </a:solidFill>
                <a:latin typeface="Inter"/>
              </a:rPr>
              <a:t>NATIVE_AREA_RATIO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44244" y="1327696"/>
            <a:ext cx="2890391" cy="1235869"/>
          </a:xfrm>
          <a:prstGeom prst="rect">
            <a:avLst/>
          </a:prstGeom>
          <a:solidFill>
            <a:srgbClr val="FFFFFF">
              <a:alpha val="4000"/>
            </a:srgbClr>
          </a:solidFill>
        </p:spPr>
        <p:txBody>
          <a:bodyPr wrap="square" lIns="0" rIns="0" tIns="0" bIns="0">
            <a:normAutofit/>
          </a:bodyPr>
          <a:lstStyle/>
          <a:p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5144244" y="2053977"/>
            <a:ext cx="901750" cy="285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250" b="1" i="0" u="none">
                <a:solidFill>
                  <a:srgbClr val="F5F5F7"/>
                </a:solidFill>
                <a:latin typeface="Inter"/>
              </a:rPr>
              <a:t>$14.2M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2194" y="2101602"/>
            <a:ext cx="207466" cy="2476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50" b="1" i="0" u="none">
                <a:solidFill>
                  <a:srgbClr val="34D399"/>
                </a:solidFill>
                <a:latin typeface="Inter"/>
              </a:rPr>
              <a:t>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5860" y="2168277"/>
            <a:ext cx="504081" cy="152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1" i="0" u="none">
                <a:solidFill>
                  <a:srgbClr val="34D399"/>
                </a:solidFill>
                <a:latin typeface="Inter"/>
              </a:rPr>
              <a:t>+18.2%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44244" y="1327696"/>
            <a:ext cx="2890391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A1A1AA"/>
                </a:solidFill>
                <a:latin typeface="Inter"/>
              </a:rPr>
              <a:t>▲ ARR · MAY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44244" y="2406402"/>
            <a:ext cx="2890391" cy="1571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0" i="0" u="none">
                <a:solidFill>
                  <a:srgbClr val="34D399"/>
                </a:solidFill>
                <a:latin typeface="Inter"/>
              </a:rPr>
              <a:t>vs Apr · best month on record</a:t>
            </a:r>
          </a:p>
        </p:txBody>
      </p:sp>
      <p:sp>
        <p:nvSpPr>
          <p:cNvPr id="20" name="Freeform 19"/>
          <p:cNvSpPr/>
          <p:nvPr/>
        </p:nvSpPr>
        <p:spPr>
          <a:xfrm>
            <a:off x="8747194" y="1510385"/>
            <a:ext cx="2532221" cy="70123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100000"/>
                </a:moveTo>
                <a:lnTo>
                  <a:pt x="10769" y="86111"/>
                </a:lnTo>
                <a:lnTo>
                  <a:pt x="21538" y="94444"/>
                </a:lnTo>
                <a:lnTo>
                  <a:pt x="32308" y="58333"/>
                </a:lnTo>
                <a:lnTo>
                  <a:pt x="43077" y="69444"/>
                </a:lnTo>
                <a:lnTo>
                  <a:pt x="53846" y="33333"/>
                </a:lnTo>
                <a:lnTo>
                  <a:pt x="64615" y="41667"/>
                </a:lnTo>
                <a:lnTo>
                  <a:pt x="75385" y="19444"/>
                </a:lnTo>
                <a:lnTo>
                  <a:pt x="86154" y="13889"/>
                </a:lnTo>
                <a:lnTo>
                  <a:pt x="100000" y="0"/>
                </a:lnTo>
              </a:path>
            </a:pathLst>
          </a:custGeom>
          <a:noFill/>
          <a:ln w="23812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 20"/>
          <p:cNvSpPr/>
          <p:nvPr/>
        </p:nvSpPr>
        <p:spPr>
          <a:xfrm>
            <a:off x="8747194" y="1510385"/>
            <a:ext cx="2532221" cy="896017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78261"/>
                </a:moveTo>
                <a:lnTo>
                  <a:pt x="10769" y="67391"/>
                </a:lnTo>
                <a:lnTo>
                  <a:pt x="21538" y="73913"/>
                </a:lnTo>
                <a:lnTo>
                  <a:pt x="32308" y="45652"/>
                </a:lnTo>
                <a:lnTo>
                  <a:pt x="43077" y="54348"/>
                </a:lnTo>
                <a:lnTo>
                  <a:pt x="53846" y="26087"/>
                </a:lnTo>
                <a:lnTo>
                  <a:pt x="64615" y="32609"/>
                </a:lnTo>
                <a:lnTo>
                  <a:pt x="75385" y="15217"/>
                </a:lnTo>
                <a:lnTo>
                  <a:pt x="86154" y="10870"/>
                </a:ln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34D39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/>
          <p:cNvSpPr/>
          <p:nvPr/>
        </p:nvSpPr>
        <p:spPr>
          <a:xfrm>
            <a:off x="11241316" y="1472285"/>
            <a:ext cx="76200" cy="7620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5438430" y="3871953"/>
            <a:ext cx="123955" cy="17707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5615508" y="3765706"/>
            <a:ext cx="123955" cy="283325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5792587" y="3818830"/>
            <a:ext cx="123955" cy="23020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5969665" y="3659459"/>
            <a:ext cx="123955" cy="38957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6146744" y="3588628"/>
            <a:ext cx="123955" cy="460404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xfrm>
            <a:off x="6323822" y="3500088"/>
            <a:ext cx="123955" cy="548943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6500900" y="3535504"/>
            <a:ext cx="123955" cy="513527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6677979" y="3411549"/>
            <a:ext cx="123955" cy="637482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/>
          <p:cNvSpPr/>
          <p:nvPr/>
        </p:nvSpPr>
        <p:spPr>
          <a:xfrm>
            <a:off x="6855057" y="3358426"/>
            <a:ext cx="123955" cy="690606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7032136" y="3305302"/>
            <a:ext cx="123955" cy="743729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/>
          <p:cNvSpPr/>
          <p:nvPr/>
        </p:nvSpPr>
        <p:spPr>
          <a:xfrm>
            <a:off x="7209214" y="3269886"/>
            <a:ext cx="123955" cy="779145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/>
          <p:cNvSpPr/>
          <p:nvPr/>
        </p:nvSpPr>
        <p:spPr>
          <a:xfrm>
            <a:off x="7386292" y="3216763"/>
            <a:ext cx="123955" cy="832269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/>
          <p:nvPr/>
        </p:nvSpPr>
        <p:spPr>
          <a:xfrm>
            <a:off x="7563371" y="3181347"/>
            <a:ext cx="123955" cy="867684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/>
          <p:cNvSpPr txBox="1"/>
          <p:nvPr/>
        </p:nvSpPr>
        <p:spPr>
          <a:xfrm>
            <a:off x="733425" y="4790033"/>
            <a:ext cx="7301210" cy="1109662"/>
          </a:xfrm>
          <a:prstGeom prst="rect">
            <a:avLst/>
          </a:prstGeom>
          <a:solidFill>
            <a:srgbClr val="FFFFFF">
              <a:alpha val="4000"/>
            </a:srgbClr>
          </a:solidFill>
        </p:spPr>
        <p:txBody>
          <a:bodyPr wrap="square" lIns="0" rIns="0" tIns="0" bIns="0">
            <a:spAutoFit/>
          </a:bodyPr>
          <a:lstStyle/>
          <a:p>
            <a:endParaRPr lang="en-US"/>
          </a:p>
        </p:txBody>
      </p:sp>
      <p:sp>
        <p:nvSpPr>
          <p:cNvPr id="37" name="TextBox 36"/>
          <p:cNvSpPr txBox="1"/>
          <p:nvPr/>
        </p:nvSpPr>
        <p:spPr>
          <a:xfrm>
            <a:off x="733425" y="5590133"/>
            <a:ext cx="196007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52525B"/>
                </a:solidFill>
                <a:latin typeface="Consolas"/>
              </a:rPr>
              <a:t>W01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17650" y="5590133"/>
            <a:ext cx="196007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52525B"/>
                </a:solidFill>
                <a:latin typeface="Consolas"/>
              </a:rPr>
              <a:t>W03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101876" y="5590133"/>
            <a:ext cx="196007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52525B"/>
                </a:solidFill>
                <a:latin typeface="Consolas"/>
              </a:rPr>
              <a:t>W05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86101" y="5590133"/>
            <a:ext cx="196007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52525B"/>
                </a:solidFill>
                <a:latin typeface="Consolas"/>
              </a:rPr>
              <a:t>W07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70178" y="5590133"/>
            <a:ext cx="196007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52525B"/>
                </a:solidFill>
                <a:latin typeface="Consolas"/>
              </a:rPr>
              <a:t>W09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54403" y="5590133"/>
            <a:ext cx="196007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52525B"/>
                </a:solidFill>
                <a:latin typeface="Consolas"/>
              </a:rPr>
              <a:t>W11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38629" y="5590133"/>
            <a:ext cx="196007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52525B"/>
                </a:solidFill>
                <a:latin typeface="Consolas"/>
              </a:rPr>
              <a:t>W12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3425" y="4790033"/>
            <a:ext cx="7301210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A1A1AA"/>
                </a:solidFill>
                <a:latin typeface="Inter"/>
              </a:rPr>
              <a:t>HEATMAP · ATOM HIT-RATE BY AXIS · 12 WEEKS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3425" y="5742533"/>
            <a:ext cx="7301210" cy="1571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0" i="0" u="none">
                <a:solidFill>
                  <a:srgbClr val="A1A1AA"/>
                </a:solidFill>
                <a:latin typeface="Inter"/>
              </a:rPr>
              <a:t>comp · bg · type · surf · — coverage 76% → 96%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33400" y="6591300"/>
            <a:ext cx="1603028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52525B"/>
                </a:solidFill>
                <a:latin typeface="Inter"/>
              </a:rPr>
              <a:t>SLIDIFY · ATOMIC SEED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211395" y="6591300"/>
            <a:ext cx="1447205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52525B"/>
                </a:solidFill>
                <a:latin typeface="Inter"/>
              </a:rPr>
              <a:t>11 / 16 · DASHBOARD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gradFill flip="none" rotWithShape="1">
            <a:gsLst>
              <a:gs pos="0">
                <a:srgbClr val="FAFAF7"/>
              </a:gs>
              <a:gs pos="16667">
                <a:srgbClr val="F9F8F4"/>
              </a:gs>
              <a:gs pos="33333">
                <a:srgbClr val="F8F7F1"/>
              </a:gs>
              <a:gs pos="50000">
                <a:srgbClr val="F7F5EE"/>
              </a:gs>
              <a:gs pos="66667">
                <a:srgbClr val="F6F4EC"/>
              </a:gs>
              <a:gs pos="83333">
                <a:srgbClr val="F6F2E9"/>
              </a:gs>
              <a:gs pos="100000">
                <a:srgbClr val="F5F0E6"/>
              </a:gs>
            </a:gsLst>
            <a:lin ang="5400000" scaled="0"/>
          </a:gradFill>
          <a:xfrm>
            <a:off x="185234" y="457200"/>
            <a:ext cx="11731927" cy="6229350"/>
          </a:xfrm>
          <a:prstGeom prst="rect">
            <a:avLst/>
          </a:prstGeom>
        </p:spPr>
        <p:txBody>
          <a:bodyPr wrap="square" lIns="0" rIns="0" tIns="0" bIns="0">
            <a:normAutofit/>
          </a:bodyPr>
          <a:lstStyle/>
          <a:p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2876550" y="4129088"/>
            <a:ext cx="2166789" cy="133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 i="0" u="none">
                <a:solidFill>
                  <a:srgbClr val="06060C"/>
                </a:solidFill>
                <a:latin typeface="Inter"/>
              </a:rPr>
              <a:t>318 teams</a:t>
            </a:r>
            <a:r>
              <a:rPr sz="900" b="1" i="0" u="none">
                <a:solidFill>
                  <a:srgbClr val="52525B"/>
                </a:solidFill>
                <a:latin typeface="Inter"/>
              </a:rPr>
              <a:t xml:space="preserve"> · 1,184 decks / week · NPS 76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5234" y="1203638"/>
            <a:ext cx="467731" cy="52642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600" b="1" i="0" u="none">
                <a:solidFill>
                  <a:srgbClr val="FDE68A"/>
                </a:solidFill>
                <a:latin typeface="Inter"/>
              </a:rPr>
              <a:t>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6239" y="5138263"/>
            <a:ext cx="440922" cy="505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600" b="1" i="0" u="none">
                <a:solidFill>
                  <a:srgbClr val="FDE68A"/>
                </a:solidFill>
                <a:latin typeface="Inter"/>
              </a:rPr>
              <a:t>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457200"/>
            <a:ext cx="6074420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7C3AED"/>
                </a:solidFill>
                <a:latin typeface="Inter"/>
              </a:rPr>
              <a:t>VOICES · LOVED BY DESIGNERS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28650"/>
            <a:ext cx="6074420" cy="30003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250" b="1" i="0" u="none">
                <a:solidFill>
                  <a:srgbClr val="06060C"/>
                </a:solidFill>
                <a:latin typeface="Inter"/>
              </a:rPr>
              <a:t xml:space="preserve">"It's the first deck tool that </a:t>
            </a:r>
            <a:r>
              <a:rPr sz="2250" b="1" i="1" u="none">
                <a:solidFill>
                  <a:srgbClr val="7C3AED"/>
                </a:solidFill>
                <a:latin typeface="Playfair Display"/>
              </a:rPr>
              <a:t>respects</a:t>
            </a:r>
            <a:r>
              <a:rPr sz="2250" b="1" i="0" u="none">
                <a:solidFill>
                  <a:srgbClr val="06060C"/>
                </a:solidFill>
                <a:latin typeface="Inter"/>
              </a:rPr>
              <a:t xml:space="preserve"> typography."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51206" y="814388"/>
            <a:ext cx="1931194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71717A"/>
                </a:solidFill>
                <a:latin typeface="Inter"/>
              </a:rPr>
              <a:t>12 / 16 · TESTIMONIALS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65756" y="1609947"/>
            <a:ext cx="360442" cy="4667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150" b="1" i="0" u="none">
                <a:solidFill>
                  <a:srgbClr val="FFFFFF"/>
                </a:solidFill>
                <a:latin typeface="Playfair Display"/>
              </a:rPr>
              <a:t>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5124" y="2503741"/>
            <a:ext cx="3177822" cy="6881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 u="none">
                <a:solidFill>
                  <a:srgbClr val="27272A"/>
                </a:solidFill>
                <a:latin typeface="Source Serif Pro"/>
              </a:rPr>
              <a:t>"We replaced screenshots with slidify and our investor decks now ship in PowerPoint as if a designer touched every gradient. Nothing about the deck rasterizes."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5602" y="3236880"/>
            <a:ext cx="3168248" cy="34537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 u="none">
                <a:solidFill>
                  <a:srgbClr val="06060C"/>
                </a:solidFill>
                <a:latin typeface="Inter"/>
              </a:rPr>
              <a:t>Mira Okafor</a:t>
            </a:r>
            <a:r>
              <a:rPr sz="800" b="1" i="0" u="none">
                <a:solidFill>
                  <a:srgbClr val="71717A"/>
                </a:solidFill>
                <a:latin typeface="Inter"/>
              </a:rPr>
              <a:t>Head of Brand · Vector Labs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04861" y="1613225"/>
            <a:ext cx="198502" cy="45983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150" b="1" i="0" u="none">
                <a:solidFill>
                  <a:srgbClr val="FFFFFF"/>
                </a:solidFill>
                <a:latin typeface="Playfair Display"/>
              </a:rPr>
              <a:t>J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4897" y="2525849"/>
            <a:ext cx="3170370" cy="64416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 u="none">
                <a:solidFill>
                  <a:srgbClr val="27272A"/>
                </a:solidFill>
                <a:latin typeface="Source Serif Pro"/>
              </a:rPr>
              <a:t>"The atom catalog is the missing UI grammar. Once you start composing in atoms, you stop fighting PowerPoint forever — every slide stays editable."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9444" y="3259203"/>
            <a:ext cx="3165583" cy="30130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 u="none">
                <a:solidFill>
                  <a:srgbClr val="06060C"/>
                </a:solidFill>
                <a:latin typeface="Inter"/>
              </a:rPr>
              <a:t>Jordan Liu</a:t>
            </a:r>
            <a:r>
              <a:rPr sz="800" b="1" i="0" u="none">
                <a:solidFill>
                  <a:srgbClr val="71717A"/>
                </a:solidFill>
                <a:latin typeface="Inter"/>
              </a:rPr>
              <a:t>Design Engineer · Modular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05907" y="1613682"/>
            <a:ext cx="239674" cy="458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150" b="1" i="0" u="none">
                <a:solidFill>
                  <a:srgbClr val="FFFFFF"/>
                </a:solidFill>
                <a:latin typeface="Playfair Display"/>
              </a:rPr>
              <a:t>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9553" y="2536896"/>
            <a:ext cx="3166412" cy="62213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 u="none">
                <a:solidFill>
                  <a:srgbClr val="27272A"/>
                </a:solidFill>
                <a:latin typeface="Source Serif Pro"/>
              </a:rPr>
              <a:t>"95% native_area_ratio across 1,184 decks a week. The pipeline is the only thing standing between our team and another animated GIF career."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54673" y="3270303"/>
            <a:ext cx="3164018" cy="27924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 u="none">
                <a:solidFill>
                  <a:srgbClr val="06060C"/>
                </a:solidFill>
                <a:latin typeface="Inter"/>
              </a:rPr>
              <a:t>Thiago Sousa</a:t>
            </a:r>
            <a:r>
              <a:rPr sz="800" b="1" i="0" u="none">
                <a:solidFill>
                  <a:srgbClr val="71717A"/>
                </a:solidFill>
                <a:latin typeface="Inter"/>
              </a:rPr>
              <a:t>DesignOps · Atelier 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4014788"/>
            <a:ext cx="361950" cy="3619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FFFFFF"/>
                </a:solidFill>
                <a:latin typeface="Inter"/>
              </a:rPr>
              <a:t>VR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2500" y="4014788"/>
            <a:ext cx="361950" cy="3619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FFFFFF"/>
                </a:solidFill>
                <a:latin typeface="Inter"/>
              </a:rPr>
              <a:t>JL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95400" y="4014788"/>
            <a:ext cx="361950" cy="3619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FFFFFF"/>
                </a:solidFill>
                <a:latin typeface="Inter"/>
              </a:rPr>
              <a:t>MK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38300" y="4014788"/>
            <a:ext cx="361950" cy="3619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FFFFFF"/>
                </a:solidFill>
                <a:latin typeface="Inter"/>
              </a:rPr>
              <a:t>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81200" y="4014788"/>
            <a:ext cx="361950" cy="3619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FFFFFF"/>
                </a:solidFill>
                <a:latin typeface="Inter"/>
              </a:rPr>
              <a:t>PA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24100" y="4014788"/>
            <a:ext cx="361950" cy="3619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FDE68A"/>
                </a:solidFill>
                <a:latin typeface="Inter"/>
              </a:rPr>
              <a:t>+318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39474" y="4143375"/>
            <a:ext cx="1742926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71717A"/>
                </a:solidFill>
                <a:latin typeface="Inter"/>
              </a:rPr>
              <a:t>★ ★ ★ ★ ★  ·  G2 · 4.9 / 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9600" y="6572250"/>
            <a:ext cx="1603028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71717A"/>
                </a:solidFill>
                <a:latin typeface="Inter"/>
              </a:rPr>
              <a:t>SLIDIFY · ATOMIC SEED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73866" y="6572250"/>
            <a:ext cx="1608534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71717A"/>
                </a:solidFill>
                <a:latin typeface="Inter"/>
              </a:rPr>
              <a:t>12 / 16 · TESTIMONIALS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202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gradFill flip="none" rotWithShape="1">
            <a:gsLst>
              <a:gs pos="0">
                <a:srgbClr val="1E1B4B"/>
              </a:gs>
              <a:gs pos="10000">
                <a:srgbClr val="1A1740"/>
              </a:gs>
              <a:gs pos="20000">
                <a:srgbClr val="161434"/>
              </a:gs>
              <a:gs pos="30000">
                <a:srgbClr val="11102A"/>
              </a:gs>
              <a:gs pos="40000">
                <a:srgbClr val="0D0D1F"/>
              </a:gs>
              <a:gs pos="50000">
                <a:srgbClr val="090915"/>
              </a:gs>
              <a:gs pos="60000">
                <a:srgbClr val="06060C"/>
              </a:gs>
              <a:gs pos="66667">
                <a:srgbClr val="05050B"/>
              </a:gs>
              <a:gs pos="73333">
                <a:srgbClr val="04040B"/>
              </a:gs>
              <a:gs pos="80000">
                <a:srgbClr val="04040A"/>
              </a:gs>
              <a:gs pos="86667">
                <a:srgbClr val="030309"/>
              </a:gs>
              <a:gs pos="93333">
                <a:srgbClr val="020209"/>
              </a:gs>
              <a:gs pos="100000">
                <a:srgbClr val="020208"/>
              </a:gs>
            </a:gsLst>
            <a:path path="circle">
              <a:fillToRect l="70000" t="50000" r="30000" b="50000"/>
            </a:path>
          </a:gradFill>
          <a:xfrm>
            <a:off x="114300" y="609600"/>
            <a:ext cx="11163300" cy="5905500"/>
          </a:xfrm>
          <a:prstGeom prst="rect">
            <a:avLst/>
          </a:prstGeom>
        </p:spPr>
        <p:txBody>
          <a:bodyPr wrap="square" lIns="0" rIns="0" tIns="0" bIns="0">
            <a:normAutofit/>
          </a:bodyPr>
          <a:lstStyle/>
          <a:p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114300" y="2578447"/>
            <a:ext cx="4715917" cy="17011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100" b="1" i="0" u="none">
                <a:solidFill>
                  <a:srgbClr val="60A5FA"/>
                </a:solidFill>
                <a:latin typeface="Inter"/>
              </a:rPr>
              <a:t>RUSH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4800" y="2578447"/>
            <a:ext cx="4715917" cy="17011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100" b="1" i="0" u="none">
                <a:solidFill>
                  <a:srgbClr val="A78BFA"/>
                </a:solidFill>
                <a:latin typeface="Inter"/>
              </a:rPr>
              <a:t>RUSH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5300" y="2578447"/>
            <a:ext cx="4715917" cy="17011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100" b="1" i="0" u="none">
                <a:solidFill>
                  <a:srgbClr val="A78BFA"/>
                </a:solidFill>
                <a:latin typeface="Inter"/>
              </a:rPr>
              <a:t>RUSH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578447"/>
            <a:ext cx="4715917" cy="17011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100" b="1" i="0" u="none">
                <a:solidFill>
                  <a:srgbClr val="F472B6"/>
                </a:solidFill>
                <a:latin typeface="Inter"/>
              </a:rPr>
              <a:t>RUSH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150" y="2578447"/>
            <a:ext cx="4715917" cy="17011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100" b="1" i="0" u="none">
                <a:solidFill>
                  <a:srgbClr val="F472B6"/>
                </a:solidFill>
                <a:latin typeface="Inter"/>
              </a:rPr>
              <a:t>RUSH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609600"/>
            <a:ext cx="1641277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A78BFA"/>
                </a:solidFill>
                <a:latin typeface="Inter"/>
              </a:rPr>
              <a:t>MOTION · IMPLIED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91886" y="609600"/>
            <a:ext cx="1185714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52525B"/>
                </a:solidFill>
                <a:latin typeface="Inter"/>
              </a:rPr>
              <a:t>13 / 16 · ECHO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78447"/>
            <a:ext cx="4715917" cy="17011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100" b="1" i="0" u="none">
                <a:gradFill rotWithShape="1">
                  <a:gsLst>
                    <a:gs pos="0">
                      <a:srgbClr val="60A5FA"/>
                    </a:gs>
                    <a:gs pos="35000">
                      <a:srgbClr val="A78BFA"/>
                    </a:gs>
                    <a:gs pos="70000">
                      <a:srgbClr val="F472B6"/>
                    </a:gs>
                    <a:gs pos="100000">
                      <a:srgbClr val="FB923C"/>
                    </a:gs>
                  </a:gsLst>
                  <a:lin ang="2700000" scaled="0"/>
                </a:gradFill>
                <a:latin typeface="Inter"/>
              </a:rPr>
              <a:t>RUSH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057775"/>
            <a:ext cx="5334000" cy="7715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0" i="0" u="none">
                <a:solidFill>
                  <a:srgbClr val="FFFFFF"/>
                </a:solidFill>
                <a:latin typeface="Inter"/>
              </a:rPr>
              <a:t xml:space="preserve">Same word, six native text frames, decreasing opacity, increasing offset. </a:t>
            </a:r>
            <a:r>
              <a:rPr sz="1350" b="1" i="0" u="none">
                <a:solidFill>
                  <a:srgbClr val="F5F5F7"/>
                </a:solidFill>
                <a:latin typeface="Inter"/>
              </a:rPr>
              <a:t>Editable in PowerPoint as six independent runs.</a:t>
            </a:r>
            <a:r>
              <a:rPr sz="1350" b="0" i="0" u="none">
                <a:solidFill>
                  <a:srgbClr val="FFFFFF"/>
                </a:solidFill>
                <a:latin typeface="Inter"/>
              </a:rPr>
              <a:t xml:space="preserve"> No `filter: blur` — no raster.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6400800"/>
            <a:ext cx="1603028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52525B"/>
                </a:solidFill>
                <a:latin typeface="Inter"/>
              </a:rPr>
              <a:t>SLIDIFY · ATOMIC SEED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15339" y="6400800"/>
            <a:ext cx="1662261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52525B"/>
                </a:solidFill>
                <a:latin typeface="Inter"/>
              </a:rPr>
              <a:t>13 / 16 · ECHO · MOTION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609600" y="457200"/>
            <a:ext cx="7239000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7C3AED"/>
                </a:solidFill>
                <a:latin typeface="Inter"/>
              </a:rPr>
              <a:t>FULL-BLEED · MARQUEE WALL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28650"/>
            <a:ext cx="7239000" cy="559891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2100" b="1" i="0" u="none">
                <a:solidFill>
                  <a:srgbClr val="06060C"/>
                </a:solidFill>
                <a:latin typeface="Inter"/>
              </a:rPr>
              <a:t>Edge-to-edge type bands. Each band is one editable native run.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63311" y="1074241"/>
            <a:ext cx="1519089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71717A"/>
                </a:solidFill>
                <a:latin typeface="Inter"/>
              </a:rPr>
              <a:t>14 / 16 · MARQUEE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645741"/>
            <a:ext cx="8985349" cy="942975"/>
          </a:xfrm>
          <a:prstGeom prst="rect">
            <a:avLst/>
          </a:prstGeom>
          <a:solidFill>
            <a:srgbClr val="06060C"/>
          </a:solidFill>
        </p:spPr>
        <p:txBody>
          <a:bodyPr wrap="square" lIns="0" rIns="0" tIns="0" bIns="0">
            <a:normAutofit/>
          </a:bodyPr>
          <a:lstStyle/>
          <a:p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228600" y="1702891"/>
            <a:ext cx="1973163" cy="838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600" b="0" i="0" u="none">
                <a:solidFill>
                  <a:srgbClr val="FEF3C7"/>
                </a:solidFill>
                <a:latin typeface="Bebas Neue"/>
              </a:rPr>
              <a:t>SHIP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06563" y="1893391"/>
            <a:ext cx="156567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600" b="0" i="0" u="none">
                <a:solidFill>
                  <a:srgbClr val="FEF3C7"/>
                </a:solidFill>
                <a:latin typeface="Bebas Neue"/>
              </a:rPr>
              <a:t>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67930" y="1645741"/>
            <a:ext cx="3506688" cy="9429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600" b="0" i="0" u="none">
                <a:solidFill>
                  <a:srgbClr val="FB923C"/>
                </a:solidFill>
                <a:latin typeface="Bebas Neue"/>
              </a:rPr>
              <a:t>ITERATE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79419" y="1893391"/>
            <a:ext cx="156567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600" b="0" i="0" u="none">
                <a:solidFill>
                  <a:srgbClr val="FEF3C7"/>
                </a:solidFill>
                <a:latin typeface="Bebas Neue"/>
              </a:rPr>
              <a:t>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40786" y="1702891"/>
            <a:ext cx="1973163" cy="838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600" b="0" i="0" u="none">
                <a:solidFill>
                  <a:srgbClr val="FEF3C7"/>
                </a:solidFill>
                <a:latin typeface="Bebas Neue"/>
              </a:rPr>
              <a:t>SHIP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" y="3693616"/>
            <a:ext cx="10190857" cy="847725"/>
          </a:xfrm>
          <a:prstGeom prst="rect">
            <a:avLst/>
          </a:prstGeom>
          <a:solidFill>
            <a:srgbClr val="7C3AED"/>
          </a:solidFill>
        </p:spPr>
        <p:txBody>
          <a:bodyPr wrap="square" lIns="0" rIns="0" tIns="0" bIns="0">
            <a:normAutofit/>
          </a:bodyPr>
          <a:lstStyle/>
          <a:p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228600" y="3741241"/>
            <a:ext cx="3240584" cy="762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000" b="0" i="0" u="none">
                <a:solidFill>
                  <a:srgbClr val="FFFFFF"/>
                </a:solidFill>
                <a:latin typeface="Bebas Neue"/>
              </a:rPr>
              <a:t>RENDER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73984" y="3893641"/>
            <a:ext cx="156121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600" b="0" i="0" u="none">
                <a:solidFill>
                  <a:srgbClr val="FFFFFF"/>
                </a:solidFill>
                <a:latin typeface="Bebas Neue"/>
              </a:rPr>
              <a:t>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34904" y="3693616"/>
            <a:ext cx="3583335" cy="8477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000" b="0" i="0" u="none">
                <a:solidFill>
                  <a:srgbClr val="FDE68A"/>
                </a:solidFill>
                <a:latin typeface="Bebas Neue"/>
              </a:rPr>
              <a:t>CLUSTER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23039" y="3893641"/>
            <a:ext cx="156121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600" b="0" i="0" u="none">
                <a:solidFill>
                  <a:srgbClr val="FFFFFF"/>
                </a:solidFill>
                <a:latin typeface="Bebas Neue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83960" y="3741241"/>
            <a:ext cx="1835497" cy="762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000" b="0" i="0" u="none">
                <a:solidFill>
                  <a:srgbClr val="FFFFFF"/>
                </a:solidFill>
                <a:latin typeface="Bebas Neue"/>
              </a:rPr>
              <a:t>EMIT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" y="4693741"/>
            <a:ext cx="7218908" cy="847725"/>
          </a:xfrm>
          <a:prstGeom prst="rect">
            <a:avLst/>
          </a:prstGeom>
          <a:solidFill>
            <a:srgbClr val="FDE68A"/>
          </a:solidFill>
        </p:spPr>
        <p:txBody>
          <a:bodyPr wrap="square" lIns="0" rIns="0" tIns="0" bIns="0">
            <a:normAutofit/>
          </a:bodyPr>
          <a:lstStyle/>
          <a:p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228600" y="4741366"/>
            <a:ext cx="2906167" cy="762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000" b="0" i="0" u="none">
                <a:solidFill>
                  <a:srgbClr val="06060C"/>
                </a:solidFill>
                <a:latin typeface="Bebas Neue"/>
              </a:rPr>
              <a:t>SLIDIFY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39567" y="4893766"/>
            <a:ext cx="156121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600" b="0" i="0" u="none">
                <a:solidFill>
                  <a:srgbClr val="06060C"/>
                </a:solidFill>
                <a:latin typeface="Bebas Neue"/>
              </a:rPr>
              <a:t>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00488" y="4693741"/>
            <a:ext cx="1070818" cy="8477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000" b="0" i="0" u="none">
                <a:solidFill>
                  <a:srgbClr val="DC2626"/>
                </a:solidFill>
                <a:latin typeface="Bebas Neue"/>
              </a:rPr>
              <a:t>0.4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76106" y="4893766"/>
            <a:ext cx="156121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600" b="0" i="0" u="none">
                <a:solidFill>
                  <a:srgbClr val="06060C"/>
                </a:solidFill>
                <a:latin typeface="Bebas Neue"/>
              </a:rPr>
              <a:t>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37027" y="4741366"/>
            <a:ext cx="1710482" cy="762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000" b="0" i="0" u="none">
                <a:solidFill>
                  <a:srgbClr val="06060C"/>
                </a:solidFill>
                <a:latin typeface="Bebas Neue"/>
              </a:rPr>
              <a:t>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5855791"/>
            <a:ext cx="1218181" cy="238125"/>
          </a:xfrm>
          <a:prstGeom prst="rect">
            <a:avLst/>
          </a:prstGeom>
          <a:solidFill>
            <a:srgbClr val="06060C"/>
          </a:solidFill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FEF3C7"/>
                </a:solidFill>
                <a:latin typeface="Inter"/>
              </a:rPr>
              <a:t>⏵ MOTION · IMPLIED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9600" y="6610350"/>
            <a:ext cx="1603028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71717A"/>
                </a:solidFill>
                <a:latin typeface="Inter"/>
              </a:rPr>
              <a:t>SLIDIFY · ATOMIC SEED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92457" y="6610350"/>
            <a:ext cx="1689943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71717A"/>
                </a:solidFill>
                <a:latin typeface="Inter"/>
              </a:rPr>
              <a:t>14 / 16 · MARQUEE WALL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gradFill flip="none" rotWithShape="1">
            <a:gsLst>
              <a:gs pos="0">
                <a:srgbClr val="0A0A14"/>
              </a:gs>
              <a:gs pos="8333">
                <a:srgbClr val="090913"/>
              </a:gs>
              <a:gs pos="16667">
                <a:srgbClr val="090911"/>
              </a:gs>
              <a:gs pos="25000">
                <a:srgbClr val="080810"/>
              </a:gs>
              <a:gs pos="33333">
                <a:srgbClr val="07070F"/>
              </a:gs>
              <a:gs pos="41667">
                <a:srgbClr val="07070D"/>
              </a:gs>
              <a:gs pos="50000">
                <a:srgbClr val="06060C"/>
              </a:gs>
              <a:gs pos="58333">
                <a:srgbClr val="05050B"/>
              </a:gs>
              <a:gs pos="66667">
                <a:srgbClr val="04040B"/>
              </a:gs>
              <a:gs pos="75000">
                <a:srgbClr val="04040A"/>
              </a:gs>
              <a:gs pos="83333">
                <a:srgbClr val="030309"/>
              </a:gs>
              <a:gs pos="91667">
                <a:srgbClr val="020209"/>
              </a:gs>
              <a:gs pos="100000">
                <a:srgbClr val="020208"/>
              </a:gs>
            </a:gsLst>
            <a:lin ang="5400000" scaled="0"/>
          </a:gradFill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609600" y="457200"/>
            <a:ext cx="7051774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A78BFA"/>
                </a:solidFill>
                <a:latin typeface="Inter"/>
              </a:rPr>
              <a:t>CREDITS · TEAM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28650"/>
            <a:ext cx="7051774" cy="279946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2100" b="1" i="0" u="none">
                <a:solidFill>
                  <a:srgbClr val="F5F5F7"/>
                </a:solidFill>
                <a:latin typeface="Inter"/>
              </a:rPr>
              <a:t>The atomic seed was authored by a small Brooklyn studio.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02639" y="794296"/>
            <a:ext cx="1179761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52525B"/>
                </a:solidFill>
                <a:latin typeface="Inter"/>
              </a:rPr>
              <a:t>15 / 16 · 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2035" y="1365796"/>
            <a:ext cx="1332756" cy="1041053"/>
          </a:xfrm>
          <a:prstGeom prst="rect">
            <a:avLst/>
          </a:prstGeom>
          <a:solidFill>
            <a:srgbClr val="FFFFFF">
              <a:alpha val="3000"/>
            </a:srgbClr>
          </a:solidFill>
        </p:spPr>
        <p:txBody>
          <a:bodyPr wrap="square" lIns="0" rIns="0" tIns="0" bIns="0">
            <a:normAutofit/>
          </a:bodyPr>
          <a:lstStyle/>
          <a:p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856655" y="2089696"/>
            <a:ext cx="1223516" cy="1361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75" b="1" i="0" u="none">
                <a:solidFill>
                  <a:srgbClr val="F5F5F7"/>
                </a:solidFill>
                <a:latin typeface="Inter"/>
              </a:rPr>
              <a:t>Vamsi Ramakrishnan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2035" y="2302073"/>
            <a:ext cx="1332756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00" b="1" i="0" u="none">
                <a:solidFill>
                  <a:srgbClr val="A1A1AA"/>
                </a:solidFill>
                <a:latin typeface="Inter"/>
              </a:rPr>
              <a:t>FOUNDER · COMPILER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4488" y="1365796"/>
            <a:ext cx="647700" cy="647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50" b="1" i="0" u="none">
                <a:solidFill>
                  <a:srgbClr val="FFFFFF"/>
                </a:solidFill>
                <a:latin typeface="Playfair Display"/>
              </a:rPr>
              <a:t>VR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60464" y="1365796"/>
            <a:ext cx="1117848" cy="1041053"/>
          </a:xfrm>
          <a:prstGeom prst="rect">
            <a:avLst/>
          </a:prstGeom>
          <a:solidFill>
            <a:srgbClr val="FFFFFF">
              <a:alpha val="3000"/>
            </a:srgbClr>
          </a:solidFill>
        </p:spPr>
        <p:txBody>
          <a:bodyPr wrap="square" lIns="0" rIns="0" tIns="0" bIns="0">
            <a:normAutofit/>
          </a:bodyPr>
          <a:lstStyle/>
          <a:p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3009007" y="2089696"/>
            <a:ext cx="620613" cy="1361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75" b="1" i="0" u="none">
                <a:solidFill>
                  <a:srgbClr val="F5F5F7"/>
                </a:solidFill>
                <a:latin typeface="Inter"/>
              </a:rPr>
              <a:t>Jordan Liu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60464" y="2302073"/>
            <a:ext cx="1117848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00" b="1" i="0" u="none">
                <a:solidFill>
                  <a:srgbClr val="A1A1AA"/>
                </a:solidFill>
                <a:latin typeface="Inter"/>
              </a:rPr>
              <a:t>DESIGN ENGINEER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95464" y="1365796"/>
            <a:ext cx="647700" cy="647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50" b="1" i="0" u="none">
                <a:solidFill>
                  <a:srgbClr val="FFFFFF"/>
                </a:solidFill>
                <a:latin typeface="Playfair Display"/>
              </a:rPr>
              <a:t>JL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60714" y="1365796"/>
            <a:ext cx="819299" cy="1041053"/>
          </a:xfrm>
          <a:prstGeom prst="rect">
            <a:avLst/>
          </a:prstGeom>
          <a:solidFill>
            <a:srgbClr val="FFFFFF">
              <a:alpha val="3000"/>
            </a:srgbClr>
          </a:solidFill>
        </p:spPr>
        <p:txBody>
          <a:bodyPr wrap="square" lIns="0" rIns="0" tIns="0" bIns="0">
            <a:normAutofit/>
          </a:bodyPr>
          <a:lstStyle/>
          <a:p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4846141" y="2089696"/>
            <a:ext cx="648295" cy="1361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75" b="1" i="0" u="none">
                <a:solidFill>
                  <a:srgbClr val="F5F5F7"/>
                </a:solidFill>
                <a:latin typeface="Inter"/>
              </a:rPr>
              <a:t>Mira Kovač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60714" y="2302073"/>
            <a:ext cx="819299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00" b="1" i="0" u="none">
                <a:solidFill>
                  <a:srgbClr val="A1A1AA"/>
                </a:solidFill>
                <a:latin typeface="Inter"/>
              </a:rPr>
              <a:t>TYPOGRAPHY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439" y="1365796"/>
            <a:ext cx="647700" cy="647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50" b="1" i="0" u="none">
                <a:solidFill>
                  <a:srgbClr val="FFFFFF"/>
                </a:solidFill>
                <a:latin typeface="Playfair Display"/>
              </a:rPr>
              <a:t>MK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2852" y="1365796"/>
            <a:ext cx="796975" cy="1041053"/>
          </a:xfrm>
          <a:prstGeom prst="rect">
            <a:avLst/>
          </a:prstGeom>
          <a:solidFill>
            <a:srgbClr val="FFFFFF">
              <a:alpha val="3000"/>
            </a:srgbClr>
          </a:solidFill>
        </p:spPr>
        <p:txBody>
          <a:bodyPr wrap="square" lIns="0" rIns="0" tIns="0" bIns="0">
            <a:normAutofit/>
          </a:bodyPr>
          <a:lstStyle/>
          <a:p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6622852" y="2089696"/>
            <a:ext cx="796975" cy="1361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75" b="1" i="0" u="none">
                <a:solidFill>
                  <a:srgbClr val="F5F5F7"/>
                </a:solidFill>
                <a:latin typeface="Inter"/>
              </a:rPr>
              <a:t>Thiago Sousa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69584" y="2302073"/>
            <a:ext cx="703511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00" b="1" i="0" u="none">
                <a:solidFill>
                  <a:srgbClr val="A1A1AA"/>
                </a:solidFill>
                <a:latin typeface="Inter"/>
              </a:rPr>
              <a:t>DESIGNOPS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97563" y="1365796"/>
            <a:ext cx="647700" cy="647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50" b="1" i="0" u="none">
                <a:solidFill>
                  <a:srgbClr val="FFFFFF"/>
                </a:solidFill>
                <a:latin typeface="Playfair Display"/>
              </a:rPr>
              <a:t>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0170" y="1365796"/>
            <a:ext cx="744438" cy="1041053"/>
          </a:xfrm>
          <a:prstGeom prst="rect">
            <a:avLst/>
          </a:prstGeom>
          <a:solidFill>
            <a:srgbClr val="FFFFFF">
              <a:alpha val="3000"/>
            </a:srgbClr>
          </a:solidFill>
        </p:spPr>
        <p:txBody>
          <a:bodyPr wrap="square" lIns="0" rIns="0" tIns="0" bIns="0">
            <a:normAutofit/>
          </a:bodyPr>
          <a:lstStyle/>
          <a:p>
            <a:endParaRPr lang="en-US"/>
          </a:p>
        </p:txBody>
      </p:sp>
      <p:sp>
        <p:nvSpPr>
          <p:cNvPr id="23" name="TextBox 22"/>
          <p:cNvSpPr txBox="1"/>
          <p:nvPr/>
        </p:nvSpPr>
        <p:spPr>
          <a:xfrm>
            <a:off x="8500170" y="2089696"/>
            <a:ext cx="744438" cy="1361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75" b="1" i="0" u="none">
                <a:solidFill>
                  <a:srgbClr val="F5F5F7"/>
                </a:solidFill>
                <a:latin typeface="Inter"/>
              </a:rPr>
              <a:t>Priya Ananth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44223" y="2302073"/>
            <a:ext cx="656481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00" b="1" i="0" u="none">
                <a:solidFill>
                  <a:srgbClr val="A1A1AA"/>
                </a:solidFill>
                <a:latin typeface="Inter"/>
              </a:rPr>
              <a:t>RENDERER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48539" y="1365796"/>
            <a:ext cx="647700" cy="647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50" b="1" i="0" u="none">
                <a:solidFill>
                  <a:srgbClr val="FFFFFF"/>
                </a:solidFill>
                <a:latin typeface="Playfair Display"/>
              </a:rPr>
              <a:t>PA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72985" y="1365796"/>
            <a:ext cx="1300758" cy="1041053"/>
          </a:xfrm>
          <a:prstGeom prst="rect">
            <a:avLst/>
          </a:prstGeom>
          <a:solidFill>
            <a:srgbClr val="FFFFFF">
              <a:alpha val="3000"/>
            </a:srgbClr>
          </a:solidFill>
        </p:spPr>
        <p:txBody>
          <a:bodyPr wrap="square" lIns="0" rIns="0" tIns="0" bIns="0">
            <a:normAutofit/>
          </a:bodyPr>
          <a:lstStyle/>
          <a:p>
            <a:endParaRPr lang="en-US"/>
          </a:p>
        </p:txBody>
      </p:sp>
      <p:sp>
        <p:nvSpPr>
          <p:cNvPr id="27" name="TextBox 26"/>
          <p:cNvSpPr txBox="1"/>
          <p:nvPr/>
        </p:nvSpPr>
        <p:spPr>
          <a:xfrm>
            <a:off x="10281940" y="2089696"/>
            <a:ext cx="882848" cy="1361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75" b="1" i="0" u="none">
                <a:solidFill>
                  <a:srgbClr val="F5F5F7"/>
                </a:solidFill>
                <a:latin typeface="Inter"/>
              </a:rPr>
              <a:t>17 contributors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72985" y="2302073"/>
            <a:ext cx="1300758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00" b="1" i="0" u="none">
                <a:solidFill>
                  <a:srgbClr val="A1A1AA"/>
                </a:solidFill>
                <a:latin typeface="Inter"/>
              </a:rPr>
              <a:t>SHIPPING SINCE 2024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99514" y="1365796"/>
            <a:ext cx="647700" cy="647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50" b="1" i="0" u="none">
                <a:solidFill>
                  <a:srgbClr val="FFFFFF"/>
                </a:solidFill>
                <a:latin typeface="Playfair Display"/>
              </a:rPr>
              <a:t>+12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09600" y="2778323"/>
            <a:ext cx="10972800" cy="733425"/>
          </a:xfrm>
          <a:prstGeom prst="roundRect">
            <a:avLst/>
          </a:prstGeom>
          <a:solidFill>
            <a:srgbClr val="FFFFFF">
              <a:alpha val="3000"/>
            </a:srgbClr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/>
          <p:cNvSpPr txBox="1"/>
          <p:nvPr/>
        </p:nvSpPr>
        <p:spPr>
          <a:xfrm>
            <a:off x="828675" y="2959298"/>
            <a:ext cx="10534650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A78BFA"/>
                </a:solidFill>
                <a:latin typeface="Inter"/>
              </a:rPr>
              <a:t>BACKED BY · TRUSTED BY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8675" y="3183136"/>
            <a:ext cx="1166812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75" b="1" i="0" u="none">
                <a:solidFill>
                  <a:srgbClr val="A1A1AA"/>
                </a:solidFill>
                <a:latin typeface="Inter"/>
              </a:rPr>
              <a:t>VECTOR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66938" y="3159323"/>
            <a:ext cx="1166812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50" b="1" i="0" u="none">
                <a:solidFill>
                  <a:srgbClr val="A1A1AA"/>
                </a:solidFill>
                <a:latin typeface="Playfair Display"/>
              </a:rPr>
              <a:t>Modular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05200" y="3178373"/>
            <a:ext cx="1166812" cy="133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50" b="1" i="0" u="none">
                <a:solidFill>
                  <a:srgbClr val="A1A1AA"/>
                </a:solidFill>
                <a:latin typeface="Consolas"/>
              </a:rPr>
              <a:t>atelier/04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43462" y="3183136"/>
            <a:ext cx="1166812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75" b="1" i="0" u="none">
                <a:solidFill>
                  <a:srgbClr val="A1A1AA"/>
                </a:solidFill>
                <a:latin typeface="Inter"/>
              </a:rPr>
              <a:t>PIXELPITCH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81725" y="3159323"/>
            <a:ext cx="1166812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50" b="1" i="0" u="none">
                <a:solidFill>
                  <a:srgbClr val="A1A1AA"/>
                </a:solidFill>
                <a:latin typeface="Playfair Display"/>
              </a:rPr>
              <a:t>Drafting Co.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19988" y="3178373"/>
            <a:ext cx="1166812" cy="133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50" b="1" i="0" u="none">
                <a:solidFill>
                  <a:srgbClr val="A1A1AA"/>
                </a:solidFill>
                <a:latin typeface="Consolas"/>
              </a:rPr>
              <a:t>render.sh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58250" y="3183136"/>
            <a:ext cx="1166812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75" b="1" i="0" u="none">
                <a:solidFill>
                  <a:srgbClr val="A1A1AA"/>
                </a:solidFill>
                <a:latin typeface="Inter"/>
              </a:rPr>
              <a:t>NORTHFIELD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96512" y="3159323"/>
            <a:ext cx="1166812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50" b="1" i="0" u="none">
                <a:solidFill>
                  <a:srgbClr val="A1A1AA"/>
                </a:solidFill>
                <a:latin typeface="Playfair Display"/>
              </a:rPr>
              <a:t>Studio Eight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9600" y="6591300"/>
            <a:ext cx="1603028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52525B"/>
                </a:solidFill>
                <a:latin typeface="Inter"/>
              </a:rPr>
              <a:t>SLIDIFY · ATOMIC SEED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607873" y="6591300"/>
            <a:ext cx="974527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52525B"/>
                </a:solidFill>
                <a:latin typeface="Inter"/>
              </a:rPr>
              <a:t>15 / 16 · TEAM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gradFill flip="none" rotWithShape="1">
            <a:gsLst>
              <a:gs pos="0">
                <a:srgbClr val="1E1B4B"/>
              </a:gs>
              <a:gs pos="10000">
                <a:srgbClr val="1B1841"/>
              </a:gs>
              <a:gs pos="20000">
                <a:srgbClr val="171538"/>
              </a:gs>
              <a:gs pos="30000">
                <a:srgbClr val="14132E"/>
              </a:gs>
              <a:gs pos="40000">
                <a:srgbClr val="101025"/>
              </a:gs>
              <a:gs pos="50000">
                <a:srgbClr val="0D0D1C"/>
              </a:gs>
              <a:gs pos="60000">
                <a:srgbClr val="0A0A14"/>
              </a:gs>
              <a:gs pos="66667">
                <a:srgbClr val="080812"/>
              </a:gs>
              <a:gs pos="73333">
                <a:srgbClr val="060610"/>
              </a:gs>
              <a:gs pos="80000">
                <a:srgbClr val="05050E"/>
              </a:gs>
              <a:gs pos="86667">
                <a:srgbClr val="04040C"/>
              </a:gs>
              <a:gs pos="93333">
                <a:srgbClr val="03030A"/>
              </a:gs>
              <a:gs pos="100000">
                <a:srgbClr val="020208"/>
              </a:gs>
            </a:gsLst>
            <a:path path="circle">
              <a:fillToRect l="50000" t="50000" r="50000" b="50000"/>
            </a:path>
          </a:gradFill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/>
          <p:cNvSpPr/>
          <p:nvPr/>
        </p:nvSpPr>
        <p:spPr>
          <a:gradFill flip="none" rotWithShape="1">
            <a:gsLst>
              <a:gs pos="0">
                <a:srgbClr val="A78BFA">
                  <a:alpha val="34000"/>
                </a:srgbClr>
              </a:gs>
              <a:gs pos="11667">
                <a:srgbClr val="A78BFA">
                  <a:alpha val="28333"/>
                </a:srgbClr>
              </a:gs>
              <a:gs pos="23333">
                <a:srgbClr val="A78BFA">
                  <a:alpha val="22667"/>
                </a:srgbClr>
              </a:gs>
              <a:gs pos="35000">
                <a:srgbClr val="A78BFA">
                  <a:alpha val="17000"/>
                </a:srgbClr>
              </a:gs>
              <a:gs pos="46667">
                <a:srgbClr val="A78BFA">
                  <a:alpha val="11333"/>
                </a:srgbClr>
              </a:gs>
              <a:gs pos="58333">
                <a:srgbClr val="A78BFA">
                  <a:alpha val="5667"/>
                </a:srgbClr>
              </a:gs>
              <a:gs pos="70000">
                <a:srgbClr val="A78BFA">
                  <a:alpha val="0"/>
                </a:srgbClr>
              </a:gs>
              <a:gs pos="100000">
                <a:srgbClr val="A78BFA">
                  <a:alpha val="0"/>
                </a:srgbClr>
              </a:gs>
            </a:gsLst>
            <a:path path="circle">
              <a:fillToRect l="50000" t="50000" r="50000" b="50000"/>
            </a:path>
          </a:gradFill>
          <a:xfrm>
            <a:off x="-1143000" y="-1714500"/>
            <a:ext cx="6858000" cy="685800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/>
          <p:cNvSpPr/>
          <p:nvPr/>
        </p:nvSpPr>
        <p:spPr>
          <a:gradFill flip="none" rotWithShape="1">
            <a:gsLst>
              <a:gs pos="0">
                <a:srgbClr val="F472B6">
                  <a:alpha val="32000"/>
                </a:srgbClr>
              </a:gs>
              <a:gs pos="12000">
                <a:srgbClr val="F472B6">
                  <a:alpha val="26667"/>
                </a:srgbClr>
              </a:gs>
              <a:gs pos="24000">
                <a:srgbClr val="F472B6">
                  <a:alpha val="21333"/>
                </a:srgbClr>
              </a:gs>
              <a:gs pos="36000">
                <a:srgbClr val="F472B6">
                  <a:alpha val="16000"/>
                </a:srgbClr>
              </a:gs>
              <a:gs pos="48000">
                <a:srgbClr val="F472B6">
                  <a:alpha val="10667"/>
                </a:srgbClr>
              </a:gs>
              <a:gs pos="60000">
                <a:srgbClr val="F472B6">
                  <a:alpha val="5333"/>
                </a:srgbClr>
              </a:gs>
              <a:gs pos="72000">
                <a:srgbClr val="F472B6">
                  <a:alpha val="0"/>
                </a:srgbClr>
              </a:gs>
              <a:gs pos="100000">
                <a:srgbClr val="F472B6">
                  <a:alpha val="0"/>
                </a:srgbClr>
              </a:gs>
            </a:gsLst>
            <a:path path="circle">
              <a:fillToRect l="50000" t="50000" r="50000" b="50000"/>
            </a:path>
          </a:gradFill>
          <a:xfrm>
            <a:off x="5334000" y="571500"/>
            <a:ext cx="8382000" cy="838200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0" y="800100"/>
            <a:ext cx="12192000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25" b="1" i="0" u="none">
                <a:solidFill>
                  <a:srgbClr val="A78BFA"/>
                </a:solidFill>
                <a:latin typeface="Inter"/>
              </a:rPr>
              <a:t>FINAL · CHAPTER FOUR · GO BUILD</a:t>
            </a:r>
          </a:p>
        </p:txBody>
      </p:sp>
      <p:sp>
        <p:nvSpPr>
          <p:cNvPr id="6" name="Oval 5"/>
          <p:cNvSpPr/>
          <p:nvPr/>
        </p:nvSpPr>
        <p:spPr>
          <a:xfrm>
            <a:off x="10401300" y="533400"/>
            <a:ext cx="1066800" cy="1066800"/>
          </a:xfrm>
          <a:prstGeom prst="ellipse">
            <a:avLst/>
          </a:prstGeom>
          <a:noFill/>
          <a:ln w="19050"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10515600" y="647700"/>
            <a:ext cx="838200" cy="838200"/>
          </a:xfrm>
          <a:prstGeom prst="ellipse">
            <a:avLst/>
          </a:prstGeom>
          <a:noFill/>
          <a:ln w="9525"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10696337" y="937260"/>
            <a:ext cx="476726" cy="15478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75" b="1" i="0">
                <a:solidFill>
                  <a:srgbClr val="F472B6"/>
                </a:solidFill>
                <a:latin typeface="Inter"/>
              </a:rPr>
              <a:t>SHIPPED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75382" y="1089660"/>
            <a:ext cx="518636" cy="13096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25" b="1" i="0">
                <a:solidFill>
                  <a:srgbClr val="F472B6"/>
                </a:solidFill>
                <a:latin typeface="Inter"/>
              </a:rPr>
              <a:t>2026 · Q2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902345"/>
            <a:ext cx="114300" cy="25266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A78BFA"/>
                </a:solidFill>
                <a:latin typeface="Inter"/>
              </a:rPr>
              <a:t>RECIPE 16 OF 16 · CLOSING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1537543"/>
            <a:ext cx="10363200" cy="378291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2141786" y="1423243"/>
            <a:ext cx="7908429" cy="240104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9300" b="1" i="0" u="none">
                <a:gradFill rotWithShape="1">
                  <a:gsLst>
                    <a:gs pos="0">
                      <a:srgbClr val="60A5FA"/>
                    </a:gs>
                    <a:gs pos="30000">
                      <a:srgbClr val="A78BFA"/>
                    </a:gs>
                    <a:gs pos="65000">
                      <a:srgbClr val="F472B6"/>
                    </a:gs>
                    <a:gs pos="100000">
                      <a:srgbClr val="FB923C"/>
                    </a:gs>
                  </a:gsLst>
                  <a:lin ang="2700000" scaled="0"/>
                </a:gradFill>
                <a:latin typeface="Inter"/>
              </a:rPr>
              <a:t>Go build a deck</a:t>
            </a:r>
          </a:p>
          <a:p>
            <a:pPr algn="ctr"/>
            <a:r>
              <a:rPr sz="9300" b="1" i="0" u="none">
                <a:gradFill rotWithShape="1">
                  <a:gsLst>
                    <a:gs pos="0">
                      <a:srgbClr val="60A5FA"/>
                    </a:gs>
                    <a:gs pos="30000">
                      <a:srgbClr val="A78BFA"/>
                    </a:gs>
                    <a:gs pos="65000">
                      <a:srgbClr val="F472B6"/>
                    </a:gs>
                    <a:gs pos="100000">
                      <a:srgbClr val="FB923C"/>
                    </a:gs>
                  </a:gsLst>
                  <a:lin ang="2700000" scaled="0"/>
                </a:gradFill>
                <a:latin typeface="Inter"/>
              </a:rPr>
              <a:t>that stays alive.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83780" y="3977432"/>
            <a:ext cx="7424291" cy="4953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1500" b="1" i="0" u="none">
                <a:solidFill>
                  <a:srgbClr val="F5F5F7"/>
                </a:solidFill>
                <a:latin typeface="Inter"/>
              </a:rPr>
              <a:t>slidify@0.4 ships today.</a:t>
            </a:r>
            <a:r>
              <a:rPr sz="1500" b="0" i="0" u="none">
                <a:solidFill>
                  <a:srgbClr val="FFFFFF"/>
                </a:solidFill>
                <a:latin typeface="Inter"/>
              </a:rPr>
              <a:t xml:space="preserve"> Sixteen recipes, seventy atoms, eight typographic registers — every pixel native, every word editable.</a:t>
            </a:r>
          </a:p>
        </p:txBody>
      </p:sp>
      <p:sp>
        <p:nvSpPr>
          <p:cNvPr id="14" name="Rounded Rectangle 13"/>
          <p:cNvSpPr/>
          <p:nvPr/>
        </p:nvSpPr>
        <p:spPr>
          <a:gradFill flip="none" rotWithShape="1">
            <a:gsLst>
              <a:gs pos="0">
                <a:srgbClr val="F472B6"/>
              </a:gs>
              <a:gs pos="16667">
                <a:srgbClr val="FC73A2"/>
              </a:gs>
              <a:gs pos="33333">
                <a:srgbClr val="FF768D"/>
              </a:gs>
              <a:gs pos="50000">
                <a:srgbClr val="FF7B79"/>
              </a:gs>
              <a:gs pos="66667">
                <a:srgbClr val="FF8164"/>
              </a:gs>
              <a:gs pos="83333">
                <a:srgbClr val="FF8950"/>
              </a:gs>
              <a:gs pos="100000">
                <a:srgbClr val="FB923C"/>
              </a:gs>
            </a:gsLst>
            <a:lin ang="4200000" scaled="0"/>
          </a:gradFill>
          <a:xfrm>
            <a:off x="4104829" y="4796582"/>
            <a:ext cx="1936552" cy="523875"/>
          </a:xfrm>
          <a:prstGeom prst="roundRect">
            <a:avLst/>
          </a:prstGeom>
          <a:ln w="9525">
            <a:solidFill>
              <a:srgbClr val="FFFFFF"/>
            </a:solidFill>
          </a:ln>
          <a:effectLst>
            <a:innerShdw blurRad="0" dist="9525" dir="5400000">
              <a:srgbClr val="FFFFFF">
                <a:alpha val="45000"/>
              </a:srgbClr>
            </a:innerShdw>
            <a:outerShdw blurRad="266700" dist="114300" dir="5400000" algn="ctr" rotWithShape="0">
              <a:srgbClr val="F472B6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gradFill flip="none" rotWithShape="1">
            <a:gsLst>
              <a:gs pos="0">
                <a:srgbClr val="ffffff">
                  <a:alpha val="30000"/>
                </a:srgbClr>
              </a:gs>
              <a:gs pos="16667">
                <a:srgbClr val="FFFFFF">
                  <a:alpha val="25000"/>
                </a:srgbClr>
              </a:gs>
              <a:gs pos="33333">
                <a:srgbClr val="FFFFFF">
                  <a:alpha val="20000"/>
                </a:srgbClr>
              </a:gs>
              <a:gs pos="50000">
                <a:srgbClr val="FFFFFF">
                  <a:alpha val="15000"/>
                </a:srgbClr>
              </a:gs>
              <a:gs pos="66667">
                <a:srgbClr val="FFFFFF">
                  <a:alpha val="10000"/>
                </a:srgbClr>
              </a:gs>
              <a:gs pos="83333">
                <a:srgbClr val="FFFFFF">
                  <a:alpha val="5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xfrm>
            <a:off x="4104829" y="4796582"/>
            <a:ext cx="1936552" cy="261938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4104829" y="4796582"/>
            <a:ext cx="1936552" cy="523875"/>
          </a:xfrm>
          <a:prstGeom prst="rect">
            <a:avLst/>
          </a:prstGeom>
          <a:noFill/>
          <a:ln w="9525">
            <a:solidFill>
              <a:srgbClr val="FFFFFF">
                <a:alpha val="1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6193780" y="4810869"/>
            <a:ext cx="1893391" cy="495300"/>
          </a:xfrm>
          <a:prstGeom prst="rect">
            <a:avLst/>
          </a:prstGeom>
          <a:solidFill>
            <a:srgbClr val="FFFFFF">
              <a:alpha val="5000"/>
            </a:srgbClr>
          </a:solidFill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 u="none">
                <a:solidFill>
                  <a:srgbClr val="F5F5F7"/>
                </a:solidFill>
                <a:latin typeface="Inter"/>
              </a:rPr>
              <a:t>Read the docs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0" y="5905500"/>
            <a:ext cx="12192000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25" b="1" i="0" u="none">
                <a:solidFill>
                  <a:srgbClr val="71717A"/>
                </a:solidFill>
                <a:latin typeface="Inter"/>
              </a:rPr>
              <a:t>$ uv add slidify · $ slidify deck.html out.pptx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6400800"/>
            <a:ext cx="1603028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52525B"/>
                </a:solidFill>
                <a:latin typeface="Inter"/>
              </a:rPr>
              <a:t>SLIDIFY · ATOMIC SEED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53898" y="6400800"/>
            <a:ext cx="1523702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52525B"/>
                </a:solidFill>
                <a:latin typeface="Inter"/>
              </a:rPr>
              <a:t>16 / 16 · CLOSING CTA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F5F5F7"/>
      </a:accent1>
      <a:accent2>
        <a:srgbClr val="06060C"/>
      </a:accent2>
      <a:accent3>
        <a:srgbClr val="F472B6"/>
      </a:accent3>
      <a:accent4>
        <a:srgbClr val="67E8F9"/>
      </a:accent4>
      <a:accent5>
        <a:srgbClr val="A78BFA"/>
      </a:accent5>
      <a:accent6>
        <a:srgbClr val="52525B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