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embeddedFontLst>
    <p:embeddedFont>
      <p:font typeface="Inter" panose="020B0604020202020204" charset="0"/>
      <p:regular r:id="rIdSlidifyFont1"/>
      <p:bold r:id="rIdSlidifyFont2"/>
      <p:italic r:id="rIdSlidifyFont3"/>
      <p:boldItalic r:id="rIdSlidify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1E1B4B"/>
              </a:gs>
              <a:gs pos="9167">
                <a:srgbClr val="1B1841"/>
              </a:gs>
              <a:gs pos="18333">
                <a:srgbClr val="171538"/>
              </a:gs>
              <a:gs pos="27500">
                <a:srgbClr val="14132E"/>
              </a:gs>
              <a:gs pos="36667">
                <a:srgbClr val="101025"/>
              </a:gs>
              <a:gs pos="45833">
                <a:srgbClr val="0D0D1C"/>
              </a:gs>
              <a:gs pos="55000">
                <a:srgbClr val="0A0A14"/>
              </a:gs>
              <a:gs pos="62500">
                <a:srgbClr val="090913"/>
              </a:gs>
              <a:gs pos="70000">
                <a:srgbClr val="080813"/>
              </a:gs>
              <a:gs pos="77500">
                <a:srgbClr val="070712"/>
              </a:gs>
              <a:gs pos="85000">
                <a:srgbClr val="060611"/>
              </a:gs>
              <a:gs pos="92500">
                <a:srgbClr val="060611"/>
              </a:gs>
              <a:gs pos="100000">
                <a:srgbClr val="050510"/>
              </a:gs>
            </a:gsLst>
            <a:path path="circle">
              <a:fillToRect l="80000" t="12000" r="20000" b="88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gradFill flip="none" rotWithShape="1">
            <a:gsLst>
              <a:gs pos="0">
                <a:srgbClr val="8B5CF6">
                  <a:alpha val="32000"/>
                </a:srgbClr>
              </a:gs>
              <a:gs pos="35000">
                <a:srgbClr val="6366F1">
                  <a:alpha val="18000"/>
                </a:srgbClr>
              </a:gs>
              <a:gs pos="70000">
                <a:srgbClr val="6366F1">
                  <a:alpha val="0"/>
                </a:srgbClr>
              </a:gs>
              <a:gs pos="100000">
                <a:srgbClr val="6366F1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1143000" y="-2095500"/>
            <a:ext cx="7429500" cy="74295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gradFill flip="none" rotWithShape="1">
            <a:gsLst>
              <a:gs pos="0">
                <a:srgbClr val="EC4899">
                  <a:alpha val="28000"/>
                </a:srgbClr>
              </a:gs>
              <a:gs pos="38000">
                <a:srgbClr val="F472B6">
                  <a:alpha val="10000"/>
                </a:srgbClr>
              </a:gs>
              <a:gs pos="72000">
                <a:srgbClr val="F472B6">
                  <a:alpha val="0"/>
                </a:srgbClr>
              </a:gs>
              <a:gs pos="100000">
                <a:srgbClr val="F472B6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5143500" y="571500"/>
            <a:ext cx="8763000" cy="87630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gradFill flip="none" rotWithShape="1">
            <a:gsLst>
              <a:gs pos="0">
                <a:srgbClr val="818CF8"/>
              </a:gs>
              <a:gs pos="8333">
                <a:srgbClr val="8C8BFB"/>
              </a:gs>
              <a:gs pos="16667">
                <a:srgbClr val="978AFC"/>
              </a:gs>
              <a:gs pos="25000">
                <a:srgbClr val="A188FD"/>
              </a:gs>
              <a:gs pos="33333">
                <a:srgbClr val="AC87FE"/>
              </a:gs>
              <a:gs pos="41667">
                <a:srgbClr val="B685FD"/>
              </a:gs>
              <a:gs pos="50000">
                <a:srgbClr val="C084FC"/>
              </a:gs>
              <a:gs pos="58333">
                <a:srgbClr val="CB80F3"/>
              </a:gs>
              <a:gs pos="66667">
                <a:srgbClr val="D57CE9"/>
              </a:gs>
              <a:gs pos="75000">
                <a:srgbClr val="DE79DD"/>
              </a:gs>
              <a:gs pos="83333">
                <a:srgbClr val="E776D1"/>
              </a:gs>
              <a:gs pos="91667">
                <a:srgbClr val="EE74C4"/>
              </a:gs>
              <a:gs pos="100000">
                <a:srgbClr val="F472B6"/>
              </a:gs>
            </a:gsLst>
            <a:lin ang="2700000" scaled="0"/>
          </a:gradFill>
          <a:xfrm>
            <a:off x="914400" y="914400"/>
            <a:ext cx="342900" cy="3429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71600" y="985838"/>
            <a:ext cx="126804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slidify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·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573" y="923925"/>
            <a:ext cx="1311027" cy="323850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E4E4E7"/>
                </a:solidFill>
                <a:latin typeface="Inter"/>
              </a:rPr>
              <a:t xml:space="preserve"> shipping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84089"/>
            <a:ext cx="103632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Q2 2026 · Investor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65089"/>
            <a:ext cx="10287000" cy="28231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800" b="1" i="0" u="none">
                <a:solidFill>
                  <a:srgbClr val="F5F5F7"/>
                </a:solidFill>
                <a:latin typeface="Inter"/>
              </a:rPr>
              <a:t xml:space="preserve">A compiler for </a:t>
            </a:r>
            <a:r>
              <a:rPr sz="7800" b="1" i="0" u="none">
                <a:gradFill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F472B6"/>
                    </a:gs>
                  </a:gsLst>
                  <a:lin ang="2700000" scaled="0"/>
                </a:gradFill>
                <a:latin typeface="Inter"/>
              </a:rPr>
              <a:t>presentations</a:t>
            </a:r>
            <a:r>
              <a:rPr sz="7800" b="1" i="0" u="none">
                <a:solidFill>
                  <a:srgbClr val="F5F5F7"/>
                </a:solidFill>
                <a:latin typeface="Inter"/>
              </a:rPr>
              <a:t>, not a screenshot tool.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910"/>
            <a:ext cx="7429500" cy="94297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0" i="0" u="none">
                <a:solidFill>
                  <a:srgbClr val="D4D4D8"/>
                </a:solidFill>
                <a:latin typeface="Inter"/>
              </a:rPr>
              <a:t>Render in Chromium. Cluster into visual units. Translate gradients, shadows, and shapes natively. Edit the result in PowerPoint as if a human authored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34075"/>
            <a:ext cx="1565374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71717A"/>
                </a:solidFill>
                <a:latin typeface="Inter"/>
              </a:rPr>
              <a:t>Internal · For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8259" y="5943600"/>
            <a:ext cx="2109341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PIXELPITCH LABS · 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32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8250"/>
            <a:ext cx="10363200" cy="5600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200" b="1" i="0" u="none">
                <a:solidFill>
                  <a:srgbClr val="F5F5F7"/>
                </a:solidFill>
                <a:latin typeface="Inter"/>
              </a:rPr>
              <a:t>What we'll cover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36490"/>
            <a:ext cx="3048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800" y="2550765"/>
            <a:ext cx="3711625" cy="2476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5F5F7"/>
                </a:solidFill>
                <a:latin typeface="Inter"/>
              </a:rPr>
              <a:t>Why presentations are broken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88025" y="2636490"/>
            <a:ext cx="326975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71717A"/>
                </a:solidFill>
                <a:latin typeface="Inter"/>
              </a:rPr>
              <a:t>p.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2636490"/>
            <a:ext cx="3048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0400" y="2550765"/>
            <a:ext cx="3711625" cy="2476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5F5F7"/>
                </a:solidFill>
                <a:latin typeface="Inter"/>
              </a:rPr>
              <a:t>The render-and-classify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0625" y="2636490"/>
            <a:ext cx="326975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71717A"/>
                </a:solidFill>
                <a:latin typeface="Inter"/>
              </a:rPr>
              <a:t>p.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12765"/>
            <a:ext cx="3048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7800" y="3227040"/>
            <a:ext cx="3711625" cy="2476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5F5F7"/>
                </a:solidFill>
                <a:latin typeface="Inter"/>
              </a:rPr>
              <a:t>Native vs raster, by the numbers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88025" y="3312765"/>
            <a:ext cx="326975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71717A"/>
                </a:solidFill>
                <a:latin typeface="Inter"/>
              </a:rPr>
              <a:t>p. 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3312765"/>
            <a:ext cx="3048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400" y="3227040"/>
            <a:ext cx="3711625" cy="2476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5F5F7"/>
                </a:solidFill>
                <a:latin typeface="Inter"/>
              </a:rPr>
              <a:t>Six pillars of editability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0625" y="3312765"/>
            <a:ext cx="326975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71717A"/>
                </a:solidFill>
                <a:latin typeface="Inter"/>
              </a:rPr>
              <a:t>p. 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89040"/>
            <a:ext cx="3048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7800" y="3903315"/>
            <a:ext cx="3711625" cy="2476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5F5F7"/>
                </a:solidFill>
                <a:latin typeface="Inter"/>
              </a:rPr>
              <a:t>Pattern database deep-dive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8025" y="3989040"/>
            <a:ext cx="326975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71717A"/>
                </a:solidFill>
                <a:latin typeface="Inter"/>
              </a:rPr>
              <a:t>p. 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3989040"/>
            <a:ext cx="3048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400" y="3903315"/>
            <a:ext cx="3711625" cy="2476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5F5F7"/>
                </a:solidFill>
                <a:latin typeface="Inter"/>
              </a:rPr>
              <a:t>Where we are on the 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0625" y="3989040"/>
            <a:ext cx="326975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71717A"/>
                </a:solidFill>
                <a:latin typeface="Inter"/>
              </a:rPr>
              <a:t>p. 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248400"/>
            <a:ext cx="141163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PIXELPITCH LABS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3811" y="6248400"/>
            <a:ext cx="553789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476673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Headline KPI</a:t>
            </a:r>
          </a:p>
        </p:txBody>
      </p:sp>
      <p:sp>
        <p:nvSpPr>
          <p:cNvPr id="4" name="Rectangle 3"/>
          <p:cNvSpPr/>
          <p:nvPr/>
        </p:nvSpPr>
        <p:spPr>
          <a:xfrm>
            <a:off x="2524423" y="1214438"/>
            <a:ext cx="8753177" cy="9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638300"/>
            <a:ext cx="6324600" cy="19431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0" b="1" i="0" u="none">
                <a:gradFill rotWithShape="1">
                  <a:gsLst>
                    <a:gs pos="0">
                      <a:srgbClr val="F5F5F7"/>
                    </a:gs>
                    <a:gs pos="35000">
                      <a:srgbClr val="818CF8"/>
                    </a:gs>
                    <a:gs pos="65000">
                      <a:srgbClr val="C084FC"/>
                    </a:gs>
                    <a:gs pos="100000">
                      <a:srgbClr val="F472B6"/>
                    </a:gs>
                  </a:gsLst>
                  <a:lin ang="2700000" scaled="0"/>
                </a:gradFill>
                <a:latin typeface="Inter"/>
              </a:rPr>
              <a:t>87</a:t>
            </a:r>
            <a:r>
              <a:rPr sz="7200" b="1" i="0" u="none">
                <a:solidFill>
                  <a:srgbClr val="A78BFA"/>
                </a:solidFill>
                <a:latin typeface="Inter"/>
              </a:rPr>
              <a:t>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6324600" cy="71913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of slide area emits as native, editable PPTX shapes.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76788"/>
            <a:ext cx="6324600" cy="531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A1A1AA"/>
                </a:solidFill>
                <a:latin typeface="Inter"/>
              </a:rPr>
              <a:t>Average across a 200-deck corpus spanning Genspark, v0, Lovable, and hand-authored decks. With Tier-3 LLM enabled the figure climbs to 0.93.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48600" y="1638300"/>
            <a:ext cx="3429000" cy="2305050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  <a:effectLst>
            <a:outerShdw blurRad="476250" dist="190500" dir="5400000" algn="ctr" rotWithShape="0">
              <a:srgbClr val="6366F1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124825" y="1914525"/>
            <a:ext cx="1274415" cy="285750"/>
          </a:xfrm>
          <a:prstGeom prst="rect">
            <a:avLst/>
          </a:prstGeom>
          <a:solidFill>
            <a:srgbClr val="22C55E">
              <a:alpha val="1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86EFAC"/>
                </a:solidFill>
                <a:latin typeface="Inter"/>
              </a:rPr>
              <a:t>▲ +29.4% vs. 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4825" y="2371725"/>
            <a:ext cx="287655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First-pass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4825" y="2609850"/>
            <a:ext cx="2876550" cy="4191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700" b="1" i="0" u="none">
                <a:solidFill>
                  <a:srgbClr val="F5F5F7"/>
                </a:solidFill>
                <a:latin typeface="Inter"/>
              </a:rPr>
              <a:t>0.882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4825" y="3181350"/>
            <a:ext cx="2876550" cy="485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71717A"/>
                </a:solidFill>
                <a:latin typeface="Inter"/>
              </a:rPr>
              <a:t>Tier-0 pattern DB landed in March; Q2 expansion added composite recipes (stat-card, feature-card).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48400"/>
            <a:ext cx="3494484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SOURCE · slidify telemetry · April 29,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2173" y="6248400"/>
            <a:ext cx="555427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0668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85850"/>
            <a:ext cx="8572500" cy="9599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Editability that compounds across every deck shipped.</a:t>
            </a:r>
          </a:p>
        </p:txBody>
      </p:sp>
      <p:sp>
        <p:nvSpPr>
          <p:cNvPr id="5" name="Rounded Rectangle 4"/>
          <p:cNvSpPr/>
          <p:nvPr/>
        </p:nvSpPr>
        <p:spPr>
          <a:gradFill flip="none" rotWithShape="1">
            <a:gsLst>
              <a:gs pos="0">
                <a:srgbClr val="FFFFFF">
                  <a:alpha val="5000"/>
                </a:srgbClr>
              </a:gs>
              <a:gs pos="16667">
                <a:srgbClr val="FFFFFF">
                  <a:alpha val="4500"/>
                </a:srgbClr>
              </a:gs>
              <a:gs pos="33333">
                <a:srgbClr val="FFFFFF">
                  <a:alpha val="4000"/>
                </a:srgbClr>
              </a:gs>
              <a:gs pos="50000">
                <a:srgbClr val="FFFFFF">
                  <a:alpha val="3500"/>
                </a:srgbClr>
              </a:gs>
              <a:gs pos="66667">
                <a:srgbClr val="FFFFFF">
                  <a:alpha val="3000"/>
                </a:srgbClr>
              </a:gs>
              <a:gs pos="83333">
                <a:srgbClr val="FFFFFF">
                  <a:alpha val="2500"/>
                </a:srgbClr>
              </a:gs>
              <a:gs pos="100000">
                <a:srgbClr val="FFFFFF">
                  <a:alpha val="2000"/>
                </a:srgbClr>
              </a:gs>
            </a:gsLst>
            <a:lin ang="5400000" scaled="0"/>
          </a:gradFill>
          <a:xfrm>
            <a:off x="762000" y="2502991"/>
            <a:ext cx="3403550" cy="3153370"/>
          </a:xfrm>
          <a:prstGeom prst="roundRect">
            <a:avLst/>
          </a:prstGeom>
          <a:ln w="9525">
            <a:solidFill>
              <a:srgbClr val="FFFFFF"/>
            </a:solidFill>
          </a:ln>
          <a:effectLst>
            <a:outerShdw blurRad="571500" dist="228600" dir="5400000" algn="ctr" rotWithShape="0">
              <a:srgbClr val="6366F1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76325" y="2855416"/>
            <a:ext cx="27749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Native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141166"/>
            <a:ext cx="2774900" cy="838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600" b="1" i="0" u="none">
                <a:solidFill>
                  <a:srgbClr val="F5F5F7"/>
                </a:solidFill>
                <a:latin typeface="Inter"/>
              </a:rPr>
              <a:t>87</a:t>
            </a:r>
            <a:r>
              <a:rPr sz="3000" b="1" i="0" u="none">
                <a:solidFill>
                  <a:srgbClr val="A78BFA"/>
                </a:solidFill>
                <a:latin typeface="Inter"/>
              </a:rPr>
              <a:t>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4112716"/>
            <a:ext cx="799207" cy="238125"/>
          </a:xfrm>
          <a:prstGeom prst="rect">
            <a:avLst/>
          </a:prstGeom>
          <a:solidFill>
            <a:srgbClr val="22C55E">
              <a:alpha val="1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86EFAC"/>
                </a:solidFill>
                <a:latin typeface="Inter"/>
              </a:rPr>
              <a:t>▲ +29.4%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1732" y="4160341"/>
            <a:ext cx="774650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vs Q1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4522291"/>
            <a:ext cx="2774900" cy="7816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Average across the corpus. Tier-0 patterns landed in March; Q2 added composite recipes for stat- and feature-cards.</a:t>
            </a:r>
          </a:p>
        </p:txBody>
      </p:sp>
      <p:sp>
        <p:nvSpPr>
          <p:cNvPr id="11" name="Rounded Rectangle 10"/>
          <p:cNvSpPr/>
          <p:nvPr/>
        </p:nvSpPr>
        <p:spPr>
          <a:gradFill flip="none" rotWithShape="1">
            <a:gsLst>
              <a:gs pos="0">
                <a:srgbClr val="FFFFFF">
                  <a:alpha val="5000"/>
                </a:srgbClr>
              </a:gs>
              <a:gs pos="16667">
                <a:srgbClr val="FFFFFF">
                  <a:alpha val="4500"/>
                </a:srgbClr>
              </a:gs>
              <a:gs pos="33333">
                <a:srgbClr val="FFFFFF">
                  <a:alpha val="4000"/>
                </a:srgbClr>
              </a:gs>
              <a:gs pos="50000">
                <a:srgbClr val="FFFFFF">
                  <a:alpha val="3500"/>
                </a:srgbClr>
              </a:gs>
              <a:gs pos="66667">
                <a:srgbClr val="FFFFFF">
                  <a:alpha val="3000"/>
                </a:srgbClr>
              </a:gs>
              <a:gs pos="83333">
                <a:srgbClr val="FFFFFF">
                  <a:alpha val="2500"/>
                </a:srgbClr>
              </a:gs>
              <a:gs pos="100000">
                <a:srgbClr val="FFFFFF">
                  <a:alpha val="2000"/>
                </a:srgbClr>
              </a:gs>
            </a:gsLst>
            <a:lin ang="5400000" scaled="0"/>
          </a:gradFill>
          <a:xfrm>
            <a:off x="4394150" y="2502991"/>
            <a:ext cx="3403550" cy="3153370"/>
          </a:xfrm>
          <a:prstGeom prst="roundRect">
            <a:avLst/>
          </a:prstGeom>
          <a:ln w="9525">
            <a:solidFill>
              <a:srgbClr val="FFFFFF"/>
            </a:solidFill>
          </a:ln>
          <a:effectLst>
            <a:outerShdw blurRad="571500" dist="228600" dir="5400000" algn="ctr" rotWithShape="0">
              <a:srgbClr val="6366F1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708475" y="2855416"/>
            <a:ext cx="27749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Per 10-slide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8475" y="3141166"/>
            <a:ext cx="2774900" cy="838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600" b="1" i="0" u="none">
                <a:solidFill>
                  <a:srgbClr val="F5F5F7"/>
                </a:solidFill>
                <a:latin typeface="Inter"/>
              </a:rPr>
              <a:t>23</a:t>
            </a:r>
            <a:r>
              <a:rPr sz="3000" b="1" i="0" u="none">
                <a:solidFill>
                  <a:srgbClr val="A78BFA"/>
                </a:solidFill>
                <a:latin typeface="Inter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8475" y="4112716"/>
            <a:ext cx="645468" cy="238125"/>
          </a:xfrm>
          <a:prstGeom prst="rect">
            <a:avLst/>
          </a:prstGeom>
          <a:solidFill>
            <a:srgbClr val="F43F5E">
              <a:alpha val="1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DA4AF"/>
                </a:solidFill>
                <a:latin typeface="Inter"/>
              </a:rPr>
              <a:t>▼ -41%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30143" y="4160341"/>
            <a:ext cx="774650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vs Q1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8475" y="4522291"/>
            <a:ext cx="2774900" cy="7816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P95 conversion time on a single 8-core box, no GPU. Bottleneck is render parallelism (Chart.js init).</a:t>
            </a:r>
          </a:p>
        </p:txBody>
      </p:sp>
      <p:sp>
        <p:nvSpPr>
          <p:cNvPr id="17" name="Rounded Rectangle 16"/>
          <p:cNvSpPr/>
          <p:nvPr/>
        </p:nvSpPr>
        <p:spPr>
          <a:gradFill flip="none" rotWithShape="1">
            <a:gsLst>
              <a:gs pos="0">
                <a:srgbClr val="FFFFFF">
                  <a:alpha val="5000"/>
                </a:srgbClr>
              </a:gs>
              <a:gs pos="16667">
                <a:srgbClr val="FFFFFF">
                  <a:alpha val="4500"/>
                </a:srgbClr>
              </a:gs>
              <a:gs pos="33333">
                <a:srgbClr val="FFFFFF">
                  <a:alpha val="4000"/>
                </a:srgbClr>
              </a:gs>
              <a:gs pos="50000">
                <a:srgbClr val="FFFFFF">
                  <a:alpha val="3500"/>
                </a:srgbClr>
              </a:gs>
              <a:gs pos="66667">
                <a:srgbClr val="FFFFFF">
                  <a:alpha val="3000"/>
                </a:srgbClr>
              </a:gs>
              <a:gs pos="83333">
                <a:srgbClr val="FFFFFF">
                  <a:alpha val="2500"/>
                </a:srgbClr>
              </a:gs>
              <a:gs pos="100000">
                <a:srgbClr val="FFFFFF">
                  <a:alpha val="2000"/>
                </a:srgbClr>
              </a:gs>
            </a:gsLst>
            <a:lin ang="5400000" scaled="0"/>
          </a:gradFill>
          <a:xfrm>
            <a:off x="8026301" y="2502991"/>
            <a:ext cx="3403699" cy="3153370"/>
          </a:xfrm>
          <a:prstGeom prst="roundRect">
            <a:avLst/>
          </a:prstGeom>
          <a:ln w="9525">
            <a:solidFill>
              <a:srgbClr val="FFFFFF"/>
            </a:solidFill>
          </a:ln>
          <a:effectLst>
            <a:outerShdw blurRad="571500" dist="228600" dir="5400000" algn="ctr" rotWithShape="0">
              <a:srgbClr val="6366F1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8340626" y="2855416"/>
            <a:ext cx="2775049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LLM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0626" y="3141166"/>
            <a:ext cx="2775049" cy="838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600" b="1" i="0" u="none">
                <a:solidFill>
                  <a:srgbClr val="F5F5F7"/>
                </a:solidFill>
                <a:latin typeface="Inter"/>
              </a:rPr>
              <a:t>$0.04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0626" y="4112716"/>
            <a:ext cx="658267" cy="238125"/>
          </a:xfrm>
          <a:prstGeom prst="rect">
            <a:avLst/>
          </a:prstGeom>
          <a:solidFill>
            <a:srgbClr val="F43F5E">
              <a:alpha val="1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DA4AF"/>
                </a:solidFill>
                <a:latin typeface="Inter"/>
              </a:rPr>
              <a:t>▼ -73%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5093" y="4160341"/>
            <a:ext cx="774650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vs Q1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0626" y="4522291"/>
            <a:ext cx="2775049" cy="7816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Switch to Gemini Flash + only-firing-on-the-ambiguous-tail. ≤$0.10/deck even with full Tier-3 enabled.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6400800"/>
            <a:ext cx="3403104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SOURCE · Internal benchmark · April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71002" y="6400800"/>
            <a:ext cx="558998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685800"/>
            <a:ext cx="7020967" cy="43993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300" b="1" i="0" u="none">
                <a:solidFill>
                  <a:srgbClr val="F5F5F7"/>
                </a:solidFill>
                <a:latin typeface="Inter"/>
              </a:rPr>
              <a:t>Six pillars of the rendering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75466" y="973336"/>
            <a:ext cx="554534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71717A"/>
                </a:solidFill>
                <a:latin typeface="Inter"/>
              </a:rPr>
              <a:t>05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1468636"/>
            <a:ext cx="3429000" cy="2261443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  <a:effectLst>
            <a:outerShdw blurRad="381000" dist="114300" dir="5400000" algn="ctr" rotWithShape="0">
              <a:srgbClr val="6366F1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gradFill flip="none" rotWithShape="1">
            <a:gsLst>
              <a:gs pos="0">
                <a:srgbClr val="6366F1"/>
              </a:gs>
              <a:gs pos="16667">
                <a:srgbClr val="6A64F3"/>
              </a:gs>
              <a:gs pos="33333">
                <a:srgbClr val="7163F4"/>
              </a:gs>
              <a:gs pos="50000">
                <a:srgbClr val="7861F5"/>
              </a:gs>
              <a:gs pos="66667">
                <a:srgbClr val="7E60F5"/>
              </a:gs>
              <a:gs pos="83333">
                <a:srgbClr val="855EF6"/>
              </a:gs>
              <a:gs pos="100000">
                <a:srgbClr val="8B5CF6"/>
              </a:gs>
            </a:gsLst>
            <a:lin ang="2700000" scaled="0"/>
          </a:gradFill>
          <a:xfrm>
            <a:off x="1019175" y="1725811"/>
            <a:ext cx="419100" cy="4191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Inter"/>
              </a:rPr>
              <a:t>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175" y="2373511"/>
            <a:ext cx="291465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Render before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175" y="2630686"/>
            <a:ext cx="2914650" cy="5755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Real Chromium computes the layout. Static analysis cannot resolve flex / grid / flow geometry.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175" y="3206204"/>
            <a:ext cx="29146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PLAYWRIGHT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1500" y="1468636"/>
            <a:ext cx="3429000" cy="2261443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  <a:effectLst>
            <a:outerShdw blurRad="381000" dist="114300" dir="5400000" algn="ctr" rotWithShape="0">
              <a:srgbClr val="6366F1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gradFill flip="none" rotWithShape="1">
            <a:gsLst>
              <a:gs pos="0">
                <a:srgbClr val="8B5CF6"/>
              </a:gs>
              <a:gs pos="16667">
                <a:srgbClr val="A057ED"/>
              </a:gs>
              <a:gs pos="33333">
                <a:srgbClr val="B352E1"/>
              </a:gs>
              <a:gs pos="50000">
                <a:srgbClr val="C44ED2"/>
              </a:gs>
              <a:gs pos="66667">
                <a:srgbClr val="D44BC1"/>
              </a:gs>
              <a:gs pos="83333">
                <a:srgbClr val="E149AE"/>
              </a:gs>
              <a:gs pos="100000">
                <a:srgbClr val="EC4899"/>
              </a:gs>
            </a:gsLst>
            <a:lin ang="2700000" scaled="0"/>
          </a:gradFill>
          <a:xfrm>
            <a:off x="4638675" y="1725811"/>
            <a:ext cx="419100" cy="4191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Inter"/>
              </a:rPr>
              <a:t>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8675" y="2373511"/>
            <a:ext cx="291465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Visual units, not 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8675" y="2630686"/>
            <a:ext cx="2914650" cy="383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Classification atom is a connected visual region — a card, a bullet, a chart — not a single tag.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8675" y="3206204"/>
            <a:ext cx="29146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CLUSTERER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468636"/>
            <a:ext cx="3429000" cy="2261443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  <a:effectLst>
            <a:outerShdw blurRad="381000" dist="114300" dir="5400000" algn="ctr" rotWithShape="0">
              <a:srgbClr val="6366F1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gradFill flip="none" rotWithShape="1">
            <a:gsLst>
              <a:gs pos="0">
                <a:srgbClr val="EC4899"/>
              </a:gs>
              <a:gs pos="16667">
                <a:srgbClr val="F34B87"/>
              </a:gs>
              <a:gs pos="33333">
                <a:srgbClr val="F85074"/>
              </a:gs>
              <a:gs pos="50000">
                <a:srgbClr val="FB5761"/>
              </a:gs>
              <a:gs pos="66667">
                <a:srgbClr val="FC5F4C"/>
              </a:gs>
              <a:gs pos="83333">
                <a:srgbClr val="FC6936"/>
              </a:gs>
              <a:gs pos="100000">
                <a:srgbClr val="F97316"/>
              </a:gs>
            </a:gsLst>
            <a:lin ang="2700000" scaled="0"/>
          </a:gradFill>
          <a:xfrm>
            <a:off x="8258175" y="1725811"/>
            <a:ext cx="419100" cy="4191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Inter"/>
              </a:rPr>
              <a:t>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8175" y="2373511"/>
            <a:ext cx="291465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Three-tier 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8175" y="2630686"/>
            <a:ext cx="2914650" cy="383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Rules → heuristics → LLM. Closed-vocabulary patterns short-circuit ~90% of decisions.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8175" y="3206204"/>
            <a:ext cx="29146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TIER 0–3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3920579"/>
            <a:ext cx="3429000" cy="2120057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  <a:effectLst>
            <a:outerShdw blurRad="381000" dist="114300" dir="5400000" algn="ctr" rotWithShape="0">
              <a:srgbClr val="6366F1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gradFill flip="none" rotWithShape="1">
            <a:gsLst>
              <a:gs pos="0">
                <a:srgbClr val="06B6D4"/>
              </a:gs>
              <a:gs pos="16667">
                <a:srgbClr val="00ADDD"/>
              </a:gs>
              <a:gs pos="33333">
                <a:srgbClr val="00A2E5"/>
              </a:gs>
              <a:gs pos="50000">
                <a:srgbClr val="0D95EC"/>
              </a:gs>
              <a:gs pos="66667">
                <a:srgbClr val="3587F1"/>
              </a:gs>
              <a:gs pos="83333">
                <a:srgbClr val="4E77F3"/>
              </a:gs>
              <a:gs pos="100000">
                <a:srgbClr val="6366F1"/>
              </a:gs>
            </a:gsLst>
            <a:lin ang="2700000" scaled="0"/>
          </a:gradFill>
          <a:xfrm>
            <a:off x="1019175" y="4177754"/>
            <a:ext cx="419100" cy="4191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Inter"/>
              </a:rPr>
              <a:t>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175" y="4825454"/>
            <a:ext cx="291465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Confidence aware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175" y="5082629"/>
            <a:ext cx="2914650" cy="383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Every decision carries a confidence score. Low-confidence triggers a dual-emit safety net.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175" y="5516761"/>
            <a:ext cx="29146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CONFIDENCE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1500" y="3920579"/>
            <a:ext cx="3429000" cy="2120057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  <a:effectLst>
            <a:outerShdw blurRad="381000" dist="114300" dir="5400000" algn="ctr" rotWithShape="0">
              <a:srgbClr val="6366F1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gradFill flip="none" rotWithShape="1">
            <a:gsLst>
              <a:gs pos="0">
                <a:srgbClr val="22C55E"/>
              </a:gs>
              <a:gs pos="16667">
                <a:srgbClr val="00C67E"/>
              </a:gs>
              <a:gs pos="33333">
                <a:srgbClr val="00C597"/>
              </a:gs>
              <a:gs pos="50000">
                <a:srgbClr val="00C3AC"/>
              </a:gs>
              <a:gs pos="66667">
                <a:srgbClr val="00BFBE"/>
              </a:gs>
              <a:gs pos="83333">
                <a:srgbClr val="00BBCB"/>
              </a:gs>
              <a:gs pos="100000">
                <a:srgbClr val="06B6D4"/>
              </a:gs>
            </a:gsLst>
            <a:lin ang="2700000" scaled="0"/>
          </a:gradFill>
          <a:xfrm>
            <a:off x="4638675" y="4177754"/>
            <a:ext cx="419100" cy="4191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8675" y="4825454"/>
            <a:ext cx="291465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Self validating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8675" y="5082629"/>
            <a:ext cx="2914650" cy="383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SSIM + OCR oracle catches regressions. Failing regions auto-promote to raster and re-emit.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8675" y="5516761"/>
            <a:ext cx="29146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ORACLE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3920579"/>
            <a:ext cx="3429000" cy="2120057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  <a:effectLst>
            <a:outerShdw blurRad="381000" dist="114300" dir="5400000" algn="ctr" rotWithShape="0">
              <a:srgbClr val="6366F1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gradFill flip="none" rotWithShape="1">
            <a:gsLst>
              <a:gs pos="0">
                <a:srgbClr val="F97316"/>
              </a:gs>
              <a:gs pos="16667">
                <a:srgbClr val="FD8200"/>
              </a:gs>
              <a:gs pos="33333">
                <a:srgbClr val="FF9000"/>
              </a:gs>
              <a:gs pos="50000">
                <a:srgbClr val="FF9F00"/>
              </a:gs>
              <a:gs pos="66667">
                <a:srgbClr val="FFAE00"/>
              </a:gs>
              <a:gs pos="83333">
                <a:srgbClr val="FDBD00"/>
              </a:gs>
              <a:gs pos="100000">
                <a:srgbClr val="FACC15"/>
              </a:gs>
            </a:gsLst>
            <a:lin ang="2700000" scaled="0"/>
          </a:gradFill>
          <a:xfrm>
            <a:off x="8258175" y="4177754"/>
            <a:ext cx="419100" cy="4191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Inter"/>
              </a:rPr>
              <a:t>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8175" y="4825454"/>
            <a:ext cx="291465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Cache aggressively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8175" y="5082629"/>
            <a:ext cx="2914650" cy="383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Structural-signature cache hits 60–80% within a generator after warmup. Reuse is free.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8175" y="5516761"/>
            <a:ext cx="29146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CACHE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6477000"/>
            <a:ext cx="141163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PIXELPITCH LABS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75466" y="6477000"/>
            <a:ext cx="554534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0668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Before ·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85850"/>
            <a:ext cx="10668000" cy="4600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450" b="1" i="0" u="none">
                <a:solidFill>
                  <a:srgbClr val="F5F5F7"/>
                </a:solidFill>
                <a:latin typeface="Inter"/>
              </a:rPr>
              <a:t>Same browser render. Two very different decks.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1926878"/>
            <a:ext cx="5200650" cy="4057650"/>
          </a:xfrm>
          <a:prstGeom prst="roundRect">
            <a:avLst/>
          </a:prstGeom>
          <a:solidFill>
            <a:srgbClr val="3F3F46">
              <a:alpha val="30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114425" y="2279303"/>
            <a:ext cx="1906786" cy="27622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A1A1AA"/>
                </a:solidFill>
                <a:latin typeface="Inter"/>
              </a:rPr>
              <a:t>Naive screenshot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4412" y="2326928"/>
            <a:ext cx="785812" cy="228600"/>
          </a:xfrm>
          <a:prstGeom prst="rect">
            <a:avLst/>
          </a:prstGeom>
          <a:solidFill>
            <a:srgbClr val="3F3F46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1A1AA"/>
                </a:solidFill>
                <a:latin typeface="Inter"/>
              </a:rPr>
              <a:t>OLD 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425" y="3107978"/>
            <a:ext cx="209550" cy="209550"/>
          </a:xfrm>
          <a:prstGeom prst="rect">
            <a:avLst/>
          </a:prstGeom>
          <a:solidFill>
            <a:srgbClr val="F43F5E">
              <a:alpha val="20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DA4AF"/>
                </a:solidFill>
                <a:latin typeface="Inter"/>
              </a:rPr>
              <a:t>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7325" y="3107978"/>
            <a:ext cx="3343721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A1A1AA"/>
                </a:solidFill>
                <a:latin typeface="Inter"/>
              </a:rPr>
              <a:t>Every slide is a 50 MB PNG embedded into PPTX.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598515"/>
            <a:ext cx="209550" cy="209550"/>
          </a:xfrm>
          <a:prstGeom prst="rect">
            <a:avLst/>
          </a:prstGeom>
          <a:solidFill>
            <a:srgbClr val="F43F5E">
              <a:alpha val="20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DA4AF"/>
                </a:solidFill>
                <a:latin typeface="Inter"/>
              </a:rP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7325" y="3598515"/>
            <a:ext cx="3033564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A1A1AA"/>
                </a:solidFill>
                <a:latin typeface="Inter"/>
              </a:rPr>
              <a:t>No text is searchable, selectable, or editable.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4089053"/>
            <a:ext cx="209550" cy="209550"/>
          </a:xfrm>
          <a:prstGeom prst="rect">
            <a:avLst/>
          </a:prstGeom>
          <a:solidFill>
            <a:srgbClr val="F43F5E">
              <a:alpha val="20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DA4AF"/>
                </a:solidFill>
                <a:latin typeface="Inter"/>
              </a:rPr>
              <a:t>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7325" y="4089053"/>
            <a:ext cx="3863727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A1A1AA"/>
                </a:solidFill>
                <a:latin typeface="Inter"/>
              </a:rPr>
              <a:t>Brand-color swap requires re-running the whole pipeline.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4579590"/>
            <a:ext cx="209550" cy="209550"/>
          </a:xfrm>
          <a:prstGeom prst="rect">
            <a:avLst/>
          </a:prstGeom>
          <a:solidFill>
            <a:srgbClr val="F43F5E">
              <a:alpha val="20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DA4AF"/>
                </a:solidFill>
                <a:latin typeface="Inter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7325" y="4579590"/>
            <a:ext cx="3637806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A1A1AA"/>
                </a:solidFill>
                <a:latin typeface="Inter"/>
              </a:rPr>
              <a:t>Resizing degrades pixel-by-pixel, especially on retina.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4425" y="5070128"/>
            <a:ext cx="209550" cy="209550"/>
          </a:xfrm>
          <a:prstGeom prst="rect">
            <a:avLst/>
          </a:prstGeom>
          <a:solidFill>
            <a:srgbClr val="F43F5E">
              <a:alpha val="20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DA4AF"/>
                </a:solidFill>
                <a:latin typeface="Inter"/>
              </a:rPr>
              <a:t>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7325" y="5070128"/>
            <a:ext cx="3885158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A1A1AA"/>
                </a:solidFill>
                <a:latin typeface="Inter"/>
              </a:rPr>
              <a:t>Translation requires a second model run plus paste-back.</a:t>
            </a:r>
          </a:p>
        </p:txBody>
      </p:sp>
      <p:sp>
        <p:nvSpPr>
          <p:cNvPr id="18" name="Rounded Rectangle 17"/>
          <p:cNvSpPr/>
          <p:nvPr/>
        </p:nvSpPr>
        <p:spPr>
          <a:gradFill flip="none" rotWithShape="1">
            <a:gsLst>
              <a:gs pos="0">
                <a:srgbClr val="6366F1">
                  <a:alpha val="18000"/>
                </a:srgbClr>
              </a:gs>
              <a:gs pos="16667">
                <a:srgbClr val="825FEE">
                  <a:alpha val="16667"/>
                </a:srgbClr>
              </a:gs>
              <a:gs pos="33333">
                <a:srgbClr val="9D59E6">
                  <a:alpha val="15333"/>
                </a:srgbClr>
              </a:gs>
              <a:gs pos="50000">
                <a:srgbClr val="B554D9">
                  <a:alpha val="14000"/>
                </a:srgbClr>
              </a:gs>
              <a:gs pos="66667">
                <a:srgbClr val="CA4EC7">
                  <a:alpha val="12667"/>
                </a:srgbClr>
              </a:gs>
              <a:gs pos="83333">
                <a:srgbClr val="DC4AB2">
                  <a:alpha val="11333"/>
                </a:srgbClr>
              </a:gs>
              <a:gs pos="100000">
                <a:srgbClr val="EC4899">
                  <a:alpha val="10000"/>
                </a:srgbClr>
              </a:gs>
            </a:gsLst>
            <a:lin ang="4200000" scaled="0"/>
          </a:gradFill>
          <a:xfrm>
            <a:off x="6229350" y="1926878"/>
            <a:ext cx="5200650" cy="4057650"/>
          </a:xfrm>
          <a:prstGeom prst="roundRect">
            <a:avLst/>
          </a:prstGeom>
          <a:ln w="9525">
            <a:solidFill>
              <a:srgbClr val="A78BFA"/>
            </a:solidFill>
          </a:ln>
          <a:effectLst>
            <a:outerShdw blurRad="762000" dist="0" dir="0" algn="ctr" rotWithShape="0">
              <a:srgbClr val="8B5CF6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581775" y="2279303"/>
            <a:ext cx="674043" cy="27622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F5F5F7"/>
                </a:solidFill>
                <a:latin typeface="Inter"/>
              </a:rPr>
              <a:t>slidify</a:t>
            </a:r>
          </a:p>
        </p:txBody>
      </p:sp>
      <p:sp>
        <p:nvSpPr>
          <p:cNvPr id="20" name="TextBox 19"/>
          <p:cNvSpPr txBox="1"/>
          <p:nvPr/>
        </p:nvSpPr>
        <p:spPr>
          <a:gradFill flip="none" rotWithShape="1">
            <a:gsLst>
              <a:gs pos="0">
                <a:srgbClr val="818CF8"/>
              </a:gs>
              <a:gs pos="16667">
                <a:srgbClr val="9987F7"/>
              </a:gs>
              <a:gs pos="33333">
                <a:srgbClr val="AF81F1"/>
              </a:gs>
              <a:gs pos="50000">
                <a:srgbClr val="C37CE8"/>
              </a:gs>
              <a:gs pos="66667">
                <a:srgbClr val="D678DA"/>
              </a:gs>
              <a:gs pos="83333">
                <a:srgbClr val="E674CA"/>
              </a:gs>
              <a:gs pos="100000">
                <a:srgbClr val="F472B6"/>
              </a:gs>
            </a:gsLst>
            <a:lin ang="2700000" scaled="0"/>
          </a:gradFill>
          <a:xfrm>
            <a:off x="10255151" y="2326928"/>
            <a:ext cx="822424" cy="2286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F"/>
                </a:solidFill>
                <a:latin typeface="Inter"/>
              </a:rPr>
              <a:t>NEW 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3107978"/>
            <a:ext cx="209550" cy="209550"/>
          </a:xfrm>
          <a:prstGeom prst="rect">
            <a:avLst/>
          </a:prstGeom>
          <a:solidFill>
            <a:srgbClr val="22C55E">
              <a:alpha val="2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4675" y="3107978"/>
            <a:ext cx="3670548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E4E4E7"/>
                </a:solidFill>
                <a:latin typeface="Inter"/>
              </a:rPr>
              <a:t>Headlines, body copy, and bullets are real text frames.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775" y="3598515"/>
            <a:ext cx="209550" cy="209550"/>
          </a:xfrm>
          <a:prstGeom prst="rect">
            <a:avLst/>
          </a:prstGeom>
          <a:solidFill>
            <a:srgbClr val="22C55E">
              <a:alpha val="2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4675" y="3598515"/>
            <a:ext cx="3698825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E4E4E7"/>
                </a:solidFill>
                <a:latin typeface="Inter"/>
              </a:rPr>
              <a:t>Cards, dividers, badges are native rounded rectangles.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1775" y="4089053"/>
            <a:ext cx="209550" cy="209550"/>
          </a:xfrm>
          <a:prstGeom prst="rect">
            <a:avLst/>
          </a:prstGeom>
          <a:solidFill>
            <a:srgbClr val="22C55E">
              <a:alpha val="2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4675" y="4089053"/>
            <a:ext cx="4137868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E4E4E7"/>
                </a:solidFill>
                <a:latin typeface="Inter"/>
              </a:rPr>
              <a:t>Designers edit fonts, colors, alignment in PowerPoint directly.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1775" y="4579590"/>
            <a:ext cx="209550" cy="209550"/>
          </a:xfrm>
          <a:prstGeom prst="rect">
            <a:avLst/>
          </a:prstGeom>
          <a:solidFill>
            <a:srgbClr val="22C55E">
              <a:alpha val="2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4675" y="4579590"/>
            <a:ext cx="3611761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E4E4E7"/>
                </a:solidFill>
                <a:latin typeface="Inter"/>
              </a:rPr>
              <a:t>Only complex visuals (Chart.js, blur effects) rasterize.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1775" y="5070128"/>
            <a:ext cx="209550" cy="209550"/>
          </a:xfrm>
          <a:prstGeom prst="rect">
            <a:avLst/>
          </a:prstGeom>
          <a:solidFill>
            <a:srgbClr val="22C55E">
              <a:alpha val="2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4675" y="5070128"/>
            <a:ext cx="41529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E4E4E7"/>
                </a:solidFill>
                <a:latin typeface="Inter"/>
              </a:rPr>
              <a:t>Output is 4 MB instead of 50 MB. Email-friendly out of the box.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6400800"/>
            <a:ext cx="141163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PIXELPITCH LABS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74127" y="6400800"/>
            <a:ext cx="555873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0668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85850"/>
            <a:ext cx="8763000" cy="4600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450" b="1" i="0" u="none">
                <a:solidFill>
                  <a:srgbClr val="F5F5F7"/>
                </a:solidFill>
                <a:latin typeface="Inter"/>
              </a:rPr>
              <a:t>Render. Cluster. Classify. Emit. Validate.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2155478"/>
            <a:ext cx="1996380" cy="1950541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  <a:effectLst>
            <a:outerShdw blurRad="342900" dist="114300" dir="5400000" algn="ctr" rotWithShape="0">
              <a:srgbClr val="6366F1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42975" y="2374553"/>
            <a:ext cx="342900" cy="342900"/>
          </a:xfrm>
          <a:prstGeom prst="rect">
            <a:avLst/>
          </a:prstGeom>
          <a:solidFill>
            <a:srgbClr val="A78BFA"/>
          </a:solidFill>
          <a:effectLst>
            <a:outerShdw blurRad="0" dist="0" dir="0" algn="ctr" rotWithShape="0">
              <a:srgbClr val="070710"/>
            </a:outerShdw>
          </a:effectLst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F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2975" y="2850803"/>
            <a:ext cx="163443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Render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2975" y="3107978"/>
            <a:ext cx="1634430" cy="531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A1A1AA"/>
                </a:solidFill>
                <a:latin typeface="Inter"/>
              </a:rPr>
              <a:t>Headless Chromium, animation freeze, two-rAF wait, font preload.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975" y="3772644"/>
            <a:ext cx="1634430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52525B"/>
                </a:solidFill>
                <a:latin typeface="Inter"/>
              </a:rPr>
              <a:t>PLAYWRIGHT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9830" y="2155478"/>
            <a:ext cx="1996380" cy="1950541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  <a:effectLst>
            <a:outerShdw blurRad="342900" dist="114300" dir="5400000" algn="ctr" rotWithShape="0">
              <a:srgbClr val="6366F1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110805" y="2374553"/>
            <a:ext cx="342900" cy="342900"/>
          </a:xfrm>
          <a:prstGeom prst="rect">
            <a:avLst/>
          </a:prstGeom>
          <a:solidFill>
            <a:srgbClr val="C084FC"/>
          </a:solidFill>
          <a:effectLst>
            <a:outerShdw blurRad="0" dist="0" dir="0" algn="ctr" rotWithShape="0">
              <a:srgbClr val="070710"/>
            </a:outerShdw>
          </a:effectLst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F"/>
                </a:solidFill>
                <a:latin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0805" y="2850803"/>
            <a:ext cx="163443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Cluster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0805" y="3107978"/>
            <a:ext cx="1634430" cy="531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A1A1AA"/>
                </a:solidFill>
                <a:latin typeface="Inter"/>
              </a:rPr>
              <a:t>DOM elements grouped into atomic visual units by anchor + spatial overlap.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0805" y="3772644"/>
            <a:ext cx="1634430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52525B"/>
                </a:solidFill>
                <a:latin typeface="Inter"/>
              </a:rPr>
              <a:t>~10–50 / SLIDE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7661" y="2155478"/>
            <a:ext cx="1996529" cy="1950541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  <a:effectLst>
            <a:outerShdw blurRad="342900" dist="114300" dir="5400000" algn="ctr" rotWithShape="0">
              <a:srgbClr val="6366F1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278636" y="2374553"/>
            <a:ext cx="342900" cy="342900"/>
          </a:xfrm>
          <a:prstGeom prst="rect">
            <a:avLst/>
          </a:prstGeom>
          <a:solidFill>
            <a:srgbClr val="F472B6"/>
          </a:solidFill>
          <a:effectLst>
            <a:outerShdw blurRad="0" dist="0" dir="0" algn="ctr" rotWithShape="0">
              <a:srgbClr val="070710"/>
            </a:outerShdw>
          </a:effectLst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F"/>
                </a:solidFill>
                <a:latin typeface="Inte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8636" y="2850803"/>
            <a:ext cx="1634579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Classify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8636" y="3107978"/>
            <a:ext cx="1634579" cy="531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A1A1AA"/>
                </a:solidFill>
                <a:latin typeface="Inter"/>
              </a:rPr>
              <a:t>Tier 0 patterns → Tier 1 rules → Tier 2 heuristics → Tier 3 vision LLM.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8636" y="3772644"/>
            <a:ext cx="1634579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52525B"/>
                </a:solidFill>
                <a:latin typeface="Inter"/>
              </a:rPr>
              <a:t>FOUR TIERS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5640" y="2155478"/>
            <a:ext cx="1996380" cy="1950541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  <a:effectLst>
            <a:outerShdw blurRad="342900" dist="114300" dir="5400000" algn="ctr" rotWithShape="0">
              <a:srgbClr val="6366F1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7446615" y="2374553"/>
            <a:ext cx="342900" cy="342900"/>
          </a:xfrm>
          <a:prstGeom prst="rect">
            <a:avLst/>
          </a:prstGeom>
          <a:solidFill>
            <a:srgbClr val="FB923C"/>
          </a:solidFill>
          <a:effectLst>
            <a:outerShdw blurRad="0" dist="0" dir="0" algn="ctr" rotWithShape="0">
              <a:srgbClr val="070710"/>
            </a:outerShdw>
          </a:effectLst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F"/>
                </a:solidFill>
                <a:latin typeface="Inter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6615" y="2850803"/>
            <a:ext cx="163443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Emit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6615" y="3107978"/>
            <a:ext cx="1634430" cy="531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A1A1AA"/>
                </a:solidFill>
                <a:latin typeface="Inter"/>
              </a:rPr>
              <a:t>python-pptx writes native text, shapes, gradients, shadows with EMU precision.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6615" y="3772644"/>
            <a:ext cx="1634430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52525B"/>
                </a:solidFill>
                <a:latin typeface="Inter"/>
              </a:rPr>
              <a:t>OOXML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33471" y="2155478"/>
            <a:ext cx="1996529" cy="1950541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  <a:effectLst>
            <a:outerShdw blurRad="342900" dist="114300" dir="5400000" algn="ctr" rotWithShape="0">
              <a:srgbClr val="6366F1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9614446" y="2374553"/>
            <a:ext cx="342900" cy="342900"/>
          </a:xfrm>
          <a:prstGeom prst="rect">
            <a:avLst/>
          </a:prstGeom>
          <a:solidFill>
            <a:srgbClr val="FACC15"/>
          </a:solidFill>
          <a:effectLst>
            <a:outerShdw blurRad="0" dist="0" dir="0" algn="ctr" rotWithShape="0">
              <a:srgbClr val="070710"/>
            </a:outerShdw>
          </a:effectLst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F"/>
                </a:solidFill>
                <a:latin typeface="Inter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4446" y="2850803"/>
            <a:ext cx="1634579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Validate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4446" y="3107978"/>
            <a:ext cx="1634579" cy="531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A1A1AA"/>
                </a:solidFill>
                <a:latin typeface="Inter"/>
              </a:rPr>
              <a:t>LibreOffice re-renders. SSIM + OCR oracle. Auto-correct failing regions.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4446" y="3772644"/>
            <a:ext cx="1634579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52525B"/>
                </a:solidFill>
                <a:latin typeface="Inter"/>
              </a:rPr>
              <a:t>SSIM ≥ 0.95</a:t>
            </a:r>
          </a:p>
        </p:txBody>
      </p:sp>
      <p:sp>
        <p:nvSpPr>
          <p:cNvPr id="30" name="Rounded Rectangle 29"/>
          <p:cNvSpPr/>
          <p:nvPr/>
        </p:nvSpPr>
        <p:spPr>
          <a:gradFill flip="none" rotWithShape="1">
            <a:gsLst>
              <a:gs pos="0">
                <a:srgbClr val="6366F1">
                  <a:alpha val="14000"/>
                </a:srgbClr>
              </a:gs>
              <a:gs pos="16667">
                <a:srgbClr val="825FEE">
                  <a:alpha val="13333"/>
                </a:srgbClr>
              </a:gs>
              <a:gs pos="33333">
                <a:srgbClr val="9D59E6">
                  <a:alpha val="12667"/>
                </a:srgbClr>
              </a:gs>
              <a:gs pos="50000">
                <a:srgbClr val="B554D9">
                  <a:alpha val="12000"/>
                </a:srgbClr>
              </a:gs>
              <a:gs pos="66667">
                <a:srgbClr val="CA4EC7">
                  <a:alpha val="11333"/>
                </a:srgbClr>
              </a:gs>
              <a:gs pos="83333">
                <a:srgbClr val="DC4AB2">
                  <a:alpha val="10667"/>
                </a:srgbClr>
              </a:gs>
              <a:gs pos="100000">
                <a:srgbClr val="EC4899">
                  <a:alpha val="10000"/>
                </a:srgbClr>
              </a:gs>
            </a:gsLst>
            <a:lin ang="2700000" scaled="0"/>
          </a:gradFill>
          <a:xfrm>
            <a:off x="762000" y="4448919"/>
            <a:ext cx="10668000" cy="965597"/>
          </a:xfrm>
          <a:prstGeom prst="roundRect">
            <a:avLst/>
          </a:prstGeom>
          <a:ln w="9525">
            <a:solidFill>
              <a:srgbClr val="A78BFA"/>
            </a:solidFill>
          </a:ln>
          <a:effectLst>
            <a:outerShdw blurRad="571500" dist="228600" dir="5400000" algn="ctr" rotWithShape="0">
              <a:srgbClr val="8B5CF6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1114425" y="4831705"/>
            <a:ext cx="306883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 xml:space="preserve">Total budget · </a:t>
            </a:r>
            <a:r>
              <a:rPr sz="1350" b="1" i="0" u="none">
                <a:solidFill>
                  <a:srgbClr val="A78BFA"/>
                </a:solidFill>
                <a:latin typeface="Inter"/>
              </a:rPr>
              <a:t>23 s</a:t>
            </a:r>
            <a:r>
              <a:rPr sz="1350" b="1" i="0" u="none">
                <a:solidFill>
                  <a:srgbClr val="F5F5F7"/>
                </a:solidFill>
                <a:latin typeface="Inter"/>
              </a:rPr>
              <a:t xml:space="preserve"> for a 10-slide deck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62575" y="4725144"/>
            <a:ext cx="5715000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Bottleneck is render parallelism (Chart.js init). Tier-3 LLM is batched once per slide; cost ≤ $0.10 / deck on default settings.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6477000"/>
            <a:ext cx="141163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PIXELPITCH LABS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4545" y="6477000"/>
            <a:ext cx="54545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4338CA"/>
              </a:gs>
              <a:gs pos="35000">
                <a:srgbClr val="7C3AED"/>
              </a:gs>
              <a:gs pos="80000">
                <a:srgbClr val="DB2777"/>
              </a:gs>
              <a:gs pos="100000">
                <a:srgbClr val="DB2777"/>
              </a:gs>
            </a:gsLst>
            <a:lin ang="27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10000"/>
                </a:srgbClr>
              </a:gs>
            </a:gsLst>
            <a:path path="circle">
              <a:fillToRect l="25000" t="25000" r="75000" b="75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47750" y="1318617"/>
            <a:ext cx="8191500" cy="762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0" b="1" i="0" u="none">
                <a:solidFill>
                  <a:srgbClr val="FFFFFF"/>
                </a:solidFill>
                <a:latin typeface="Inter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1813917"/>
            <a:ext cx="8191500" cy="269676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Inter"/>
              </a:rPr>
              <a:t xml:space="preserve">Rasterization is the failure mode, </a:t>
            </a:r>
            <a:r>
              <a:rPr sz="3600" b="1" i="0" u="none">
                <a:gradFill rotWithShape="1">
                  <a:gsLst>
                    <a:gs pos="0">
                      <a:srgbClr val="FDE68A"/>
                    </a:gs>
                    <a:gs pos="100000">
                      <a:srgbClr val="F0ABFC"/>
                    </a:gs>
                  </a:gsLst>
                  <a:lin ang="2700000" scaled="0"/>
                </a:gradFill>
                <a:latin typeface="Inter"/>
              </a:rPr>
              <a:t>not the goal</a:t>
            </a:r>
            <a:r>
              <a:rPr sz="3600" b="1" i="0" u="none">
                <a:solidFill>
                  <a:srgbClr val="FFFFFF"/>
                </a:solidFill>
                <a:latin typeface="Inter"/>
              </a:rPr>
              <a:t>. Every pixel that stays editable compounds across every translation, every theme swap, every revision.</a:t>
            </a:r>
          </a:p>
        </p:txBody>
      </p:sp>
      <p:sp>
        <p:nvSpPr>
          <p:cNvPr id="6" name="TextBox 5"/>
          <p:cNvSpPr txBox="1"/>
          <p:nvPr/>
        </p:nvSpPr>
        <p:spPr>
          <a:gradFill flip="none" rotWithShape="1">
            <a:gsLst>
              <a:gs pos="0">
                <a:srgbClr val="FDE68A"/>
              </a:gs>
              <a:gs pos="11667">
                <a:srgbClr val="FFD176"/>
              </a:gs>
              <a:gs pos="23333">
                <a:srgbClr val="FFBA70"/>
              </a:gs>
              <a:gs pos="35000">
                <a:srgbClr val="FFA477"/>
              </a:gs>
              <a:gs pos="46667">
                <a:srgbClr val="FF9087"/>
              </a:gs>
              <a:gs pos="58333">
                <a:srgbClr val="FF7F9E"/>
              </a:gs>
              <a:gs pos="70000">
                <a:srgbClr val="F472B6"/>
              </a:gs>
              <a:gs pos="100000">
                <a:srgbClr val="F472B6"/>
              </a:gs>
            </a:gsLst>
            <a:lin ang="2700000" scaled="0"/>
          </a:gradFill>
          <a:xfrm>
            <a:off x="1047750" y="4967883"/>
            <a:ext cx="571500" cy="5715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831843"/>
                </a:solidFill>
                <a:latin typeface="Inter"/>
              </a:rPr>
              <a:t>VR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0700" y="5063133"/>
            <a:ext cx="1732062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Vamsi Ramakrishnan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0700" y="5282208"/>
            <a:ext cx="1732062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Inter"/>
              </a:rPr>
              <a:t>Founder · Pixelpitch 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6400800"/>
            <a:ext cx="141163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Inter"/>
              </a:rPr>
              <a:t>PIXELPITCH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88377" y="6400800"/>
            <a:ext cx="555873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Inter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10668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95350"/>
            <a:ext cx="8382000" cy="75991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50" b="1" i="0" u="none">
                <a:solidFill>
                  <a:srgbClr val="F5F5F7"/>
                </a:solidFill>
                <a:latin typeface="Inter"/>
              </a:rPr>
              <a:t>Pay for the slides you ship, not the seats you don't fill.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1960066"/>
            <a:ext cx="3441650" cy="4336554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  <a:effectLst>
            <a:outerShdw blurRad="457200" dist="152400" dir="5400000" algn="ctr" rotWithShape="0">
              <a:srgbClr val="6366F1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38225" y="2274391"/>
            <a:ext cx="28892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2522041"/>
            <a:ext cx="3755961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$0</a:t>
            </a:r>
            <a:r>
              <a:rPr sz="1050" b="0" i="0" u="none">
                <a:solidFill>
                  <a:srgbClr val="A1A1AA"/>
                </a:solidFill>
                <a:latin typeface="Inter"/>
              </a:rPr>
              <a:t>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093541"/>
            <a:ext cx="2889200" cy="383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For solo founders shipping their first deck. No credit card.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3686770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1198" y="3686770"/>
            <a:ext cx="1010841" cy="1857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5F5F7"/>
                </a:solidFill>
                <a:latin typeface="Inter"/>
              </a:rPr>
              <a:t>50 slides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4048720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1198" y="4048720"/>
            <a:ext cx="1039564" cy="1857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5F5F7"/>
                </a:solidFill>
                <a:latin typeface="Inter"/>
              </a:rPr>
              <a:t>Tier 0–2 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4410670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1198" y="4410670"/>
            <a:ext cx="1237952" cy="1857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5F5F7"/>
                </a:solidFill>
                <a:latin typeface="Inter"/>
              </a:rPr>
              <a:t>SSIM oracle included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4772620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1198" y="4772620"/>
            <a:ext cx="1158925" cy="1857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5F5F7"/>
                </a:solidFill>
                <a:latin typeface="Inter"/>
              </a:rPr>
              <a:t>Community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5601295"/>
            <a:ext cx="2889200" cy="419100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squar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F5F5F7"/>
                </a:solidFill>
                <a:latin typeface="Inter"/>
              </a:rPr>
              <a:t>Start free</a:t>
            </a:r>
          </a:p>
        </p:txBody>
      </p:sp>
      <p:sp>
        <p:nvSpPr>
          <p:cNvPr id="18" name="Rounded Rectangle 17"/>
          <p:cNvSpPr/>
          <p:nvPr/>
        </p:nvSpPr>
        <p:spPr>
          <a:gradFill flip="none" rotWithShape="1">
            <a:gsLst>
              <a:gs pos="0">
                <a:srgbClr val="6366F1">
                  <a:alpha val="20000"/>
                </a:srgbClr>
              </a:gs>
              <a:gs pos="16667">
                <a:srgbClr val="825FEE">
                  <a:alpha val="18333"/>
                </a:srgbClr>
              </a:gs>
              <a:gs pos="33333">
                <a:srgbClr val="9D59E6">
                  <a:alpha val="16667"/>
                </a:srgbClr>
              </a:gs>
              <a:gs pos="50000">
                <a:srgbClr val="B554D9">
                  <a:alpha val="15000"/>
                </a:srgbClr>
              </a:gs>
              <a:gs pos="66667">
                <a:srgbClr val="CA4EC7">
                  <a:alpha val="13333"/>
                </a:srgbClr>
              </a:gs>
              <a:gs pos="83333">
                <a:srgbClr val="DC4AB2">
                  <a:alpha val="11667"/>
                </a:srgbClr>
              </a:gs>
              <a:gs pos="100000">
                <a:srgbClr val="EC4899">
                  <a:alpha val="10000"/>
                </a:srgbClr>
              </a:gs>
            </a:gsLst>
            <a:lin ang="4200000" scaled="0"/>
          </a:gradFill>
          <a:xfrm>
            <a:off x="4375100" y="1960066"/>
            <a:ext cx="3441650" cy="4336554"/>
          </a:xfrm>
          <a:prstGeom prst="roundRect">
            <a:avLst/>
          </a:prstGeom>
          <a:ln w="9525">
            <a:solidFill>
              <a:srgbClr val="A78BFA"/>
            </a:solidFill>
          </a:ln>
          <a:effectLst>
            <a:outerShdw blurRad="762000" dist="0" dir="0" algn="ctr" rotWithShape="0">
              <a:srgbClr val="8B5CF6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580F2"/>
              </a:gs>
              <a:gs pos="33333">
                <a:srgbClr val="C276E7"/>
              </a:gs>
              <a:gs pos="50000">
                <a:srgbClr val="CF6BD9"/>
              </a:gs>
              <a:gs pos="66667">
                <a:srgbClr val="DA5FC7"/>
              </a:gs>
              <a:gs pos="83333">
                <a:srgbClr val="E454B1"/>
              </a:gs>
              <a:gs pos="100000">
                <a:srgbClr val="EC4899"/>
              </a:gs>
            </a:gsLst>
            <a:lin ang="2700000" scaled="0"/>
          </a:gradFill>
          <a:xfrm>
            <a:off x="5432524" y="1855291"/>
            <a:ext cx="1326654" cy="24765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F"/>
                </a:solidFill>
                <a:latin typeface="Inter"/>
              </a:rPr>
              <a:t>MOST POPULAR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1325" y="2274391"/>
            <a:ext cx="28892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Studio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1325" y="2522041"/>
            <a:ext cx="3755961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$29</a:t>
            </a:r>
            <a:r>
              <a:rPr sz="1050" b="0" i="0" u="none">
                <a:solidFill>
                  <a:srgbClr val="A1A1AA"/>
                </a:solidFill>
                <a:latin typeface="Inter"/>
              </a:rPr>
              <a:t>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1325" y="3093541"/>
            <a:ext cx="2889200" cy="383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For design teams converting decks every day. LLM credits included.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1325" y="3686770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298" y="3686770"/>
            <a:ext cx="1174700" cy="1857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5F5F7"/>
                </a:solidFill>
                <a:latin typeface="Inter"/>
              </a:rPr>
              <a:t>1,000 slides / 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1325" y="4048720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298" y="4048720"/>
            <a:ext cx="1275011" cy="1857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5F5F7"/>
                </a:solidFill>
                <a:latin typeface="Inter"/>
              </a:rPr>
              <a:t>Full four-tier classifier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1325" y="4410670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4298" y="4410670"/>
            <a:ext cx="2286446" cy="1857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5F5F7"/>
                </a:solidFill>
                <a:latin typeface="Inter"/>
              </a:rPr>
              <a:t>Gemini Flash + Claude Haiku backends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1325" y="4772620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4298" y="4772620"/>
            <a:ext cx="1931640" cy="1857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5F5F7"/>
                </a:solidFill>
                <a:latin typeface="Inter"/>
              </a:rPr>
              <a:t>Diskcache + warm pattern cache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1325" y="5134570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4298" y="5134570"/>
            <a:ext cx="1256407" cy="1857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5F5F7"/>
                </a:solidFill>
                <a:latin typeface="Inter"/>
              </a:rPr>
              <a:t>Priority email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1325" y="5620345"/>
            <a:ext cx="2889200" cy="40005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0A0A0F"/>
                </a:solidFill>
                <a:latin typeface="Inter"/>
              </a:rPr>
              <a:t>Try Studio 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88201" y="1960066"/>
            <a:ext cx="3441799" cy="4336554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  <a:effectLst>
            <a:outerShdw blurRad="457200" dist="152400" dir="5400000" algn="ctr" rotWithShape="0">
              <a:srgbClr val="6366F1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8264426" y="2274391"/>
            <a:ext cx="2889349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Enterprise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4426" y="2522041"/>
            <a:ext cx="2889349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Custom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4426" y="3093541"/>
            <a:ext cx="2889349" cy="383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Self-hosted, custom backends, SOC 2, dedicated success engineer.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4426" y="3686770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7399" y="3686770"/>
            <a:ext cx="924669" cy="1857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5F5F7"/>
                </a:solidFill>
                <a:latin typeface="Inter"/>
              </a:rPr>
              <a:t>Unlimited slides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4426" y="4048720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7399" y="4048720"/>
            <a:ext cx="1100882" cy="1857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5F5F7"/>
                </a:solidFill>
                <a:latin typeface="Inter"/>
              </a:rPr>
              <a:t>Self-hosted runner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4426" y="4410670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7399" y="4410670"/>
            <a:ext cx="1063526" cy="1857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5F5F7"/>
                </a:solidFill>
                <a:latin typeface="Inter"/>
              </a:rPr>
              <a:t>BYO LLM provider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64426" y="4772620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77399" y="4772620"/>
            <a:ext cx="1457474" cy="1857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5F5F7"/>
                </a:solidFill>
                <a:latin typeface="Inter"/>
              </a:rPr>
              <a:t>SLA + dedicated support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64426" y="5601295"/>
            <a:ext cx="2889349" cy="419100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squar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F5F5F7"/>
                </a:solidFill>
                <a:latin typeface="Inter"/>
              </a:rPr>
              <a:t>Talk to sales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2000" y="6477000"/>
            <a:ext cx="141163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PIXELPITCH LABS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74127" y="6477000"/>
            <a:ext cx="555873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0668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Developer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85850"/>
            <a:ext cx="8382000" cy="92005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450" b="1" i="0" u="none">
                <a:solidFill>
                  <a:srgbClr val="F5F5F7"/>
                </a:solidFill>
                <a:latin typeface="Inter"/>
              </a:rPr>
              <a:t>Convert in one command. Edit in PowerPoint forever.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310705"/>
            <a:ext cx="7429500" cy="501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0" i="0" u="none">
                <a:solidFill>
                  <a:srgbClr val="A1A1AA"/>
                </a:solidFill>
                <a:latin typeface="Inter"/>
              </a:rPr>
              <a:t>Slidify is a pip-installable CLI and Python library. Pattern recognition is data; provider fallback is automatic.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3079254"/>
            <a:ext cx="6089600" cy="3699718"/>
          </a:xfrm>
          <a:prstGeom prst="roundRect">
            <a:avLst/>
          </a:prstGeom>
          <a:solidFill>
            <a:srgbClr val="09090B"/>
          </a:solidFill>
          <a:ln w="9525">
            <a:solidFill>
              <a:srgbClr val="FFFFFF"/>
            </a:solidFill>
          </a:ln>
          <a:effectLst>
            <a:outerShdw blurRad="762000" dist="2667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1525" y="3088779"/>
            <a:ext cx="6070550" cy="381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923925" y="3226891"/>
            <a:ext cx="95250" cy="9525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1095375" y="3226891"/>
            <a:ext cx="95250" cy="9525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266825" y="3226891"/>
            <a:ext cx="95250" cy="9525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514475" y="3203079"/>
            <a:ext cx="789533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71717A"/>
                </a:solidFill>
                <a:latin typeface="Inter"/>
              </a:rPr>
              <a:t>~/decks · zsh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8959" y="3726954"/>
            <a:ext cx="4014192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F5F5F7"/>
                </a:solidFill>
                <a:latin typeface="Jetbrains Mono"/>
              </a:rPr>
              <a:t>pip install slidify &amp;&amp; playwright install chromium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925044"/>
            <a:ext cx="5537150" cy="2266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Jetbrains Mono"/>
              </a:rPr>
              <a:t>Installed slidify 1.0.0 in 1.7s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8959" y="4406950"/>
            <a:ext cx="2167682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F5F5F7"/>
                </a:solidFill>
                <a:latin typeface="Jetbrains Mono"/>
              </a:rPr>
              <a:t>slidify deck.html deck.pptx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4605040"/>
            <a:ext cx="5537150" cy="2266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Jetbrains Mono"/>
              </a:rPr>
              <a:t xml:space="preserve">  ✓ Splitting     ▏ </a:t>
            </a:r>
            <a:r>
              <a:rPr sz="1050" b="1" i="0" u="none">
                <a:solidFill>
                  <a:srgbClr val="FBBF24"/>
                </a:solidFill>
                <a:latin typeface="Jetbrains Mono"/>
              </a:rPr>
              <a:t>12</a:t>
            </a:r>
            <a:r>
              <a:rPr sz="1050" b="0" i="0" u="none">
                <a:solidFill>
                  <a:srgbClr val="A1A1AA"/>
                </a:solidFill>
                <a:latin typeface="Jetbrains Mono"/>
              </a:rPr>
              <a:t xml:space="preserve"> slides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4831705"/>
            <a:ext cx="5537150" cy="2266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Jetbrains Mono"/>
              </a:rPr>
              <a:t xml:space="preserve">  ✓ Rendering     ▏ </a:t>
            </a:r>
            <a:r>
              <a:rPr sz="1050" b="1" i="0" u="none">
                <a:solidFill>
                  <a:srgbClr val="FBBF24"/>
                </a:solidFill>
                <a:latin typeface="Jetbrains Mono"/>
              </a:rPr>
              <a:t>2.4s</a:t>
            </a:r>
            <a:r>
              <a:rPr sz="1050" b="0" i="0" u="none">
                <a:solidFill>
                  <a:srgbClr val="A1A1AA"/>
                </a:solidFill>
                <a:latin typeface="Jetbrains Mono"/>
              </a:rPr>
              <a:t xml:space="preserve"> · 4 parallel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5058370"/>
            <a:ext cx="5537150" cy="2266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Jetbrains Mono"/>
              </a:rPr>
              <a:t xml:space="preserve">  ✓ Classifying   ▏ tier0=</a:t>
            </a:r>
            <a:r>
              <a:rPr sz="1050" b="1" i="0" u="none">
                <a:solidFill>
                  <a:srgbClr val="FBBF24"/>
                </a:solidFill>
                <a:latin typeface="Jetbrains Mono"/>
              </a:rPr>
              <a:t>65</a:t>
            </a:r>
            <a:r>
              <a:rPr sz="1050" b="0" i="0" u="none">
                <a:solidFill>
                  <a:srgbClr val="A1A1AA"/>
                </a:solidFill>
                <a:latin typeface="Jetbrains Mono"/>
              </a:rPr>
              <a:t xml:space="preserve"> tier1=</a:t>
            </a:r>
            <a:r>
              <a:rPr sz="1050" b="1" i="0" u="none">
                <a:solidFill>
                  <a:srgbClr val="FBBF24"/>
                </a:solidFill>
                <a:latin typeface="Jetbrains Mono"/>
              </a:rPr>
              <a:t>4</a:t>
            </a:r>
            <a:r>
              <a:rPr sz="1050" b="0" i="0" u="none">
                <a:solidFill>
                  <a:srgbClr val="A1A1AA"/>
                </a:solidFill>
                <a:latin typeface="Jetbrains Mono"/>
              </a:rPr>
              <a:t xml:space="preserve"> tier2=</a:t>
            </a:r>
            <a:r>
              <a:rPr sz="1050" b="1" i="0" u="none">
                <a:solidFill>
                  <a:srgbClr val="FBBF24"/>
                </a:solidFill>
                <a:latin typeface="Jetbrains Mono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225" y="5285036"/>
            <a:ext cx="5537150" cy="2266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Jetbrains Mono"/>
              </a:rPr>
              <a:t xml:space="preserve">  ✓ Emitting      ▏ </a:t>
            </a:r>
            <a:r>
              <a:rPr sz="1050" b="1" i="0" u="none">
                <a:solidFill>
                  <a:srgbClr val="FBBF24"/>
                </a:solidFill>
                <a:latin typeface="Jetbrains Mono"/>
              </a:rPr>
              <a:t>3.7 MB</a:t>
            </a:r>
            <a:r>
              <a:rPr sz="1050" b="0" i="0" u="none">
                <a:solidFill>
                  <a:srgbClr val="A1A1AA"/>
                </a:solidFill>
                <a:latin typeface="Jetbrains Mono"/>
              </a:rPr>
              <a:t xml:space="preserve">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5" y="5511701"/>
            <a:ext cx="5537150" cy="2266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Jetbrains Mono"/>
              </a:rPr>
              <a:t xml:space="preserve">  ✓ Validating    ▏ </a:t>
            </a:r>
            <a:r>
              <a:rPr sz="1050" b="1" i="0" u="none">
                <a:solidFill>
                  <a:srgbClr val="FBBF24"/>
                </a:solidFill>
                <a:latin typeface="Jetbrains Mono"/>
              </a:rPr>
              <a:t>12/12</a:t>
            </a:r>
            <a:r>
              <a:rPr sz="1050" b="0" i="0" u="none">
                <a:solidFill>
                  <a:srgbClr val="A1A1AA"/>
                </a:solidFill>
                <a:latin typeface="Jetbrains Mono"/>
              </a:rPr>
              <a:t xml:space="preserve"> passed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8225" y="5965031"/>
            <a:ext cx="5537150" cy="2266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86EFAC"/>
                </a:solidFill>
                <a:latin typeface="Jetbrains Mono"/>
              </a:rPr>
              <a:t xml:space="preserve">native_area_ratio: </a:t>
            </a:r>
            <a:r>
              <a:rPr sz="1050" b="1" i="0" u="none">
                <a:solidFill>
                  <a:srgbClr val="F472B6"/>
                </a:solidFill>
                <a:latin typeface="Jetbrains Mono"/>
              </a:rPr>
              <a:t>0.886</a:t>
            </a:r>
            <a:r>
              <a:rPr sz="1050" b="1" i="0" u="none">
                <a:solidFill>
                  <a:srgbClr val="86EFAC"/>
                </a:solidFill>
                <a:latin typeface="Jetbrains Mono"/>
              </a:rPr>
              <a:t xml:space="preserve"> · cost: </a:t>
            </a:r>
            <a:r>
              <a:rPr sz="1050" b="1" i="0" u="none">
                <a:solidFill>
                  <a:srgbClr val="F472B6"/>
                </a:solidFill>
                <a:latin typeface="Jetbrains Mono"/>
              </a:rPr>
              <a:t>$0.04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0200" y="3079254"/>
            <a:ext cx="2108150" cy="895350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7280225" y="3260229"/>
            <a:ext cx="17081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1A1AA"/>
                </a:solidFill>
                <a:latin typeface="Inter"/>
              </a:rPr>
              <a:t>Time-to-first-deck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0225" y="3450729"/>
            <a:ext cx="2220531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F5F5F7"/>
                </a:solidFill>
                <a:latin typeface="Inter"/>
              </a:rPr>
              <a:t>38</a:t>
            </a:r>
            <a:r>
              <a:rPr sz="1050" b="1" i="0" u="none">
                <a:solidFill>
                  <a:srgbClr val="A78BFA"/>
                </a:solidFill>
                <a:latin typeface="Inter"/>
              </a:rPr>
              <a:t>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1701" y="3079254"/>
            <a:ext cx="2108150" cy="895350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9521726" y="3260229"/>
            <a:ext cx="17081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1A1AA"/>
                </a:solidFill>
                <a:latin typeface="Inter"/>
              </a:rPr>
              <a:t>Lines of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1726" y="3450729"/>
            <a:ext cx="1708100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F5F5F7"/>
                </a:solidFill>
                <a:latin typeface="Inter"/>
              </a:rPr>
              <a:t>3</a:t>
            </a:r>
          </a:p>
        </p:txBody>
      </p:sp>
      <p:sp>
        <p:nvSpPr>
          <p:cNvPr id="27" name="Rounded Rectangle 26"/>
          <p:cNvSpPr/>
          <p:nvPr/>
        </p:nvSpPr>
        <p:spPr>
          <a:gradFill flip="none" rotWithShape="1">
            <a:gsLst>
              <a:gs pos="0">
                <a:srgbClr val="6366F1">
                  <a:alpha val="16000"/>
                </a:srgbClr>
              </a:gs>
              <a:gs pos="16667">
                <a:srgbClr val="825FEE">
                  <a:alpha val="15000"/>
                </a:srgbClr>
              </a:gs>
              <a:gs pos="33333">
                <a:srgbClr val="9D59E6">
                  <a:alpha val="14000"/>
                </a:srgbClr>
              </a:gs>
              <a:gs pos="50000">
                <a:srgbClr val="B554D9">
                  <a:alpha val="13000"/>
                </a:srgbClr>
              </a:gs>
              <a:gs pos="66667">
                <a:srgbClr val="CA4EC7">
                  <a:alpha val="12000"/>
                </a:srgbClr>
              </a:gs>
              <a:gs pos="83333">
                <a:srgbClr val="DC4AB2">
                  <a:alpha val="11000"/>
                </a:srgbClr>
              </a:gs>
              <a:gs pos="100000">
                <a:srgbClr val="EC4899">
                  <a:alpha val="10000"/>
                </a:srgbClr>
              </a:gs>
            </a:gsLst>
            <a:lin ang="2700000" scaled="0"/>
          </a:gradFill>
          <a:xfrm>
            <a:off x="7080200" y="4146054"/>
            <a:ext cx="4349651" cy="1185118"/>
          </a:xfrm>
          <a:prstGeom prst="roundRect">
            <a:avLst/>
          </a:prstGeom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7299275" y="4346079"/>
            <a:ext cx="3911501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084FC"/>
                </a:solidFill>
                <a:latin typeface="Inter"/>
              </a:rPr>
              <a:t>No API key? No problem.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9275" y="4555629"/>
            <a:ext cx="3911501" cy="5755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E4E4E7"/>
                </a:solidFill>
                <a:latin typeface="Inter"/>
              </a:rPr>
              <a:t>Tier-3 LLM is opt-in. Without credentials slidify falls back to safe Raster decisions for the ambiguous tail and ships a fully-correct PPTX.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80200" y="5502622"/>
            <a:ext cx="4349651" cy="1276350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7280225" y="5683597"/>
            <a:ext cx="3949601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1A1AA"/>
                </a:solidFill>
                <a:latin typeface="Inter"/>
              </a:rPr>
              <a:t>Backends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80225" y="5874097"/>
            <a:ext cx="3949601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F5F5F7"/>
                </a:solidFill>
                <a:latin typeface="Inter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80225" y="6293197"/>
            <a:ext cx="3949601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Gemini AI Studio, Gemini Vertex, Anthropic, Claude Vertex. Auto-detected.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6477000"/>
            <a:ext cx="141163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PIXELPITCH LABS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01065" y="6477000"/>
            <a:ext cx="52893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0668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85850"/>
            <a:ext cx="8382000" cy="4600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450" b="1" i="0" u="none">
                <a:solidFill>
                  <a:srgbClr val="F5F5F7"/>
                </a:solidFill>
                <a:latin typeface="Inter"/>
              </a:rPr>
              <a:t>Where we are. Where we're going.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2079278"/>
            <a:ext cx="2538412" cy="3275112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  <a:effectLst>
            <a:outerShdw blurRad="457200" dist="152400" dir="5400000" algn="ctr" rotWithShape="0">
              <a:srgbClr val="6366F1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81075" y="2317403"/>
            <a:ext cx="33382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075" y="2517428"/>
            <a:ext cx="333821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5705" y="2317403"/>
            <a:ext cx="535632" cy="209550"/>
          </a:xfrm>
          <a:prstGeom prst="rect">
            <a:avLst/>
          </a:prstGeom>
          <a:solidFill>
            <a:srgbClr val="22C55E">
              <a:alpha val="14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86EFAC"/>
                </a:solidFill>
                <a:latin typeface="Inter"/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3060353"/>
            <a:ext cx="117723" cy="20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4048" y="3060353"/>
            <a:ext cx="1395412" cy="1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E4E4E7"/>
                </a:solidFill>
                <a:latin typeface="Inter"/>
              </a:rPr>
              <a:t>Tier-1 + Tier-2 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075" y="3447901"/>
            <a:ext cx="117723" cy="20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4048" y="3447901"/>
            <a:ext cx="1088975" cy="1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E4E4E7"/>
                </a:solidFill>
                <a:latin typeface="Inter"/>
              </a:rPr>
              <a:t>Streaming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3835450"/>
            <a:ext cx="117723" cy="20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4048" y="3835450"/>
            <a:ext cx="1118592" cy="1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E4E4E7"/>
                </a:solidFill>
                <a:latin typeface="Inter"/>
              </a:rPr>
              <a:t>SSIM + OCR oracle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4222998"/>
            <a:ext cx="117723" cy="20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4048" y="4222998"/>
            <a:ext cx="1117550" cy="1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E4E4E7"/>
                </a:solidFill>
                <a:latin typeface="Inter"/>
              </a:rPr>
              <a:t>Multi-provider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075" y="4667696"/>
            <a:ext cx="2100262" cy="286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Inter"/>
              </a:rPr>
              <a:t>Foundation shipped Mar 18.</a:t>
            </a:r>
          </a:p>
        </p:txBody>
      </p:sp>
      <p:sp>
        <p:nvSpPr>
          <p:cNvPr id="18" name="Rounded Rectangle 17"/>
          <p:cNvSpPr/>
          <p:nvPr/>
        </p:nvSpPr>
        <p:spPr>
          <a:gradFill flip="none" rotWithShape="1">
            <a:gsLst>
              <a:gs pos="0">
                <a:srgbClr val="6366F1">
                  <a:alpha val="18000"/>
                </a:srgbClr>
              </a:gs>
              <a:gs pos="16667">
                <a:srgbClr val="825FEE">
                  <a:alpha val="16667"/>
                </a:srgbClr>
              </a:gs>
              <a:gs pos="33333">
                <a:srgbClr val="9D59E6">
                  <a:alpha val="15333"/>
                </a:srgbClr>
              </a:gs>
              <a:gs pos="50000">
                <a:srgbClr val="B554D9">
                  <a:alpha val="14000"/>
                </a:srgbClr>
              </a:gs>
              <a:gs pos="66667">
                <a:srgbClr val="CA4EC7">
                  <a:alpha val="12667"/>
                </a:srgbClr>
              </a:gs>
              <a:gs pos="83333">
                <a:srgbClr val="DC4AB2">
                  <a:alpha val="11333"/>
                </a:srgbClr>
              </a:gs>
              <a:gs pos="100000">
                <a:srgbClr val="EC4899">
                  <a:alpha val="10000"/>
                </a:srgbClr>
              </a:gs>
            </a:gsLst>
            <a:lin ang="4200000" scaled="0"/>
          </a:gradFill>
          <a:xfrm>
            <a:off x="3471862" y="2079278"/>
            <a:ext cx="2538412" cy="3275112"/>
          </a:xfrm>
          <a:prstGeom prst="roundRect">
            <a:avLst/>
          </a:prstGeom>
          <a:ln w="9525">
            <a:solidFill>
              <a:srgbClr val="A78BFA"/>
            </a:solidFill>
          </a:ln>
          <a:effectLst>
            <a:outerShdw blurRad="762000" dist="0" dir="0" algn="ctr" rotWithShape="0">
              <a:srgbClr val="8B5CF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690938" y="2317403"/>
            <a:ext cx="33382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0938" y="2517428"/>
            <a:ext cx="333821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2026</a:t>
            </a:r>
          </a:p>
        </p:txBody>
      </p:sp>
      <p:sp>
        <p:nvSpPr>
          <p:cNvPr id="21" name="TextBox 20"/>
          <p:cNvSpPr txBox="1"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580F2"/>
              </a:gs>
              <a:gs pos="33333">
                <a:srgbClr val="C276E7"/>
              </a:gs>
              <a:gs pos="50000">
                <a:srgbClr val="CF6BD9"/>
              </a:gs>
              <a:gs pos="66667">
                <a:srgbClr val="DA5FC7"/>
              </a:gs>
              <a:gs pos="83333">
                <a:srgbClr val="E454B1"/>
              </a:gs>
              <a:gs pos="100000">
                <a:srgbClr val="EC4899"/>
              </a:gs>
            </a:gsLst>
            <a:lin ang="2700000" scaled="0"/>
          </a:gradFill>
          <a:xfrm>
            <a:off x="5318075" y="2317403"/>
            <a:ext cx="473125" cy="1905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F"/>
                </a:solidFill>
                <a:latin typeface="Inter"/>
              </a:rPr>
              <a:t>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0938" y="3060353"/>
            <a:ext cx="121890" cy="20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78BFA"/>
                </a:solidFill>
                <a:latin typeface="Inter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8078" y="3060353"/>
            <a:ext cx="1386036" cy="1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E4E4E7"/>
                </a:solidFill>
                <a:latin typeface="Inter"/>
              </a:rPr>
              <a:t>Tier-0 pattern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0938" y="3447901"/>
            <a:ext cx="121890" cy="20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78BFA"/>
                </a:solidFill>
                <a:latin typeface="Inter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08078" y="3447901"/>
            <a:ext cx="1629668" cy="1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E4E4E7"/>
                </a:solidFill>
                <a:latin typeface="Inter"/>
              </a:rPr>
              <a:t>Native gradients + shadows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0938" y="3835450"/>
            <a:ext cx="121890" cy="20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78BFA"/>
                </a:solidFill>
                <a:latin typeface="Inter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08078" y="3835450"/>
            <a:ext cx="1434852" cy="1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E4E4E7"/>
                </a:solidFill>
                <a:latin typeface="Inter"/>
              </a:rPr>
              <a:t>Surgical hybrid emission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0938" y="4222998"/>
            <a:ext cx="121890" cy="20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78BFA"/>
                </a:solidFill>
                <a:latin typeface="Inter"/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08078" y="4222998"/>
            <a:ext cx="1245245" cy="1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E4E4E7"/>
                </a:solidFill>
                <a:latin typeface="Inter"/>
              </a:rPr>
              <a:t>Corpus harvester CLI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90938" y="4667696"/>
            <a:ext cx="2100262" cy="448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Inter"/>
              </a:rPr>
              <a:t>Native ratio jumped 0.62 → 1.00 on showcase.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725" y="2079278"/>
            <a:ext cx="2538412" cy="3275112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  <a:effectLst>
            <a:outerShdw blurRad="457200" dist="152400" dir="5400000" algn="ctr" rotWithShape="0">
              <a:srgbClr val="6366F1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6400800" y="2317403"/>
            <a:ext cx="33382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Q3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517428"/>
            <a:ext cx="333821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7485" y="2317403"/>
            <a:ext cx="523577" cy="209550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NEXT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060353"/>
            <a:ext cx="121890" cy="20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52525B"/>
                </a:solidFill>
                <a:latin typeface="Inter"/>
              </a:rPr>
              <a:t>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17940" y="3060353"/>
            <a:ext cx="1635472" cy="1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E4E4E7"/>
                </a:solidFill>
                <a:latin typeface="Inter"/>
              </a:rPr>
              <a:t>@slidify/components library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447901"/>
            <a:ext cx="121890" cy="20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52525B"/>
                </a:solidFill>
                <a:latin typeface="Inter"/>
              </a:rPr>
              <a:t>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7940" y="3447901"/>
            <a:ext cx="1339602" cy="1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E4E4E7"/>
                </a:solidFill>
                <a:latin typeface="Inter"/>
              </a:rPr>
              <a:t>JSX → IR → PPTX path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835450"/>
            <a:ext cx="121890" cy="20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52525B"/>
                </a:solidFill>
                <a:latin typeface="Inter"/>
              </a:rPr>
              <a:t>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17940" y="3835450"/>
            <a:ext cx="1349425" cy="1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E4E4E7"/>
                </a:solidFill>
                <a:latin typeface="Inter"/>
              </a:rPr>
              <a:t>Bidirectional round-trip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222998"/>
            <a:ext cx="121890" cy="20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52525B"/>
                </a:solidFill>
                <a:latin typeface="Inter"/>
              </a:rPr>
              <a:t>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17940" y="4222998"/>
            <a:ext cx="1509712" cy="1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E4E4E7"/>
                </a:solidFill>
                <a:latin typeface="Inter"/>
              </a:rPr>
              <a:t>Theme-token brand swap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667696"/>
            <a:ext cx="2100262" cy="286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Inter"/>
              </a:rPr>
              <a:t>Generator-first: lossless by construction.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91588" y="2079278"/>
            <a:ext cx="2538412" cy="3275112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  <a:effectLst>
            <a:outerShdw blurRad="457200" dist="152400" dir="5400000" algn="ctr" rotWithShape="0">
              <a:srgbClr val="6366F1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9110662" y="2317403"/>
            <a:ext cx="33382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Q4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10662" y="2517428"/>
            <a:ext cx="333821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34067" y="2317403"/>
            <a:ext cx="576858" cy="209550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LATER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10662" y="3060353"/>
            <a:ext cx="121890" cy="20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52525B"/>
                </a:solidFill>
                <a:latin typeface="Inter"/>
              </a:rPr>
              <a:t>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7803" y="3060353"/>
            <a:ext cx="1450479" cy="1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E4E4E7"/>
                </a:solidFill>
                <a:latin typeface="Inter"/>
              </a:rPr>
              <a:t>Native Chart.js synthesis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10662" y="3447901"/>
            <a:ext cx="121890" cy="20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52525B"/>
                </a:solidFill>
                <a:latin typeface="Inter"/>
              </a:rPr>
              <a:t>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7803" y="3447901"/>
            <a:ext cx="1161306" cy="1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E4E4E7"/>
                </a:solidFill>
                <a:latin typeface="Inter"/>
              </a:rPr>
              <a:t>Pix2struct fine-tune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10662" y="3835450"/>
            <a:ext cx="121890" cy="20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52525B"/>
                </a:solidFill>
                <a:latin typeface="Inter"/>
              </a:rPr>
              <a:t>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7803" y="3835450"/>
            <a:ext cx="1472803" cy="1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E4E4E7"/>
                </a:solidFill>
                <a:latin typeface="Inter"/>
              </a:rPr>
              <a:t>PowerPoint Online oracle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10662" y="4222998"/>
            <a:ext cx="121890" cy="20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52525B"/>
                </a:solidFill>
                <a:latin typeface="Inter"/>
              </a:rPr>
              <a:t>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7803" y="4222998"/>
            <a:ext cx="1329928" cy="1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E4E4E7"/>
                </a:solidFill>
                <a:latin typeface="Inter"/>
              </a:rPr>
              <a:t>Skia paint-op intercept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10662" y="4667696"/>
            <a:ext cx="2100262" cy="286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Inter"/>
              </a:rPr>
              <a:t>Research-tier moves; high ceiling.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2000" y="6477000"/>
            <a:ext cx="141163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PIXELPITCH LABS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30384" y="6477000"/>
            <a:ext cx="499616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4338CA"/>
              </a:gs>
              <a:gs pos="35000">
                <a:srgbClr val="1E1B4B"/>
              </a:gs>
              <a:gs pos="70000">
                <a:srgbClr val="050510"/>
              </a:gs>
              <a:gs pos="100000">
                <a:srgbClr val="050510"/>
              </a:gs>
            </a:gsLst>
            <a:path path="circle">
              <a:fillToRect l="50000" t="100000" r="50000" b="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FFFFFF">
                  <a:alpha val="3000"/>
                </a:srgbClr>
              </a:gs>
              <a:gs pos="100000">
                <a:srgbClr val="FFFFFF">
                  <a:alpha val="3000"/>
                </a:srgbClr>
              </a:gs>
            </a:gsLst>
            <a:lin ang="54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gradFill flip="none" rotWithShape="1">
            <a:gsLst>
              <a:gs pos="0">
                <a:srgbClr val="A78BFA">
                  <a:alpha val="40000"/>
                </a:srgbClr>
              </a:gs>
              <a:gs pos="40000">
                <a:srgbClr val="EC4899">
                  <a:alpha val="15000"/>
                </a:srgbClr>
              </a:gs>
              <a:gs pos="70000">
                <a:srgbClr val="EC4899">
                  <a:alpha val="0"/>
                </a:srgbClr>
              </a:gs>
              <a:gs pos="100000">
                <a:srgbClr val="EC4899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381000" y="3367980"/>
            <a:ext cx="11430000" cy="53340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00699" y="1112193"/>
            <a:ext cx="3390454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A78BFA"/>
                </a:solidFill>
                <a:latin typeface="Inter"/>
              </a:rPr>
              <a:t>Get started in 30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69393"/>
            <a:ext cx="10363200" cy="164276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600" b="1" i="0" u="none">
                <a:solidFill>
                  <a:srgbClr val="F5F5F7"/>
                </a:solidFill>
                <a:latin typeface="Inter"/>
              </a:rPr>
              <a:t xml:space="preserve">Ship decks that </a:t>
            </a:r>
            <a:r>
              <a:rPr sz="6600" b="1" i="0" u="none">
                <a:gradFill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F472B6"/>
                    </a:gs>
                  </a:gsLst>
                  <a:lin ang="2700000" scaled="0"/>
                </a:gradFill>
                <a:latin typeface="Inter"/>
              </a:rPr>
              <a:t>stay alive</a:t>
            </a:r>
            <a:r>
              <a:rPr sz="6600" b="1" i="0" u="none">
                <a:solidFill>
                  <a:srgbClr val="F5F5F7"/>
                </a:solidFill>
                <a:latin typeface="Inter"/>
              </a:rPr>
              <a:t xml:space="preserve"> after the meeting.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76500" y="3516957"/>
            <a:ext cx="7239000" cy="6286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650" b="0" i="0" u="none">
                <a:solidFill>
                  <a:srgbClr val="D4D4D8"/>
                </a:solidFill>
                <a:latin typeface="Inter"/>
              </a:rPr>
              <a:t>Convert your first HTML deck for free. No signup, no credit card. Bring your own LLM provider or use the auto-detected fallback.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7990" y="4688532"/>
            <a:ext cx="1842046" cy="533400"/>
          </a:xfrm>
          <a:prstGeom prst="rect">
            <a:avLst/>
          </a:prstGeom>
          <a:solidFill>
            <a:srgbClr val="FFFFFF"/>
          </a:solidFill>
          <a:effectLst>
            <a:outerShdw blurRad="381000" dist="114300" dir="5400000" algn="ctr" rotWithShape="0">
              <a:srgbClr val="FFFFFF">
                <a:alpha val="2000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 u="none">
                <a:solidFill>
                  <a:srgbClr val="0A0A0F"/>
                </a:solidFill>
                <a:latin typeface="Inter"/>
              </a:rPr>
              <a:t>pip install slidify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3386" y="4679007"/>
            <a:ext cx="1868835" cy="552450"/>
          </a:xfrm>
          <a:prstGeom prst="rect">
            <a:avLst/>
          </a:prstGeom>
          <a:solidFill>
            <a:srgbClr val="FFFFFF">
              <a:alpha val="8000"/>
            </a:srgbClr>
          </a:solidFill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 u="none">
                <a:solidFill>
                  <a:srgbClr val="F5F5F7"/>
                </a:solidFill>
                <a:latin typeface="Inter"/>
              </a:rPr>
              <a:t>Read the spec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5571" y="4779020"/>
            <a:ext cx="1798439" cy="35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A1A1AA"/>
                </a:solidFill>
                <a:latin typeface="Inter"/>
              </a:rPr>
              <a:t>github.com/pixelpitch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49912" y="5688657"/>
            <a:ext cx="1692027" cy="323850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square" lIns="0" rIns="0" tIns="0" bIns="0">
            <a:spAutoFit/>
          </a:bodyPr>
          <a:lstStyle/>
          <a:p>
            <a:pPr algn="ctr"/>
            <a:r>
              <a:rPr sz="975" b="0" i="0" u="none">
                <a:solidFill>
                  <a:srgbClr val="D4D4D8"/>
                </a:solidFill>
                <a:latin typeface="Inter"/>
              </a:rPr>
              <a:t xml:space="preserve"> v1.0 · shipping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400800"/>
            <a:ext cx="141863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PIXELPITCH LABS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59318" y="6400800"/>
            <a:ext cx="1018282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12 / 12 · 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/>
          <p:cNvSpPr/>
          <p:nvPr/>
        </p:nvSpPr>
        <p:spPr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quadBezTo>
                  <a:pt x="61111" y="35294"/>
                  <a:pt x="100000" y="35294"/>
                </a:quadBezTo>
                <a:quadBezTo>
                  <a:pt x="66667" y="58824"/>
                  <a:pt x="83333" y="100000"/>
                </a:quadBezTo>
                <a:quadBezTo>
                  <a:pt x="50000" y="76471"/>
                  <a:pt x="16667" y="100000"/>
                </a:quadBezTo>
                <a:quadBezTo>
                  <a:pt x="33333" y="58824"/>
                  <a:pt x="0" y="35294"/>
                </a:quadBezTo>
                <a:quadBezTo>
                  <a:pt x="38889" y="35294"/>
                  <a:pt x="50000" y="0"/>
                </a:quadBezTo>
                <a:close/>
              </a:path>
            </a:pathLst>
          </a:custGeom>
          <a:xfrm>
            <a:off x="10791825" y="6334125"/>
            <a:ext cx="857250" cy="809625"/>
          </a:xfrm>
          <a:solidFill>
            <a:srgbClr val="FBBF24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5F5F7"/>
      </a:accent1>
      <a:accent2>
        <a:srgbClr val="52525B"/>
      </a:accent2>
      <a:accent3>
        <a:srgbClr val="A1A1AA"/>
      </a:accent3>
      <a:accent4>
        <a:srgbClr val="E4E4E7"/>
      </a:accent4>
      <a:accent5>
        <a:srgbClr val="A78BFA"/>
      </a:accent5>
      <a:accent6>
        <a:srgbClr val="86EFAC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