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1E1B4B"/>
              </a:gs>
              <a:gs pos="55000">
                <a:srgbClr val="0A0A14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8B5CF6">
                  <a:alpha val="32000"/>
                </a:srgbClr>
              </a:gs>
              <a:gs pos="35000">
                <a:srgbClr val="6366F1">
                  <a:alpha val="1800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74295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38000">
                <a:srgbClr val="F472B6">
                  <a:alpha val="10000"/>
                </a:srgbClr>
              </a:gs>
            </a:gsLst>
            <a:path path="circle">
              <a:fillToRect l="50000" t="50000" r="50000" b="50000"/>
            </a:path>
          </a:gradFill>
          <a:xfrm>
            <a:off x="5143500" y="571500"/>
            <a:ext cx="7048500" cy="62865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50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9144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985838"/>
            <a:ext cx="97542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573" y="923925"/>
            <a:ext cx="1311027" cy="3238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4E4E7"/>
                </a:solidFill>
                <a:latin typeface="Inter"/>
              </a:rPr>
              <a:t> shipping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284089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665089"/>
            <a:ext cx="10287000" cy="28231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0" b="1" i="0" u="none">
                <a:solidFill>
                  <a:srgbClr val="F5F5F7"/>
                </a:solidFill>
                <a:latin typeface="Inter"/>
              </a:rPr>
              <a:t>A compiler for </a:t>
            </a:r>
            <a:r>
              <a:rPr sz="7800" b="1" i="0" u="none">
                <a:latin typeface="Inter"/>
              </a:rPr>
              <a:t>presentations</a:t>
            </a:r>
            <a:r>
              <a:rPr sz="78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910"/>
            <a:ext cx="7429500" cy="942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>Render in Chromium. Cluster into visual units. Translate gradients, shadows, and shapes natively. Edit the result in PowerPoint as if a human authored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34075"/>
            <a:ext cx="1565374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8259" y="5943600"/>
            <a:ext cx="2109341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3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8250"/>
            <a:ext cx="10363200" cy="56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What we'll cover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8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Why presentations are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880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0" y="263649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400" y="255076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The render-and-classify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0625" y="263649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Native vs raster, by the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80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312765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227040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Six pillars of editability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0625" y="3312765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78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Pattern database deep-dive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80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989040"/>
            <a:ext cx="30480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0400" y="3903315"/>
            <a:ext cx="3711625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F5F5F7"/>
                </a:solidFill>
                <a:latin typeface="Inter"/>
              </a:rPr>
              <a:t>• Where we are on the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0625" y="3989040"/>
            <a:ext cx="326975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1717A"/>
                </a:solidFill>
                <a:latin typeface="Inter"/>
              </a:rPr>
              <a:t>p.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484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3811" y="6248400"/>
            <a:ext cx="55378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4766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Headline 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4423" y="1214438"/>
            <a:ext cx="875317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gradFill flip="none" rotWithShape="1">
            <a:gsLst>
              <a:gs pos="0">
                <a:srgbClr val="F5F5F7"/>
              </a:gs>
              <a:gs pos="35000">
                <a:srgbClr val="818CF8"/>
              </a:gs>
              <a:gs pos="65000">
                <a:srgbClr val="C084FC"/>
              </a:gs>
              <a:gs pos="100000">
                <a:srgbClr val="F472B6"/>
              </a:gs>
            </a:gsLst>
            <a:lin ang="2700000" scaled="0"/>
          </a:gradFill>
          <a:xfrm>
            <a:off x="914400" y="1638300"/>
            <a:ext cx="6324600" cy="1943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8000" b="1" i="0" u="none">
                <a:latin typeface="Inter"/>
              </a:rPr>
              <a:t>87</a:t>
            </a:r>
            <a:r>
              <a:rPr sz="72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6324600" cy="7191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of slide area emits as native, editable PPTX shapes.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76788"/>
            <a:ext cx="632460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A1A1AA"/>
                </a:solidFill>
                <a:latin typeface="Inter"/>
              </a:rPr>
              <a:t>Average across a 200-deck corpus spanning Genspark, v0, Lovable, and hand-authored decks. With Tier-3 LLM enabled the figure climbs to 0.93.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48600" y="1638300"/>
            <a:ext cx="3429000" cy="230505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76250" dist="190500" dir="5400000" algn="ctr" rotWithShape="0">
              <a:srgbClr val="6366F1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4825" y="1914525"/>
            <a:ext cx="1274415" cy="2857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▲ +29.4% vs. 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4825" y="2371725"/>
            <a:ext cx="2876550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First-pass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4825" y="2609850"/>
            <a:ext cx="28765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0.882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3181350"/>
            <a:ext cx="2876550" cy="4857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Tier-0 pattern DB landed in March; Q2 expansion added composite recipes (stat-card, feature-card).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48400"/>
            <a:ext cx="349448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slidify telemetry · April 29,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2173" y="6248400"/>
            <a:ext cx="555427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572500" cy="9599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Editability that compounds across every deck shipped.</a:t>
            </a:r>
          </a:p>
        </p:txBody>
      </p:sp>
      <p:sp>
        <p:nvSpPr>
          <p:cNvPr id="5" name="Rounded Rectangle 4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76200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632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2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4112716"/>
            <a:ext cx="799207" cy="238125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1732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Average across the corpus. Tier-0 patterns landed in March; Q2 added composite recipes for stat- and feature-cards.</a:t>
            </a:r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4394150" y="2502991"/>
            <a:ext cx="3403550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8475" y="2855416"/>
            <a:ext cx="27749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Per 10-slide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8475" y="3141166"/>
            <a:ext cx="2774900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23</a:t>
            </a:r>
            <a:r>
              <a:rPr sz="3000" b="1" i="0" u="none">
                <a:solidFill>
                  <a:srgbClr val="A78BFA"/>
                </a:solidFill>
                <a:latin typeface="Inter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8475" y="4112716"/>
            <a:ext cx="645468" cy="238125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-41%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014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8475" y="4522291"/>
            <a:ext cx="2774900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P95 conversion time on a single 8-core box, no GPU. Bottleneck is render parallelism (Chart.js init).</a:t>
            </a:r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FFFFFF">
                  <a:alpha val="5000"/>
                </a:srgbClr>
              </a:gs>
              <a:gs pos="100000">
                <a:srgbClr val="FFFFFF">
                  <a:alpha val="2000"/>
                </a:srgbClr>
              </a:gs>
            </a:gsLst>
            <a:lin ang="5400000" scaled="0"/>
          </a:gradFill>
          <a:xfrm>
            <a:off x="8026301" y="2502991"/>
            <a:ext cx="3403699" cy="315337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6366F1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0626" y="2855416"/>
            <a:ext cx="27750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LLM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6" y="3141166"/>
            <a:ext cx="2775049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$0.04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6" y="4112716"/>
            <a:ext cx="658267" cy="238125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DA4AF"/>
                </a:solidFill>
                <a:latin typeface="Inter"/>
              </a:rPr>
              <a:t>▼ -73%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093" y="4160341"/>
            <a:ext cx="774650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vs Q1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6" y="4522291"/>
            <a:ext cx="2775049" cy="7816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Switch to Gemini Flash + only-firing-on-the-ambiguous-tail. ≤$0.10/deck even with full Tier-3 enabled.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6400800"/>
            <a:ext cx="340310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SOURCE · Internal benchmark · April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1002" y="6400800"/>
            <a:ext cx="558998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85800"/>
            <a:ext cx="7020967" cy="439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1" i="0" u="none">
                <a:solidFill>
                  <a:srgbClr val="F5F5F7"/>
                </a:solidFill>
                <a:latin typeface="Inter"/>
              </a:rPr>
              <a:t>Six pillars of the rendering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75466" y="973336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05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468636"/>
            <a:ext cx="3429000" cy="226144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gradFill flip="none" rotWithShape="1">
            <a:gsLst>
              <a:gs pos="0">
                <a:srgbClr val="6366F1"/>
              </a:gs>
              <a:gs pos="100000">
                <a:srgbClr val="8B5CF6"/>
              </a:gs>
            </a:gsLst>
            <a:lin ang="2700000" scaled="0"/>
          </a:gradFill>
          <a:xfrm>
            <a:off x="1019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 before 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175" y="2630686"/>
            <a:ext cx="2914650" cy="575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Real Chromium computes the layout. Static analysis cannot resolve flex / grid / flow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1468636"/>
            <a:ext cx="3429000" cy="226144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8B5CF6"/>
              </a:gs>
              <a:gs pos="100000">
                <a:srgbClr val="EC4899"/>
              </a:gs>
            </a:gsLst>
            <a:lin ang="2700000" scaled="0"/>
          </a:gradFill>
          <a:xfrm>
            <a:off x="46386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86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Visual units, not 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86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Classification atom is a connected visual region — a card, a bullet, a chart — not a single tag.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CLUSTERER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468636"/>
            <a:ext cx="3429000" cy="226144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00000">
                <a:srgbClr val="F97316"/>
              </a:gs>
            </a:gsLst>
            <a:lin ang="2700000" scaled="0"/>
          </a:gradFill>
          <a:xfrm>
            <a:off x="8258175" y="1725811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8175" y="2373511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Three-tier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175" y="2630686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Rules → heuristics → LLM. Closed-vocabulary patterns short-circuit ~90% of decisions.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175" y="3206204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TIER 0–3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920579"/>
            <a:ext cx="3429000" cy="2120057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00000">
                <a:srgbClr val="6366F1"/>
              </a:gs>
            </a:gsLst>
            <a:lin ang="2700000" scaled="0"/>
          </a:gradFill>
          <a:xfrm>
            <a:off x="1019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Confidence aware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Every decision carries a confidence score. Low-confidence triggers a dual-emit safety net.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CONFIDENCE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1500" y="3920579"/>
            <a:ext cx="3429000" cy="2120057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22C55E"/>
              </a:gs>
              <a:gs pos="100000">
                <a:srgbClr val="06B6D4"/>
              </a:gs>
            </a:gsLst>
            <a:lin ang="2700000" scaled="0"/>
          </a:gradFill>
          <a:xfrm>
            <a:off x="46386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86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Self 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86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SSIM + OCR oracle catches regressions. Failing regions auto-promote to raster and re-emit.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86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ORACLE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3920579"/>
            <a:ext cx="3429000" cy="2120057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810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F97316"/>
              </a:gs>
              <a:gs pos="100000">
                <a:srgbClr val="FACC15"/>
              </a:gs>
            </a:gsLst>
            <a:lin ang="2700000" scaled="0"/>
          </a:gradFill>
          <a:xfrm>
            <a:off x="8258175" y="4177754"/>
            <a:ext cx="419100" cy="4191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Inter"/>
              </a:rPr>
              <a:t>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8175" y="4825454"/>
            <a:ext cx="291465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Cache aggressively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8175" y="5082629"/>
            <a:ext cx="291465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Structural-signature cache hits 60–80% within a generator after warmup. Reuse is free.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8175" y="5516761"/>
            <a:ext cx="29146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5466" y="6477000"/>
            <a:ext cx="554534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Before ·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10668000" cy="460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Same browser render. Two very different 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26878"/>
            <a:ext cx="5200650" cy="4057650"/>
          </a:xfrm>
          <a:prstGeom prst="roundRect">
            <a:avLst/>
          </a:prstGeom>
          <a:solidFill>
            <a:srgbClr val="3F3F46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4425" y="2279303"/>
            <a:ext cx="1906786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A1A1AA"/>
                </a:solidFill>
                <a:latin typeface="Inter"/>
              </a:rPr>
              <a:t>Naive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4412" y="2326928"/>
            <a:ext cx="785812" cy="228600"/>
          </a:xfrm>
          <a:prstGeom prst="rect">
            <a:avLst/>
          </a:prstGeom>
          <a:solidFill>
            <a:srgbClr val="3F3F4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OLD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3107978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7325" y="3107978"/>
            <a:ext cx="334372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Every slide is a 50 MB PNG embedded into PPTX.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425" y="3598515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7325" y="3598515"/>
            <a:ext cx="3033564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No text is searchable, selectable, or editable.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425" y="4089053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7325" y="4089053"/>
            <a:ext cx="3863727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Brand-color swap requires re-running the whole pipeline.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425" y="4579590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7325" y="4579590"/>
            <a:ext cx="3637806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A1A1AA"/>
                </a:solidFill>
                <a:latin typeface="Inter"/>
              </a:rPr>
              <a:t>Resizing degrades pixel-by-pixel, especially on retina.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425" y="5070128"/>
            <a:ext cx="209550" cy="209550"/>
          </a:xfrm>
          <a:prstGeom prst="rect">
            <a:avLst/>
          </a:prstGeom>
          <a:solidFill>
            <a:srgbClr val="F43F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A4AF"/>
                </a:solidFill>
                <a:latin typeface="Inter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7325" y="5070128"/>
            <a:ext cx="388515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A1A1AA"/>
                </a:solidFill>
                <a:latin typeface="Inter"/>
              </a:rPr>
              <a:t>• Translation requires a second model run plus paste-back.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18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6229350" y="1926878"/>
            <a:ext cx="5200650" cy="405765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1775" y="2279303"/>
            <a:ext cx="674043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00000">
                <a:srgbClr val="F472B6"/>
              </a:gs>
            </a:gsLst>
            <a:lin ang="2700000" scaled="0"/>
          </a:gradFill>
          <a:xfrm>
            <a:off x="10255151" y="2326928"/>
            <a:ext cx="822424" cy="2286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NEW 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1775" y="3107978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675" y="3107978"/>
            <a:ext cx="367054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Headlines, body copy, and bullets are real text frames.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1775" y="3598515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4675" y="3598515"/>
            <a:ext cx="3698825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Cards, dividers, badges are native rounded rectangles.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1775" y="4089053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675" y="4089053"/>
            <a:ext cx="4137868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E4E4E7"/>
                </a:solidFill>
                <a:latin typeface="Inter"/>
              </a:rPr>
              <a:t>• Designers edit fonts, colors, alignment in PowerPoint directly.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1775" y="4579590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675" y="4579590"/>
            <a:ext cx="3611761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Only complex visuals (Chart.js, blur effects) rasterize.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1775" y="5070128"/>
            <a:ext cx="209550" cy="209550"/>
          </a:xfrm>
          <a:prstGeom prst="rect">
            <a:avLst/>
          </a:prstGeom>
          <a:solidFill>
            <a:srgbClr val="22C55E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4675" y="5070128"/>
            <a:ext cx="41529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E4E4E7"/>
                </a:solidFill>
                <a:latin typeface="Inter"/>
              </a:rPr>
              <a:t>Output is 4 MB instead of 50 MB. Email-friendly out of the box.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7412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85850"/>
            <a:ext cx="8763000" cy="4600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Render. Cluster. Classify. Emit. Validate.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155478"/>
            <a:ext cx="1996380" cy="195054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2975" y="2374553"/>
            <a:ext cx="342900" cy="34290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297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297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Headless Chromium, animation freeze, two-rAF wait, font preload.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PLAYWRIGHT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9830" y="2155478"/>
            <a:ext cx="1996380" cy="195054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10805" y="2374553"/>
            <a:ext cx="342900" cy="34290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080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080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DOM elements grouped into atomic visual units by anchor + spatial overlap.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080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~10–50 / SLIDE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7661" y="2155478"/>
            <a:ext cx="1996529" cy="195054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8636" y="2374553"/>
            <a:ext cx="342900" cy="34290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863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863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Tier 0 patterns → Tier 1 rules → Tier 2 heuristics → Tier 3 vision LLM.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63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FOUR TIERS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5640" y="2155478"/>
            <a:ext cx="1996380" cy="195054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46615" y="2374553"/>
            <a:ext cx="342900" cy="34290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6615" y="2850803"/>
            <a:ext cx="163443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6615" y="3107978"/>
            <a:ext cx="163443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python-pptx writes native text, shapes, gradients, shadows with EMU precision.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6615" y="3772644"/>
            <a:ext cx="16344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OOXML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3471" y="2155478"/>
            <a:ext cx="1996529" cy="195054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342900" dist="1143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14446" y="2374553"/>
            <a:ext cx="342900" cy="342900"/>
          </a:xfrm>
          <a:prstGeom prst="rect">
            <a:avLst/>
          </a:prstGeom>
          <a:solidFill>
            <a:srgbClr val="FACC15"/>
          </a:solidFill>
          <a:effectLst>
            <a:outerShdw blurRad="0" dist="0" dir="0" algn="ctr" rotWithShape="0">
              <a:srgbClr val="070710"/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F"/>
                </a:solidFill>
                <a:latin typeface="Inte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4446" y="2850803"/>
            <a:ext cx="163457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Validate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4446" y="3107978"/>
            <a:ext cx="1634579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LibreOffice re-renders. SSIM + OCR oracle. Auto-correct failing regions.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4446" y="3772644"/>
            <a:ext cx="163457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SSIM ≥ 0.95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6366F1">
                  <a:alpha val="14000"/>
                </a:srgbClr>
              </a:gs>
              <a:gs pos="100000">
                <a:srgbClr val="EC4899">
                  <a:alpha val="10000"/>
                </a:srgbClr>
              </a:gs>
            </a:gsLst>
            <a:lin ang="2700000" scaled="0"/>
          </a:gradFill>
          <a:xfrm>
            <a:off x="762000" y="4448919"/>
            <a:ext cx="10668000" cy="965597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571500" dist="228600" dir="5400000" algn="ctr" rotWithShape="0">
              <a:srgbClr val="8B5CF6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4425" y="4831705"/>
            <a:ext cx="306883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Total budget · </a:t>
            </a:r>
            <a:r>
              <a:rPr sz="1350" b="1" i="0" u="none">
                <a:solidFill>
                  <a:srgbClr val="A78BFA"/>
                </a:solidFill>
                <a:latin typeface="Inter"/>
              </a:rPr>
              <a:t>23 s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> for a 10-slide deck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62575" y="4725144"/>
            <a:ext cx="5715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Bottleneck is render parallelism (Chart.js init). Tier-3 LLM is batched once per slide; cost ≤ $0.10 / deck on default settings.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4545" y="6477000"/>
            <a:ext cx="54545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4338CA"/>
              </a:gs>
              <a:gs pos="35000">
                <a:srgbClr val="7C3AED"/>
              </a:gs>
              <a:gs pos="80000">
                <a:srgbClr val="DB2777"/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1318617"/>
            <a:ext cx="8191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0" b="1" i="0" u="none">
                <a:solidFill>
                  <a:srgbClr val="FFFFFF"/>
                </a:solidFill>
                <a:latin typeface="Inter"/>
              </a:rPr>
              <a:t>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1813917"/>
            <a:ext cx="8191500" cy="26967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Inter"/>
              </a:rPr>
              <a:t>Rasterization is the failure mode, </a:t>
            </a:r>
            <a:r>
              <a:rPr sz="3600" b="1" i="0" u="none">
                <a:latin typeface="Inter"/>
              </a:rPr>
              <a:t>not the goal</a:t>
            </a:r>
            <a:r>
              <a:rPr sz="3600" b="1" i="0" u="none">
                <a:solidFill>
                  <a:srgbClr val="FFFFFF"/>
                </a:solidFill>
                <a:latin typeface="Inter"/>
              </a:rPr>
              <a:t>. Every pixel that stays editable compounds across every translation, every theme swap, every revision.</a:t>
            </a:r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70000">
                <a:srgbClr val="F472B6"/>
              </a:gs>
            </a:gsLst>
            <a:lin ang="2700000" scaled="0"/>
          </a:gradFill>
          <a:xfrm>
            <a:off x="1047750" y="4967883"/>
            <a:ext cx="571500" cy="5715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831843"/>
                </a:solidFill>
                <a:latin typeface="Inter"/>
              </a:rPr>
              <a:t>VR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0700" y="5063133"/>
            <a:ext cx="173206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Inter"/>
              </a:rPr>
              <a:t>Vamsi Ramakrishnan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0700" y="5282208"/>
            <a:ext cx="1732062" cy="161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FFFFF"/>
                </a:solidFill>
                <a:latin typeface="Inter"/>
              </a:rPr>
              <a:t>Founder · Pixelpitch Labs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64008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PIXELPITCH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377" y="64008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95350"/>
            <a:ext cx="8382000" cy="7599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Pay for the slides you ship, not the seats you don't fill.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60066"/>
            <a:ext cx="3441650" cy="433655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82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522041"/>
            <a:ext cx="288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founders shipping their first deck. No credit 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82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1198" y="3686770"/>
            <a:ext cx="101084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1198" y="4048720"/>
            <a:ext cx="103956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Tier 0–2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1198" y="4410670"/>
            <a:ext cx="123795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SSIM oracle 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1198" y="4772620"/>
            <a:ext cx="1158925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8225" y="5601295"/>
            <a:ext cx="2889200" cy="4191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100000">
                <a:srgbClr val="EC4899">
                  <a:alpha val="10000"/>
                </a:srgbClr>
              </a:gs>
            </a:gsLst>
            <a:lin ang="4200000" scaled="0"/>
          </a:gradFill>
          <a:xfrm>
            <a:off x="4375100" y="1960066"/>
            <a:ext cx="3441650" cy="4336554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00000">
                <a:srgbClr val="EC4899"/>
              </a:gs>
            </a:gsLst>
            <a:lin ang="2700000" scaled="0"/>
          </a:gradFill>
          <a:xfrm>
            <a:off x="5432524" y="1855291"/>
            <a:ext cx="1326654" cy="24765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MOST 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1325" y="2274391"/>
            <a:ext cx="28892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Studio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1325" y="2522041"/>
            <a:ext cx="288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325" y="3093541"/>
            <a:ext cx="28892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design teams converting decks every day. LLM credits included.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1325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298" y="3686770"/>
            <a:ext cx="117470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1,000 slides /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1325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298" y="4048720"/>
            <a:ext cx="1275011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Full four-tier classifier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1325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4298" y="4410670"/>
            <a:ext cx="228644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Gemini Flash + Claude Haiku backends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51325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298" y="4772620"/>
            <a:ext cx="1931640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Diskcache + warm pattern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1325" y="51345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4298" y="5134570"/>
            <a:ext cx="1256407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Priority email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1325" y="5620345"/>
            <a:ext cx="2889200" cy="40005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A0F"/>
                </a:solidFill>
                <a:latin typeface="Inter"/>
              </a:rPr>
              <a:t>Try Studio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8201" y="1960066"/>
            <a:ext cx="3441799" cy="433655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  <a:effectLst>
            <a:outerShdw blurRad="457200" dist="152400" dir="5400000" algn="ctr" rotWithShape="0">
              <a:srgbClr val="6366F1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64426" y="2274391"/>
            <a:ext cx="288934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4426" y="2522041"/>
            <a:ext cx="288934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4426" y="3093541"/>
            <a:ext cx="2889349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Self-hosted, custom backends, SOC 2, dedicated success engineer.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4426" y="36867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399" y="3686770"/>
            <a:ext cx="924669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Unlimited slides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4426" y="40487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7399" y="4048720"/>
            <a:ext cx="1100882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Self-hosted runner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4426" y="441067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7399" y="4410670"/>
            <a:ext cx="1063526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BYO LLM provider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4426" y="4772620"/>
            <a:ext cx="1177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77399" y="4772620"/>
            <a:ext cx="1457474" cy="185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5F5F7"/>
                </a:solidFill>
                <a:latin typeface="Inter"/>
              </a:rPr>
              <a:t>SLA + dedicated support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4426" y="5601295"/>
            <a:ext cx="2889349" cy="4191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000" y="6477000"/>
            <a:ext cx="1411635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4127" y="6477000"/>
            <a:ext cx="555873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