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2095500"/>
            <a:ext cx="7429500" cy="74295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8763000" cy="8763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71600" y="985838"/>
            <a:ext cx="126804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 xml:space="preserve"> shipping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4400" y="1638300"/>
            <a:ext cx="63246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0" b="1" i="0" u="none">
                <a:gradFill rotWithShape="1">
                  <a:gsLst>
                    <a:gs pos="0">
                      <a:srgbClr val="F5F5F7"/>
                    </a:gs>
                    <a:gs pos="35000">
                      <a:srgbClr val="818CF8"/>
                    </a:gs>
                    <a:gs pos="65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6667">
                <a:srgbClr val="FFFFFF">
                  <a:alpha val="4500"/>
                </a:srgbClr>
              </a:gs>
              <a:gs pos="33333">
                <a:srgbClr val="FFFFFF">
                  <a:alpha val="4000"/>
                </a:srgbClr>
              </a:gs>
              <a:gs pos="50000">
                <a:srgbClr val="FFFFFF">
                  <a:alpha val="3500"/>
                </a:srgbClr>
              </a:gs>
              <a:gs pos="66667">
                <a:srgbClr val="FFFFFF">
                  <a:alpha val="3000"/>
                </a:srgbClr>
              </a:gs>
              <a:gs pos="83333">
                <a:srgbClr val="FFFFFF">
                  <a:alpha val="25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6667">
                <a:srgbClr val="FFFFFF">
                  <a:alpha val="4500"/>
                </a:srgbClr>
              </a:gs>
              <a:gs pos="33333">
                <a:srgbClr val="FFFFFF">
                  <a:alpha val="4000"/>
                </a:srgbClr>
              </a:gs>
              <a:gs pos="50000">
                <a:srgbClr val="FFFFFF">
                  <a:alpha val="3500"/>
                </a:srgbClr>
              </a:gs>
              <a:gs pos="66667">
                <a:srgbClr val="FFFFFF">
                  <a:alpha val="3000"/>
                </a:srgbClr>
              </a:gs>
              <a:gs pos="83333">
                <a:srgbClr val="FFFFFF">
                  <a:alpha val="25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6667">
                <a:srgbClr val="FFFFFF">
                  <a:alpha val="4500"/>
                </a:srgbClr>
              </a:gs>
              <a:gs pos="33333">
                <a:srgbClr val="FFFFFF">
                  <a:alpha val="4000"/>
                </a:srgbClr>
              </a:gs>
              <a:gs pos="50000">
                <a:srgbClr val="FFFFFF">
                  <a:alpha val="3500"/>
                </a:srgbClr>
              </a:gs>
              <a:gs pos="66667">
                <a:srgbClr val="FFFFFF">
                  <a:alpha val="3000"/>
                </a:srgbClr>
              </a:gs>
              <a:gs pos="83333">
                <a:srgbClr val="FFFFFF">
                  <a:alpha val="25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6667">
                <a:srgbClr val="6A64F3"/>
              </a:gs>
              <a:gs pos="33333">
                <a:srgbClr val="7163F4"/>
              </a:gs>
              <a:gs pos="50000">
                <a:srgbClr val="7861F5"/>
              </a:gs>
              <a:gs pos="66667">
                <a:srgbClr val="7E60F5"/>
              </a:gs>
              <a:gs pos="83333">
                <a:srgbClr val="855EF6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6667">
                <a:srgbClr val="A057ED"/>
              </a:gs>
              <a:gs pos="33333">
                <a:srgbClr val="B352E1"/>
              </a:gs>
              <a:gs pos="50000">
                <a:srgbClr val="C44ED2"/>
              </a:gs>
              <a:gs pos="66667">
                <a:srgbClr val="D44BC1"/>
              </a:gs>
              <a:gs pos="83333">
                <a:srgbClr val="E149AE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F34B87"/>
              </a:gs>
              <a:gs pos="33333">
                <a:srgbClr val="F85074"/>
              </a:gs>
              <a:gs pos="50000">
                <a:srgbClr val="FB5761"/>
              </a:gs>
              <a:gs pos="66667">
                <a:srgbClr val="FC5F4C"/>
              </a:gs>
              <a:gs pos="83333">
                <a:srgbClr val="FC6936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6667">
                <a:srgbClr val="00C67E"/>
              </a:gs>
              <a:gs pos="33333">
                <a:srgbClr val="00C597"/>
              </a:gs>
              <a:gs pos="50000">
                <a:srgbClr val="00C3AC"/>
              </a:gs>
              <a:gs pos="66667">
                <a:srgbClr val="00BFBE"/>
              </a:gs>
              <a:gs pos="83333">
                <a:srgbClr val="00BBCB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6667">
                <a:srgbClr val="FD8200"/>
              </a:gs>
              <a:gs pos="33333">
                <a:srgbClr val="FF9000"/>
              </a:gs>
              <a:gs pos="50000">
                <a:srgbClr val="FF9F00"/>
              </a:gs>
              <a:gs pos="66667">
                <a:srgbClr val="FFAE00"/>
              </a:gs>
              <a:gs pos="83333">
                <a:srgbClr val="FDBD00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>
              <a:alpha val="30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6667">
                <a:srgbClr val="825FEE">
                  <a:alpha val="16667"/>
                </a:srgbClr>
              </a:gs>
              <a:gs pos="33333">
                <a:srgbClr val="9D59E6">
                  <a:alpha val="15333"/>
                </a:srgbClr>
              </a:gs>
              <a:gs pos="50000">
                <a:srgbClr val="B554D9">
                  <a:alpha val="14000"/>
                </a:srgbClr>
              </a:gs>
              <a:gs pos="66667">
                <a:srgbClr val="CA4EC7">
                  <a:alpha val="12667"/>
                </a:srgbClr>
              </a:gs>
              <a:gs pos="83333">
                <a:srgbClr val="DC4AB2">
                  <a:alpha val="11333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763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Render. Cluster. Classify. Emit. Validate.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42975" y="2374553"/>
            <a:ext cx="342900" cy="34290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297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297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Headless Chromium, animation freeze, two-rAF wait, font preload.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983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110805" y="2374553"/>
            <a:ext cx="342900" cy="34290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080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080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80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~10–50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766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278636" y="2374553"/>
            <a:ext cx="342900" cy="34290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63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863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Tier 0 patterns → Tier 1 rules → Tier 2 heuristics → Tier 3 vision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63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FOUR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564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446615" y="2374553"/>
            <a:ext cx="342900" cy="34290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61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661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python-pptx writes native text, shapes, gradients, shadows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661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347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9614446" y="2374553"/>
            <a:ext cx="342900" cy="342900"/>
          </a:xfrm>
          <a:prstGeom prst="rect">
            <a:avLst/>
          </a:prstGeom>
          <a:solidFill>
            <a:srgbClr val="FACC15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44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444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44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4000"/>
                </a:srgbClr>
              </a:gs>
              <a:gs pos="16667">
                <a:srgbClr val="825FEE">
                  <a:alpha val="13333"/>
                </a:srgbClr>
              </a:gs>
              <a:gs pos="33333">
                <a:srgbClr val="9D59E6">
                  <a:alpha val="12667"/>
                </a:srgbClr>
              </a:gs>
              <a:gs pos="50000">
                <a:srgbClr val="B554D9">
                  <a:alpha val="12000"/>
                </a:srgbClr>
              </a:gs>
              <a:gs pos="66667">
                <a:srgbClr val="CA4EC7">
                  <a:alpha val="11333"/>
                </a:srgbClr>
              </a:gs>
              <a:gs pos="83333">
                <a:srgbClr val="DC4AB2">
                  <a:alpha val="10667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62000" y="4448919"/>
            <a:ext cx="10668000" cy="965597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571500" dist="228600" dir="5400000" algn="ctr" rotWithShape="0">
              <a:srgbClr val="8B5CF6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1114425" y="4831705"/>
            <a:ext cx="306883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Total budget · </a:t>
            </a:r>
            <a:r>
              <a:rPr sz="1350" b="1" i="0" u="none">
                <a:solidFill>
                  <a:srgbClr val="A78BFA"/>
                </a:solidFill>
                <a:latin typeface="Inter"/>
              </a:rPr>
              <a:t>23 s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62575" y="4725144"/>
            <a:ext cx="5715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init). Tier-3 LLM is batched once per slide; cost ≤ $0.10 / deck on default settings.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4545" y="6477000"/>
            <a:ext cx="54545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7C3AED"/>
              </a:gs>
              <a:gs pos="80000">
                <a:srgbClr val="DB2777"/>
              </a:gs>
              <a:gs pos="100000">
                <a:srgbClr val="DB2777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10000"/>
                </a:srgbClr>
              </a:gs>
              <a:gs pos="100000">
                <a:srgbClr val="FFFFFF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7750" y="131861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0" b="1" i="0" u="none">
                <a:solidFill>
                  <a:srgbClr val="FFFFFF"/>
                </a:solidFill>
                <a:latin typeface="Inter"/>
              </a:rPr>
              <a:t>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1813917"/>
            <a:ext cx="8191500" cy="26967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 xml:space="preserve">Rasterization is the failure mode, </a:t>
            </a:r>
            <a:r>
              <a:rPr sz="36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0ABFC"/>
                    </a:gs>
                  </a:gsLst>
                  <a:lin ang="2700000" scaled="0"/>
                </a:gradFill>
                <a:latin typeface="Inter"/>
              </a:rPr>
              <a:t>not the goal</a:t>
            </a:r>
            <a:r>
              <a:rPr sz="3600" b="1" i="0" u="none">
                <a:solidFill>
                  <a:srgbClr val="FFFFFF"/>
                </a:solidFill>
                <a:latin typeface="Inter"/>
              </a:rPr>
              <a:t>. Every pixel that stays editable compounds across every translation, every theme swap, every revision.</a:t>
            </a:r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11667">
                <a:srgbClr val="FFD176"/>
              </a:gs>
              <a:gs pos="23333">
                <a:srgbClr val="FFBA70"/>
              </a:gs>
              <a:gs pos="35000">
                <a:srgbClr val="FFA477"/>
              </a:gs>
              <a:gs pos="46667">
                <a:srgbClr val="FF9087"/>
              </a:gs>
              <a:gs pos="58333">
                <a:srgbClr val="FF7F9E"/>
              </a:gs>
              <a:gs pos="70000">
                <a:srgbClr val="F472B6"/>
              </a:gs>
              <a:gs pos="100000">
                <a:srgbClr val="F472B6"/>
              </a:gs>
            </a:gsLst>
            <a:lin ang="2700000" scaled="0"/>
          </a:gradFill>
          <a:xfrm>
            <a:off x="1047750" y="4967883"/>
            <a:ext cx="571500" cy="571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831843"/>
                </a:solidFill>
                <a:latin typeface="Inter"/>
              </a:rPr>
              <a:t>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0700" y="5063133"/>
            <a:ext cx="173206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5282208"/>
            <a:ext cx="1732062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Founder · Pixelpitch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PIXELPITCH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37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95350"/>
            <a:ext cx="8382000" cy="7599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Pay for the slides you ship, not the seats you don't fill.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60066"/>
            <a:ext cx="3441650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1198" y="3686770"/>
            <a:ext cx="101084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1198" y="4048720"/>
            <a:ext cx="103956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Tier 0–2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1198" y="4410670"/>
            <a:ext cx="123795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198" y="4772620"/>
            <a:ext cx="1158925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601295"/>
            <a:ext cx="2889200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6667">
                <a:srgbClr val="825FEE">
                  <a:alpha val="18333"/>
                </a:srgbClr>
              </a:gs>
              <a:gs pos="33333">
                <a:srgbClr val="9D59E6">
                  <a:alpha val="16667"/>
                </a:srgbClr>
              </a:gs>
              <a:gs pos="50000">
                <a:srgbClr val="B554D9">
                  <a:alpha val="15000"/>
                </a:srgbClr>
              </a:gs>
              <a:gs pos="66667">
                <a:srgbClr val="CA4EC7">
                  <a:alpha val="13333"/>
                </a:srgbClr>
              </a:gs>
              <a:gs pos="83333">
                <a:srgbClr val="DC4AB2">
                  <a:alpha val="11667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375100" y="1960066"/>
            <a:ext cx="3441650" cy="4336554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580F2"/>
              </a:gs>
              <a:gs pos="33333">
                <a:srgbClr val="C276E7"/>
              </a:gs>
              <a:gs pos="50000">
                <a:srgbClr val="CF6BD9"/>
              </a:gs>
              <a:gs pos="66667">
                <a:srgbClr val="DA5FC7"/>
              </a:gs>
              <a:gs pos="83333">
                <a:srgbClr val="E454B1"/>
              </a:gs>
              <a:gs pos="100000">
                <a:srgbClr val="EC4899"/>
              </a:gs>
            </a:gsLst>
            <a:lin ang="2700000" scaled="0"/>
          </a:gradFill>
          <a:xfrm>
            <a:off x="5432524" y="1855291"/>
            <a:ext cx="1326654" cy="24765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3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13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3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13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298" y="3686770"/>
            <a:ext cx="117470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13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298" y="4048720"/>
            <a:ext cx="127501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Full four-tier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3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298" y="4410670"/>
            <a:ext cx="228644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Gemini Flash + Claude Haiku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13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298" y="4772620"/>
            <a:ext cx="193164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Diskcache + warm pattern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1325" y="51345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298" y="5134570"/>
            <a:ext cx="1256407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1325" y="5620345"/>
            <a:ext cx="2889200" cy="4000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201" y="1960066"/>
            <a:ext cx="3441799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264426" y="2274391"/>
            <a:ext cx="28893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426" y="2522041"/>
            <a:ext cx="288934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426" y="3093541"/>
            <a:ext cx="2889349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426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399" y="3686770"/>
            <a:ext cx="924669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4426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399" y="4048720"/>
            <a:ext cx="110088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4426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399" y="4410670"/>
            <a:ext cx="106352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4426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7399" y="4772620"/>
            <a:ext cx="145747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426" y="5601295"/>
            <a:ext cx="2889349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4127" y="64770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9200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Convert in one command. Edit in PowerPoint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310705"/>
            <a:ext cx="74295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A1A1AA"/>
                </a:solidFill>
                <a:latin typeface="Inter"/>
              </a:rPr>
              <a:t>Slidify is a pip-installable CLI and Python library. Pattern recognition is data; provider fallback is automatic.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079254"/>
            <a:ext cx="6089600" cy="3699718"/>
          </a:xfrm>
          <a:prstGeom prst="roundRect">
            <a:avLst/>
          </a:prstGeom>
          <a:solidFill>
            <a:srgbClr val="09090B"/>
          </a:solidFill>
          <a:ln w="9525">
            <a:solidFill>
              <a:srgbClr val="FFFFFF"/>
            </a:solidFill>
          </a:ln>
          <a:effectLst>
            <a:outerShdw blurRad="762000" dist="2667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1525" y="3088779"/>
            <a:ext cx="6070550" cy="381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923925" y="3226891"/>
            <a:ext cx="95250" cy="9525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1095375" y="3226891"/>
            <a:ext cx="95250" cy="9525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266825" y="3226891"/>
            <a:ext cx="95250" cy="9525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514475" y="3203079"/>
            <a:ext cx="789533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~/decks · zsh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8959" y="3726954"/>
            <a:ext cx="401419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pip install slidify &amp;&amp; playwright install chromium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3925044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Installed slidify 1.0.0 in 1.7s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8959" y="4406950"/>
            <a:ext cx="21676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slidify deck.html deck.pptx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60504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Splitting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slides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831705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Rendering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2.4s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· 4 parallel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05837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Classifying   ▏ tier0=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65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tier1=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4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tier2=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5285036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Emitting 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3.7 MB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8225" y="551170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Validating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12/12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8225" y="596503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Jetbrains Mono"/>
              </a:rPr>
              <a:t xml:space="preserve">native_area_ratio: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0.886</a:t>
            </a:r>
            <a:r>
              <a:rPr sz="1050" b="1" i="0" u="none">
                <a:solidFill>
                  <a:srgbClr val="86EFAC"/>
                </a:solidFill>
                <a:latin typeface="Jetbrains Mono"/>
              </a:rPr>
              <a:t xml:space="preserve"> · cost: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$0.04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0200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280225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Time-to-first-deck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0225" y="3450729"/>
            <a:ext cx="222053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38</a:t>
            </a:r>
            <a:r>
              <a:rPr sz="105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1701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521726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Lines of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726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6366F1">
                  <a:alpha val="16000"/>
                </a:srgbClr>
              </a:gs>
              <a:gs pos="16667">
                <a:srgbClr val="825FEE">
                  <a:alpha val="15000"/>
                </a:srgbClr>
              </a:gs>
              <a:gs pos="33333">
                <a:srgbClr val="9D59E6">
                  <a:alpha val="14000"/>
                </a:srgbClr>
              </a:gs>
              <a:gs pos="50000">
                <a:srgbClr val="B554D9">
                  <a:alpha val="13000"/>
                </a:srgbClr>
              </a:gs>
              <a:gs pos="66667">
                <a:srgbClr val="CA4EC7">
                  <a:alpha val="12000"/>
                </a:srgbClr>
              </a:gs>
              <a:gs pos="83333">
                <a:srgbClr val="DC4AB2">
                  <a:alpha val="11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080200" y="4146054"/>
            <a:ext cx="4349651" cy="1185118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299275" y="4346079"/>
            <a:ext cx="39115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084FC"/>
                </a:solidFill>
                <a:latin typeface="Inter"/>
              </a:rPr>
              <a:t>No API key? No problem.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9275" y="4555629"/>
            <a:ext cx="3911501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Tier-3 LLM is opt-in. Without credentials slidify falls back to safe Raster decisions for the ambiguous tail and ships a fully-correct PPTX.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0200" y="5502622"/>
            <a:ext cx="4349651" cy="1276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7280225" y="5683597"/>
            <a:ext cx="39496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0225" y="5874097"/>
            <a:ext cx="394960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0225" y="6293197"/>
            <a:ext cx="3949601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Gemini AI Studio, Gemini Vertex, Anthropic, Claude Vertex. Auto-detected.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1065" y="6477000"/>
            <a:ext cx="5289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Where we are. Where we're going.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81075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075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5705" y="2317403"/>
            <a:ext cx="535632" cy="209550"/>
          </a:xfrm>
          <a:prstGeom prst="rect">
            <a:avLst/>
          </a:prstGeom>
          <a:solidFill>
            <a:srgbClr val="22C55E">
              <a:alpha val="1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86EFAC"/>
                </a:solidFill>
                <a:latin typeface="Inter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75" y="3060353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4048" y="3060353"/>
            <a:ext cx="13954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Tier-1 + Tier-2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075" y="3447901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4048" y="3447901"/>
            <a:ext cx="108897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Streaming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835450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4048" y="3835450"/>
            <a:ext cx="111859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SSIM + OCR oracle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4222998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4048" y="4222998"/>
            <a:ext cx="1117550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Multi-provider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Foundation shipped Mar 18.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6667">
                <a:srgbClr val="825FEE">
                  <a:alpha val="16667"/>
                </a:srgbClr>
              </a:gs>
              <a:gs pos="33333">
                <a:srgbClr val="9D59E6">
                  <a:alpha val="15333"/>
                </a:srgbClr>
              </a:gs>
              <a:gs pos="50000">
                <a:srgbClr val="B554D9">
                  <a:alpha val="14000"/>
                </a:srgbClr>
              </a:gs>
              <a:gs pos="66667">
                <a:srgbClr val="CA4EC7">
                  <a:alpha val="12667"/>
                </a:srgbClr>
              </a:gs>
              <a:gs pos="83333">
                <a:srgbClr val="DC4AB2">
                  <a:alpha val="11333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3471862" y="2079278"/>
            <a:ext cx="2538412" cy="3275112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690938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0938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580F2"/>
              </a:gs>
              <a:gs pos="33333">
                <a:srgbClr val="C276E7"/>
              </a:gs>
              <a:gs pos="50000">
                <a:srgbClr val="CF6BD9"/>
              </a:gs>
              <a:gs pos="66667">
                <a:srgbClr val="DA5FC7"/>
              </a:gs>
              <a:gs pos="83333">
                <a:srgbClr val="E454B1"/>
              </a:gs>
              <a:gs pos="100000">
                <a:srgbClr val="EC4899"/>
              </a:gs>
            </a:gsLst>
            <a:lin ang="2700000" scaled="0"/>
          </a:gradFill>
          <a:xfrm>
            <a:off x="5318075" y="2317403"/>
            <a:ext cx="473125" cy="1905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F"/>
                </a:solidFill>
                <a:latin typeface="Inter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0938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8078" y="3060353"/>
            <a:ext cx="138603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Tier-0 pattern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0938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8078" y="3447901"/>
            <a:ext cx="162966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gradients + shadows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938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8078" y="3835450"/>
            <a:ext cx="143485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Surgical hybrid emission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0938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8078" y="4222998"/>
            <a:ext cx="124524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Corpus harvester CLI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0938" y="4667696"/>
            <a:ext cx="2100262" cy="44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Native ratio jumped 0.62 → 1.00 on showcase.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725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6400800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7485" y="2317403"/>
            <a:ext cx="523577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7940" y="3060353"/>
            <a:ext cx="163547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@slidify/components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7940" y="3447901"/>
            <a:ext cx="133960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JSX → IR → PPTX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940" y="3835450"/>
            <a:ext cx="134942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Bidirectional round-trip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940" y="4222998"/>
            <a:ext cx="15097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Theme-token brand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Generator-first: lossless by construction.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91588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9110662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0662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067" y="2317403"/>
            <a:ext cx="576858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LATER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10662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7803" y="3060353"/>
            <a:ext cx="1450479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Chart.js synthesis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0662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7803" y="3447901"/>
            <a:ext cx="116130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Pix2struct fine-tune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0662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7803" y="3835450"/>
            <a:ext cx="1472803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PowerPoint Online oracle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10662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7803" y="4222998"/>
            <a:ext cx="132992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Skia paint-op intercept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10662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Research-tier moves; high ceiling.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30384" y="6477000"/>
            <a:ext cx="499616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1E1B4B"/>
              </a:gs>
              <a:gs pos="70000">
                <a:srgbClr val="050510"/>
              </a:gs>
              <a:gs pos="100000">
                <a:srgbClr val="050510"/>
              </a:gs>
            </a:gsLst>
            <a:path path="circle">
              <a:fillToRect l="50000" t="100000" r="50000" b="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40000">
                <a:srgbClr val="EC4899">
                  <a:alpha val="15000"/>
                </a:srgbClr>
              </a:gs>
              <a:gs pos="70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1000" y="3367980"/>
            <a:ext cx="11430000" cy="5334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400699" y="1112193"/>
            <a:ext cx="339045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started in 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69393"/>
            <a:ext cx="10363200" cy="16427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Ship decks that </a:t>
            </a:r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 alive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3516957"/>
            <a:ext cx="72390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D4D4D8"/>
                </a:solidFill>
                <a:latin typeface="Inter"/>
              </a:rPr>
              <a:t>Convert your first HTML deck for free. No signup, no credit card. Bring your own LLM provider or use the auto-detected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7990" y="4688532"/>
            <a:ext cx="1842046" cy="533400"/>
          </a:xfrm>
          <a:prstGeom prst="rect">
            <a:avLst/>
          </a:prstGeom>
          <a:solidFill>
            <a:srgbClr val="FFFFFF"/>
          </a:solidFill>
          <a:effectLst>
            <a:outerShdw blurRad="381000" dist="114300" dir="5400000" algn="ctr" rotWithShape="0">
              <a:srgbClr val="FFFFFF">
                <a:alpha val="20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pip install 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3386" y="4679007"/>
            <a:ext cx="1868835" cy="5524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spec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5571" y="4779020"/>
            <a:ext cx="179843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Inter"/>
              </a:rPr>
              <a:t>github.com/pixelpitch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9912" y="5688657"/>
            <a:ext cx="1692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D4D4D8"/>
                </a:solidFill>
                <a:latin typeface="Inter"/>
              </a:rPr>
              <a:t xml:space="preserve"> v1.0 · shipping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41863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59318" y="6400800"/>
            <a:ext cx="10182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12 / 12 ·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52525B"/>
      </a:accent2>
      <a:accent3>
        <a:srgbClr val="A1A1AA"/>
      </a:accent3>
      <a:accent4>
        <a:srgbClr val="E4E4E7"/>
      </a:accent4>
      <a:accent5>
        <a:srgbClr val="A78BFA"/>
      </a:accent5>
      <a:accent6>
        <a:srgbClr val="86EFA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