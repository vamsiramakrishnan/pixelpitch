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55000">
                <a:srgbClr val="0A0A14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8B5CF6">
                  <a:alpha val="32000"/>
                </a:srgbClr>
              </a:gs>
              <a:gs pos="35000">
                <a:srgbClr val="6366F1">
                  <a:alpha val="18000"/>
                </a:srgbClr>
              </a:gs>
              <a:gs pos="70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2095500"/>
            <a:ext cx="7429500" cy="74295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38000">
                <a:srgbClr val="F472B6">
                  <a:alpha val="10000"/>
                </a:srgbClr>
              </a:gs>
              <a:gs pos="72000">
                <a:srgbClr val="F472B6">
                  <a:alpha val="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143500" y="571500"/>
            <a:ext cx="8763000" cy="8763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gradFill flip="none" rotWithShape="1">
            <a:gsLst>
              <a:gs pos="0">
                <a:srgbClr val="818CF8"/>
              </a:gs>
              <a:gs pos="50000">
                <a:srgbClr val="C084FC"/>
              </a:gs>
              <a:gs pos="100000">
                <a:srgbClr val="F472B6"/>
              </a:gs>
            </a:gsLst>
            <a:lin ang="2700000" scaled="0"/>
          </a:gradFill>
          <a:xfrm>
            <a:off x="914400" y="9144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985838"/>
            <a:ext cx="1268045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573" y="923925"/>
            <a:ext cx="1311027" cy="3238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 shipping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84089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65089"/>
            <a:ext cx="10287000" cy="28231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F5F5F7"/>
                </a:solidFill>
                <a:latin typeface="Inter"/>
              </a:rPr>
              <a:t>A compiler for </a:t>
            </a:r>
            <a:r>
              <a:rPr sz="7800" b="1" i="0" u="none">
                <a:solidFill>
                  <a:srgbClr val="818CF8"/>
                </a:solidFill>
                <a:latin typeface="Inter"/>
              </a:rPr>
              <a:t>presentations</a:t>
            </a:r>
            <a:r>
              <a:rPr sz="78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54910"/>
            <a:ext cx="7429500" cy="94297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>Render in Chromium. Cluster into visual units. Translate gradients, shadows, and shapes natively. Edit the result in PowerPoint as if a human authored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34075"/>
            <a:ext cx="1565374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68259" y="5943600"/>
            <a:ext cx="2109341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8250"/>
            <a:ext cx="10363200" cy="56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What we'll cover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8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Why presentations are broken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80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04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The render-and-classify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06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78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Native vs raster, by the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80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Six pillars of editability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06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78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Pattern database deep-dive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80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04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Where we are on the roadmap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06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2484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3811" y="6248400"/>
            <a:ext cx="55378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4766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Headline KPI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4423" y="1214438"/>
            <a:ext cx="8753177" cy="9525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38300"/>
            <a:ext cx="6324600" cy="1943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72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6324600" cy="7191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of slide area emits as native, editable PPTX shapes.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76788"/>
            <a:ext cx="632460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Average across a 200-deck corpus spanning Genspark, v0, Lovable, and hand-authored decks. With Tier-3 LLM enabled the figure climbs to 0.93.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48600" y="1638300"/>
            <a:ext cx="3429000" cy="23050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76250" dist="190500" dir="5400000" algn="ctr" rotWithShape="0">
              <a:srgbClr val="6366F1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4825" y="1914525"/>
            <a:ext cx="1274415" cy="28575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▲ +29.4% vs. 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4825" y="2371725"/>
            <a:ext cx="287655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First-pass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4825" y="2609850"/>
            <a:ext cx="2876550" cy="419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0.882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825" y="3181350"/>
            <a:ext cx="2876550" cy="4857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Tier-0 pattern DB landed in March; Q2 expansion added composite recipes (stat-card, feature-card).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48400"/>
            <a:ext cx="349448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slidify telemetry · April 29,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2173" y="6248400"/>
            <a:ext cx="555427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572500" cy="9599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Editability that compounds across every deck shipped.</a:t>
            </a:r>
          </a:p>
        </p:txBody>
      </p:sp>
      <p:sp>
        <p:nvSpPr>
          <p:cNvPr id="5" name="Rounded Rectangle 4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762000" y="2502991"/>
            <a:ext cx="3403550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6325" y="2855416"/>
            <a:ext cx="27749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25" y="3141166"/>
            <a:ext cx="2774900" cy="838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30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4112716"/>
            <a:ext cx="799207" cy="238125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+29.4%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1732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6325" y="4522291"/>
            <a:ext cx="2774900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Average across the corpus. Tier-0 patterns landed in March; Q2 added composite recipes for stat- and feature-cards.</a:t>
            </a:r>
          </a:p>
        </p:txBody>
      </p:sp>
      <p:sp>
        <p:nvSpPr>
          <p:cNvPr id="11" name="Rounded Rectangle 10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4394150" y="2502991"/>
            <a:ext cx="3403550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8475" y="2855416"/>
            <a:ext cx="27749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Per 10-slide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8475" y="3141166"/>
            <a:ext cx="2774900" cy="838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23</a:t>
            </a:r>
            <a:r>
              <a:rPr sz="3000" b="1" i="0" u="none">
                <a:solidFill>
                  <a:srgbClr val="A78BFA"/>
                </a:solidFill>
                <a:latin typeface="Inter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8475" y="4112716"/>
            <a:ext cx="645468" cy="238125"/>
          </a:xfrm>
          <a:prstGeom prst="rect">
            <a:avLst/>
          </a:prstGeom>
          <a:solidFill>
            <a:srgbClr val="F43F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DA4AF"/>
                </a:solidFill>
                <a:latin typeface="Inter"/>
              </a:rPr>
              <a:t>▼ -41%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0143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8475" y="4522291"/>
            <a:ext cx="2774900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P95 conversion time on a single 8-core box, no GPU. Bottleneck is render parallelism (Chart.js init).</a:t>
            </a:r>
          </a:p>
        </p:txBody>
      </p:sp>
      <p:sp>
        <p:nvSpPr>
          <p:cNvPr id="17" name="Rounded Rectangle 16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8026301" y="2502991"/>
            <a:ext cx="3403699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0626" y="2855416"/>
            <a:ext cx="277504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LLM cost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0626" y="3141166"/>
            <a:ext cx="2775049" cy="838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$0.04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0626" y="4112716"/>
            <a:ext cx="658267" cy="238125"/>
          </a:xfrm>
          <a:prstGeom prst="rect">
            <a:avLst/>
          </a:prstGeom>
          <a:solidFill>
            <a:srgbClr val="F43F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DA4AF"/>
                </a:solidFill>
                <a:latin typeface="Inter"/>
              </a:rPr>
              <a:t>▼ -73%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093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0626" y="4522291"/>
            <a:ext cx="2775049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Switch to Gemini Flash + only-firing-on-the-ambiguous-tail. ≤$0.10/deck even with full Tier-3 enabled.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6400800"/>
            <a:ext cx="340310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Internal benchmark · April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71002" y="6400800"/>
            <a:ext cx="558998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685800"/>
            <a:ext cx="7020967" cy="43993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300" b="1" i="0" u="none">
                <a:solidFill>
                  <a:srgbClr val="F5F5F7"/>
                </a:solidFill>
                <a:latin typeface="Inter"/>
              </a:rPr>
              <a:t>Six pillars of the rendering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75466" y="973336"/>
            <a:ext cx="55453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05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468636"/>
            <a:ext cx="3429000" cy="2261443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gradFill flip="none" rotWithShape="1">
            <a:gsLst>
              <a:gs pos="0">
                <a:srgbClr val="6366F1"/>
              </a:gs>
              <a:gs pos="100000">
                <a:srgbClr val="8B5CF6"/>
              </a:gs>
            </a:gsLst>
            <a:lin ang="2700000" scaled="0"/>
          </a:gradFill>
          <a:xfrm>
            <a:off x="10191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91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Render before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175" y="2630686"/>
            <a:ext cx="2914650" cy="575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Real Chromium computes the layout. Static analysis cannot resolve flex / grid / flow geometry.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91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PLAYWRIGHT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1468636"/>
            <a:ext cx="3429000" cy="2261443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8B5CF6"/>
              </a:gs>
              <a:gs pos="100000">
                <a:srgbClr val="EC4899"/>
              </a:gs>
            </a:gsLst>
            <a:lin ang="2700000" scaled="0"/>
          </a:gradFill>
          <a:xfrm>
            <a:off x="46386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86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Visual units, not 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8675" y="2630686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Classification atom is a connected visual region — a card, a bullet, a chart — not a single tag.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86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CLUSTERER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468636"/>
            <a:ext cx="3429000" cy="2261443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00000">
                <a:srgbClr val="F97316"/>
              </a:gs>
            </a:gsLst>
            <a:lin ang="2700000" scaled="0"/>
          </a:gradFill>
          <a:xfrm>
            <a:off x="82581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81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Three-tier classifier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175" y="2630686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Rules → heuristics → LLM. Closed-vocabulary patterns short-circuit ~90% of decisions.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1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TIER 0–3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920579"/>
            <a:ext cx="3429000" cy="2120057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00000">
                <a:srgbClr val="6366F1"/>
              </a:gs>
            </a:gsLst>
            <a:lin ang="2700000" scaled="0"/>
          </a:gradFill>
          <a:xfrm>
            <a:off x="10191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1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Confidence aware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1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Every decision carries a confidence score. Low-confidence triggers a dual-emit safety net.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1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CONFIDENCE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1500" y="3920579"/>
            <a:ext cx="3429000" cy="2120057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gradFill flip="none" rotWithShape="1">
            <a:gsLst>
              <a:gs pos="0">
                <a:srgbClr val="22C55E"/>
              </a:gs>
              <a:gs pos="100000">
                <a:srgbClr val="06B6D4"/>
              </a:gs>
            </a:gsLst>
            <a:lin ang="2700000" scaled="0"/>
          </a:gradFill>
          <a:xfrm>
            <a:off x="46386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86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Self validating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86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SSIM + OCR oracle catches regressions. Failing regions auto-promote to raster and re-emit.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86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ORACLE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3920579"/>
            <a:ext cx="3429000" cy="2120057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gradFill flip="none" rotWithShape="1">
            <a:gsLst>
              <a:gs pos="0">
                <a:srgbClr val="F97316"/>
              </a:gs>
              <a:gs pos="100000">
                <a:srgbClr val="FACC15"/>
              </a:gs>
            </a:gsLst>
            <a:lin ang="2700000" scaled="0"/>
          </a:gradFill>
          <a:xfrm>
            <a:off x="82581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81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Cache aggressively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81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Structural-signature cache hits 60–80% within a generator after warmup. Reuse is free.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81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CACHE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75466" y="6477000"/>
            <a:ext cx="55453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Before ·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10668000" cy="4600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Same browser render. Two very different decks.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26878"/>
            <a:ext cx="5200650" cy="4057650"/>
          </a:xfrm>
          <a:prstGeom prst="roundRect">
            <a:avLst/>
          </a:prstGeom>
          <a:solidFill>
            <a:srgbClr val="3F3F46">
              <a:alpha val="30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4425" y="2279303"/>
            <a:ext cx="1906786" cy="2762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A1A1AA"/>
                </a:solidFill>
                <a:latin typeface="Inter"/>
              </a:rPr>
              <a:t>Naive screenshot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4412" y="2326928"/>
            <a:ext cx="785812" cy="228600"/>
          </a:xfrm>
          <a:prstGeom prst="rect">
            <a:avLst/>
          </a:prstGeom>
          <a:solidFill>
            <a:srgbClr val="3F3F46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OLD 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425" y="3107978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7325" y="3107978"/>
            <a:ext cx="3343721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Every slide is a 50 MB PNG embedded into PPTX.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4425" y="3598515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7325" y="3598515"/>
            <a:ext cx="3033564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No text is searchable, selectable, or editable.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4425" y="4089053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7325" y="4089053"/>
            <a:ext cx="3863727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Brand-color swap requires re-running the whole pipeline.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4425" y="4579590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7325" y="4579590"/>
            <a:ext cx="3637806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Resizing degrades pixel-by-pixel, especially on retina.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4425" y="5070128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7325" y="5070128"/>
            <a:ext cx="388515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Translation requires a second model run plus paste-back.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18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6229350" y="1926878"/>
            <a:ext cx="5200650" cy="4057650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1775" y="2279303"/>
            <a:ext cx="674043" cy="2762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00000">
                <a:srgbClr val="F472B6"/>
              </a:gs>
            </a:gsLst>
            <a:lin ang="2700000" scaled="0"/>
          </a:gradFill>
          <a:xfrm>
            <a:off x="10255151" y="2326928"/>
            <a:ext cx="822424" cy="2286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NEW 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1775" y="3107978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4675" y="3107978"/>
            <a:ext cx="367054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Headlines, body copy, and bullets are real text frames.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1775" y="3598515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4675" y="3598515"/>
            <a:ext cx="3698825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Cards, dividers, badges are native rounded rectangles.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1775" y="4089053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4675" y="4089053"/>
            <a:ext cx="413786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Designers edit fonts, colors, alignment in PowerPoint directly.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1775" y="4579590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4675" y="4579590"/>
            <a:ext cx="3611761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Only complex visuals (Chart.js, blur effects) rasterize.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1775" y="5070128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4675" y="5070128"/>
            <a:ext cx="41529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Output is 4 MB instead of 50 MB. Email-friendly out of the box.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64008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74127" y="64008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763000" cy="4600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Render. Cluster. Classify. Emit. Validate.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155478"/>
            <a:ext cx="1996380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2975" y="2374553"/>
            <a:ext cx="342900" cy="342900"/>
          </a:xfrm>
          <a:prstGeom prst="rect">
            <a:avLst/>
          </a:prstGeom>
          <a:solidFill>
            <a:srgbClr val="A78BFA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297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297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Headless Chromium, animation freeze, two-rAF wait, font preload.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97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PLAYWRIGHT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9830" y="2155478"/>
            <a:ext cx="1996380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10805" y="2374553"/>
            <a:ext cx="342900" cy="342900"/>
          </a:xfrm>
          <a:prstGeom prst="rect">
            <a:avLst/>
          </a:prstGeom>
          <a:solidFill>
            <a:srgbClr val="C084FC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080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080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DOM elements grouped into atomic visual units by anchor + spatial overlap.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080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~10–50 / SLIDE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7661" y="2155478"/>
            <a:ext cx="1996529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8636" y="2374553"/>
            <a:ext cx="342900" cy="342900"/>
          </a:xfrm>
          <a:prstGeom prst="rect">
            <a:avLst/>
          </a:prstGeom>
          <a:solidFill>
            <a:srgbClr val="F472B6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8636" y="2850803"/>
            <a:ext cx="163457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Classify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8636" y="3107978"/>
            <a:ext cx="1634579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Tier 0 patterns → Tier 1 rules → Tier 2 heuristics → Tier 3 vision LLM.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8636" y="3772644"/>
            <a:ext cx="1634579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FOUR TIERS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5640" y="2155478"/>
            <a:ext cx="1996380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46615" y="2374553"/>
            <a:ext cx="342900" cy="342900"/>
          </a:xfrm>
          <a:prstGeom prst="rect">
            <a:avLst/>
          </a:prstGeom>
          <a:solidFill>
            <a:srgbClr val="FB923C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661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Emit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661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python-pptx writes native text, shapes, gradients, shadows with EMU precision.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661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OOXML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33471" y="2155478"/>
            <a:ext cx="1996529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14446" y="2374553"/>
            <a:ext cx="342900" cy="342900"/>
          </a:xfrm>
          <a:prstGeom prst="rect">
            <a:avLst/>
          </a:prstGeom>
          <a:solidFill>
            <a:srgbClr val="FACC15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4446" y="2850803"/>
            <a:ext cx="163457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Validate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14446" y="3107978"/>
            <a:ext cx="1634579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LibreOffice re-renders. SSIM + OCR oracle. Auto-correct failing regions.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4446" y="3772644"/>
            <a:ext cx="1634579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SSIM ≥ 0.95</a:t>
            </a:r>
          </a:p>
        </p:txBody>
      </p:sp>
      <p:sp>
        <p:nvSpPr>
          <p:cNvPr id="30" name="Rounded Rectangle 29"/>
          <p:cNvSpPr/>
          <p:nvPr/>
        </p:nvSpPr>
        <p:spPr>
          <a:gradFill flip="none" rotWithShape="1">
            <a:gsLst>
              <a:gs pos="0">
                <a:srgbClr val="6366F1">
                  <a:alpha val="14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0"/>
          </a:gradFill>
          <a:xfrm>
            <a:off x="762000" y="4448919"/>
            <a:ext cx="10668000" cy="965597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571500" dist="228600" dir="5400000" algn="ctr" rotWithShape="0">
              <a:srgbClr val="8B5CF6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4425" y="4831705"/>
            <a:ext cx="306883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Total budget · </a:t>
            </a:r>
            <a:r>
              <a:rPr sz="1350" b="1" i="0" u="none">
                <a:solidFill>
                  <a:srgbClr val="A78BFA"/>
                </a:solidFill>
                <a:latin typeface="Inter"/>
              </a:rPr>
              <a:t>23 s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> for a 10-slide deck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62575" y="4725144"/>
            <a:ext cx="57150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Bottleneck is render parallelism (Chart.js init). Tier-3 LLM is batched once per slide; cost ≤ $0.10 / deck on default settings.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4545" y="6477000"/>
            <a:ext cx="54545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4338CA"/>
              </a:gs>
              <a:gs pos="35000">
                <a:srgbClr val="7C3AED"/>
              </a:gs>
              <a:gs pos="80000">
                <a:srgbClr val="DB2777"/>
              </a:gs>
              <a:gs pos="100000">
                <a:srgbClr val="DB2777"/>
              </a:gs>
            </a:gsLst>
            <a:lin ang="27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FFFFF">
                  <a:alpha val="10000"/>
                </a:srgbClr>
              </a:gs>
              <a:gs pos="100000">
                <a:srgbClr val="FFFFFF">
                  <a:alpha val="10000"/>
                </a:srgbClr>
              </a:gs>
            </a:gsLst>
            <a:path path="circle">
              <a:fillToRect l="25000" t="25000" r="75000" b="7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1318617"/>
            <a:ext cx="8191500" cy="762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0" b="1" i="0" u="none">
                <a:solidFill>
                  <a:srgbClr val="FFFFFF"/>
                </a:solidFill>
                <a:latin typeface="Inter"/>
              </a:rPr>
              <a:t>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7750" y="1813917"/>
            <a:ext cx="8191500" cy="26967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FFFFF"/>
                </a:solidFill>
                <a:latin typeface="Inter"/>
              </a:rPr>
              <a:t>Rasterization is the failure mode, </a:t>
            </a:r>
            <a:r>
              <a:rPr sz="3600" b="1" i="0" u="none">
                <a:solidFill>
                  <a:srgbClr val="FDE68A"/>
                </a:solidFill>
                <a:latin typeface="Inter"/>
              </a:rPr>
              <a:t>not the goal</a:t>
            </a:r>
            <a:r>
              <a:rPr sz="3600" b="1" i="0" u="none">
                <a:solidFill>
                  <a:srgbClr val="FFFFFF"/>
                </a:solidFill>
                <a:latin typeface="Inter"/>
              </a:rPr>
              <a:t>. Every pixel that stays editable compounds across every translation, every theme swap, every revision.</a:t>
            </a:r>
          </a:p>
        </p:txBody>
      </p:sp>
      <p:sp>
        <p:nvSpPr>
          <p:cNvPr id="6" name="TextBox 5"/>
          <p:cNvSpPr txBox="1"/>
          <p:nvPr/>
        </p:nvSpPr>
        <p:spPr>
          <a:gradFill flip="none" rotWithShape="1">
            <a:gsLst>
              <a:gs pos="0">
                <a:srgbClr val="FDE68A"/>
              </a:gs>
              <a:gs pos="70000">
                <a:srgbClr val="F472B6"/>
              </a:gs>
              <a:gs pos="100000">
                <a:srgbClr val="F472B6"/>
              </a:gs>
            </a:gsLst>
            <a:lin ang="2700000" scaled="0"/>
          </a:gradFill>
          <a:xfrm>
            <a:off x="1047750" y="4967883"/>
            <a:ext cx="571500" cy="5715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831843"/>
                </a:solidFill>
                <a:latin typeface="Inter"/>
              </a:rPr>
              <a:t>VR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90700" y="5063133"/>
            <a:ext cx="173206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Vamsi Ramakrishnan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0700" y="5282208"/>
            <a:ext cx="1732062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FFFFF"/>
                </a:solidFill>
                <a:latin typeface="Inter"/>
              </a:rPr>
              <a:t>Founder · Pixelpitch Labs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64008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PIXELPITCH LABS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377" y="64008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95350"/>
            <a:ext cx="8382000" cy="7599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Pay for the slides you ship, not the seats you don't fill.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60066"/>
            <a:ext cx="3441650" cy="4336554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8225" y="2274391"/>
            <a:ext cx="2889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225" y="2522041"/>
            <a:ext cx="3755961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$0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093541"/>
            <a:ext cx="28892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solo founders shipping their first deck. No credit card.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8225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1198" y="3686770"/>
            <a:ext cx="1010841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50 slides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1198" y="4048720"/>
            <a:ext cx="1039564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Tier 0–2 classifier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225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1198" y="4410670"/>
            <a:ext cx="1237952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SSIM oracle included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8225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1198" y="4772620"/>
            <a:ext cx="1158925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Community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8225" y="5601295"/>
            <a:ext cx="2889200" cy="4191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4375100" y="1960066"/>
            <a:ext cx="3441650" cy="4336554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00000">
                <a:srgbClr val="EC4899"/>
              </a:gs>
            </a:gsLst>
            <a:lin ang="2700000" scaled="0"/>
          </a:gradFill>
          <a:xfrm>
            <a:off x="5432524" y="1855291"/>
            <a:ext cx="1326654" cy="24765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MOST 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1325" y="2274391"/>
            <a:ext cx="2889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Studio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1325" y="2522041"/>
            <a:ext cx="3755961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$29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1325" y="3093541"/>
            <a:ext cx="28892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design teams converting decks every day. LLM credits included.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1325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4298" y="3686770"/>
            <a:ext cx="1174700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1,000 slides / 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1325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298" y="4048720"/>
            <a:ext cx="1275011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Full four-tier classifier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51325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298" y="4410670"/>
            <a:ext cx="2286446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Gemini Flash + Claude Haiku backends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51325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298" y="4772620"/>
            <a:ext cx="1931640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Diskcache + warm pattern cache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1325" y="51345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4298" y="5134570"/>
            <a:ext cx="1256407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Priority email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1325" y="5620345"/>
            <a:ext cx="2889200" cy="40005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0A0A0F"/>
                </a:solidFill>
                <a:latin typeface="Inter"/>
              </a:rPr>
              <a:t>Try Studio 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88201" y="1960066"/>
            <a:ext cx="3441799" cy="4336554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64426" y="2274391"/>
            <a:ext cx="288934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Enterprise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4426" y="2522041"/>
            <a:ext cx="2889349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4426" y="3093541"/>
            <a:ext cx="2889349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Self-hosted, custom backends, SOC 2, dedicated success engineer.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4426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399" y="3686770"/>
            <a:ext cx="924669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Unlimited slides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4426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77399" y="4048720"/>
            <a:ext cx="1100882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Self-hosted runner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4426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7399" y="4410670"/>
            <a:ext cx="1063526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BYO LLM provider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4426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77399" y="4772620"/>
            <a:ext cx="1457474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SLA + dedicated support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4426" y="5601295"/>
            <a:ext cx="2889349" cy="4191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74127" y="64770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Developer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382000" cy="92005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Convert in one command. Edit in PowerPoint forever.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310705"/>
            <a:ext cx="7429500" cy="501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A1A1AA"/>
                </a:solidFill>
                <a:latin typeface="Inter"/>
              </a:rPr>
              <a:t>Slidify is a pip-installable CLI and Python library. Pattern recognition is data; provider fallback is automatic.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3079254"/>
            <a:ext cx="6089600" cy="3699718"/>
          </a:xfrm>
          <a:prstGeom prst="roundRect">
            <a:avLst/>
          </a:prstGeom>
          <a:solidFill>
            <a:srgbClr val="09090B"/>
          </a:solidFill>
          <a:ln w="9525">
            <a:solidFill>
              <a:srgbClr val="FFFFFF"/>
            </a:solidFill>
          </a:ln>
          <a:effectLst>
            <a:outerShdw blurRad="762000" dist="2667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1525" y="3088779"/>
            <a:ext cx="6070550" cy="381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925" y="3226891"/>
            <a:ext cx="95250" cy="9525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5375" y="3226891"/>
            <a:ext cx="95250" cy="9525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6825" y="3226891"/>
            <a:ext cx="95250" cy="9525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14475" y="3203079"/>
            <a:ext cx="789533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~/decks · zsh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8959" y="3726954"/>
            <a:ext cx="4014192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Jetbrains Mono"/>
              </a:rPr>
              <a:t>pip install slidify &amp;&amp; playwright install chromium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225" y="3925044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Installed slidify 1.0.0 in 1.7s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8959" y="4406950"/>
            <a:ext cx="2167682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Jetbrains Mono"/>
              </a:rPr>
              <a:t>slidify deck.html deck.pptx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8225" y="4605040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  ✓ Splitting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12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slides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8225" y="4831705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  ✓ Rendering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2.4s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· 4 parallel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8225" y="5058370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  ✓ Classifying   ▏ tier0=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65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tier1=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4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tier2=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8225" y="5285036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  ✓ Emitting 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3.7 MB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8225" y="5511701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  ✓ Validating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12/12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> passed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8225" y="5965031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Jetbrains Mono"/>
              </a:rPr>
              <a:t>native_area_ratio: </a:t>
            </a:r>
            <a:r>
              <a:rPr sz="1050" b="1" i="0" u="none">
                <a:solidFill>
                  <a:srgbClr val="F472B6"/>
                </a:solidFill>
                <a:latin typeface="Jetbrains Mono"/>
              </a:rPr>
              <a:t>0.886</a:t>
            </a:r>
            <a:r>
              <a:rPr sz="1050" b="1" i="0" u="none">
                <a:solidFill>
                  <a:srgbClr val="86EFAC"/>
                </a:solidFill>
                <a:latin typeface="Jetbrains Mono"/>
              </a:rPr>
              <a:t> · cost: </a:t>
            </a:r>
            <a:r>
              <a:rPr sz="1050" b="1" i="0" u="none">
                <a:solidFill>
                  <a:srgbClr val="F472B6"/>
                </a:solidFill>
                <a:latin typeface="Jetbrains Mono"/>
              </a:rPr>
              <a:t>$0.04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0200" y="3079254"/>
            <a:ext cx="2108150" cy="8953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0225" y="3260229"/>
            <a:ext cx="170810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Time-to-first-deck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0225" y="3450729"/>
            <a:ext cx="2220531" cy="3429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38</a:t>
            </a:r>
            <a:r>
              <a:rPr sz="1050" b="1" i="0" u="none">
                <a:solidFill>
                  <a:srgbClr val="A78BFA"/>
                </a:solidFill>
                <a:latin typeface="Inter"/>
              </a:rPr>
              <a:t>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1701" y="3079254"/>
            <a:ext cx="2108150" cy="8953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1726" y="3260229"/>
            <a:ext cx="170810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Lines of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726" y="3450729"/>
            <a:ext cx="1708100" cy="3429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3</a:t>
            </a:r>
          </a:p>
        </p:txBody>
      </p:sp>
      <p:sp>
        <p:nvSpPr>
          <p:cNvPr id="27" name="Rounded Rectangle 26"/>
          <p:cNvSpPr/>
          <p:nvPr/>
        </p:nvSpPr>
        <p:spPr>
          <a:gradFill flip="none" rotWithShape="1">
            <a:gsLst>
              <a:gs pos="0">
                <a:srgbClr val="6366F1">
                  <a:alpha val="16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0"/>
          </a:gradFill>
          <a:xfrm>
            <a:off x="7080200" y="4146054"/>
            <a:ext cx="4349651" cy="1185118"/>
          </a:xfrm>
          <a:prstGeom prst="roundRect">
            <a:avLst/>
          </a:prstGeom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99275" y="4346079"/>
            <a:ext cx="391150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084FC"/>
                </a:solidFill>
                <a:latin typeface="Inter"/>
              </a:rPr>
              <a:t>No API key? No problem.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99275" y="4555629"/>
            <a:ext cx="3911501" cy="575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Tier-3 LLM is opt-in. Without credentials slidify falls back to safe Raster decisions for the ambiguous tail and ships a fully-correct PPTX.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80200" y="5502622"/>
            <a:ext cx="4349651" cy="12763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80225" y="5683597"/>
            <a:ext cx="394960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Backends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0225" y="5874097"/>
            <a:ext cx="3949601" cy="3429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80225" y="6293197"/>
            <a:ext cx="3949601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Gemini AI Studio, Gemini Vertex, Anthropic, Claude Vertex. Auto-detected.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01065" y="6477000"/>
            <a:ext cx="5289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382000" cy="4600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Where we are. Where we're going.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079278"/>
            <a:ext cx="2538412" cy="32751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075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075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5705" y="2317403"/>
            <a:ext cx="535632" cy="209550"/>
          </a:xfrm>
          <a:prstGeom prst="rect">
            <a:avLst/>
          </a:prstGeom>
          <a:solidFill>
            <a:srgbClr val="22C55E">
              <a:alpha val="1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86EFAC"/>
                </a:solidFill>
                <a:latin typeface="Inter"/>
              </a:rPr>
              <a:t>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075" y="3060353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4048" y="3060353"/>
            <a:ext cx="139541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Tier-1 + Tier-2 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075" y="3447901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4048" y="3447901"/>
            <a:ext cx="1088975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Streaming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075" y="3835450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4048" y="3835450"/>
            <a:ext cx="111859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SSIM + OCR oracle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075" y="4222998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4048" y="4222998"/>
            <a:ext cx="1117550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Multi-provider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075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Foundation shipped Mar 18.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18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3471862" y="2079278"/>
            <a:ext cx="2538412" cy="3275112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90938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0938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00000">
                <a:srgbClr val="EC4899"/>
              </a:gs>
            </a:gsLst>
            <a:lin ang="2700000" scaled="0"/>
          </a:gradFill>
          <a:xfrm>
            <a:off x="5318075" y="2317403"/>
            <a:ext cx="473125" cy="1905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F"/>
                </a:solidFill>
                <a:latin typeface="Inter"/>
              </a:rPr>
              <a:t>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0938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8078" y="3060353"/>
            <a:ext cx="1386036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Tier-0 pattern database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0938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8078" y="3447901"/>
            <a:ext cx="1629668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Native gradients + shadows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0938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8078" y="3835450"/>
            <a:ext cx="143485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Surgical hybrid emission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0938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08078" y="4222998"/>
            <a:ext cx="1245245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Corpus harvester CLI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0938" y="4667696"/>
            <a:ext cx="2100262" cy="44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Native ratio jumped 0.62 → 1.00 on showcase.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1725" y="2079278"/>
            <a:ext cx="2538412" cy="32751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7485" y="2317403"/>
            <a:ext cx="523577" cy="2095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NEXT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17940" y="3060353"/>
            <a:ext cx="163547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@slidify/components library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17940" y="3447901"/>
            <a:ext cx="133960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JSX → IR → PPTX path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17940" y="3835450"/>
            <a:ext cx="1349425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Bidirectional round-trip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7940" y="4222998"/>
            <a:ext cx="150971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Theme-token brand swap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Generator-first: lossless by construction.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91588" y="2079278"/>
            <a:ext cx="2538412" cy="32751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10662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10662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34067" y="2317403"/>
            <a:ext cx="576858" cy="2095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LATER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10662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7803" y="3060353"/>
            <a:ext cx="1450479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Native Chart.js synthesis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0662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27803" y="3447901"/>
            <a:ext cx="1161306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Pix2struct fine-tune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10662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7803" y="3835450"/>
            <a:ext cx="1472803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PowerPoint Online oracle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10662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7803" y="4222998"/>
            <a:ext cx="1329928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Skia paint-op intercept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10662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Research-tier moves; high ceiling.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30384" y="6477000"/>
            <a:ext cx="499616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4338CA"/>
              </a:gs>
              <a:gs pos="35000">
                <a:srgbClr val="1E1B4B"/>
              </a:gs>
              <a:gs pos="70000">
                <a:srgbClr val="050510"/>
              </a:gs>
              <a:gs pos="100000">
                <a:srgbClr val="050510"/>
              </a:gs>
            </a:gsLst>
            <a:path path="circle">
              <a:fillToRect l="50000" t="100000" r="50000" b="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FFFFF">
                  <a:alpha val="3000"/>
                </a:srgbClr>
              </a:gs>
              <a:gs pos="100000">
                <a:srgbClr val="FFFFFF">
                  <a:alpha val="3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A78BFA">
                  <a:alpha val="40000"/>
                </a:srgbClr>
              </a:gs>
              <a:gs pos="40000">
                <a:srgbClr val="EC4899">
                  <a:alpha val="15000"/>
                </a:srgbClr>
              </a:gs>
              <a:gs pos="70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81000" y="3367980"/>
            <a:ext cx="11430000" cy="5334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00699" y="1112193"/>
            <a:ext cx="339045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Get started in 30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69393"/>
            <a:ext cx="10363200" cy="16427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6600" b="1" i="0" u="none">
                <a:solidFill>
                  <a:srgbClr val="F5F5F7"/>
                </a:solidFill>
                <a:latin typeface="Inter"/>
              </a:rPr>
              <a:t>Ship decks that </a:t>
            </a:r>
            <a:r>
              <a:rPr sz="6600" b="1" i="0" u="none">
                <a:solidFill>
                  <a:srgbClr val="818CF8"/>
                </a:solidFill>
                <a:latin typeface="Inter"/>
              </a:rPr>
              <a:t>stay alive</a:t>
            </a:r>
            <a:r>
              <a:rPr sz="6600" b="1" i="0" u="none">
                <a:solidFill>
                  <a:srgbClr val="F5F5F7"/>
                </a:solidFill>
                <a:latin typeface="Inter"/>
              </a:rPr>
              <a:t> after the meeting.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76500" y="3516957"/>
            <a:ext cx="7239000" cy="628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0" u="none">
                <a:solidFill>
                  <a:srgbClr val="D4D4D8"/>
                </a:solidFill>
                <a:latin typeface="Inter"/>
              </a:rPr>
              <a:t>Convert your first HTML deck for free. No signup, no credit card. Bring your own LLM provider or use the auto-detected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7990" y="4688532"/>
            <a:ext cx="1842046" cy="533400"/>
          </a:xfrm>
          <a:prstGeom prst="rect">
            <a:avLst/>
          </a:prstGeom>
          <a:solidFill>
            <a:srgbClr val="FFFFFF"/>
          </a:solidFill>
          <a:effectLst>
            <a:outerShdw blurRad="381000" dist="114300" dir="5400000" algn="ctr" rotWithShape="0">
              <a:srgbClr val="FFFFFF">
                <a:alpha val="20000"/>
              </a:srgbClr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0A0A0F"/>
                </a:solidFill>
                <a:latin typeface="Inter"/>
              </a:rPr>
              <a:t>pip install slidify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3386" y="4679007"/>
            <a:ext cx="1868835" cy="55245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F5F5F7"/>
                </a:solidFill>
                <a:latin typeface="Inter"/>
              </a:rPr>
              <a:t>Read the spec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85571" y="4779020"/>
            <a:ext cx="179843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A1A1AA"/>
                </a:solidFill>
                <a:latin typeface="Inter"/>
              </a:rPr>
              <a:t>github.com/pixelpitch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49912" y="5688657"/>
            <a:ext cx="1692027" cy="3238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D4D4D8"/>
                </a:solidFill>
                <a:latin typeface="Inter"/>
              </a:rPr>
              <a:t> v1.0 · shipping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400800"/>
            <a:ext cx="141863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59318" y="6400800"/>
            <a:ext cx="1018282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12 / 12 · 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