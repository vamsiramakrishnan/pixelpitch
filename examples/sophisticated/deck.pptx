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1E1B4B"/>
              </a:gs>
              <a:gs pos="55000">
                <a:srgbClr val="0A0A14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8B5CF6">
                  <a:alpha val="32000"/>
                </a:srgbClr>
              </a:gs>
              <a:gs pos="35000">
                <a:srgbClr val="6366F1">
                  <a:alpha val="18000"/>
                </a:srgbClr>
              </a:gs>
            </a:gsLst>
            <a:path path="circle">
              <a:fillToRect l="50000" t="50000" r="50000" b="50000"/>
            </a:path>
          </a:gradFill>
          <a:xfrm>
            <a:off x="0" y="0"/>
            <a:ext cx="74295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38000">
                <a:srgbClr val="F472B6">
                  <a:alpha val="10000"/>
                </a:srgbClr>
              </a:gs>
            </a:gsLst>
            <a:path path="circle">
              <a:fillToRect l="50000" t="50000" r="50000" b="50000"/>
            </a:path>
          </a:gradFill>
          <a:xfrm>
            <a:off x="5143500" y="571500"/>
            <a:ext cx="7048500" cy="62865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50000">
                <a:srgbClr val="C084FC"/>
              </a:gs>
              <a:gs pos="100000">
                <a:srgbClr val="F472B6"/>
              </a:gs>
            </a:gsLst>
            <a:lin ang="2700000" scaled="0"/>
          </a:gradFill>
          <a:xfrm>
            <a:off x="914400" y="9144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985838"/>
            <a:ext cx="97542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573" y="923925"/>
            <a:ext cx="1311027" cy="3238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 shipping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284089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665089"/>
            <a:ext cx="10287000" cy="2823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0" b="1" i="0" u="none">
                <a:solidFill>
                  <a:srgbClr val="F5F5F7"/>
                </a:solidFill>
                <a:latin typeface="Inter"/>
              </a:rPr>
              <a:t>A compiler for </a:t>
            </a:r>
            <a:r>
              <a:rPr sz="7800" b="1" i="0" u="none">
                <a:latin typeface="Inter"/>
              </a:rPr>
              <a:t>presentations</a:t>
            </a:r>
            <a:r>
              <a:rPr sz="78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910"/>
            <a:ext cx="7429500" cy="942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>Render in Chromium. Cluster into visual units. Translate gradients, shadows, and shapes natively. Edit the result in PowerPoint as if a human authored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34075"/>
            <a:ext cx="1565374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8259" y="5943600"/>
            <a:ext cx="2109341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8250"/>
            <a:ext cx="10363200" cy="56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What we'll cover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8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Why presentations are broken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80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4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The render-and-classify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06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78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Native vs raster, by the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80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Six pillars of editability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06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78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Pattern database deep-dive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80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04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Where we are on the roadmap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06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2484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3811" y="6248400"/>
            <a:ext cx="55378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4766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Headline KPI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4423" y="1214438"/>
            <a:ext cx="875317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gradFill flip="none" rotWithShape="1">
            <a:gsLst>
              <a:gs pos="0">
                <a:srgbClr val="F5F5F7"/>
              </a:gs>
              <a:gs pos="35000">
                <a:srgbClr val="818CF8"/>
              </a:gs>
              <a:gs pos="65000">
                <a:srgbClr val="C084FC"/>
              </a:gs>
              <a:gs pos="100000">
                <a:srgbClr val="F472B6"/>
              </a:gs>
            </a:gsLst>
            <a:lin ang="2700000" scaled="0"/>
          </a:gradFill>
          <a:xfrm>
            <a:off x="914400" y="1638300"/>
            <a:ext cx="6324600" cy="1943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8000" b="1" i="0" u="none">
                <a:latin typeface="Inter"/>
              </a:rPr>
              <a:t>87</a:t>
            </a:r>
            <a:r>
              <a:rPr sz="72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6324600" cy="7191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of slide area emits as native, editable PPTX shapes.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76788"/>
            <a:ext cx="632460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Average across a 200-deck corpus spanning Genspark, v0, Lovable, and hand-authored decks. With Tier-3 LLM enabled the figure climbs to 0.93.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48600" y="1638300"/>
            <a:ext cx="3429000" cy="23050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476250" dist="190500" dir="5400000" algn="ctr" rotWithShape="0">
              <a:srgbClr val="6366F1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4825" y="1914525"/>
            <a:ext cx="1274415" cy="2857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▲ +29.4% vs. 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4825" y="2371725"/>
            <a:ext cx="287655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First-pass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4825" y="2609850"/>
            <a:ext cx="28765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0.882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3181350"/>
            <a:ext cx="2876550" cy="4857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Tier-0 pattern DB landed in March; Q2 expansion added composite recipes (stat-card, feature-card).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48400"/>
            <a:ext cx="349448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slidify telemetry · April 29,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2173" y="6248400"/>
            <a:ext cx="555427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