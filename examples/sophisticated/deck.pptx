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Default Extension="fntdata" ContentType="application/vnd.openxmlformats-officedocument.obfuscatedFont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2000" cy="6858000" type="screen4x3"/>
  <p:notesSz cx="6858000" cy="9144000"/>
  <p:embeddedFontLst>
    <p:embeddedFont>
      <p:font typeface="Inter" panose="020B0604020202020204" charset="0"/>
      <p:regular r:id="rIdSlidifyFont1"/>
      <p:bold r:id="rIdSlidifyFont2"/>
      <p:italic r:id="rIdSlidifyFont3"/>
      <p:boldItalic r:id="rIdSlidifyFont4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SlidifyFont1" Type="http://schemas.openxmlformats.org/officeDocument/2006/relationships/font" Target="fonts/font1.fntdata"/><Relationship Id="rIdSlidifyFont2" Type="http://schemas.openxmlformats.org/officeDocument/2006/relationships/font" Target="fonts/font2.fntdata"/><Relationship Id="rIdSlidifyFont3" Type="http://schemas.openxmlformats.org/officeDocument/2006/relationships/font" Target="fonts/font3.fntdata"/><Relationship Id="rIdSlidifyFont4" Type="http://schemas.openxmlformats.org/officeDocument/2006/relationships/font" Target="fonts/font4.fntdata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gradFill flip="none" rotWithShape="1">
            <a:gsLst>
              <a:gs pos="0">
                <a:srgbClr val="1E1B4B"/>
              </a:gs>
              <a:gs pos="55000">
                <a:srgbClr val="0A0A14"/>
              </a:gs>
              <a:gs pos="100000">
                <a:srgbClr val="050510"/>
              </a:gs>
            </a:gsLst>
            <a:path path="circle">
              <a:fillToRect l="80000" t="12000" r="20000" b="88000"/>
            </a:path>
          </a:gradFill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/>
          <p:cNvSpPr/>
          <p:nvPr/>
        </p:nvSpPr>
        <p:spPr>
          <a:gradFill flip="none" rotWithShape="1">
            <a:gsLst>
              <a:gs pos="0">
                <a:srgbClr val="8B5CF6">
                  <a:alpha val="32000"/>
                </a:srgbClr>
              </a:gs>
              <a:gs pos="35000">
                <a:srgbClr val="6366F1">
                  <a:alpha val="18000"/>
                </a:srgbClr>
              </a:gs>
              <a:gs pos="70000">
                <a:srgbClr val="6366F1">
                  <a:alpha val="0"/>
                </a:srgbClr>
              </a:gs>
              <a:gs pos="100000">
                <a:srgbClr val="6366F1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-1143000" y="-2095500"/>
            <a:ext cx="7429500" cy="74295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/>
          <p:cNvSpPr/>
          <p:nvPr/>
        </p:nvSpPr>
        <p:spPr>
          <a:gradFill flip="none" rotWithShape="1">
            <a:gsLst>
              <a:gs pos="0">
                <a:srgbClr val="EC4899">
                  <a:alpha val="28000"/>
                </a:srgbClr>
              </a:gs>
              <a:gs pos="38000">
                <a:srgbClr val="F472B6">
                  <a:alpha val="10000"/>
                </a:srgbClr>
              </a:gs>
              <a:gs pos="72000">
                <a:srgbClr val="F472B6">
                  <a:alpha val="0"/>
                </a:srgbClr>
              </a:gs>
              <a:gs pos="100000">
                <a:srgbClr val="F472B6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5143500" y="571500"/>
            <a:ext cx="8763000" cy="87630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ounded Rectangle 4"/>
          <p:cNvSpPr/>
          <p:nvPr/>
        </p:nvSpPr>
        <p:spPr>
          <a:gradFill flip="none" rotWithShape="1">
            <a:gsLst>
              <a:gs pos="0">
                <a:srgbClr val="818CF8"/>
              </a:gs>
              <a:gs pos="50000">
                <a:srgbClr val="C084FC"/>
              </a:gs>
              <a:gs pos="100000">
                <a:srgbClr val="F472B6"/>
              </a:gs>
            </a:gsLst>
            <a:lin ang="2700000" scaled="0"/>
          </a:gradFill>
          <a:xfrm>
            <a:off x="914400" y="914400"/>
            <a:ext cx="342900" cy="342900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1371600" y="985838"/>
            <a:ext cx="1268045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5F5F7"/>
                </a:solidFill>
                <a:latin typeface="Inter"/>
              </a:rPr>
              <a:t>slidify</a:t>
            </a:r>
            <a:r>
              <a:rPr sz="1350" b="0" i="0" u="none">
                <a:solidFill>
                  <a:srgbClr val="A1A1AA"/>
                </a:solidFill>
                <a:latin typeface="Inter"/>
              </a:rPr>
              <a:t>· v1.0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66573" y="923925"/>
            <a:ext cx="1311027" cy="323850"/>
          </a:xfrm>
          <a:prstGeom prst="rect">
            <a:avLst/>
          </a:prstGeom>
          <a:solidFill>
            <a:srgbClr val="FFFFFF">
              <a:alpha val="6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E4E4E7"/>
                </a:solidFill>
                <a:latin typeface="Inter"/>
              </a:rPr>
              <a:t xml:space="preserve"> shipping today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284089"/>
            <a:ext cx="10363200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78BFA"/>
                </a:solidFill>
                <a:latin typeface="Inter"/>
              </a:rPr>
              <a:t>Q2 2026 · Investor Update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665089"/>
            <a:ext cx="10287000" cy="2823121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7800" b="1" i="0" u="none">
                <a:solidFill>
                  <a:srgbClr val="F5F5F7"/>
                </a:solidFill>
                <a:latin typeface="Inter"/>
              </a:rPr>
              <a:t xml:space="preserve">A compiler for </a:t>
            </a:r>
            <a:r>
              <a:rPr sz="7800" b="1" i="0" u="none">
                <a:gradFill rotWithShape="1">
                  <a:gsLst>
                    <a:gs pos="0">
                      <a:srgbClr val="818CF8"/>
                    </a:gs>
                    <a:gs pos="50000">
                      <a:srgbClr val="C084FC"/>
                    </a:gs>
                    <a:gs pos="100000">
                      <a:srgbClr val="F472B6"/>
                    </a:gs>
                  </a:gsLst>
                  <a:lin ang="2700000" scaled="0"/>
                </a:gradFill>
                <a:latin typeface="Inter"/>
              </a:rPr>
              <a:t>presentations</a:t>
            </a:r>
            <a:r>
              <a:rPr sz="7800" b="1" i="0" u="none">
                <a:solidFill>
                  <a:srgbClr val="F5F5F7"/>
                </a:solidFill>
                <a:latin typeface="Inter"/>
              </a:rPr>
              <a:t>, not a screenshot tool.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754910"/>
            <a:ext cx="7429500" cy="942975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650" b="0" i="0" u="none">
                <a:solidFill>
                  <a:srgbClr val="D4D4D8"/>
                </a:solidFill>
                <a:latin typeface="Inter"/>
              </a:rPr>
              <a:t>Render in Chromium. Cluster into visual units. Translate gradients, shadows, and shapes natively. Edit the result in PowerPoint as if a human authored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5934075"/>
            <a:ext cx="1565374" cy="1619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71717A"/>
                </a:solidFill>
                <a:latin typeface="Inter"/>
              </a:rPr>
              <a:t>Internal · For discussion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68259" y="5943600"/>
            <a:ext cx="2109341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52525B"/>
                </a:solidFill>
                <a:latin typeface="Inter"/>
              </a:rPr>
              <a:t>PIXELPITCH LABS · 01 / 12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07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914400" y="914400"/>
            <a:ext cx="10363200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78BFA"/>
                </a:solidFill>
                <a:latin typeface="Inter"/>
              </a:rPr>
              <a:t>Agenda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238250"/>
            <a:ext cx="10363200" cy="56004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4200" b="1" i="0" u="none">
                <a:solidFill>
                  <a:srgbClr val="F5F5F7"/>
                </a:solidFill>
                <a:latin typeface="Inter"/>
              </a:rPr>
              <a:t>What we'll cover today.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636490"/>
            <a:ext cx="304800" cy="1619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A1A1AA"/>
                </a:solidFill>
                <a:latin typeface="Inter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47800" y="2550765"/>
            <a:ext cx="3711625" cy="24765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650" b="1" i="0" u="none">
                <a:solidFill>
                  <a:srgbClr val="F5F5F7"/>
                </a:solidFill>
                <a:latin typeface="Inter"/>
              </a:rPr>
              <a:t>Why presentations are broken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88025" y="2636490"/>
            <a:ext cx="326975" cy="1619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71717A"/>
                </a:solidFill>
                <a:latin typeface="Inter"/>
              </a:rPr>
              <a:t>p. 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77000" y="2636490"/>
            <a:ext cx="304800" cy="1619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A1A1AA"/>
                </a:solidFill>
                <a:latin typeface="Inter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10400" y="2550765"/>
            <a:ext cx="3711625" cy="24765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650" b="1" i="0" u="none">
                <a:solidFill>
                  <a:srgbClr val="F5F5F7"/>
                </a:solidFill>
                <a:latin typeface="Inter"/>
              </a:rPr>
              <a:t>The render-and-classify pipeline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50625" y="2636490"/>
            <a:ext cx="326975" cy="1619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71717A"/>
                </a:solidFill>
                <a:latin typeface="Inter"/>
              </a:rPr>
              <a:t>p. 05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312765"/>
            <a:ext cx="304800" cy="1619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A1A1AA"/>
                </a:solidFill>
                <a:latin typeface="Inter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47800" y="3227040"/>
            <a:ext cx="3711625" cy="24765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650" b="1" i="0" u="none">
                <a:solidFill>
                  <a:srgbClr val="F5F5F7"/>
                </a:solidFill>
                <a:latin typeface="Inter"/>
              </a:rPr>
              <a:t>Native vs raster, by the numbers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88025" y="3312765"/>
            <a:ext cx="326975" cy="1619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71717A"/>
                </a:solidFill>
                <a:latin typeface="Inter"/>
              </a:rPr>
              <a:t>p. 07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77000" y="3312765"/>
            <a:ext cx="304800" cy="1619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A1A1AA"/>
                </a:solidFill>
                <a:latin typeface="Inter"/>
              </a:rPr>
              <a:t>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10400" y="3227040"/>
            <a:ext cx="3711625" cy="24765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650" b="1" i="0" u="none">
                <a:solidFill>
                  <a:srgbClr val="F5F5F7"/>
                </a:solidFill>
                <a:latin typeface="Inter"/>
              </a:rPr>
              <a:t>Six pillars of editability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50625" y="3312765"/>
            <a:ext cx="326975" cy="1619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71717A"/>
                </a:solidFill>
                <a:latin typeface="Inter"/>
              </a:rPr>
              <a:t>p. 06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3989040"/>
            <a:ext cx="304800" cy="1619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A1A1AA"/>
                </a:solidFill>
                <a:latin typeface="Inter"/>
              </a:rPr>
              <a:t>05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47800" y="3903315"/>
            <a:ext cx="3711625" cy="24765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650" b="1" i="0" u="none">
                <a:solidFill>
                  <a:srgbClr val="F5F5F7"/>
                </a:solidFill>
                <a:latin typeface="Inter"/>
              </a:rPr>
              <a:t>Pattern database deep-dive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88025" y="3989040"/>
            <a:ext cx="326975" cy="1619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71717A"/>
                </a:solidFill>
                <a:latin typeface="Inter"/>
              </a:rPr>
              <a:t>p. 08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77000" y="3989040"/>
            <a:ext cx="304800" cy="1619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A1A1AA"/>
                </a:solidFill>
                <a:latin typeface="Inter"/>
              </a:rPr>
              <a:t>06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10400" y="3903315"/>
            <a:ext cx="3711625" cy="24765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650" b="1" i="0" u="none">
                <a:solidFill>
                  <a:srgbClr val="F5F5F7"/>
                </a:solidFill>
                <a:latin typeface="Inter"/>
              </a:rPr>
              <a:t>Where we are on the roadmap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50625" y="3989040"/>
            <a:ext cx="326975" cy="1619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71717A"/>
                </a:solidFill>
                <a:latin typeface="Inter"/>
              </a:rPr>
              <a:t>p. 11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6248400"/>
            <a:ext cx="1411635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52525B"/>
                </a:solidFill>
                <a:latin typeface="Inter"/>
              </a:rPr>
              <a:t>PIXELPITCH LABS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23811" y="6248400"/>
            <a:ext cx="553789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52525B"/>
                </a:solidFill>
                <a:latin typeface="Inter"/>
              </a:rPr>
              <a:t>02 / 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07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914400" y="1143000"/>
            <a:ext cx="1476673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78BFA"/>
                </a:solidFill>
                <a:latin typeface="Inter"/>
              </a:rPr>
              <a:t>Headline KPI</a:t>
            </a:r>
          </a:p>
        </p:txBody>
      </p:sp>
      <p:sp>
        <p:nvSpPr>
          <p:cNvPr id="4" name="Rectangle 3"/>
          <p:cNvSpPr/>
          <p:nvPr/>
        </p:nvSpPr>
        <p:spPr>
          <a:xfrm>
            <a:off x="2524423" y="1214438"/>
            <a:ext cx="8753177" cy="9525"/>
          </a:xfrm>
          <a:prstGeom prst="rect">
            <a:avLst/>
          </a:prstGeom>
          <a:solidFill>
            <a:srgbClr val="FFFFFF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914400" y="1638300"/>
            <a:ext cx="6324600" cy="19431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8000" b="1" i="0" u="none">
                <a:gradFill rotWithShape="1">
                  <a:gsLst>
                    <a:gs pos="0">
                      <a:srgbClr val="F5F5F7"/>
                    </a:gs>
                    <a:gs pos="35000">
                      <a:srgbClr val="818CF8"/>
                    </a:gs>
                    <a:gs pos="65000">
                      <a:srgbClr val="C084FC"/>
                    </a:gs>
                    <a:gs pos="100000">
                      <a:srgbClr val="F472B6"/>
                    </a:gs>
                  </a:gsLst>
                  <a:lin ang="2700000" scaled="0"/>
                </a:gradFill>
                <a:latin typeface="Inter"/>
              </a:rPr>
              <a:t>87</a:t>
            </a:r>
            <a:r>
              <a:rPr sz="7200" b="1" i="0" u="none">
                <a:solidFill>
                  <a:srgbClr val="A78BFA"/>
                </a:solidFill>
                <a:latin typeface="Inter"/>
              </a:rPr>
              <a:t>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886200"/>
            <a:ext cx="6324600" cy="719138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2400" b="1" i="0" u="none">
                <a:solidFill>
                  <a:srgbClr val="F5F5F7"/>
                </a:solidFill>
                <a:latin typeface="Inter"/>
              </a:rPr>
              <a:t>of slide area emits as native, editable PPTX shapes.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776788"/>
            <a:ext cx="6324600" cy="5313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 u="none">
                <a:solidFill>
                  <a:srgbClr val="A1A1AA"/>
                </a:solidFill>
                <a:latin typeface="Inter"/>
              </a:rPr>
              <a:t>Average across a 200-deck corpus spanning Genspark, v0, Lovable, and hand-authored decks. With Tier-3 LLM enabled the figure climbs to 0.93.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48600" y="1638300"/>
            <a:ext cx="3429000" cy="2305050"/>
          </a:xfrm>
          <a:prstGeom prst="roundRect">
            <a:avLst/>
          </a:prstGeom>
          <a:solidFill>
            <a:srgbClr val="FFFFFF">
              <a:alpha val="4000"/>
            </a:srgbClr>
          </a:solidFill>
          <a:ln w="9525">
            <a:solidFill>
              <a:srgbClr val="FFFFFF"/>
            </a:solidFill>
          </a:ln>
          <a:effectLst>
            <a:outerShdw blurRad="476250" dist="190500" dir="5400000" algn="ctr" rotWithShape="0">
              <a:srgbClr val="6366F1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8124825" y="1914525"/>
            <a:ext cx="1274415" cy="285750"/>
          </a:xfrm>
          <a:prstGeom prst="rect">
            <a:avLst/>
          </a:prstGeom>
          <a:solidFill>
            <a:srgbClr val="22C55E">
              <a:alpha val="12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86EFAC"/>
                </a:solidFill>
                <a:latin typeface="Inter"/>
              </a:rPr>
              <a:t>▲ +29.4% vs. Q1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24825" y="2371725"/>
            <a:ext cx="2876550" cy="1619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A1A1AA"/>
                </a:solidFill>
                <a:latin typeface="Inter"/>
              </a:rPr>
              <a:t>First-pass coverage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24825" y="2609850"/>
            <a:ext cx="2876550" cy="4191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2700" b="1" i="0" u="none">
                <a:solidFill>
                  <a:srgbClr val="F5F5F7"/>
                </a:solidFill>
                <a:latin typeface="Inter"/>
              </a:rPr>
              <a:t>0.882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24825" y="3181350"/>
            <a:ext cx="2876550" cy="4857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71717A"/>
                </a:solidFill>
                <a:latin typeface="Inter"/>
              </a:rPr>
              <a:t>Tier-0 pattern DB landed in March; Q2 expansion added composite recipes (stat-card, feature-card).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6248400"/>
            <a:ext cx="3494484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52525B"/>
                </a:solidFill>
                <a:latin typeface="Inter"/>
              </a:rPr>
              <a:t>SOURCE · slidify telemetry · April 29,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22173" y="6248400"/>
            <a:ext cx="555427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52525B"/>
                </a:solidFill>
                <a:latin typeface="Inter"/>
              </a:rPr>
              <a:t>03 / 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07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762000" y="762000"/>
            <a:ext cx="10668000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78BFA"/>
                </a:solidFill>
                <a:latin typeface="Inter"/>
              </a:rPr>
              <a:t>By the numbers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1085850"/>
            <a:ext cx="8572500" cy="959941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3600" b="1" i="0" u="none">
                <a:solidFill>
                  <a:srgbClr val="F5F5F7"/>
                </a:solidFill>
                <a:latin typeface="Inter"/>
              </a:rPr>
              <a:t>Editability that compounds across every deck shipped.</a:t>
            </a:r>
          </a:p>
        </p:txBody>
      </p:sp>
      <p:sp>
        <p:nvSpPr>
          <p:cNvPr id="5" name="Rounded Rectangle 4"/>
          <p:cNvSpPr/>
          <p:nvPr/>
        </p:nvSpPr>
        <p:spPr>
          <a:gradFill flip="none" rotWithShape="1">
            <a:gsLst>
              <a:gs pos="0">
                <a:srgbClr val="FFFFFF">
                  <a:alpha val="5000"/>
                </a:srgbClr>
              </a:gs>
              <a:gs pos="100000">
                <a:srgbClr val="FFFFFF">
                  <a:alpha val="2000"/>
                </a:srgbClr>
              </a:gs>
            </a:gsLst>
            <a:lin ang="5400000" scaled="0"/>
          </a:gradFill>
          <a:xfrm>
            <a:off x="762000" y="2502991"/>
            <a:ext cx="3403550" cy="3153370"/>
          </a:xfrm>
          <a:prstGeom prst="roundRect">
            <a:avLst/>
          </a:prstGeom>
          <a:ln w="9525">
            <a:solidFill>
              <a:srgbClr val="FFFFFF"/>
            </a:solidFill>
          </a:ln>
          <a:effectLst>
            <a:outerShdw blurRad="571500" dist="228600" dir="5400000" algn="ctr" rotWithShape="0">
              <a:srgbClr val="6366F1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1076325" y="2855416"/>
            <a:ext cx="2774900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1A1AA"/>
                </a:solidFill>
                <a:latin typeface="Inter"/>
              </a:rPr>
              <a:t>Native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6325" y="3141166"/>
            <a:ext cx="2774900" cy="8382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6600" b="1" i="0" u="none">
                <a:solidFill>
                  <a:srgbClr val="F5F5F7"/>
                </a:solidFill>
                <a:latin typeface="Inter"/>
              </a:rPr>
              <a:t>87</a:t>
            </a:r>
            <a:r>
              <a:rPr sz="3000" b="1" i="0" u="none">
                <a:solidFill>
                  <a:srgbClr val="A78BFA"/>
                </a:solidFill>
                <a:latin typeface="Inter"/>
              </a:rPr>
              <a:t>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6325" y="4112716"/>
            <a:ext cx="799207" cy="238125"/>
          </a:xfrm>
          <a:prstGeom prst="rect">
            <a:avLst/>
          </a:prstGeom>
          <a:solidFill>
            <a:srgbClr val="22C55E">
              <a:alpha val="12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86EFAC"/>
                </a:solidFill>
                <a:latin typeface="Inter"/>
              </a:rPr>
              <a:t>▲ +29.4%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51732" y="4160341"/>
            <a:ext cx="774650" cy="1428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52525B"/>
                </a:solidFill>
                <a:latin typeface="Inter"/>
              </a:rPr>
              <a:t>vs Q1 baseline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6325" y="4522291"/>
            <a:ext cx="2774900" cy="78164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A1A1AA"/>
                </a:solidFill>
                <a:latin typeface="Inter"/>
              </a:rPr>
              <a:t>Average across the corpus. Tier-0 patterns landed in March; Q2 added composite recipes for stat- and feature-cards.</a:t>
            </a:r>
          </a:p>
        </p:txBody>
      </p:sp>
      <p:sp>
        <p:nvSpPr>
          <p:cNvPr id="11" name="Rounded Rectangle 10"/>
          <p:cNvSpPr/>
          <p:nvPr/>
        </p:nvSpPr>
        <p:spPr>
          <a:gradFill flip="none" rotWithShape="1">
            <a:gsLst>
              <a:gs pos="0">
                <a:srgbClr val="FFFFFF">
                  <a:alpha val="5000"/>
                </a:srgbClr>
              </a:gs>
              <a:gs pos="100000">
                <a:srgbClr val="FFFFFF">
                  <a:alpha val="2000"/>
                </a:srgbClr>
              </a:gs>
            </a:gsLst>
            <a:lin ang="5400000" scaled="0"/>
          </a:gradFill>
          <a:xfrm>
            <a:off x="4394150" y="2502991"/>
            <a:ext cx="3403550" cy="3153370"/>
          </a:xfrm>
          <a:prstGeom prst="roundRect">
            <a:avLst/>
          </a:prstGeom>
          <a:ln w="9525">
            <a:solidFill>
              <a:srgbClr val="FFFFFF"/>
            </a:solidFill>
          </a:ln>
          <a:effectLst>
            <a:outerShdw blurRad="571500" dist="228600" dir="5400000" algn="ctr" rotWithShape="0">
              <a:srgbClr val="6366F1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4708475" y="2855416"/>
            <a:ext cx="2774900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1A1AA"/>
                </a:solidFill>
                <a:latin typeface="Inter"/>
              </a:rPr>
              <a:t>Per 10-slide deck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08475" y="3141166"/>
            <a:ext cx="2774900" cy="8382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6600" b="1" i="0" u="none">
                <a:solidFill>
                  <a:srgbClr val="F5F5F7"/>
                </a:solidFill>
                <a:latin typeface="Inter"/>
              </a:rPr>
              <a:t>23</a:t>
            </a:r>
            <a:r>
              <a:rPr sz="3000" b="1" i="0" u="none">
                <a:solidFill>
                  <a:srgbClr val="A78BFA"/>
                </a:solidFill>
                <a:latin typeface="Inter"/>
              </a:rPr>
              <a:t>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08475" y="4112716"/>
            <a:ext cx="645468" cy="238125"/>
          </a:xfrm>
          <a:prstGeom prst="rect">
            <a:avLst/>
          </a:prstGeom>
          <a:solidFill>
            <a:srgbClr val="F43F5E">
              <a:alpha val="12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FDA4AF"/>
                </a:solidFill>
                <a:latin typeface="Inter"/>
              </a:rPr>
              <a:t>▼ -41%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30143" y="4160341"/>
            <a:ext cx="774650" cy="1428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52525B"/>
                </a:solidFill>
                <a:latin typeface="Inter"/>
              </a:rPr>
              <a:t>vs Q1 baseline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08475" y="4522291"/>
            <a:ext cx="2774900" cy="78164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A1A1AA"/>
                </a:solidFill>
                <a:latin typeface="Inter"/>
              </a:rPr>
              <a:t>P95 conversion time on a single 8-core box, no GPU. Bottleneck is render parallelism (Chart.js init).</a:t>
            </a:r>
          </a:p>
        </p:txBody>
      </p:sp>
      <p:sp>
        <p:nvSpPr>
          <p:cNvPr id="17" name="Rounded Rectangle 16"/>
          <p:cNvSpPr/>
          <p:nvPr/>
        </p:nvSpPr>
        <p:spPr>
          <a:gradFill flip="none" rotWithShape="1">
            <a:gsLst>
              <a:gs pos="0">
                <a:srgbClr val="FFFFFF">
                  <a:alpha val="5000"/>
                </a:srgbClr>
              </a:gs>
              <a:gs pos="100000">
                <a:srgbClr val="FFFFFF">
                  <a:alpha val="2000"/>
                </a:srgbClr>
              </a:gs>
            </a:gsLst>
            <a:lin ang="5400000" scaled="0"/>
          </a:gradFill>
          <a:xfrm>
            <a:off x="8026301" y="2502991"/>
            <a:ext cx="3403699" cy="3153370"/>
          </a:xfrm>
          <a:prstGeom prst="roundRect">
            <a:avLst/>
          </a:prstGeom>
          <a:ln w="9525">
            <a:solidFill>
              <a:srgbClr val="FFFFFF"/>
            </a:solidFill>
          </a:ln>
          <a:effectLst>
            <a:outerShdw blurRad="571500" dist="228600" dir="5400000" algn="ctr" rotWithShape="0">
              <a:srgbClr val="6366F1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/>
          <p:cNvSpPr txBox="1"/>
          <p:nvPr/>
        </p:nvSpPr>
        <p:spPr>
          <a:xfrm>
            <a:off x="8340626" y="2855416"/>
            <a:ext cx="2775049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1A1AA"/>
                </a:solidFill>
                <a:latin typeface="Inter"/>
              </a:rPr>
              <a:t>LLM cost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40626" y="3141166"/>
            <a:ext cx="2775049" cy="8382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6600" b="1" i="0" u="none">
                <a:solidFill>
                  <a:srgbClr val="F5F5F7"/>
                </a:solidFill>
                <a:latin typeface="Inter"/>
              </a:rPr>
              <a:t>$0.04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40626" y="4112716"/>
            <a:ext cx="658267" cy="238125"/>
          </a:xfrm>
          <a:prstGeom prst="rect">
            <a:avLst/>
          </a:prstGeom>
          <a:solidFill>
            <a:srgbClr val="F43F5E">
              <a:alpha val="12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FDA4AF"/>
                </a:solidFill>
                <a:latin typeface="Inter"/>
              </a:rPr>
              <a:t>▼ -73%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75093" y="4160341"/>
            <a:ext cx="774650" cy="1428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52525B"/>
                </a:solidFill>
                <a:latin typeface="Inter"/>
              </a:rPr>
              <a:t>vs Q1 baseline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40626" y="4522291"/>
            <a:ext cx="2775049" cy="78164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A1A1AA"/>
                </a:solidFill>
                <a:latin typeface="Inter"/>
              </a:rPr>
              <a:t>Switch to Gemini Flash + only-firing-on-the-ambiguous-tail. ≤$0.10/deck even with full Tier-3 enabled.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2000" y="6400800"/>
            <a:ext cx="3403104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52525B"/>
                </a:solidFill>
                <a:latin typeface="Inter"/>
              </a:rPr>
              <a:t>SOURCE · Internal benchmark · April 2026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871002" y="6400800"/>
            <a:ext cx="558998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52525B"/>
                </a:solidFill>
                <a:latin typeface="Inter"/>
              </a:rPr>
              <a:t>04 / 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07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762000" y="685800"/>
            <a:ext cx="7020967" cy="439936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3300" b="1" i="0" u="none">
                <a:solidFill>
                  <a:srgbClr val="F5F5F7"/>
                </a:solidFill>
                <a:latin typeface="Inter"/>
              </a:rPr>
              <a:t>Six pillars of the rendering pipeline.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75466" y="973336"/>
            <a:ext cx="554534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71717A"/>
                </a:solidFill>
                <a:latin typeface="Inter"/>
              </a:rPr>
              <a:t>05 / 12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62000" y="1468636"/>
            <a:ext cx="3429000" cy="2261443"/>
          </a:xfrm>
          <a:prstGeom prst="roundRect">
            <a:avLst/>
          </a:prstGeom>
          <a:solidFill>
            <a:srgbClr val="FFFFFF">
              <a:alpha val="4000"/>
            </a:srgbClr>
          </a:solidFill>
          <a:ln w="9525">
            <a:solidFill>
              <a:srgbClr val="FFFFFF"/>
            </a:solidFill>
          </a:ln>
          <a:effectLst>
            <a:outerShdw blurRad="381000" dist="114300" dir="5400000" algn="ctr" rotWithShape="0">
              <a:srgbClr val="6366F1">
                <a:alpha val="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/>
          <p:cNvSpPr txBox="1"/>
          <p:nvPr/>
        </p:nvSpPr>
        <p:spPr>
          <a:gradFill flip="none" rotWithShape="1">
            <a:gsLst>
              <a:gs pos="0">
                <a:srgbClr val="6366F1"/>
              </a:gs>
              <a:gs pos="100000">
                <a:srgbClr val="8B5CF6"/>
              </a:gs>
            </a:gsLst>
            <a:lin ang="2700000" scaled="0"/>
          </a:gradFill>
          <a:xfrm>
            <a:off x="1019175" y="1725811"/>
            <a:ext cx="419100" cy="419100"/>
          </a:xfrm>
          <a:prstGeom prst="rect">
            <a:avLst/>
          </a:prstGeom>
        </p:spPr>
        <p:txBody>
          <a:bodyPr wrap="square" lIns="0" rIns="0" tIns="0" bIns="0">
            <a:normAutofit/>
          </a:bodyPr>
          <a:lstStyle/>
          <a:p>
            <a:pPr algn="l"/>
            <a:r>
              <a:rPr sz="1650" b="1" i="0" u="none">
                <a:solidFill>
                  <a:srgbClr val="FFFFFF"/>
                </a:solidFill>
                <a:latin typeface="Inter"/>
              </a:rPr>
              <a:t>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9175" y="2373511"/>
            <a:ext cx="2914650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5F5F7"/>
                </a:solidFill>
                <a:latin typeface="Inter"/>
              </a:rPr>
              <a:t>Render before decide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9175" y="2630686"/>
            <a:ext cx="2914650" cy="57551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A1A1AA"/>
                </a:solidFill>
                <a:latin typeface="Inter"/>
              </a:rPr>
              <a:t>Real Chromium computes the layout. Static analysis cannot resolve flex / grid / flow geometry.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9175" y="3206204"/>
            <a:ext cx="291465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52525B"/>
                </a:solidFill>
                <a:latin typeface="Inter"/>
              </a:rPr>
              <a:t>PLAYWRIGHT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1500" y="1468636"/>
            <a:ext cx="3429000" cy="2261443"/>
          </a:xfrm>
          <a:prstGeom prst="roundRect">
            <a:avLst/>
          </a:prstGeom>
          <a:solidFill>
            <a:srgbClr val="FFFFFF">
              <a:alpha val="4000"/>
            </a:srgbClr>
          </a:solidFill>
          <a:ln w="9525">
            <a:solidFill>
              <a:srgbClr val="FFFFFF"/>
            </a:solidFill>
          </a:ln>
          <a:effectLst>
            <a:outerShdw blurRad="381000" dist="114300" dir="5400000" algn="ctr" rotWithShape="0">
              <a:srgbClr val="6366F1">
                <a:alpha val="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/>
          <p:cNvSpPr txBox="1"/>
          <p:nvPr/>
        </p:nvSpPr>
        <p:spPr>
          <a:gradFill flip="none" rotWithShape="1">
            <a:gsLst>
              <a:gs pos="0">
                <a:srgbClr val="8B5CF6"/>
              </a:gs>
              <a:gs pos="100000">
                <a:srgbClr val="EC4899"/>
              </a:gs>
            </a:gsLst>
            <a:lin ang="2700000" scaled="0"/>
          </a:gradFill>
          <a:xfrm>
            <a:off x="4638675" y="1725811"/>
            <a:ext cx="419100" cy="419100"/>
          </a:xfrm>
          <a:prstGeom prst="rect">
            <a:avLst/>
          </a:prstGeom>
        </p:spPr>
        <p:txBody>
          <a:bodyPr wrap="square" lIns="0" rIns="0" tIns="0" bIns="0">
            <a:normAutofit/>
          </a:bodyPr>
          <a:lstStyle/>
          <a:p>
            <a:pPr algn="l"/>
            <a:r>
              <a:rPr sz="1650" b="1" i="0" u="none">
                <a:solidFill>
                  <a:srgbClr val="FFFFFF"/>
                </a:solidFill>
                <a:latin typeface="Inter"/>
              </a:rPr>
              <a:t>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38675" y="2373511"/>
            <a:ext cx="2914650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5F5F7"/>
                </a:solidFill>
                <a:latin typeface="Inter"/>
              </a:rPr>
              <a:t>Visual units, not DOM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38675" y="2630686"/>
            <a:ext cx="2914650" cy="38367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A1A1AA"/>
                </a:solidFill>
                <a:latin typeface="Inter"/>
              </a:rPr>
              <a:t>Classification atom is a connected visual region — a card, a bullet, a chart — not a single tag.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38675" y="3206204"/>
            <a:ext cx="291465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52525B"/>
                </a:solidFill>
                <a:latin typeface="Inter"/>
              </a:rPr>
              <a:t>CLUSTERER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01000" y="1468636"/>
            <a:ext cx="3429000" cy="2261443"/>
          </a:xfrm>
          <a:prstGeom prst="roundRect">
            <a:avLst/>
          </a:prstGeom>
          <a:solidFill>
            <a:srgbClr val="FFFFFF">
              <a:alpha val="4000"/>
            </a:srgbClr>
          </a:solidFill>
          <a:ln w="9525">
            <a:solidFill>
              <a:srgbClr val="FFFFFF"/>
            </a:solidFill>
          </a:ln>
          <a:effectLst>
            <a:outerShdw blurRad="381000" dist="114300" dir="5400000" algn="ctr" rotWithShape="0">
              <a:srgbClr val="6366F1">
                <a:alpha val="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/>
          <p:cNvSpPr txBox="1"/>
          <p:nvPr/>
        </p:nvSpPr>
        <p:spPr>
          <a:gradFill flip="none" rotWithShape="1">
            <a:gsLst>
              <a:gs pos="0">
                <a:srgbClr val="EC4899"/>
              </a:gs>
              <a:gs pos="100000">
                <a:srgbClr val="F97316"/>
              </a:gs>
            </a:gsLst>
            <a:lin ang="2700000" scaled="0"/>
          </a:gradFill>
          <a:xfrm>
            <a:off x="8258175" y="1725811"/>
            <a:ext cx="419100" cy="419100"/>
          </a:xfrm>
          <a:prstGeom prst="rect">
            <a:avLst/>
          </a:prstGeom>
        </p:spPr>
        <p:txBody>
          <a:bodyPr wrap="square" lIns="0" rIns="0" tIns="0" bIns="0">
            <a:normAutofit/>
          </a:bodyPr>
          <a:lstStyle/>
          <a:p>
            <a:pPr algn="l"/>
            <a:r>
              <a:rPr sz="1650" b="1" i="0" u="none">
                <a:solidFill>
                  <a:srgbClr val="FFFFFF"/>
                </a:solidFill>
                <a:latin typeface="Inter"/>
              </a:rPr>
              <a:t>⊞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58175" y="2373511"/>
            <a:ext cx="2914650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5F5F7"/>
                </a:solidFill>
                <a:latin typeface="Inter"/>
              </a:rPr>
              <a:t>Three-tier classifier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58175" y="2630686"/>
            <a:ext cx="2914650" cy="38367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A1A1AA"/>
                </a:solidFill>
                <a:latin typeface="Inter"/>
              </a:rPr>
              <a:t>Rules → heuristics → LLM. Closed-vocabulary patterns short-circuit ~90% of decisions.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58175" y="3206204"/>
            <a:ext cx="291465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52525B"/>
                </a:solidFill>
                <a:latin typeface="Inter"/>
              </a:rPr>
              <a:t>TIER 0–3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62000" y="3920579"/>
            <a:ext cx="3429000" cy="2120057"/>
          </a:xfrm>
          <a:prstGeom prst="roundRect">
            <a:avLst/>
          </a:prstGeom>
          <a:solidFill>
            <a:srgbClr val="FFFFFF">
              <a:alpha val="4000"/>
            </a:srgbClr>
          </a:solidFill>
          <a:ln w="9525">
            <a:solidFill>
              <a:srgbClr val="FFFFFF"/>
            </a:solidFill>
          </a:ln>
          <a:effectLst>
            <a:outerShdw blurRad="381000" dist="114300" dir="5400000" algn="ctr" rotWithShape="0">
              <a:srgbClr val="6366F1">
                <a:alpha val="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/>
          <p:cNvSpPr txBox="1"/>
          <p:nvPr/>
        </p:nvSpPr>
        <p:spPr>
          <a:gradFill flip="none" rotWithShape="1">
            <a:gsLst>
              <a:gs pos="0">
                <a:srgbClr val="06B6D4"/>
              </a:gs>
              <a:gs pos="100000">
                <a:srgbClr val="6366F1"/>
              </a:gs>
            </a:gsLst>
            <a:lin ang="2700000" scaled="0"/>
          </a:gradFill>
          <a:xfrm>
            <a:off x="1019175" y="4177754"/>
            <a:ext cx="419100" cy="419100"/>
          </a:xfrm>
          <a:prstGeom prst="rect">
            <a:avLst/>
          </a:prstGeom>
        </p:spPr>
        <p:txBody>
          <a:bodyPr wrap="square" lIns="0" rIns="0" tIns="0" bIns="0">
            <a:normAutofit/>
          </a:bodyPr>
          <a:lstStyle/>
          <a:p>
            <a:pPr algn="l"/>
            <a:r>
              <a:rPr sz="1650" b="1" i="0" u="none">
                <a:solidFill>
                  <a:srgbClr val="FFFFFF"/>
                </a:solidFill>
                <a:latin typeface="Inter"/>
              </a:rPr>
              <a:t>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9175" y="4825454"/>
            <a:ext cx="2914650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5F5F7"/>
                </a:solidFill>
                <a:latin typeface="Inter"/>
              </a:rPr>
              <a:t>Confidence aware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175" y="5082629"/>
            <a:ext cx="2914650" cy="38367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A1A1AA"/>
                </a:solidFill>
                <a:latin typeface="Inter"/>
              </a:rPr>
              <a:t>Every decision carries a confidence score. Low-confidence triggers a dual-emit safety net.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19175" y="5516761"/>
            <a:ext cx="291465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52525B"/>
                </a:solidFill>
                <a:latin typeface="Inter"/>
              </a:rPr>
              <a:t>CONFIDENCE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81500" y="3920579"/>
            <a:ext cx="3429000" cy="2120057"/>
          </a:xfrm>
          <a:prstGeom prst="roundRect">
            <a:avLst/>
          </a:prstGeom>
          <a:solidFill>
            <a:srgbClr val="FFFFFF">
              <a:alpha val="4000"/>
            </a:srgbClr>
          </a:solidFill>
          <a:ln w="9525">
            <a:solidFill>
              <a:srgbClr val="FFFFFF"/>
            </a:solidFill>
          </a:ln>
          <a:effectLst>
            <a:outerShdw blurRad="381000" dist="114300" dir="5400000" algn="ctr" rotWithShape="0">
              <a:srgbClr val="6366F1">
                <a:alpha val="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/>
          <p:cNvSpPr txBox="1"/>
          <p:nvPr/>
        </p:nvSpPr>
        <p:spPr>
          <a:gradFill flip="none" rotWithShape="1">
            <a:gsLst>
              <a:gs pos="0">
                <a:srgbClr val="22C55E"/>
              </a:gs>
              <a:gs pos="100000">
                <a:srgbClr val="06B6D4"/>
              </a:gs>
            </a:gsLst>
            <a:lin ang="2700000" scaled="0"/>
          </a:gradFill>
          <a:xfrm>
            <a:off x="4638675" y="4177754"/>
            <a:ext cx="419100" cy="419100"/>
          </a:xfrm>
          <a:prstGeom prst="rect">
            <a:avLst/>
          </a:prstGeom>
        </p:spPr>
        <p:txBody>
          <a:bodyPr wrap="square" lIns="0" rIns="0" tIns="0" bIns="0">
            <a:normAutofit/>
          </a:bodyPr>
          <a:lstStyle/>
          <a:p>
            <a:pPr algn="l"/>
            <a:r>
              <a:rPr sz="1650" b="1" i="0" u="none">
                <a:solidFill>
                  <a:srgbClr val="FFFFFF"/>
                </a:solidFill>
                <a:latin typeface="Inter"/>
              </a:rPr>
              <a:t>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38675" y="4825454"/>
            <a:ext cx="2914650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5F5F7"/>
                </a:solidFill>
                <a:latin typeface="Inter"/>
              </a:rPr>
              <a:t>Self validating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38675" y="5082629"/>
            <a:ext cx="2914650" cy="38367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A1A1AA"/>
                </a:solidFill>
                <a:latin typeface="Inter"/>
              </a:rPr>
              <a:t>SSIM + OCR oracle catches regressions. Failing regions auto-promote to raster and re-emit.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38675" y="5516761"/>
            <a:ext cx="291465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52525B"/>
                </a:solidFill>
                <a:latin typeface="Inter"/>
              </a:rPr>
              <a:t>ORACLE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01000" y="3920579"/>
            <a:ext cx="3429000" cy="2120057"/>
          </a:xfrm>
          <a:prstGeom prst="roundRect">
            <a:avLst/>
          </a:prstGeom>
          <a:solidFill>
            <a:srgbClr val="FFFFFF">
              <a:alpha val="4000"/>
            </a:srgbClr>
          </a:solidFill>
          <a:ln w="9525">
            <a:solidFill>
              <a:srgbClr val="FFFFFF"/>
            </a:solidFill>
          </a:ln>
          <a:effectLst>
            <a:outerShdw blurRad="381000" dist="114300" dir="5400000" algn="ctr" rotWithShape="0">
              <a:srgbClr val="6366F1">
                <a:alpha val="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TextBox 30"/>
          <p:cNvSpPr txBox="1"/>
          <p:nvPr/>
        </p:nvSpPr>
        <p:spPr>
          <a:gradFill flip="none" rotWithShape="1">
            <a:gsLst>
              <a:gs pos="0">
                <a:srgbClr val="F97316"/>
              </a:gs>
              <a:gs pos="100000">
                <a:srgbClr val="FACC15"/>
              </a:gs>
            </a:gsLst>
            <a:lin ang="2700000" scaled="0"/>
          </a:gradFill>
          <a:xfrm>
            <a:off x="8258175" y="4177754"/>
            <a:ext cx="419100" cy="419100"/>
          </a:xfrm>
          <a:prstGeom prst="rect">
            <a:avLst/>
          </a:prstGeom>
        </p:spPr>
        <p:txBody>
          <a:bodyPr wrap="square" lIns="0" rIns="0" tIns="0" bIns="0">
            <a:normAutofit/>
          </a:bodyPr>
          <a:lstStyle/>
          <a:p>
            <a:pPr algn="l"/>
            <a:r>
              <a:rPr sz="1650" b="1" i="0" u="none">
                <a:solidFill>
                  <a:srgbClr val="FFFFFF"/>
                </a:solidFill>
                <a:latin typeface="Inter"/>
              </a:rPr>
              <a:t>⌘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58175" y="4825454"/>
            <a:ext cx="2914650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5F5F7"/>
                </a:solidFill>
                <a:latin typeface="Inter"/>
              </a:rPr>
              <a:t>Cache aggressively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58175" y="5082629"/>
            <a:ext cx="2914650" cy="38367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A1A1AA"/>
                </a:solidFill>
                <a:latin typeface="Inter"/>
              </a:rPr>
              <a:t>Structural-signature cache hits 60–80% within a generator after warmup. Reuse is free.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58175" y="5516761"/>
            <a:ext cx="291465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52525B"/>
                </a:solidFill>
                <a:latin typeface="Inter"/>
              </a:rPr>
              <a:t>CACHE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2000" y="6477000"/>
            <a:ext cx="1411635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52525B"/>
                </a:solidFill>
                <a:latin typeface="Inter"/>
              </a:rPr>
              <a:t>PIXELPITCH LABS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875466" y="6477000"/>
            <a:ext cx="554534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52525B"/>
                </a:solidFill>
                <a:latin typeface="Inter"/>
              </a:rPr>
              <a:t>05 / 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07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762000" y="762000"/>
            <a:ext cx="10668000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78BFA"/>
                </a:solidFill>
                <a:latin typeface="Inter"/>
              </a:rPr>
              <a:t>Before · After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1085850"/>
            <a:ext cx="10668000" cy="460028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3450" b="1" i="0" u="none">
                <a:solidFill>
                  <a:srgbClr val="F5F5F7"/>
                </a:solidFill>
                <a:latin typeface="Inter"/>
              </a:rPr>
              <a:t>Same browser render. Two very different decks.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62000" y="1926878"/>
            <a:ext cx="5200650" cy="4057650"/>
          </a:xfrm>
          <a:prstGeom prst="roundRect">
            <a:avLst/>
          </a:prstGeom>
          <a:solidFill>
            <a:srgbClr val="3F3F46">
              <a:alpha val="30000"/>
            </a:srgbClr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1114425" y="2279303"/>
            <a:ext cx="1906786" cy="276225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800" b="1" i="0" u="none">
                <a:solidFill>
                  <a:srgbClr val="A1A1AA"/>
                </a:solidFill>
                <a:latin typeface="Inter"/>
              </a:rPr>
              <a:t>Naive screenshot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24412" y="2326928"/>
            <a:ext cx="785812" cy="228600"/>
          </a:xfrm>
          <a:prstGeom prst="rect">
            <a:avLst/>
          </a:prstGeom>
          <a:solidFill>
            <a:srgbClr val="3F3F46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A1A1AA"/>
                </a:solidFill>
                <a:latin typeface="Inter"/>
              </a:rPr>
              <a:t>OLD WAY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4425" y="3107978"/>
            <a:ext cx="209550" cy="209550"/>
          </a:xfrm>
          <a:prstGeom prst="rect">
            <a:avLst/>
          </a:prstGeom>
          <a:solidFill>
            <a:srgbClr val="F43F5E">
              <a:alpha val="20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DA4AF"/>
                </a:solidFill>
                <a:latin typeface="Inter"/>
              </a:rPr>
              <a:t>×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57325" y="3107978"/>
            <a:ext cx="3343721" cy="214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25" b="0" i="0" u="none">
                <a:solidFill>
                  <a:srgbClr val="A1A1AA"/>
                </a:solidFill>
                <a:latin typeface="Inter"/>
              </a:rPr>
              <a:t>Every slide is a 50 MB PNG embedded into PPTX.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4425" y="3598515"/>
            <a:ext cx="209550" cy="209550"/>
          </a:xfrm>
          <a:prstGeom prst="rect">
            <a:avLst/>
          </a:prstGeom>
          <a:solidFill>
            <a:srgbClr val="F43F5E">
              <a:alpha val="20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DA4AF"/>
                </a:solidFill>
                <a:latin typeface="Inter"/>
              </a:rPr>
              <a:t>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57325" y="3598515"/>
            <a:ext cx="3033564" cy="214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25" b="0" i="0" u="none">
                <a:solidFill>
                  <a:srgbClr val="A1A1AA"/>
                </a:solidFill>
                <a:latin typeface="Inter"/>
              </a:rPr>
              <a:t>No text is searchable, selectable, or editable.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4425" y="4089053"/>
            <a:ext cx="209550" cy="209550"/>
          </a:xfrm>
          <a:prstGeom prst="rect">
            <a:avLst/>
          </a:prstGeom>
          <a:solidFill>
            <a:srgbClr val="F43F5E">
              <a:alpha val="20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DA4AF"/>
                </a:solidFill>
                <a:latin typeface="Inter"/>
              </a:rPr>
              <a:t>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57325" y="4089053"/>
            <a:ext cx="3863727" cy="214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25" b="0" i="0" u="none">
                <a:solidFill>
                  <a:srgbClr val="A1A1AA"/>
                </a:solidFill>
                <a:latin typeface="Inter"/>
              </a:rPr>
              <a:t>Brand-color swap requires re-running the whole pipeline.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4425" y="4579590"/>
            <a:ext cx="209550" cy="209550"/>
          </a:xfrm>
          <a:prstGeom prst="rect">
            <a:avLst/>
          </a:prstGeom>
          <a:solidFill>
            <a:srgbClr val="F43F5E">
              <a:alpha val="20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DA4AF"/>
                </a:solidFill>
                <a:latin typeface="Inter"/>
              </a:rPr>
              <a:t>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57325" y="4579590"/>
            <a:ext cx="3637806" cy="214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25" b="0" i="0" u="none">
                <a:solidFill>
                  <a:srgbClr val="A1A1AA"/>
                </a:solidFill>
                <a:latin typeface="Inter"/>
              </a:rPr>
              <a:t>Resizing degrades pixel-by-pixel, especially on retina.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4425" y="5070128"/>
            <a:ext cx="209550" cy="209550"/>
          </a:xfrm>
          <a:prstGeom prst="rect">
            <a:avLst/>
          </a:prstGeom>
          <a:solidFill>
            <a:srgbClr val="F43F5E">
              <a:alpha val="20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DA4AF"/>
                </a:solidFill>
                <a:latin typeface="Inter"/>
              </a:rPr>
              <a:t>×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57325" y="5070128"/>
            <a:ext cx="3885158" cy="214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25" b="0" i="0" u="none">
                <a:solidFill>
                  <a:srgbClr val="A1A1AA"/>
                </a:solidFill>
                <a:latin typeface="Inter"/>
              </a:rPr>
              <a:t>Translation requires a second model run plus paste-back.</a:t>
            </a:r>
          </a:p>
        </p:txBody>
      </p:sp>
      <p:sp>
        <p:nvSpPr>
          <p:cNvPr id="18" name="Rounded Rectangle 17"/>
          <p:cNvSpPr/>
          <p:nvPr/>
        </p:nvSpPr>
        <p:spPr>
          <a:gradFill flip="none" rotWithShape="1">
            <a:gsLst>
              <a:gs pos="0">
                <a:srgbClr val="6366F1">
                  <a:alpha val="18000"/>
                </a:srgbClr>
              </a:gs>
              <a:gs pos="100000">
                <a:srgbClr val="EC4899">
                  <a:alpha val="10000"/>
                </a:srgbClr>
              </a:gs>
            </a:gsLst>
            <a:lin ang="4200000" scaled="0"/>
          </a:gradFill>
          <a:xfrm>
            <a:off x="6229350" y="1926878"/>
            <a:ext cx="5200650" cy="4057650"/>
          </a:xfrm>
          <a:prstGeom prst="roundRect">
            <a:avLst/>
          </a:prstGeom>
          <a:ln w="9525">
            <a:solidFill>
              <a:srgbClr val="A78BFA"/>
            </a:solidFill>
          </a:ln>
          <a:effectLst>
            <a:outerShdw blurRad="762000" dist="0" dir="0" algn="ctr" rotWithShape="0">
              <a:srgbClr val="8B5CF6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/>
          <p:cNvSpPr txBox="1"/>
          <p:nvPr/>
        </p:nvSpPr>
        <p:spPr>
          <a:xfrm>
            <a:off x="6581775" y="2279303"/>
            <a:ext cx="674043" cy="276225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800" b="1" i="0" u="none">
                <a:solidFill>
                  <a:srgbClr val="F5F5F7"/>
                </a:solidFill>
                <a:latin typeface="Inter"/>
              </a:rPr>
              <a:t>slidify</a:t>
            </a:r>
          </a:p>
        </p:txBody>
      </p:sp>
      <p:sp>
        <p:nvSpPr>
          <p:cNvPr id="20" name="TextBox 19"/>
          <p:cNvSpPr txBox="1"/>
          <p:nvPr/>
        </p:nvSpPr>
        <p:spPr>
          <a:gradFill flip="none" rotWithShape="1">
            <a:gsLst>
              <a:gs pos="0">
                <a:srgbClr val="818CF8"/>
              </a:gs>
              <a:gs pos="100000">
                <a:srgbClr val="F472B6"/>
              </a:gs>
            </a:gsLst>
            <a:lin ang="2700000" scaled="0"/>
          </a:gradFill>
          <a:xfrm>
            <a:off x="10255151" y="2326928"/>
            <a:ext cx="822424" cy="228600"/>
          </a:xfrm>
          <a:prstGeom prst="rect">
            <a:avLst/>
          </a:prstGeom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A0A0F"/>
                </a:solidFill>
                <a:latin typeface="Inter"/>
              </a:rPr>
              <a:t>NEW WAY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1775" y="3107978"/>
            <a:ext cx="209550" cy="209550"/>
          </a:xfrm>
          <a:prstGeom prst="rect">
            <a:avLst/>
          </a:prstGeom>
          <a:solidFill>
            <a:srgbClr val="22C55E">
              <a:alpha val="22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86EFAC"/>
                </a:solidFill>
                <a:latin typeface="Inter"/>
              </a:rPr>
              <a:t>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24675" y="3107978"/>
            <a:ext cx="3670548" cy="214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25" b="0" i="0" u="none">
                <a:solidFill>
                  <a:srgbClr val="E4E4E7"/>
                </a:solidFill>
                <a:latin typeface="Inter"/>
              </a:rPr>
              <a:t>Headlines, body copy, and bullets are real text frames.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1775" y="3598515"/>
            <a:ext cx="209550" cy="209550"/>
          </a:xfrm>
          <a:prstGeom prst="rect">
            <a:avLst/>
          </a:prstGeom>
          <a:solidFill>
            <a:srgbClr val="22C55E">
              <a:alpha val="22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86EFAC"/>
                </a:solidFill>
                <a:latin typeface="Inter"/>
              </a:rPr>
              <a:t>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24675" y="3598515"/>
            <a:ext cx="3698825" cy="214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25" b="0" i="0" u="none">
                <a:solidFill>
                  <a:srgbClr val="E4E4E7"/>
                </a:solidFill>
                <a:latin typeface="Inter"/>
              </a:rPr>
              <a:t>Cards, dividers, badges are native rounded rectangles.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1775" y="4089053"/>
            <a:ext cx="209550" cy="209550"/>
          </a:xfrm>
          <a:prstGeom prst="rect">
            <a:avLst/>
          </a:prstGeom>
          <a:solidFill>
            <a:srgbClr val="22C55E">
              <a:alpha val="22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86EFAC"/>
                </a:solidFill>
                <a:latin typeface="Inter"/>
              </a:rPr>
              <a:t>✓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24675" y="4089053"/>
            <a:ext cx="4137868" cy="214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25" b="0" i="0" u="none">
                <a:solidFill>
                  <a:srgbClr val="E4E4E7"/>
                </a:solidFill>
                <a:latin typeface="Inter"/>
              </a:rPr>
              <a:t>Designers edit fonts, colors, alignment in PowerPoint directly.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1775" y="4579590"/>
            <a:ext cx="209550" cy="209550"/>
          </a:xfrm>
          <a:prstGeom prst="rect">
            <a:avLst/>
          </a:prstGeom>
          <a:solidFill>
            <a:srgbClr val="22C55E">
              <a:alpha val="22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86EFAC"/>
                </a:solidFill>
                <a:latin typeface="Inter"/>
              </a:rPr>
              <a:t>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24675" y="4579590"/>
            <a:ext cx="3611761" cy="214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25" b="0" i="0" u="none">
                <a:solidFill>
                  <a:srgbClr val="E4E4E7"/>
                </a:solidFill>
                <a:latin typeface="Inter"/>
              </a:rPr>
              <a:t>Only complex visuals (Chart.js, blur effects) rasterize.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81775" y="5070128"/>
            <a:ext cx="209550" cy="209550"/>
          </a:xfrm>
          <a:prstGeom prst="rect">
            <a:avLst/>
          </a:prstGeom>
          <a:solidFill>
            <a:srgbClr val="22C55E">
              <a:alpha val="22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86EFAC"/>
                </a:solidFill>
                <a:latin typeface="Inter"/>
              </a:rPr>
              <a:t>✓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24675" y="5070128"/>
            <a:ext cx="4152900" cy="4286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25" b="0" i="0" u="none">
                <a:solidFill>
                  <a:srgbClr val="E4E4E7"/>
                </a:solidFill>
                <a:latin typeface="Inter"/>
              </a:rPr>
              <a:t>Output is 4 MB instead of 50 MB. Email-friendly out of the box.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62000" y="6400800"/>
            <a:ext cx="1411635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52525B"/>
                </a:solidFill>
                <a:latin typeface="Inter"/>
              </a:rPr>
              <a:t>PIXELPITCH LABS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874127" y="6400800"/>
            <a:ext cx="555873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52525B"/>
                </a:solidFill>
                <a:latin typeface="Inter"/>
              </a:rPr>
              <a:t>06 / 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07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762000" y="762000"/>
            <a:ext cx="10668000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78BFA"/>
                </a:solidFill>
                <a:latin typeface="Inter"/>
              </a:rPr>
              <a:t>The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1085850"/>
            <a:ext cx="8763000" cy="460028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3450" b="1" i="0" u="none">
                <a:solidFill>
                  <a:srgbClr val="F5F5F7"/>
                </a:solidFill>
                <a:latin typeface="Inter"/>
              </a:rPr>
              <a:t>Render. Cluster. Classify. Emit. Validate.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62000" y="2155478"/>
            <a:ext cx="1996380" cy="1950541"/>
          </a:xfrm>
          <a:prstGeom prst="roundRect">
            <a:avLst/>
          </a:prstGeom>
          <a:solidFill>
            <a:srgbClr val="FFFFFF">
              <a:alpha val="4000"/>
            </a:srgbClr>
          </a:solidFill>
          <a:ln w="9525">
            <a:solidFill>
              <a:srgbClr val="FFFFFF"/>
            </a:solidFill>
          </a:ln>
          <a:effectLst>
            <a:outerShdw blurRad="342900" dist="114300" dir="5400000" algn="ctr" rotWithShape="0">
              <a:srgbClr val="6366F1">
                <a:alpha val="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942975" y="2374553"/>
            <a:ext cx="342900" cy="342900"/>
          </a:xfrm>
          <a:prstGeom prst="rect">
            <a:avLst/>
          </a:prstGeom>
          <a:solidFill>
            <a:srgbClr val="A78BFA"/>
          </a:solidFill>
          <a:effectLst>
            <a:outerShdw blurRad="0" dist="0" dir="0" algn="ctr" rotWithShape="0">
              <a:srgbClr val="070710"/>
            </a:outerShdw>
          </a:effectLst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0A0A0F"/>
                </a:solidFill>
                <a:latin typeface="Inter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2975" y="2850803"/>
            <a:ext cx="1634430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5F5F7"/>
                </a:solidFill>
                <a:latin typeface="Inter"/>
              </a:rPr>
              <a:t>Render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2975" y="3107978"/>
            <a:ext cx="1634430" cy="5313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A1A1AA"/>
                </a:solidFill>
                <a:latin typeface="Inter"/>
              </a:rPr>
              <a:t>Headless Chromium, animation freeze, two-rAF wait, font preload.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2975" y="3772644"/>
            <a:ext cx="1634430" cy="1143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52525B"/>
                </a:solidFill>
                <a:latin typeface="Inter"/>
              </a:rPr>
              <a:t>PLAYWRIGHT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29830" y="2155478"/>
            <a:ext cx="1996380" cy="1950541"/>
          </a:xfrm>
          <a:prstGeom prst="roundRect">
            <a:avLst/>
          </a:prstGeom>
          <a:solidFill>
            <a:srgbClr val="FFFFFF">
              <a:alpha val="4000"/>
            </a:srgbClr>
          </a:solidFill>
          <a:ln w="9525">
            <a:solidFill>
              <a:srgbClr val="FFFFFF"/>
            </a:solidFill>
          </a:ln>
          <a:effectLst>
            <a:outerShdw blurRad="342900" dist="114300" dir="5400000" algn="ctr" rotWithShape="0">
              <a:srgbClr val="6366F1">
                <a:alpha val="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3110805" y="2374553"/>
            <a:ext cx="342900" cy="342900"/>
          </a:xfrm>
          <a:prstGeom prst="rect">
            <a:avLst/>
          </a:prstGeom>
          <a:solidFill>
            <a:srgbClr val="C084FC"/>
          </a:solidFill>
          <a:effectLst>
            <a:outerShdw blurRad="0" dist="0" dir="0" algn="ctr" rotWithShape="0">
              <a:srgbClr val="070710"/>
            </a:outerShdw>
          </a:effectLst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0A0A0F"/>
                </a:solidFill>
                <a:latin typeface="Inter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10805" y="2850803"/>
            <a:ext cx="1634430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5F5F7"/>
                </a:solidFill>
                <a:latin typeface="Inter"/>
              </a:rPr>
              <a:t>Cluster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10805" y="3107978"/>
            <a:ext cx="1634430" cy="5313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A1A1AA"/>
                </a:solidFill>
                <a:latin typeface="Inter"/>
              </a:rPr>
              <a:t>DOM elements grouped into atomic visual units by anchor + spatial overlap.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10805" y="3772644"/>
            <a:ext cx="1634430" cy="1143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52525B"/>
                </a:solidFill>
                <a:latin typeface="Inter"/>
              </a:rPr>
              <a:t>~10–50 / SLIDE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97661" y="2155478"/>
            <a:ext cx="1996529" cy="1950541"/>
          </a:xfrm>
          <a:prstGeom prst="roundRect">
            <a:avLst/>
          </a:prstGeom>
          <a:solidFill>
            <a:srgbClr val="FFFFFF">
              <a:alpha val="4000"/>
            </a:srgbClr>
          </a:solidFill>
          <a:ln w="9525">
            <a:solidFill>
              <a:srgbClr val="FFFFFF"/>
            </a:solidFill>
          </a:ln>
          <a:effectLst>
            <a:outerShdw blurRad="342900" dist="114300" dir="5400000" algn="ctr" rotWithShape="0">
              <a:srgbClr val="6366F1">
                <a:alpha val="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/>
          <p:cNvSpPr txBox="1"/>
          <p:nvPr/>
        </p:nvSpPr>
        <p:spPr>
          <a:xfrm>
            <a:off x="5278636" y="2374553"/>
            <a:ext cx="342900" cy="342900"/>
          </a:xfrm>
          <a:prstGeom prst="rect">
            <a:avLst/>
          </a:prstGeom>
          <a:solidFill>
            <a:srgbClr val="F472B6"/>
          </a:solidFill>
          <a:effectLst>
            <a:outerShdw blurRad="0" dist="0" dir="0" algn="ctr" rotWithShape="0">
              <a:srgbClr val="070710"/>
            </a:outerShdw>
          </a:effectLst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0A0A0F"/>
                </a:solidFill>
                <a:latin typeface="Inter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78636" y="2850803"/>
            <a:ext cx="1634579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5F5F7"/>
                </a:solidFill>
                <a:latin typeface="Inter"/>
              </a:rPr>
              <a:t>Classify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78636" y="3107978"/>
            <a:ext cx="1634579" cy="5313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A1A1AA"/>
                </a:solidFill>
                <a:latin typeface="Inter"/>
              </a:rPr>
              <a:t>Tier 0 patterns → Tier 1 rules → Tier 2 heuristics → Tier 3 vision LLM.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78636" y="3772644"/>
            <a:ext cx="1634579" cy="1143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52525B"/>
                </a:solidFill>
                <a:latin typeface="Inter"/>
              </a:rPr>
              <a:t>FOUR TIERS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265640" y="2155478"/>
            <a:ext cx="1996380" cy="1950541"/>
          </a:xfrm>
          <a:prstGeom prst="roundRect">
            <a:avLst/>
          </a:prstGeom>
          <a:solidFill>
            <a:srgbClr val="FFFFFF">
              <a:alpha val="4000"/>
            </a:srgbClr>
          </a:solidFill>
          <a:ln w="9525">
            <a:solidFill>
              <a:srgbClr val="FFFFFF"/>
            </a:solidFill>
          </a:ln>
          <a:effectLst>
            <a:outerShdw blurRad="342900" dist="114300" dir="5400000" algn="ctr" rotWithShape="0">
              <a:srgbClr val="6366F1">
                <a:alpha val="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/>
          <p:cNvSpPr txBox="1"/>
          <p:nvPr/>
        </p:nvSpPr>
        <p:spPr>
          <a:xfrm>
            <a:off x="7446615" y="2374553"/>
            <a:ext cx="342900" cy="342900"/>
          </a:xfrm>
          <a:prstGeom prst="rect">
            <a:avLst/>
          </a:prstGeom>
          <a:solidFill>
            <a:srgbClr val="FB923C"/>
          </a:solidFill>
          <a:effectLst>
            <a:outerShdw blurRad="0" dist="0" dir="0" algn="ctr" rotWithShape="0">
              <a:srgbClr val="070710"/>
            </a:outerShdw>
          </a:effectLst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0A0A0F"/>
                </a:solidFill>
                <a:latin typeface="Inter"/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46615" y="2850803"/>
            <a:ext cx="1634430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5F5F7"/>
                </a:solidFill>
                <a:latin typeface="Inter"/>
              </a:rPr>
              <a:t>Emit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46615" y="3107978"/>
            <a:ext cx="1634430" cy="5313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A1A1AA"/>
                </a:solidFill>
                <a:latin typeface="Inter"/>
              </a:rPr>
              <a:t>python-pptx writes native text, shapes, gradients, shadows with EMU precision.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46615" y="3772644"/>
            <a:ext cx="1634430" cy="1143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52525B"/>
                </a:solidFill>
                <a:latin typeface="Inter"/>
              </a:rPr>
              <a:t>OOXML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433471" y="2155478"/>
            <a:ext cx="1996529" cy="1950541"/>
          </a:xfrm>
          <a:prstGeom prst="roundRect">
            <a:avLst/>
          </a:prstGeom>
          <a:solidFill>
            <a:srgbClr val="FFFFFF">
              <a:alpha val="4000"/>
            </a:srgbClr>
          </a:solidFill>
          <a:ln w="9525">
            <a:solidFill>
              <a:srgbClr val="FFFFFF"/>
            </a:solidFill>
          </a:ln>
          <a:effectLst>
            <a:outerShdw blurRad="342900" dist="114300" dir="5400000" algn="ctr" rotWithShape="0">
              <a:srgbClr val="6366F1">
                <a:alpha val="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9614446" y="2374553"/>
            <a:ext cx="342900" cy="342900"/>
          </a:xfrm>
          <a:prstGeom prst="rect">
            <a:avLst/>
          </a:prstGeom>
          <a:solidFill>
            <a:srgbClr val="FACC15"/>
          </a:solidFill>
          <a:effectLst>
            <a:outerShdw blurRad="0" dist="0" dir="0" algn="ctr" rotWithShape="0">
              <a:srgbClr val="070710"/>
            </a:outerShdw>
          </a:effectLst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0A0A0F"/>
                </a:solidFill>
                <a:latin typeface="Inter"/>
              </a:rPr>
              <a:t>05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14446" y="2850803"/>
            <a:ext cx="1634579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5F5F7"/>
                </a:solidFill>
                <a:latin typeface="Inter"/>
              </a:rPr>
              <a:t>Validate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14446" y="3107978"/>
            <a:ext cx="1634579" cy="5313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A1A1AA"/>
                </a:solidFill>
                <a:latin typeface="Inter"/>
              </a:rPr>
              <a:t>LibreOffice re-renders. SSIM + OCR oracle. Auto-correct failing regions.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14446" y="3772644"/>
            <a:ext cx="1634579" cy="1143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52525B"/>
                </a:solidFill>
                <a:latin typeface="Inter"/>
              </a:rPr>
              <a:t>SSIM ≥ 0.95</a:t>
            </a:r>
          </a:p>
        </p:txBody>
      </p:sp>
      <p:sp>
        <p:nvSpPr>
          <p:cNvPr id="30" name="Rounded Rectangle 29"/>
          <p:cNvSpPr/>
          <p:nvPr/>
        </p:nvSpPr>
        <p:spPr>
          <a:gradFill flip="none" rotWithShape="1">
            <a:gsLst>
              <a:gs pos="0">
                <a:srgbClr val="6366F1">
                  <a:alpha val="14000"/>
                </a:srgbClr>
              </a:gs>
              <a:gs pos="100000">
                <a:srgbClr val="EC4899">
                  <a:alpha val="10000"/>
                </a:srgbClr>
              </a:gs>
            </a:gsLst>
            <a:lin ang="2700000" scaled="0"/>
          </a:gradFill>
          <a:xfrm>
            <a:off x="762000" y="4448919"/>
            <a:ext cx="10668000" cy="965597"/>
          </a:xfrm>
          <a:prstGeom prst="roundRect">
            <a:avLst/>
          </a:prstGeom>
          <a:ln w="9525">
            <a:solidFill>
              <a:srgbClr val="A78BFA"/>
            </a:solidFill>
          </a:ln>
          <a:effectLst>
            <a:outerShdw blurRad="571500" dist="228600" dir="5400000" algn="ctr" rotWithShape="0">
              <a:srgbClr val="8B5CF6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TextBox 30"/>
          <p:cNvSpPr txBox="1"/>
          <p:nvPr/>
        </p:nvSpPr>
        <p:spPr>
          <a:xfrm>
            <a:off x="1114425" y="4831705"/>
            <a:ext cx="3068836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5F5F7"/>
                </a:solidFill>
                <a:latin typeface="Inter"/>
              </a:rPr>
              <a:t xml:space="preserve">Total budget · </a:t>
            </a:r>
            <a:r>
              <a:rPr sz="1350" b="1" i="0" u="none">
                <a:solidFill>
                  <a:srgbClr val="A78BFA"/>
                </a:solidFill>
                <a:latin typeface="Inter"/>
              </a:rPr>
              <a:t>23 s</a:t>
            </a:r>
            <a:r>
              <a:rPr sz="1350" b="1" i="0" u="none">
                <a:solidFill>
                  <a:srgbClr val="F5F5F7"/>
                </a:solidFill>
                <a:latin typeface="Inter"/>
              </a:rPr>
              <a:t xml:space="preserve"> for a 10-slide deck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62575" y="4725144"/>
            <a:ext cx="5715000" cy="41314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A1A1AA"/>
                </a:solidFill>
                <a:latin typeface="Inter"/>
              </a:rPr>
              <a:t>Bottleneck is render parallelism (Chart.js init). Tier-3 LLM is batched once per slide; cost ≤ $0.10 / deck on default settings.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62000" y="6477000"/>
            <a:ext cx="1411635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52525B"/>
                </a:solidFill>
                <a:latin typeface="Inter"/>
              </a:rPr>
              <a:t>PIXELPITCH LABS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884545" y="6477000"/>
            <a:ext cx="545455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52525B"/>
                </a:solidFill>
                <a:latin typeface="Inter"/>
              </a:rPr>
              <a:t>07 / 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gradFill flip="none" rotWithShape="1">
            <a:gsLst>
              <a:gs pos="0">
                <a:srgbClr val="4338CA"/>
              </a:gs>
              <a:gs pos="35000">
                <a:srgbClr val="7C3AED"/>
              </a:gs>
              <a:gs pos="80000">
                <a:srgbClr val="DB2777"/>
              </a:gs>
              <a:gs pos="100000">
                <a:srgbClr val="DB2777"/>
              </a:gs>
            </a:gsLst>
            <a:lin ang="2700000" scaled="0"/>
          </a:gradFill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/>
          <p:cNvSpPr/>
          <p:nvPr/>
        </p:nvSpPr>
        <p:spPr>
          <a:gradFill flip="none" rotWithShape="1">
            <a:gsLst>
              <a:gs pos="0">
                <a:srgbClr val="FFFFFF">
                  <a:alpha val="10000"/>
                </a:srgbClr>
              </a:gs>
              <a:gs pos="100000">
                <a:srgbClr val="FFFFFF">
                  <a:alpha val="10000"/>
                </a:srgbClr>
              </a:gs>
            </a:gsLst>
            <a:path path="circle">
              <a:fillToRect l="25000" t="25000" r="75000" b="75000"/>
            </a:path>
          </a:gradFill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1047750" y="1318617"/>
            <a:ext cx="8191500" cy="7620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2000" b="1" i="0" u="none">
                <a:solidFill>
                  <a:srgbClr val="FFFFFF"/>
                </a:solidFill>
                <a:latin typeface="Inter"/>
              </a:rPr>
              <a:t>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7750" y="1813917"/>
            <a:ext cx="8191500" cy="2696766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3600" b="1" i="0" u="none">
                <a:solidFill>
                  <a:srgbClr val="FFFFFF"/>
                </a:solidFill>
                <a:latin typeface="Inter"/>
              </a:rPr>
              <a:t xml:space="preserve">Rasterization is the failure mode, </a:t>
            </a:r>
            <a:r>
              <a:rPr sz="3600" b="1" i="0" u="none">
                <a:gradFill rotWithShape="1">
                  <a:gsLst>
                    <a:gs pos="0">
                      <a:srgbClr val="FDE68A"/>
                    </a:gs>
                    <a:gs pos="100000">
                      <a:srgbClr val="F0ABFC"/>
                    </a:gs>
                  </a:gsLst>
                  <a:lin ang="2700000" scaled="0"/>
                </a:gradFill>
                <a:latin typeface="Inter"/>
              </a:rPr>
              <a:t>not the goal</a:t>
            </a:r>
            <a:r>
              <a:rPr sz="3600" b="1" i="0" u="none">
                <a:solidFill>
                  <a:srgbClr val="FFFFFF"/>
                </a:solidFill>
                <a:latin typeface="Inter"/>
              </a:rPr>
              <a:t>. Every pixel that stays editable compounds across every translation, every theme swap, every revision.</a:t>
            </a:r>
          </a:p>
        </p:txBody>
      </p:sp>
      <p:sp>
        <p:nvSpPr>
          <p:cNvPr id="6" name="TextBox 5"/>
          <p:cNvSpPr txBox="1"/>
          <p:nvPr/>
        </p:nvSpPr>
        <p:spPr>
          <a:gradFill flip="none" rotWithShape="1">
            <a:gsLst>
              <a:gs pos="0">
                <a:srgbClr val="FDE68A"/>
              </a:gs>
              <a:gs pos="70000">
                <a:srgbClr val="F472B6"/>
              </a:gs>
              <a:gs pos="100000">
                <a:srgbClr val="F472B6"/>
              </a:gs>
            </a:gsLst>
            <a:lin ang="2700000" scaled="0"/>
          </a:gradFill>
          <a:xfrm>
            <a:off x="1047750" y="4967883"/>
            <a:ext cx="571500" cy="571500"/>
          </a:xfrm>
          <a:prstGeom prst="rect">
            <a:avLst/>
          </a:prstGeom>
        </p:spPr>
        <p:txBody>
          <a:bodyPr wrap="square" lIns="0" rIns="0" tIns="0" bIns="0">
            <a:normAutofit/>
          </a:bodyPr>
          <a:lstStyle/>
          <a:p>
            <a:pPr algn="l"/>
            <a:r>
              <a:rPr sz="1650" b="1" i="0" u="none">
                <a:solidFill>
                  <a:srgbClr val="831843"/>
                </a:solidFill>
                <a:latin typeface="Inter"/>
              </a:rPr>
              <a:t>VR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90700" y="5063133"/>
            <a:ext cx="1732062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FFFFF"/>
                </a:solidFill>
                <a:latin typeface="Inter"/>
              </a:rPr>
              <a:t>Vamsi Ramakrishnan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90700" y="5282208"/>
            <a:ext cx="1732062" cy="1619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FFFFFF"/>
                </a:solidFill>
                <a:latin typeface="Inter"/>
              </a:rPr>
              <a:t>Founder · Pixelpitch Labs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7750" y="6400800"/>
            <a:ext cx="1411635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FFFFF"/>
                </a:solidFill>
                <a:latin typeface="Inter"/>
              </a:rPr>
              <a:t>PIXELPITCH LABS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88377" y="6400800"/>
            <a:ext cx="555873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FFFFF"/>
                </a:solidFill>
                <a:latin typeface="Inter"/>
              </a:rPr>
              <a:t>08 / 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07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762000" y="609600"/>
            <a:ext cx="10668000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78BFA"/>
                </a:solidFill>
                <a:latin typeface="Inter"/>
              </a:rPr>
              <a:t>Pricing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895350"/>
            <a:ext cx="8382000" cy="759916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2850" b="1" i="0" u="none">
                <a:solidFill>
                  <a:srgbClr val="F5F5F7"/>
                </a:solidFill>
                <a:latin typeface="Inter"/>
              </a:rPr>
              <a:t>Pay for the slides you ship, not the seats you don't fill.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62000" y="1960066"/>
            <a:ext cx="3441650" cy="4336554"/>
          </a:xfrm>
          <a:prstGeom prst="roundRect">
            <a:avLst/>
          </a:prstGeom>
          <a:solidFill>
            <a:srgbClr val="FFFFFF">
              <a:alpha val="4000"/>
            </a:srgbClr>
          </a:solidFill>
          <a:ln w="9525">
            <a:solidFill>
              <a:srgbClr val="FFFFFF"/>
            </a:solidFill>
          </a:ln>
          <a:effectLst>
            <a:outerShdw blurRad="457200" dist="152400" dir="5400000" algn="ctr" rotWithShape="0">
              <a:srgbClr val="6366F1">
                <a:alpha val="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1038225" y="2274391"/>
            <a:ext cx="2889200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78BFA"/>
                </a:solidFill>
                <a:latin typeface="Inter"/>
              </a:rPr>
              <a:t>Starter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8225" y="2522041"/>
            <a:ext cx="3755961" cy="4572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3600" b="1" i="0" u="none">
                <a:solidFill>
                  <a:srgbClr val="F5F5F7"/>
                </a:solidFill>
                <a:latin typeface="Inter"/>
              </a:rPr>
              <a:t>$0</a:t>
            </a:r>
            <a:r>
              <a:rPr sz="1050" b="0" i="0" u="none">
                <a:solidFill>
                  <a:srgbClr val="A1A1AA"/>
                </a:solidFill>
                <a:latin typeface="Inter"/>
              </a:rPr>
              <a:t>/mo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8225" y="3093541"/>
            <a:ext cx="2889200" cy="38367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A1A1AA"/>
                </a:solidFill>
                <a:latin typeface="Inter"/>
              </a:rPr>
              <a:t>For solo founders shipping their first deck. No credit card.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8225" y="3686770"/>
            <a:ext cx="117723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86EFAC"/>
                </a:solidFill>
                <a:latin typeface="Inter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51198" y="3686770"/>
            <a:ext cx="1010841" cy="18573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F5F5F7"/>
                </a:solidFill>
                <a:latin typeface="Inter"/>
              </a:rPr>
              <a:t>50 slides / month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8225" y="4048720"/>
            <a:ext cx="117723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86EFAC"/>
                </a:solidFill>
                <a:latin typeface="Inter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51198" y="4048720"/>
            <a:ext cx="1039564" cy="18573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F5F5F7"/>
                </a:solidFill>
                <a:latin typeface="Inter"/>
              </a:rPr>
              <a:t>Tier 0–2 classifier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8225" y="4410670"/>
            <a:ext cx="117723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86EFAC"/>
                </a:solidFill>
                <a:latin typeface="Inter"/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51198" y="4410670"/>
            <a:ext cx="1237952" cy="18573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F5F5F7"/>
                </a:solidFill>
                <a:latin typeface="Inter"/>
              </a:rPr>
              <a:t>SSIM oracle included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8225" y="4772620"/>
            <a:ext cx="117723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86EFAC"/>
                </a:solidFill>
                <a:latin typeface="Inter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51198" y="4772620"/>
            <a:ext cx="1158925" cy="18573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F5F5F7"/>
                </a:solidFill>
                <a:latin typeface="Inter"/>
              </a:rPr>
              <a:t>Community support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8225" y="5601295"/>
            <a:ext cx="2889200" cy="419100"/>
          </a:xfrm>
          <a:prstGeom prst="rect">
            <a:avLst/>
          </a:prstGeom>
          <a:solidFill>
            <a:srgbClr val="FFFFFF">
              <a:alpha val="6000"/>
            </a:srgbClr>
          </a:solidFill>
        </p:spPr>
        <p:txBody>
          <a:bodyPr wrap="square" lIns="0" rIns="0" tIns="0" bIns="0">
            <a:spAutoFit/>
          </a:bodyPr>
          <a:lstStyle/>
          <a:p>
            <a:pPr algn="ctr"/>
            <a:r>
              <a:rPr sz="975" b="1" i="0" u="none">
                <a:solidFill>
                  <a:srgbClr val="F5F5F7"/>
                </a:solidFill>
                <a:latin typeface="Inter"/>
              </a:rPr>
              <a:t>Start free</a:t>
            </a:r>
          </a:p>
        </p:txBody>
      </p:sp>
      <p:sp>
        <p:nvSpPr>
          <p:cNvPr id="18" name="Rounded Rectangle 17"/>
          <p:cNvSpPr/>
          <p:nvPr/>
        </p:nvSpPr>
        <p:spPr>
          <a:gradFill flip="none" rotWithShape="1">
            <a:gsLst>
              <a:gs pos="0">
                <a:srgbClr val="6366F1">
                  <a:alpha val="20000"/>
                </a:srgbClr>
              </a:gs>
              <a:gs pos="100000">
                <a:srgbClr val="EC4899">
                  <a:alpha val="10000"/>
                </a:srgbClr>
              </a:gs>
            </a:gsLst>
            <a:lin ang="4200000" scaled="0"/>
          </a:gradFill>
          <a:xfrm>
            <a:off x="4375100" y="1960066"/>
            <a:ext cx="3441650" cy="4336554"/>
          </a:xfrm>
          <a:prstGeom prst="roundRect">
            <a:avLst/>
          </a:prstGeom>
          <a:ln w="9525">
            <a:solidFill>
              <a:srgbClr val="A78BFA"/>
            </a:solidFill>
          </a:ln>
          <a:effectLst>
            <a:outerShdw blurRad="762000" dist="0" dir="0" algn="ctr" rotWithShape="0">
              <a:srgbClr val="8B5CF6">
                <a:alpha val="2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/>
          <p:cNvSpPr txBox="1"/>
          <p:nvPr/>
        </p:nvSpPr>
        <p:spPr>
          <a:gradFill flip="none" rotWithShape="1">
            <a:gsLst>
              <a:gs pos="0">
                <a:srgbClr val="A78BFA"/>
              </a:gs>
              <a:gs pos="100000">
                <a:srgbClr val="EC4899"/>
              </a:gs>
            </a:gsLst>
            <a:lin ang="2700000" scaled="0"/>
          </a:gradFill>
          <a:xfrm>
            <a:off x="5432524" y="1855291"/>
            <a:ext cx="1326654" cy="247650"/>
          </a:xfrm>
          <a:prstGeom prst="rect">
            <a:avLst/>
          </a:prstGeom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A0A0F"/>
                </a:solidFill>
                <a:latin typeface="Inter"/>
              </a:rPr>
              <a:t>MOST POPULAR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51325" y="2274391"/>
            <a:ext cx="2889200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78BFA"/>
                </a:solidFill>
                <a:latin typeface="Inter"/>
              </a:rPr>
              <a:t>Studio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51325" y="2522041"/>
            <a:ext cx="3755961" cy="4572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3600" b="1" i="0" u="none">
                <a:solidFill>
                  <a:srgbClr val="F5F5F7"/>
                </a:solidFill>
                <a:latin typeface="Inter"/>
              </a:rPr>
              <a:t>$29</a:t>
            </a:r>
            <a:r>
              <a:rPr sz="1050" b="0" i="0" u="none">
                <a:solidFill>
                  <a:srgbClr val="A1A1AA"/>
                </a:solidFill>
                <a:latin typeface="Inter"/>
              </a:rPr>
              <a:t>/mo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51325" y="3093541"/>
            <a:ext cx="2889200" cy="38367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A1A1AA"/>
                </a:solidFill>
                <a:latin typeface="Inter"/>
              </a:rPr>
              <a:t>For design teams converting decks every day. LLM credits included.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51325" y="3686770"/>
            <a:ext cx="117723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86EFAC"/>
                </a:solidFill>
                <a:latin typeface="Inter"/>
              </a:rPr>
              <a:t>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64298" y="3686770"/>
            <a:ext cx="1174700" cy="18573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F5F5F7"/>
                </a:solidFill>
                <a:latin typeface="Inter"/>
              </a:rPr>
              <a:t>1,000 slides / month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51325" y="4048720"/>
            <a:ext cx="117723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86EFAC"/>
                </a:solidFill>
                <a:latin typeface="Inter"/>
              </a:rPr>
              <a:t>✓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64298" y="4048720"/>
            <a:ext cx="1275011" cy="18573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F5F5F7"/>
                </a:solidFill>
                <a:latin typeface="Inter"/>
              </a:rPr>
              <a:t>Full four-tier classifier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51325" y="4410670"/>
            <a:ext cx="117723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86EFAC"/>
                </a:solidFill>
                <a:latin typeface="Inter"/>
              </a:rPr>
              <a:t>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864298" y="4410670"/>
            <a:ext cx="2286446" cy="18573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F5F5F7"/>
                </a:solidFill>
                <a:latin typeface="Inter"/>
              </a:rPr>
              <a:t>Gemini Flash + Claude Haiku backends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51325" y="4772620"/>
            <a:ext cx="117723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86EFAC"/>
                </a:solidFill>
                <a:latin typeface="Inter"/>
              </a:rPr>
              <a:t>✓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64298" y="4772620"/>
            <a:ext cx="1931640" cy="18573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F5F5F7"/>
                </a:solidFill>
                <a:latin typeface="Inter"/>
              </a:rPr>
              <a:t>Diskcache + warm pattern cache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51325" y="5134570"/>
            <a:ext cx="117723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86EFAC"/>
                </a:solidFill>
                <a:latin typeface="Inter"/>
              </a:rPr>
              <a:t>✓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864298" y="5134570"/>
            <a:ext cx="1256407" cy="18573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F5F5F7"/>
                </a:solidFill>
                <a:latin typeface="Inter"/>
              </a:rPr>
              <a:t>Priority email support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51325" y="5620345"/>
            <a:ext cx="2889200" cy="400050"/>
          </a:xfrm>
          <a:prstGeom prst="rect">
            <a:avLst/>
          </a:prstGeom>
          <a:solidFill>
            <a:srgbClr val="FFFFFF"/>
          </a:solidFill>
        </p:spPr>
        <p:txBody>
          <a:bodyPr wrap="square" lIns="0" rIns="0" tIns="0" bIns="0">
            <a:spAutoFit/>
          </a:bodyPr>
          <a:lstStyle/>
          <a:p>
            <a:pPr algn="ctr"/>
            <a:r>
              <a:rPr sz="975" b="1" i="0" u="none">
                <a:solidFill>
                  <a:srgbClr val="0A0A0F"/>
                </a:solidFill>
                <a:latin typeface="Inter"/>
              </a:rPr>
              <a:t>Try Studio →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988201" y="1960066"/>
            <a:ext cx="3441799" cy="4336554"/>
          </a:xfrm>
          <a:prstGeom prst="roundRect">
            <a:avLst/>
          </a:prstGeom>
          <a:solidFill>
            <a:srgbClr val="FFFFFF">
              <a:alpha val="4000"/>
            </a:srgbClr>
          </a:solidFill>
          <a:ln w="9525">
            <a:solidFill>
              <a:srgbClr val="FFFFFF"/>
            </a:solidFill>
          </a:ln>
          <a:effectLst>
            <a:outerShdw blurRad="457200" dist="152400" dir="5400000" algn="ctr" rotWithShape="0">
              <a:srgbClr val="6366F1">
                <a:alpha val="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TextBox 34"/>
          <p:cNvSpPr txBox="1"/>
          <p:nvPr/>
        </p:nvSpPr>
        <p:spPr>
          <a:xfrm>
            <a:off x="8264426" y="2274391"/>
            <a:ext cx="2889349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78BFA"/>
                </a:solidFill>
                <a:latin typeface="Inter"/>
              </a:rPr>
              <a:t>Enterprise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64426" y="2522041"/>
            <a:ext cx="2889349" cy="4572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3600" b="1" i="0" u="none">
                <a:solidFill>
                  <a:srgbClr val="F5F5F7"/>
                </a:solidFill>
                <a:latin typeface="Inter"/>
              </a:rPr>
              <a:t>Custom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64426" y="3093541"/>
            <a:ext cx="2889349" cy="38367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A1A1AA"/>
                </a:solidFill>
                <a:latin typeface="Inter"/>
              </a:rPr>
              <a:t>Self-hosted, custom backends, SOC 2, dedicated success engineer.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64426" y="3686770"/>
            <a:ext cx="117723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86EFAC"/>
                </a:solidFill>
                <a:latin typeface="Inter"/>
              </a:rPr>
              <a:t>✓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477399" y="3686770"/>
            <a:ext cx="924669" cy="18573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F5F5F7"/>
                </a:solidFill>
                <a:latin typeface="Inter"/>
              </a:rPr>
              <a:t>Unlimited slides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64426" y="4048720"/>
            <a:ext cx="117723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86EFAC"/>
                </a:solidFill>
                <a:latin typeface="Inter"/>
              </a:rPr>
              <a:t>✓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477399" y="4048720"/>
            <a:ext cx="1100882" cy="18573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F5F5F7"/>
                </a:solidFill>
                <a:latin typeface="Inter"/>
              </a:rPr>
              <a:t>Self-hosted runner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264426" y="4410670"/>
            <a:ext cx="117723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86EFAC"/>
                </a:solidFill>
                <a:latin typeface="Inter"/>
              </a:rPr>
              <a:t>✓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77399" y="4410670"/>
            <a:ext cx="1063526" cy="18573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F5F5F7"/>
                </a:solidFill>
                <a:latin typeface="Inter"/>
              </a:rPr>
              <a:t>BYO LLM provider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264426" y="4772620"/>
            <a:ext cx="117723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86EFAC"/>
                </a:solidFill>
                <a:latin typeface="Inter"/>
              </a:rPr>
              <a:t>✓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477399" y="4772620"/>
            <a:ext cx="1457474" cy="18573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F5F5F7"/>
                </a:solidFill>
                <a:latin typeface="Inter"/>
              </a:rPr>
              <a:t>SLA + dedicated support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264426" y="5601295"/>
            <a:ext cx="2889349" cy="419100"/>
          </a:xfrm>
          <a:prstGeom prst="rect">
            <a:avLst/>
          </a:prstGeom>
          <a:solidFill>
            <a:srgbClr val="FFFFFF">
              <a:alpha val="6000"/>
            </a:srgbClr>
          </a:solidFill>
        </p:spPr>
        <p:txBody>
          <a:bodyPr wrap="square" lIns="0" rIns="0" tIns="0" bIns="0">
            <a:spAutoFit/>
          </a:bodyPr>
          <a:lstStyle/>
          <a:p>
            <a:pPr algn="ctr"/>
            <a:r>
              <a:rPr sz="975" b="1" i="0" u="none">
                <a:solidFill>
                  <a:srgbClr val="F5F5F7"/>
                </a:solidFill>
                <a:latin typeface="Inter"/>
              </a:rPr>
              <a:t>Talk to sales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62000" y="6477000"/>
            <a:ext cx="1411635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52525B"/>
                </a:solidFill>
                <a:latin typeface="Inter"/>
              </a:rPr>
              <a:t>PIXELPITCH LABS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874127" y="6477000"/>
            <a:ext cx="555873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52525B"/>
                </a:solidFill>
                <a:latin typeface="Inter"/>
              </a:rPr>
              <a:t>09 / 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07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762000" y="762000"/>
            <a:ext cx="10668000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78BFA"/>
                </a:solidFill>
                <a:latin typeface="Inter"/>
              </a:rPr>
              <a:t>Developer experience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1085850"/>
            <a:ext cx="8382000" cy="920055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3450" b="1" i="0" u="none">
                <a:solidFill>
                  <a:srgbClr val="F5F5F7"/>
                </a:solidFill>
                <a:latin typeface="Inter"/>
              </a:rPr>
              <a:t>Convert in one command. Edit in PowerPoint forever.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2310705"/>
            <a:ext cx="7429500" cy="5018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75" b="0" i="0" u="none">
                <a:solidFill>
                  <a:srgbClr val="A1A1AA"/>
                </a:solidFill>
                <a:latin typeface="Inter"/>
              </a:rPr>
              <a:t>Slidify is a pip-installable CLI and Python library. Pattern recognition is data; provider fallback is automatic.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62000" y="3079254"/>
            <a:ext cx="6089600" cy="3699718"/>
          </a:xfrm>
          <a:prstGeom prst="roundRect">
            <a:avLst/>
          </a:prstGeom>
          <a:solidFill>
            <a:srgbClr val="09090B"/>
          </a:solidFill>
          <a:ln w="9525">
            <a:solidFill>
              <a:srgbClr val="FFFFFF"/>
            </a:solidFill>
          </a:ln>
          <a:effectLst>
            <a:outerShdw blurRad="762000" dist="2667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771525" y="3088779"/>
            <a:ext cx="6070550" cy="381000"/>
          </a:xfrm>
          <a:prstGeom prst="rect">
            <a:avLst/>
          </a:prstGeom>
          <a:solidFill>
            <a:srgbClr val="0F0F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/>
          <p:cNvSpPr/>
          <p:nvPr/>
        </p:nvSpPr>
        <p:spPr>
          <a:xfrm>
            <a:off x="923925" y="3226891"/>
            <a:ext cx="95250" cy="95250"/>
          </a:xfrm>
          <a:prstGeom prst="ellipse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1095375" y="3226891"/>
            <a:ext cx="95250" cy="95250"/>
          </a:xfrm>
          <a:prstGeom prst="ellipse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/>
          <p:cNvSpPr/>
          <p:nvPr/>
        </p:nvSpPr>
        <p:spPr>
          <a:xfrm>
            <a:off x="1266825" y="3226891"/>
            <a:ext cx="95250" cy="95250"/>
          </a:xfrm>
          <a:prstGeom prst="ellipse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1514475" y="3203079"/>
            <a:ext cx="789533" cy="1428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71717A"/>
                </a:solidFill>
                <a:latin typeface="Inter"/>
              </a:rPr>
              <a:t>~/decks · zsh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98959" y="3726954"/>
            <a:ext cx="4014192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F5F5F7"/>
                </a:solidFill>
                <a:latin typeface="Jetbrains Mono"/>
              </a:rPr>
              <a:t>pip install slidify &amp;&amp; playwright install chromium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8225" y="3925044"/>
            <a:ext cx="5537150" cy="22666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A1A1AA"/>
                </a:solidFill>
                <a:latin typeface="Jetbrains Mono"/>
              </a:rPr>
              <a:t>Installed slidify 1.0.0 in 1.7s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98959" y="4406950"/>
            <a:ext cx="2167682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F5F5F7"/>
                </a:solidFill>
                <a:latin typeface="Jetbrains Mono"/>
              </a:rPr>
              <a:t>slidify deck.html deck.pptx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8225" y="4605040"/>
            <a:ext cx="5537150" cy="22666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A1A1AA"/>
                </a:solidFill>
                <a:latin typeface="Jetbrains Mono"/>
              </a:rPr>
              <a:t xml:space="preserve">  ✓ Splitting     ▏ </a:t>
            </a:r>
            <a:r>
              <a:rPr sz="1050" b="1" i="0" u="none">
                <a:solidFill>
                  <a:srgbClr val="FBBF24"/>
                </a:solidFill>
                <a:latin typeface="Jetbrains Mono"/>
              </a:rPr>
              <a:t>12</a:t>
            </a:r>
            <a:r>
              <a:rPr sz="1050" b="0" i="0" u="none">
                <a:solidFill>
                  <a:srgbClr val="A1A1AA"/>
                </a:solidFill>
                <a:latin typeface="Jetbrains Mono"/>
              </a:rPr>
              <a:t xml:space="preserve"> slides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8225" y="4831705"/>
            <a:ext cx="5537150" cy="22666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A1A1AA"/>
                </a:solidFill>
                <a:latin typeface="Jetbrains Mono"/>
              </a:rPr>
              <a:t xml:space="preserve">  ✓ Rendering     ▏ </a:t>
            </a:r>
            <a:r>
              <a:rPr sz="1050" b="1" i="0" u="none">
                <a:solidFill>
                  <a:srgbClr val="FBBF24"/>
                </a:solidFill>
                <a:latin typeface="Jetbrains Mono"/>
              </a:rPr>
              <a:t>2.4s</a:t>
            </a:r>
            <a:r>
              <a:rPr sz="1050" b="0" i="0" u="none">
                <a:solidFill>
                  <a:srgbClr val="A1A1AA"/>
                </a:solidFill>
                <a:latin typeface="Jetbrains Mono"/>
              </a:rPr>
              <a:t xml:space="preserve"> · 4 parallel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8225" y="5058370"/>
            <a:ext cx="5537150" cy="22666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A1A1AA"/>
                </a:solidFill>
                <a:latin typeface="Jetbrains Mono"/>
              </a:rPr>
              <a:t xml:space="preserve">  ✓ Classifying   ▏ tier0=</a:t>
            </a:r>
            <a:r>
              <a:rPr sz="1050" b="1" i="0" u="none">
                <a:solidFill>
                  <a:srgbClr val="FBBF24"/>
                </a:solidFill>
                <a:latin typeface="Jetbrains Mono"/>
              </a:rPr>
              <a:t>65</a:t>
            </a:r>
            <a:r>
              <a:rPr sz="1050" b="0" i="0" u="none">
                <a:solidFill>
                  <a:srgbClr val="A1A1AA"/>
                </a:solidFill>
                <a:latin typeface="Jetbrains Mono"/>
              </a:rPr>
              <a:t xml:space="preserve"> tier1=</a:t>
            </a:r>
            <a:r>
              <a:rPr sz="1050" b="1" i="0" u="none">
                <a:solidFill>
                  <a:srgbClr val="FBBF24"/>
                </a:solidFill>
                <a:latin typeface="Jetbrains Mono"/>
              </a:rPr>
              <a:t>4</a:t>
            </a:r>
            <a:r>
              <a:rPr sz="1050" b="0" i="0" u="none">
                <a:solidFill>
                  <a:srgbClr val="A1A1AA"/>
                </a:solidFill>
                <a:latin typeface="Jetbrains Mono"/>
              </a:rPr>
              <a:t xml:space="preserve"> tier2=</a:t>
            </a:r>
            <a:r>
              <a:rPr sz="1050" b="1" i="0" u="none">
                <a:solidFill>
                  <a:srgbClr val="FBBF24"/>
                </a:solidFill>
                <a:latin typeface="Jetbrains Mono"/>
              </a:rP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8225" y="5285036"/>
            <a:ext cx="5537150" cy="22666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A1A1AA"/>
                </a:solidFill>
                <a:latin typeface="Jetbrains Mono"/>
              </a:rPr>
              <a:t xml:space="preserve">  ✓ Emitting      ▏ </a:t>
            </a:r>
            <a:r>
              <a:rPr sz="1050" b="1" i="0" u="none">
                <a:solidFill>
                  <a:srgbClr val="FBBF24"/>
                </a:solidFill>
                <a:latin typeface="Jetbrains Mono"/>
              </a:rPr>
              <a:t>3.7 MB</a:t>
            </a:r>
            <a:r>
              <a:rPr sz="1050" b="0" i="0" u="none">
                <a:solidFill>
                  <a:srgbClr val="A1A1AA"/>
                </a:solidFill>
                <a:latin typeface="Jetbrains Mono"/>
              </a:rPr>
              <a:t xml:space="preserve"> output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8225" y="5511701"/>
            <a:ext cx="5537150" cy="22666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A1A1AA"/>
                </a:solidFill>
                <a:latin typeface="Jetbrains Mono"/>
              </a:rPr>
              <a:t xml:space="preserve">  ✓ Validating    ▏ </a:t>
            </a:r>
            <a:r>
              <a:rPr sz="1050" b="1" i="0" u="none">
                <a:solidFill>
                  <a:srgbClr val="FBBF24"/>
                </a:solidFill>
                <a:latin typeface="Jetbrains Mono"/>
              </a:rPr>
              <a:t>12/12</a:t>
            </a:r>
            <a:r>
              <a:rPr sz="1050" b="0" i="0" u="none">
                <a:solidFill>
                  <a:srgbClr val="A1A1AA"/>
                </a:solidFill>
                <a:latin typeface="Jetbrains Mono"/>
              </a:rPr>
              <a:t xml:space="preserve"> passed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8225" y="5965031"/>
            <a:ext cx="5537150" cy="22666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86EFAC"/>
                </a:solidFill>
                <a:latin typeface="Jetbrains Mono"/>
              </a:rPr>
              <a:t xml:space="preserve">native_area_ratio: </a:t>
            </a:r>
            <a:r>
              <a:rPr sz="1050" b="1" i="0" u="none">
                <a:solidFill>
                  <a:srgbClr val="F472B6"/>
                </a:solidFill>
                <a:latin typeface="Jetbrains Mono"/>
              </a:rPr>
              <a:t>0.886</a:t>
            </a:r>
            <a:r>
              <a:rPr sz="1050" b="1" i="0" u="none">
                <a:solidFill>
                  <a:srgbClr val="86EFAC"/>
                </a:solidFill>
                <a:latin typeface="Jetbrains Mono"/>
              </a:rPr>
              <a:t xml:space="preserve"> · cost: </a:t>
            </a:r>
            <a:r>
              <a:rPr sz="1050" b="1" i="0" u="none">
                <a:solidFill>
                  <a:srgbClr val="F472B6"/>
                </a:solidFill>
                <a:latin typeface="Jetbrains Mono"/>
              </a:rPr>
              <a:t>$0.04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080200" y="3079254"/>
            <a:ext cx="2108150" cy="895350"/>
          </a:xfrm>
          <a:prstGeom prst="roundRect">
            <a:avLst/>
          </a:prstGeom>
          <a:solidFill>
            <a:srgbClr val="FFFFFF">
              <a:alpha val="4000"/>
            </a:srgbClr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/>
          <p:cNvSpPr txBox="1"/>
          <p:nvPr/>
        </p:nvSpPr>
        <p:spPr>
          <a:xfrm>
            <a:off x="7280225" y="3260229"/>
            <a:ext cx="1708100" cy="133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A1A1AA"/>
                </a:solidFill>
                <a:latin typeface="Inter"/>
              </a:rPr>
              <a:t>Time-to-first-deck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80225" y="3450729"/>
            <a:ext cx="2220531" cy="3429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2250" b="1" i="0" u="none">
                <a:solidFill>
                  <a:srgbClr val="F5F5F7"/>
                </a:solidFill>
                <a:latin typeface="Inter"/>
              </a:rPr>
              <a:t>38</a:t>
            </a:r>
            <a:r>
              <a:rPr sz="1050" b="1" i="0" u="none">
                <a:solidFill>
                  <a:srgbClr val="A78BFA"/>
                </a:solidFill>
                <a:latin typeface="Inter"/>
              </a:rPr>
              <a:t>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321701" y="3079254"/>
            <a:ext cx="2108150" cy="895350"/>
          </a:xfrm>
          <a:prstGeom prst="roundRect">
            <a:avLst/>
          </a:prstGeom>
          <a:solidFill>
            <a:srgbClr val="FFFFFF">
              <a:alpha val="4000"/>
            </a:srgbClr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/>
          <p:cNvSpPr txBox="1"/>
          <p:nvPr/>
        </p:nvSpPr>
        <p:spPr>
          <a:xfrm>
            <a:off x="9521726" y="3260229"/>
            <a:ext cx="1708100" cy="133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A1A1AA"/>
                </a:solidFill>
                <a:latin typeface="Inter"/>
              </a:rPr>
              <a:t>Lines of code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521726" y="3450729"/>
            <a:ext cx="1708100" cy="3429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2250" b="1" i="0" u="none">
                <a:solidFill>
                  <a:srgbClr val="F5F5F7"/>
                </a:solidFill>
                <a:latin typeface="Inter"/>
              </a:rPr>
              <a:t>3</a:t>
            </a:r>
          </a:p>
        </p:txBody>
      </p:sp>
      <p:sp>
        <p:nvSpPr>
          <p:cNvPr id="27" name="Rounded Rectangle 26"/>
          <p:cNvSpPr/>
          <p:nvPr/>
        </p:nvSpPr>
        <p:spPr>
          <a:gradFill flip="none" rotWithShape="1">
            <a:gsLst>
              <a:gs pos="0">
                <a:srgbClr val="6366F1">
                  <a:alpha val="16000"/>
                </a:srgbClr>
              </a:gs>
              <a:gs pos="100000">
                <a:srgbClr val="EC4899">
                  <a:alpha val="10000"/>
                </a:srgbClr>
              </a:gs>
            </a:gsLst>
            <a:lin ang="2700000" scaled="0"/>
          </a:gradFill>
          <a:xfrm>
            <a:off x="7080200" y="4146054"/>
            <a:ext cx="4349651" cy="1185118"/>
          </a:xfrm>
          <a:prstGeom prst="roundRect">
            <a:avLst/>
          </a:prstGeom>
          <a:ln w="9525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Box 27"/>
          <p:cNvSpPr txBox="1"/>
          <p:nvPr/>
        </p:nvSpPr>
        <p:spPr>
          <a:xfrm>
            <a:off x="7299275" y="4346079"/>
            <a:ext cx="3911501" cy="133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C084FC"/>
                </a:solidFill>
                <a:latin typeface="Inter"/>
              </a:rPr>
              <a:t>No API key? No problem.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99275" y="4555629"/>
            <a:ext cx="3911501" cy="57551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E4E4E7"/>
                </a:solidFill>
                <a:latin typeface="Inter"/>
              </a:rPr>
              <a:t>Tier-3 LLM is opt-in. Without credentials slidify falls back to safe Raster decisions for the ambiguous tail and ships a fully-correct PPTX.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080200" y="5502622"/>
            <a:ext cx="4349651" cy="1276350"/>
          </a:xfrm>
          <a:prstGeom prst="roundRect">
            <a:avLst/>
          </a:prstGeom>
          <a:solidFill>
            <a:srgbClr val="FFFFFF">
              <a:alpha val="4000"/>
            </a:srgbClr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TextBox 30"/>
          <p:cNvSpPr txBox="1"/>
          <p:nvPr/>
        </p:nvSpPr>
        <p:spPr>
          <a:xfrm>
            <a:off x="7280225" y="5683597"/>
            <a:ext cx="3949601" cy="133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A1A1AA"/>
                </a:solidFill>
                <a:latin typeface="Inter"/>
              </a:rPr>
              <a:t>Backends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280225" y="5874097"/>
            <a:ext cx="3949601" cy="3429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2250" b="1" i="0" u="none">
                <a:solidFill>
                  <a:srgbClr val="F5F5F7"/>
                </a:solidFill>
                <a:latin typeface="Inter"/>
              </a:rP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80225" y="6293197"/>
            <a:ext cx="3949601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A1A1AA"/>
                </a:solidFill>
                <a:latin typeface="Inter"/>
              </a:rPr>
              <a:t>Gemini AI Studio, Gemini Vertex, Anthropic, Claude Vertex. Auto-detected.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62000" y="6477000"/>
            <a:ext cx="1411635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52525B"/>
                </a:solidFill>
                <a:latin typeface="Inter"/>
              </a:rPr>
              <a:t>PIXELPITCH LABS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901065" y="6477000"/>
            <a:ext cx="528935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52525B"/>
                </a:solidFill>
                <a:latin typeface="Inter"/>
              </a:rPr>
              <a:t>10 / 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07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762000" y="762000"/>
            <a:ext cx="10668000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78BFA"/>
                </a:solidFill>
                <a:latin typeface="Inter"/>
              </a:rPr>
              <a:t>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1085850"/>
            <a:ext cx="8382000" cy="460028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3450" b="1" i="0" u="none">
                <a:solidFill>
                  <a:srgbClr val="F5F5F7"/>
                </a:solidFill>
                <a:latin typeface="Inter"/>
              </a:rPr>
              <a:t>Where we are. Where we're going.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62000" y="2079278"/>
            <a:ext cx="2538412" cy="3275112"/>
          </a:xfrm>
          <a:prstGeom prst="roundRect">
            <a:avLst/>
          </a:prstGeom>
          <a:solidFill>
            <a:srgbClr val="FFFFFF">
              <a:alpha val="4000"/>
            </a:srgbClr>
          </a:solidFill>
          <a:ln w="9525">
            <a:solidFill>
              <a:srgbClr val="FFFFFF"/>
            </a:solidFill>
          </a:ln>
          <a:effectLst>
            <a:outerShdw blurRad="457200" dist="152400" dir="5400000" algn="ctr" rotWithShape="0">
              <a:srgbClr val="6366F1">
                <a:alpha val="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981075" y="2317403"/>
            <a:ext cx="333821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5F5F7"/>
                </a:solidFill>
                <a:latin typeface="Inter"/>
              </a:rPr>
              <a:t>Q1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1075" y="2517428"/>
            <a:ext cx="333821" cy="133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71717A"/>
                </a:solidFill>
                <a:latin typeface="Inter"/>
              </a:rPr>
              <a:t>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45705" y="2317403"/>
            <a:ext cx="535632" cy="209550"/>
          </a:xfrm>
          <a:prstGeom prst="rect">
            <a:avLst/>
          </a:prstGeom>
          <a:solidFill>
            <a:srgbClr val="22C55E">
              <a:alpha val="14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86EFAC"/>
                </a:solidFill>
                <a:latin typeface="Inter"/>
              </a:rPr>
              <a:t>DONE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1075" y="3060353"/>
            <a:ext cx="117723" cy="20657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86EFAC"/>
                </a:solidFill>
                <a:latin typeface="Inter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94048" y="3060353"/>
            <a:ext cx="1395412" cy="1918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E4E4E7"/>
                </a:solidFill>
                <a:latin typeface="Inter"/>
              </a:rPr>
              <a:t>Tier-1 + Tier-2 classifier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1075" y="3447901"/>
            <a:ext cx="117723" cy="20657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86EFAC"/>
                </a:solidFill>
                <a:latin typeface="Inter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94048" y="3447901"/>
            <a:ext cx="1088975" cy="1918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E4E4E7"/>
                </a:solidFill>
                <a:latin typeface="Inter"/>
              </a:rPr>
              <a:t>Streaming pipeline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81075" y="3835450"/>
            <a:ext cx="117723" cy="20657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86EFAC"/>
                </a:solidFill>
                <a:latin typeface="Inter"/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94048" y="3835450"/>
            <a:ext cx="1118592" cy="1918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E4E4E7"/>
                </a:solidFill>
                <a:latin typeface="Inter"/>
              </a:rPr>
              <a:t>SSIM + OCR oracle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1075" y="4222998"/>
            <a:ext cx="117723" cy="20657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86EFAC"/>
                </a:solidFill>
                <a:latin typeface="Inter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94048" y="4222998"/>
            <a:ext cx="1117550" cy="1918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E4E4E7"/>
                </a:solidFill>
                <a:latin typeface="Inter"/>
              </a:rPr>
              <a:t>Multi-provider LLM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81075" y="4667696"/>
            <a:ext cx="2100262" cy="2861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71717A"/>
                </a:solidFill>
                <a:latin typeface="Inter"/>
              </a:rPr>
              <a:t>Foundation shipped Mar 18.</a:t>
            </a:r>
          </a:p>
        </p:txBody>
      </p:sp>
      <p:sp>
        <p:nvSpPr>
          <p:cNvPr id="18" name="Rounded Rectangle 17"/>
          <p:cNvSpPr/>
          <p:nvPr/>
        </p:nvSpPr>
        <p:spPr>
          <a:gradFill flip="none" rotWithShape="1">
            <a:gsLst>
              <a:gs pos="0">
                <a:srgbClr val="6366F1">
                  <a:alpha val="18000"/>
                </a:srgbClr>
              </a:gs>
              <a:gs pos="100000">
                <a:srgbClr val="EC4899">
                  <a:alpha val="10000"/>
                </a:srgbClr>
              </a:gs>
            </a:gsLst>
            <a:lin ang="4200000" scaled="0"/>
          </a:gradFill>
          <a:xfrm>
            <a:off x="3471862" y="2079278"/>
            <a:ext cx="2538412" cy="3275112"/>
          </a:xfrm>
          <a:prstGeom prst="roundRect">
            <a:avLst/>
          </a:prstGeom>
          <a:ln w="9525">
            <a:solidFill>
              <a:srgbClr val="A78BFA"/>
            </a:solidFill>
          </a:ln>
          <a:effectLst>
            <a:outerShdw blurRad="762000" dist="0" dir="0" algn="ctr" rotWithShape="0">
              <a:srgbClr val="8B5CF6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/>
          <p:cNvSpPr txBox="1"/>
          <p:nvPr/>
        </p:nvSpPr>
        <p:spPr>
          <a:xfrm>
            <a:off x="3690938" y="2317403"/>
            <a:ext cx="333821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5F5F7"/>
                </a:solidFill>
                <a:latin typeface="Inter"/>
              </a:rPr>
              <a:t>Q2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90938" y="2517428"/>
            <a:ext cx="333821" cy="133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71717A"/>
                </a:solidFill>
                <a:latin typeface="Inter"/>
              </a:rPr>
              <a:t>2026</a:t>
            </a:r>
          </a:p>
        </p:txBody>
      </p:sp>
      <p:sp>
        <p:nvSpPr>
          <p:cNvPr id="21" name="TextBox 20"/>
          <p:cNvSpPr txBox="1"/>
          <p:nvPr/>
        </p:nvSpPr>
        <p:spPr>
          <a:gradFill flip="none" rotWithShape="1">
            <a:gsLst>
              <a:gs pos="0">
                <a:srgbClr val="A78BFA"/>
              </a:gs>
              <a:gs pos="100000">
                <a:srgbClr val="EC4899"/>
              </a:gs>
            </a:gsLst>
            <a:lin ang="2700000" scaled="0"/>
          </a:gradFill>
          <a:xfrm>
            <a:off x="5318075" y="2317403"/>
            <a:ext cx="473125" cy="190500"/>
          </a:xfrm>
          <a:prstGeom prst="rect">
            <a:avLst/>
          </a:prstGeom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A0A0F"/>
                </a:solidFill>
                <a:latin typeface="Inter"/>
              </a:rPr>
              <a:t>NOW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90938" y="3060353"/>
            <a:ext cx="121890" cy="20657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A78BFA"/>
                </a:solidFill>
                <a:latin typeface="Inter"/>
              </a:rPr>
              <a:t>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08078" y="3060353"/>
            <a:ext cx="1386036" cy="1918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E4E4E7"/>
                </a:solidFill>
                <a:latin typeface="Inter"/>
              </a:rPr>
              <a:t>Tier-0 pattern database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90938" y="3447901"/>
            <a:ext cx="121890" cy="20657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A78BFA"/>
                </a:solidFill>
                <a:latin typeface="Inter"/>
              </a:rPr>
              <a:t>●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08078" y="3447901"/>
            <a:ext cx="1629668" cy="1918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E4E4E7"/>
                </a:solidFill>
                <a:latin typeface="Inter"/>
              </a:rPr>
              <a:t>Native gradients + shadows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90938" y="3835450"/>
            <a:ext cx="121890" cy="20657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A78BFA"/>
                </a:solidFill>
                <a:latin typeface="Inter"/>
              </a:rPr>
              <a:t>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908078" y="3835450"/>
            <a:ext cx="1434852" cy="1918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E4E4E7"/>
                </a:solidFill>
                <a:latin typeface="Inter"/>
              </a:rPr>
              <a:t>Surgical hybrid emission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90938" y="4222998"/>
            <a:ext cx="121890" cy="20657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A78BFA"/>
                </a:solidFill>
                <a:latin typeface="Inter"/>
              </a:rPr>
              <a:t>●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908078" y="4222998"/>
            <a:ext cx="1245245" cy="1918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E4E4E7"/>
                </a:solidFill>
                <a:latin typeface="Inter"/>
              </a:rPr>
              <a:t>Corpus harvester CLI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90938" y="4667696"/>
            <a:ext cx="2100262" cy="4485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71717A"/>
                </a:solidFill>
                <a:latin typeface="Inter"/>
              </a:rPr>
              <a:t>Native ratio jumped 0.62 → 1.00 on showcase.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181725" y="2079278"/>
            <a:ext cx="2538412" cy="3275112"/>
          </a:xfrm>
          <a:prstGeom prst="roundRect">
            <a:avLst/>
          </a:prstGeom>
          <a:solidFill>
            <a:srgbClr val="FFFFFF">
              <a:alpha val="4000"/>
            </a:srgbClr>
          </a:solidFill>
          <a:ln w="9525">
            <a:solidFill>
              <a:srgbClr val="FFFFFF"/>
            </a:solidFill>
          </a:ln>
          <a:effectLst>
            <a:outerShdw blurRad="457200" dist="152400" dir="5400000" algn="ctr" rotWithShape="0">
              <a:srgbClr val="6366F1">
                <a:alpha val="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/>
          <p:cNvSpPr txBox="1"/>
          <p:nvPr/>
        </p:nvSpPr>
        <p:spPr>
          <a:xfrm>
            <a:off x="6400800" y="2317403"/>
            <a:ext cx="333821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5F5F7"/>
                </a:solidFill>
                <a:latin typeface="Inter"/>
              </a:rPr>
              <a:t>Q3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0" y="2517428"/>
            <a:ext cx="333821" cy="133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71717A"/>
                </a:solidFill>
                <a:latin typeface="Inter"/>
              </a:rPr>
              <a:t>2026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977485" y="2317403"/>
            <a:ext cx="523577" cy="209550"/>
          </a:xfrm>
          <a:prstGeom prst="rect">
            <a:avLst/>
          </a:prstGeom>
          <a:solidFill>
            <a:srgbClr val="FFFFFF">
              <a:alpha val="6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A1A1AA"/>
                </a:solidFill>
                <a:latin typeface="Inter"/>
              </a:rPr>
              <a:t>NEXT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0" y="3060353"/>
            <a:ext cx="121890" cy="20657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52525B"/>
                </a:solidFill>
                <a:latin typeface="Inter"/>
              </a:rPr>
              <a:t>○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617940" y="3060353"/>
            <a:ext cx="1635472" cy="1918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E4E4E7"/>
                </a:solidFill>
                <a:latin typeface="Inter"/>
              </a:rPr>
              <a:t>@slidify/components library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0" y="3447901"/>
            <a:ext cx="121890" cy="20657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52525B"/>
                </a:solidFill>
                <a:latin typeface="Inter"/>
              </a:rPr>
              <a:t>○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17940" y="3447901"/>
            <a:ext cx="1339602" cy="1918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E4E4E7"/>
                </a:solidFill>
                <a:latin typeface="Inter"/>
              </a:rPr>
              <a:t>JSX → IR → PPTX path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00800" y="3835450"/>
            <a:ext cx="121890" cy="20657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52525B"/>
                </a:solidFill>
                <a:latin typeface="Inter"/>
              </a:rPr>
              <a:t>○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617940" y="3835450"/>
            <a:ext cx="1349425" cy="1918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E4E4E7"/>
                </a:solidFill>
                <a:latin typeface="Inter"/>
              </a:rPr>
              <a:t>Bidirectional round-trip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00800" y="4222998"/>
            <a:ext cx="121890" cy="20657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52525B"/>
                </a:solidFill>
                <a:latin typeface="Inter"/>
              </a:rPr>
              <a:t>○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617940" y="4222998"/>
            <a:ext cx="1509712" cy="1918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E4E4E7"/>
                </a:solidFill>
                <a:latin typeface="Inter"/>
              </a:rPr>
              <a:t>Theme-token brand swap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00800" y="4667696"/>
            <a:ext cx="2100262" cy="2861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71717A"/>
                </a:solidFill>
                <a:latin typeface="Inter"/>
              </a:rPr>
              <a:t>Generator-first: lossless by construction.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891588" y="2079278"/>
            <a:ext cx="2538412" cy="3275112"/>
          </a:xfrm>
          <a:prstGeom prst="roundRect">
            <a:avLst/>
          </a:prstGeom>
          <a:solidFill>
            <a:srgbClr val="FFFFFF">
              <a:alpha val="4000"/>
            </a:srgbClr>
          </a:solidFill>
          <a:ln w="9525">
            <a:solidFill>
              <a:srgbClr val="FFFFFF"/>
            </a:solidFill>
          </a:ln>
          <a:effectLst>
            <a:outerShdw blurRad="457200" dist="152400" dir="5400000" algn="ctr" rotWithShape="0">
              <a:srgbClr val="6366F1">
                <a:alpha val="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TextBox 44"/>
          <p:cNvSpPr txBox="1"/>
          <p:nvPr/>
        </p:nvSpPr>
        <p:spPr>
          <a:xfrm>
            <a:off x="9110662" y="2317403"/>
            <a:ext cx="333821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5F5F7"/>
                </a:solidFill>
                <a:latin typeface="Inter"/>
              </a:rPr>
              <a:t>Q4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110662" y="2517428"/>
            <a:ext cx="333821" cy="133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71717A"/>
                </a:solidFill>
                <a:latin typeface="Inter"/>
              </a:rPr>
              <a:t>2026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634067" y="2317403"/>
            <a:ext cx="576858" cy="209550"/>
          </a:xfrm>
          <a:prstGeom prst="rect">
            <a:avLst/>
          </a:prstGeom>
          <a:solidFill>
            <a:srgbClr val="FFFFFF">
              <a:alpha val="6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A1A1AA"/>
                </a:solidFill>
                <a:latin typeface="Inter"/>
              </a:rPr>
              <a:t>LATER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110662" y="3060353"/>
            <a:ext cx="121890" cy="20657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52525B"/>
                </a:solidFill>
                <a:latin typeface="Inter"/>
              </a:rPr>
              <a:t>○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327803" y="3060353"/>
            <a:ext cx="1450479" cy="1918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E4E4E7"/>
                </a:solidFill>
                <a:latin typeface="Inter"/>
              </a:rPr>
              <a:t>Native Chart.js synthesis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110662" y="3447901"/>
            <a:ext cx="121890" cy="20657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52525B"/>
                </a:solidFill>
                <a:latin typeface="Inter"/>
              </a:rPr>
              <a:t>○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327803" y="3447901"/>
            <a:ext cx="1161306" cy="1918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E4E4E7"/>
                </a:solidFill>
                <a:latin typeface="Inter"/>
              </a:rPr>
              <a:t>Pix2struct fine-tune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110662" y="3835450"/>
            <a:ext cx="121890" cy="20657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52525B"/>
                </a:solidFill>
                <a:latin typeface="Inter"/>
              </a:rPr>
              <a:t>○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327803" y="3835450"/>
            <a:ext cx="1472803" cy="1918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E4E4E7"/>
                </a:solidFill>
                <a:latin typeface="Inter"/>
              </a:rPr>
              <a:t>PowerPoint Online oracle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110662" y="4222998"/>
            <a:ext cx="121890" cy="20657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52525B"/>
                </a:solidFill>
                <a:latin typeface="Inter"/>
              </a:rPr>
              <a:t>○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327803" y="4222998"/>
            <a:ext cx="1329928" cy="1918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E4E4E7"/>
                </a:solidFill>
                <a:latin typeface="Inter"/>
              </a:rPr>
              <a:t>Skia paint-op intercept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110662" y="4667696"/>
            <a:ext cx="2100262" cy="2861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71717A"/>
                </a:solidFill>
                <a:latin typeface="Inter"/>
              </a:rPr>
              <a:t>Research-tier moves; high ceiling.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62000" y="6477000"/>
            <a:ext cx="1411635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52525B"/>
                </a:solidFill>
                <a:latin typeface="Inter"/>
              </a:rPr>
              <a:t>PIXELPITCH LABS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930384" y="6477000"/>
            <a:ext cx="499616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52525B"/>
                </a:solidFill>
                <a:latin typeface="Inter"/>
              </a:rPr>
              <a:t>11 / 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gradFill flip="none" rotWithShape="1">
            <a:gsLst>
              <a:gs pos="0">
                <a:srgbClr val="4338CA"/>
              </a:gs>
              <a:gs pos="35000">
                <a:srgbClr val="1E1B4B"/>
              </a:gs>
              <a:gs pos="70000">
                <a:srgbClr val="050510"/>
              </a:gs>
              <a:gs pos="100000">
                <a:srgbClr val="050510"/>
              </a:gs>
            </a:gsLst>
            <a:path path="circle">
              <a:fillToRect l="50000" t="100000" r="50000" b="0"/>
            </a:path>
          </a:gradFill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/>
          <p:cNvSpPr/>
          <p:nvPr/>
        </p:nvSpPr>
        <p:spPr>
          <a:gradFill flip="none" rotWithShape="1">
            <a:gsLst>
              <a:gs pos="0">
                <a:srgbClr val="FFFFFF">
                  <a:alpha val="3000"/>
                </a:srgbClr>
              </a:gs>
              <a:gs pos="100000">
                <a:srgbClr val="FFFFFF">
                  <a:alpha val="3000"/>
                </a:srgbClr>
              </a:gs>
            </a:gsLst>
            <a:lin ang="5400000" scaled="0"/>
          </a:gradFill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/>
          <p:cNvSpPr/>
          <p:nvPr/>
        </p:nvSpPr>
        <p:spPr>
          <a:gradFill flip="none" rotWithShape="1">
            <a:gsLst>
              <a:gs pos="0">
                <a:srgbClr val="A78BFA">
                  <a:alpha val="40000"/>
                </a:srgbClr>
              </a:gs>
              <a:gs pos="40000">
                <a:srgbClr val="EC4899">
                  <a:alpha val="15000"/>
                </a:srgbClr>
              </a:gs>
              <a:gs pos="70000">
                <a:srgbClr val="EC4899">
                  <a:alpha val="0"/>
                </a:srgbClr>
              </a:gs>
              <a:gs pos="100000">
                <a:srgbClr val="EC4899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381000" y="3367980"/>
            <a:ext cx="11430000" cy="53340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4400699" y="1112193"/>
            <a:ext cx="3390454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75" b="1" i="0" u="none">
                <a:solidFill>
                  <a:srgbClr val="A78BFA"/>
                </a:solidFill>
                <a:latin typeface="Inter"/>
              </a:rPr>
              <a:t>Get started in 30 seconds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569393"/>
            <a:ext cx="10363200" cy="1642765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ctr"/>
            <a:r>
              <a:rPr sz="6600" b="1" i="0" u="none">
                <a:solidFill>
                  <a:srgbClr val="F5F5F7"/>
                </a:solidFill>
                <a:latin typeface="Inter"/>
              </a:rPr>
              <a:t xml:space="preserve">Ship decks that </a:t>
            </a:r>
            <a:r>
              <a:rPr sz="6600" b="1" i="0" u="none">
                <a:gradFill rotWithShape="1">
                  <a:gsLst>
                    <a:gs pos="0">
                      <a:srgbClr val="818CF8"/>
                    </a:gs>
                    <a:gs pos="50000">
                      <a:srgbClr val="C084FC"/>
                    </a:gs>
                    <a:gs pos="100000">
                      <a:srgbClr val="F472B6"/>
                    </a:gs>
                  </a:gsLst>
                  <a:lin ang="2700000" scaled="0"/>
                </a:gradFill>
                <a:latin typeface="Inter"/>
              </a:rPr>
              <a:t>stay alive</a:t>
            </a:r>
            <a:r>
              <a:rPr sz="6600" b="1" i="0" u="none">
                <a:solidFill>
                  <a:srgbClr val="F5F5F7"/>
                </a:solidFill>
                <a:latin typeface="Inter"/>
              </a:rPr>
              <a:t xml:space="preserve"> after the meeting.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76500" y="3516957"/>
            <a:ext cx="7239000" cy="62865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ctr"/>
            <a:r>
              <a:rPr sz="1650" b="0" i="0" u="none">
                <a:solidFill>
                  <a:srgbClr val="D4D4D8"/>
                </a:solidFill>
                <a:latin typeface="Inter"/>
              </a:rPr>
              <a:t>Convert your first HTML deck for free. No signup, no credit card. Bring your own LLM provider or use the auto-detected fallback.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7990" y="4688532"/>
            <a:ext cx="1842046" cy="533400"/>
          </a:xfrm>
          <a:prstGeom prst="rect">
            <a:avLst/>
          </a:prstGeom>
          <a:solidFill>
            <a:srgbClr val="FFFFFF"/>
          </a:solidFill>
          <a:effectLst>
            <a:outerShdw blurRad="381000" dist="114300" dir="5400000" algn="ctr" rotWithShape="0">
              <a:srgbClr val="FFFFFF">
                <a:alpha val="20000"/>
              </a:srgbClr>
            </a:outerShdw>
          </a:effectLst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 u="none">
                <a:solidFill>
                  <a:srgbClr val="0A0A0F"/>
                </a:solidFill>
                <a:latin typeface="Inter"/>
              </a:rPr>
              <a:t>pip install slidify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83386" y="4679007"/>
            <a:ext cx="1868835" cy="552450"/>
          </a:xfrm>
          <a:prstGeom prst="rect">
            <a:avLst/>
          </a:prstGeom>
          <a:solidFill>
            <a:srgbClr val="FFFFFF">
              <a:alpha val="8000"/>
            </a:srgbClr>
          </a:solidFill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 u="none">
                <a:solidFill>
                  <a:srgbClr val="F5F5F7"/>
                </a:solidFill>
                <a:latin typeface="Inter"/>
              </a:rPr>
              <a:t>Read the spec →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85571" y="4779020"/>
            <a:ext cx="1798439" cy="3524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1" i="0" u="none">
                <a:solidFill>
                  <a:srgbClr val="A1A1AA"/>
                </a:solidFill>
                <a:latin typeface="Inter"/>
              </a:rPr>
              <a:t>github.com/pixelpitch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49912" y="5688657"/>
            <a:ext cx="1692027" cy="323850"/>
          </a:xfrm>
          <a:prstGeom prst="rect">
            <a:avLst/>
          </a:prstGeom>
          <a:solidFill>
            <a:srgbClr val="FFFFFF">
              <a:alpha val="6000"/>
            </a:srgbClr>
          </a:solidFill>
        </p:spPr>
        <p:txBody>
          <a:bodyPr wrap="square" lIns="0" rIns="0" tIns="0" bIns="0">
            <a:spAutoFit/>
          </a:bodyPr>
          <a:lstStyle/>
          <a:p>
            <a:pPr algn="ctr"/>
            <a:r>
              <a:rPr sz="975" b="0" i="0" u="none">
                <a:solidFill>
                  <a:srgbClr val="D4D4D8"/>
                </a:solidFill>
                <a:latin typeface="Inter"/>
              </a:rPr>
              <a:t xml:space="preserve"> v1.0 · shipping today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6400800"/>
            <a:ext cx="1418630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52525B"/>
                </a:solidFill>
                <a:latin typeface="Inter"/>
              </a:rPr>
              <a:t>PIXELPITCH LABS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59318" y="6400800"/>
            <a:ext cx="1018282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52525B"/>
                </a:solidFill>
                <a:latin typeface="Inter"/>
              </a:rPr>
              <a:t>12 / 12 · END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F5F5F7"/>
      </a:accent1>
      <a:accent2>
        <a:srgbClr val="52525B"/>
      </a:accent2>
      <a:accent3>
        <a:srgbClr val="A1A1AA"/>
      </a:accent3>
      <a:accent4>
        <a:srgbClr val="E4E4E7"/>
      </a:accent4>
      <a:accent5>
        <a:srgbClr val="A78BFA"/>
      </a:accent5>
      <a:accent6>
        <a:srgbClr val="86EFAC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