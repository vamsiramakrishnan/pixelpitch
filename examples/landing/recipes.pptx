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embeddedFontLst>
    <p:embeddedFont>
      <p:font typeface="Playfair Display" panose="02040603050405020304" charset="0"/>
      <p:regular r:id="rIdSlidifyFont1"/>
      <p:bold r:id="rIdSlidifyFont2"/>
      <p:italic r:id="rIdSlidifyFont3"/>
      <p:boldItalic r:id="rIdSlidifyFont4"/>
    </p:embeddedFont>
    <p:embeddedFont>
      <p:font typeface="Bebas Neue" panose="020B0604020202020204" charset="0"/>
      <p:regular r:id="rIdSlidifyFont5"/>
    </p:embeddedFont>
    <p:embeddedFont>
      <p:font typeface="Source Serif Pro" panose="02040603050405020304" charset="0"/>
      <p:regular r:id="rIdSlidifyFont6"/>
      <p:bold r:id="rIdSlidifyFont7"/>
      <p:italic r:id="rIdSlidifyFont8"/>
    </p:embeddedFont>
    <p:embeddedFont>
      <p:font typeface="JetBrains Mono" panose="020B0609040504020204" charset="0"/>
      <p:regular r:id="rIdSlidifyFont9"/>
      <p:bold r:id="rIdSlidifyFont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SlidifyFont1" Type="http://schemas.openxmlformats.org/officeDocument/2006/relationships/font" Target="fonts/font1.fntdata"/><Relationship Id="rIdSlidifyFont2" Type="http://schemas.openxmlformats.org/officeDocument/2006/relationships/font" Target="fonts/font2.fntdata"/><Relationship Id="rIdSlidifyFont3" Type="http://schemas.openxmlformats.org/officeDocument/2006/relationships/font" Target="fonts/font3.fntdata"/><Relationship Id="rIdSlidifyFont4" Type="http://schemas.openxmlformats.org/officeDocument/2006/relationships/font" Target="fonts/font4.fntdata"/><Relationship Id="rIdSlidifyFont5" Type="http://schemas.openxmlformats.org/officeDocument/2006/relationships/font" Target="fonts/font5.fntdata"/><Relationship Id="rIdSlidifyFont6" Type="http://schemas.openxmlformats.org/officeDocument/2006/relationships/font" Target="fonts/font6.fntdata"/><Relationship Id="rIdSlidifyFont7" Type="http://schemas.openxmlformats.org/officeDocument/2006/relationships/font" Target="fonts/font7.fntdata"/><Relationship Id="rIdSlidifyFont8" Type="http://schemas.openxmlformats.org/officeDocument/2006/relationships/font" Target="fonts/font8.fntdata"/><Relationship Id="rIdSlidifyFont9" Type="http://schemas.openxmlformats.org/officeDocument/2006/relationships/font" Target="fonts/font9.fntdata"/><Relationship Id="rIdSlidifyFont10" Type="http://schemas.openxmlformats.org/officeDocument/2006/relationships/font" Target="fonts/font10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9167">
                <a:srgbClr val="1B1841"/>
              </a:gs>
              <a:gs pos="18333">
                <a:srgbClr val="171538"/>
              </a:gs>
              <a:gs pos="27500">
                <a:srgbClr val="14132E"/>
              </a:gs>
              <a:gs pos="36667">
                <a:srgbClr val="101025"/>
              </a:gs>
              <a:gs pos="45833">
                <a:srgbClr val="0D0D1C"/>
              </a:gs>
              <a:gs pos="55000">
                <a:srgbClr val="0A0A14"/>
              </a:gs>
              <a:gs pos="62500">
                <a:srgbClr val="080812"/>
              </a:gs>
              <a:gs pos="70000">
                <a:srgbClr val="060610"/>
              </a:gs>
              <a:gs pos="77500">
                <a:srgbClr val="05050E"/>
              </a:gs>
              <a:gs pos="85000">
                <a:srgbClr val="04040C"/>
              </a:gs>
              <a:gs pos="92500">
                <a:srgbClr val="03030A"/>
              </a:gs>
              <a:gs pos="100000">
                <a:srgbClr val="020208"/>
              </a:gs>
            </a:gsLst>
            <a:path path="circle">
              <a:fillToRect l="50000" t="40000" r="50000" b="6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gradFill flip="none" rotWithShape="1">
            <a:gsLst>
              <a:gs pos="0">
                <a:srgbClr val="A78BFA">
                  <a:alpha val="34000"/>
                </a:srgbClr>
              </a:gs>
              <a:gs pos="11667">
                <a:srgbClr val="A78BFA">
                  <a:alpha val="28333"/>
                </a:srgbClr>
              </a:gs>
              <a:gs pos="23333">
                <a:srgbClr val="A78BFA">
                  <a:alpha val="22667"/>
                </a:srgbClr>
              </a:gs>
              <a:gs pos="35000">
                <a:srgbClr val="A78BFA">
                  <a:alpha val="17000"/>
                </a:srgbClr>
              </a:gs>
              <a:gs pos="46667">
                <a:srgbClr val="A78BFA">
                  <a:alpha val="11333"/>
                </a:srgbClr>
              </a:gs>
              <a:gs pos="58333">
                <a:srgbClr val="A78BFA">
                  <a:alpha val="5667"/>
                </a:srgbClr>
              </a:gs>
              <a:gs pos="70000">
                <a:srgbClr val="A78BFA">
                  <a:alpha val="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1714500"/>
            <a:ext cx="6858000" cy="6858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gradFill flip="none" rotWithShape="1">
            <a:gsLst>
              <a:gs pos="0">
                <a:srgbClr val="F472B6">
                  <a:alpha val="30000"/>
                </a:srgbClr>
              </a:gs>
              <a:gs pos="12000">
                <a:srgbClr val="F472B6">
                  <a:alpha val="25000"/>
                </a:srgbClr>
              </a:gs>
              <a:gs pos="24000">
                <a:srgbClr val="F472B6">
                  <a:alpha val="20000"/>
                </a:srgbClr>
              </a:gs>
              <a:gs pos="36000">
                <a:srgbClr val="F472B6">
                  <a:alpha val="15000"/>
                </a:srgbClr>
              </a:gs>
              <a:gs pos="48000">
                <a:srgbClr val="F472B6">
                  <a:alpha val="10000"/>
                </a:srgbClr>
              </a:gs>
              <a:gs pos="60000">
                <a:srgbClr val="F472B6">
                  <a:alpha val="5000"/>
                </a:srgbClr>
              </a:gs>
              <a:gs pos="72000">
                <a:srgbClr val="F472B6">
                  <a:alpha val="0"/>
                </a:srgbClr>
              </a:gs>
              <a:gs pos="100000">
                <a:srgbClr val="F472B6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334000" y="571500"/>
            <a:ext cx="8382000" cy="838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1133475" y="1704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2272665" y="1129665"/>
            <a:ext cx="26670" cy="2667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609975" y="2085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5128260" y="1318260"/>
            <a:ext cx="30480" cy="3048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6848475" y="1704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8561070" y="1131570"/>
            <a:ext cx="22860" cy="2286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10273665" y="1891665"/>
            <a:ext cx="26670" cy="2667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/>
        </p:nvSpPr>
        <p:spPr>
          <a:xfrm>
            <a:off x="11229975" y="1323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1514475" y="5133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3035618" y="5702618"/>
            <a:ext cx="24765" cy="24765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4562475" y="53244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6080760" y="5890260"/>
            <a:ext cx="30480" cy="3048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7800975" y="5514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9513570" y="5703570"/>
            <a:ext cx="22860" cy="2286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10848975" y="5133975"/>
            <a:ext cx="19050" cy="19050"/>
          </a:xfrm>
          <a:prstGeom prst="ellipse">
            <a:avLst/>
          </a:prstGeom>
          <a:solidFill>
            <a:srgbClr val="F5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/>
          <p:cNvSpPr/>
          <p:nvPr/>
        </p:nvSpPr>
        <p:spPr>
          <a:xfrm>
            <a:off x="457200" y="457200"/>
            <a:ext cx="11277600" cy="5943600"/>
          </a:xfrm>
          <a:prstGeom prst="round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0" y="800100"/>
            <a:ext cx="1219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 u="none">
                <a:solidFill>
                  <a:srgbClr val="A78BFA"/>
                </a:solidFill>
                <a:latin typeface="Inter"/>
              </a:rPr>
              <a:t>ISSUE 04 · 2026 · A FILM ABOUT SHIPPING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2095500"/>
            <a:ext cx="12192000" cy="26670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21000" b="1" i="0" u="none">
                <a:gradFill rotWithShape="1">
                  <a:gsLst>
                    <a:gs pos="0">
                      <a:srgbClr val="60A5FA"/>
                    </a:gs>
                    <a:gs pos="30000">
                      <a:srgbClr val="A78BFA"/>
                    </a:gs>
                    <a:gs pos="65000">
                      <a:srgbClr val="F472B6"/>
                    </a:gs>
                    <a:gs pos="100000">
                      <a:srgbClr val="FB923C"/>
                    </a:gs>
                  </a:gsLst>
                  <a:lin ang="2700000" scaled="0"/>
                </a:gradFill>
                <a:latin typeface="Inter"/>
              </a:rPr>
              <a:t>FUTURE.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4750" y="3429000"/>
            <a:ext cx="114300" cy="32880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SLIDIFY · ATOMIC SEED · RECIPE 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0" y="5943600"/>
            <a:ext cx="1219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 u="none">
                <a:solidFill>
                  <a:srgbClr val="71717A"/>
                </a:solidFill>
                <a:latin typeface="Inter"/>
              </a:rPr>
              <a:t>EDITORIAL · CHAPTER 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020617"/>
              </a:gs>
              <a:gs pos="28000">
                <a:srgbClr val="1E1B4B"/>
              </a:gs>
              <a:gs pos="52000">
                <a:srgbClr val="7C3AED"/>
              </a:gs>
              <a:gs pos="75000">
                <a:srgbClr val="DB2777"/>
              </a:gs>
              <a:gs pos="100000">
                <a:srgbClr val="020208"/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6168182" cy="55054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51000" b="1" i="0" u="none">
                <a:latin typeface="Inter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09675" y="838200"/>
            <a:ext cx="1035100" cy="133350"/>
          </a:xfrm>
          <a:prstGeom prst="rect">
            <a:avLst/>
          </a:prstGeom>
          <a:solidFill>
            <a:srgbClr val="FFFFFF">
              <a:alpha val="8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5F5F7"/>
                </a:solidFill>
                <a:latin typeface="Inter"/>
              </a:rPr>
              <a:t>chapter two of four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76350"/>
            <a:ext cx="103632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E68A"/>
                </a:solidFill>
                <a:latin typeface="Inter"/>
              </a:rPr>
              <a:t>CHAPTER · 02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2575"/>
            <a:ext cx="6876901" cy="21336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5400" b="1" i="0" u="none">
                <a:solidFill>
                  <a:srgbClr val="F5F5F7"/>
                </a:solidFill>
                <a:latin typeface="Inter"/>
              </a:rPr>
              <a:t xml:space="preserve">A new render path that </a:t>
            </a:r>
            <a:r>
              <a:rPr sz="5400" b="1" i="0" u="none">
                <a:gradFill rotWithShape="1">
                  <a:gsLst>
                    <a:gs pos="0">
                      <a:srgbClr val="FDE68A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Inter"/>
              </a:rPr>
              <a:t>stays alive</a:t>
            </a:r>
            <a:r>
              <a:rPr sz="5400" b="1" i="0" u="none">
                <a:solidFill>
                  <a:srgbClr val="F5F5F7"/>
                </a:solidFill>
                <a:latin typeface="Inter"/>
              </a:rPr>
              <a:t xml:space="preserve"> after the meeting.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19525"/>
            <a:ext cx="6286500" cy="85725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0" i="0" u="none">
                <a:solidFill>
                  <a:srgbClr val="FFFFFF"/>
                </a:solidFill>
                <a:latin typeface="Inter"/>
              </a:rPr>
              <a:t>Render in headless Chromium. Cluster into atomic visual units. Translate gradients, shadows, and shapes into native PPTX. Edit the result in PowerPoint as if a designer authored it by hand.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15050"/>
            <a:ext cx="174887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FFFF"/>
                </a:solidFill>
                <a:latin typeface="Inter"/>
              </a:rPr>
              <a:t>SLIDIFY · ATOMIC SEED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64253" y="6115050"/>
            <a:ext cx="201334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FFFF"/>
                </a:solidFill>
                <a:latin typeface="Inter"/>
              </a:rPr>
              <a:t>02 / 16 · CHAPTER DIVIDER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000000">
                  <a:alpha val="55000"/>
                </a:srgbClr>
              </a:gs>
              <a:gs pos="8333">
                <a:srgbClr val="000000">
                  <a:alpha val="45833"/>
                </a:srgbClr>
              </a:gs>
              <a:gs pos="16667">
                <a:srgbClr val="000000">
                  <a:alpha val="36667"/>
                </a:srgbClr>
              </a:gs>
              <a:gs pos="25000">
                <a:srgbClr val="000000">
                  <a:alpha val="27500"/>
                </a:srgbClr>
              </a:gs>
              <a:gs pos="33333">
                <a:srgbClr val="000000">
                  <a:alpha val="18333"/>
                </a:srgbClr>
              </a:gs>
              <a:gs pos="41667">
                <a:srgbClr val="000000">
                  <a:alpha val="9167"/>
                </a:srgbClr>
              </a:gs>
              <a:gs pos="50000">
                <a:srgbClr val="000000">
                  <a:alpha val="0"/>
                </a:srgbClr>
              </a:gs>
              <a:gs pos="58333">
                <a:srgbClr val="000000">
                  <a:alpha val="9167"/>
                </a:srgbClr>
              </a:gs>
              <a:gs pos="66667">
                <a:srgbClr val="000000">
                  <a:alpha val="18333"/>
                </a:srgbClr>
              </a:gs>
              <a:gs pos="75000">
                <a:srgbClr val="000000">
                  <a:alpha val="27500"/>
                </a:srgbClr>
              </a:gs>
              <a:gs pos="83333">
                <a:srgbClr val="000000">
                  <a:alpha val="36667"/>
                </a:srgbClr>
              </a:gs>
              <a:gs pos="91667">
                <a:srgbClr val="000000">
                  <a:alpha val="45833"/>
                </a:srgbClr>
              </a:gs>
              <a:gs pos="100000">
                <a:srgbClr val="000000">
                  <a:alpha val="550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FFFFF">
                  <a:alpha val="8000"/>
                </a:srgbClr>
              </a:gs>
              <a:gs pos="100000">
                <a:srgbClr val="FFFFFF">
                  <a:alpha val="8000"/>
                </a:srgbClr>
              </a:gs>
            </a:gsLst>
            <a:path path="circle">
              <a:fillToRect l="25000" t="25000" r="75000" b="7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143000" y="914400"/>
            <a:ext cx="9906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DE68A"/>
                </a:solidFill>
                <a:latin typeface="Inter"/>
              </a:rPr>
              <a:t>MANIFESTO · A LUXURY 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257300"/>
            <a:ext cx="9231362" cy="192315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4650" b="0" i="1" u="none">
                <a:solidFill>
                  <a:srgbClr val="FEF3C7"/>
                </a:solidFill>
                <a:latin typeface="Playfair Display"/>
              </a:rPr>
              <a:t xml:space="preserve">Rasterization is the </a:t>
            </a:r>
            <a:r>
              <a:rPr sz="4650" b="1" i="1" u="none">
                <a:gradFill rotWithShape="1">
                  <a:gsLst>
                    <a:gs pos="0">
                      <a:srgbClr val="FDE68A"/>
                    </a:gs>
                    <a:gs pos="100000">
                      <a:srgbClr val="F472B6"/>
                    </a:gs>
                  </a:gsLst>
                  <a:lin ang="2700000" scaled="0"/>
                </a:gradFill>
                <a:latin typeface="Playfair Display"/>
              </a:rPr>
              <a:t>failure mode,</a:t>
            </a:r>
            <a:r>
              <a:rPr sz="4650" b="0" i="1" u="none">
                <a:solidFill>
                  <a:srgbClr val="FEF3C7"/>
                </a:solidFill>
                <a:latin typeface="Playfair Display"/>
              </a:rPr>
              <a:t xml:space="preserve"> not the goal — every pixel that stays editable compounds across every translation.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637211"/>
            <a:ext cx="381000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DE68A"/>
                </a:solidFill>
                <a:latin typeface="Inter"/>
              </a:rPr>
              <a:t>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5450" y="3699123"/>
            <a:ext cx="2419201" cy="3333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Inter"/>
              </a:rPr>
              <a:t>Vamsi Ramakrishnan</a:t>
            </a:r>
            <a:r>
              <a:rPr sz="975" b="0" i="0" u="none">
                <a:solidFill>
                  <a:srgbClr val="FFFFFF"/>
                </a:solidFill>
                <a:latin typeface="Inter"/>
              </a:rPr>
              <a:t>Founder · Pixelpitch Labs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6267450"/>
            <a:ext cx="174887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FFFF"/>
                </a:solidFill>
                <a:latin typeface="Inter"/>
              </a:rPr>
              <a:t>SLIDIFY · ATOMIC SEED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35864" y="6267450"/>
            <a:ext cx="151313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FFFF"/>
                </a:solidFill>
                <a:latin typeface="Inter"/>
              </a:rPr>
              <a:t>03 / 16 · MANIFESTO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533400"/>
            <a:ext cx="670024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1" u="none">
                <a:solidFill>
                  <a:srgbClr val="06060C"/>
                </a:solidFill>
                <a:latin typeface="Playfair Display"/>
              </a:rPr>
              <a:t xml:space="preserve">atelier </a:t>
            </a:r>
            <a:r>
              <a:rPr sz="1800" b="1" i="0" u="none">
                <a:solidFill>
                  <a:srgbClr val="7C3AED"/>
                </a:solidFill>
                <a:latin typeface="Playfair Display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69831" y="604838"/>
            <a:ext cx="16077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C3AED"/>
                </a:solidFill>
                <a:latin typeface="Inter"/>
              </a:rPr>
              <a:t>ISSUE 04 · MMXXVI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9676"/>
            <a:ext cx="7191821" cy="405259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11100" b="0" i="0" u="none">
                <a:solidFill>
                  <a:srgbClr val="06060C"/>
                </a:solidFill>
                <a:latin typeface="Bebas Neue"/>
              </a:rPr>
              <a:t>A FILM</a:t>
            </a:r>
          </a:p>
          <a:p>
            <a:pPr algn="l"/>
            <a:r>
              <a:rPr sz="11100" b="0" i="0" u="none">
                <a:solidFill>
                  <a:srgbClr val="06060C"/>
                </a:solidFill>
                <a:latin typeface="Bebas Neue"/>
              </a:rPr>
              <a:t>ABOUT</a:t>
            </a:r>
          </a:p>
          <a:p>
            <a:pPr algn="l"/>
            <a:r>
              <a:rPr sz="11100" b="0" i="0" u="none">
                <a:solidFill>
                  <a:srgbClr val="DC2626"/>
                </a:solidFill>
                <a:latin typeface="Bebas Neue"/>
              </a:rPr>
              <a:t>SHIPPING.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765923"/>
            <a:ext cx="4953000" cy="4286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3F3F46"/>
                </a:solidFill>
                <a:latin typeface="Source Serif Pro"/>
              </a:rPr>
              <a:t>How a small team in Brooklyn built a compiler that turns browsers into editable PowerPoint — and why every screenshot tool was the wrong abstraction.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57825"/>
            <a:ext cx="49530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C3AED"/>
                </a:solidFill>
                <a:latin typeface="Inter"/>
              </a:rPr>
              <a:t>In this issue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676900"/>
            <a:ext cx="14555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C3AED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704" y="5676900"/>
            <a:ext cx="42801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Why presentations were broken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78202" y="5676900"/>
            <a:ext cx="26059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1717A"/>
                </a:solidFill>
                <a:latin typeface="Inter"/>
              </a:rPr>
              <a:t>p. 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48350"/>
            <a:ext cx="14555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C3AED"/>
                </a:solidFill>
                <a:latin typeface="Inter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704" y="5848350"/>
            <a:ext cx="42801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Render. Cluster. Classify. Emit.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8202" y="5848350"/>
            <a:ext cx="26059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1717A"/>
                </a:solidFill>
                <a:latin typeface="Inter"/>
              </a:rPr>
              <a:t>p. 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019800"/>
            <a:ext cx="14555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C3AED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704" y="6019800"/>
            <a:ext cx="42801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The atomic seed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78202" y="6019800"/>
            <a:ext cx="26059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1717A"/>
                </a:solidFill>
                <a:latin typeface="Inter"/>
              </a:rPr>
              <a:t>p. 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191250"/>
            <a:ext cx="14555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C3AED"/>
                </a:solidFill>
                <a:latin typeface="Inter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4704" y="6191250"/>
            <a:ext cx="42801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A landing page in twelve atoms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8202" y="6191250"/>
            <a:ext cx="26059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71717A"/>
                </a:solidFill>
                <a:latin typeface="Inter"/>
              </a:rPr>
              <a:t>p. 62</a:t>
            </a:r>
          </a:p>
        </p:txBody>
      </p:sp>
      <p:sp>
        <p:nvSpPr>
          <p:cNvPr id="20" name="Rounded Rectangle 19"/>
          <p:cNvSpPr/>
          <p:nvPr/>
        </p:nvSpPr>
        <p:spPr>
          <a:gradFill flip="none" rotWithShape="1">
            <a:gsLst>
              <a:gs pos="0">
                <a:srgbClr val="0C4A6E"/>
              </a:gs>
              <a:gs pos="8333">
                <a:srgbClr val="185289"/>
              </a:gs>
              <a:gs pos="16667">
                <a:srgbClr val="2E57A5"/>
              </a:gs>
              <a:gs pos="25000">
                <a:srgbClr val="495ABF"/>
              </a:gs>
              <a:gs pos="33333">
                <a:srgbClr val="665BD6"/>
              </a:gs>
              <a:gs pos="41667">
                <a:srgbClr val="8659E9"/>
              </a:gs>
              <a:gs pos="50000">
                <a:srgbClr val="A855F7"/>
              </a:gs>
              <a:gs pos="58333">
                <a:srgbClr val="B751EA"/>
              </a:gs>
              <a:gs pos="66667">
                <a:srgbClr val="C54EDC"/>
              </a:gs>
              <a:gs pos="75000">
                <a:srgbClr val="D14BCD"/>
              </a:gs>
              <a:gs pos="83333">
                <a:srgbClr val="DC49BC"/>
              </a:gs>
              <a:gs pos="91667">
                <a:srgbClr val="E548AB"/>
              </a:gs>
              <a:gs pos="100000">
                <a:srgbClr val="EC4899"/>
              </a:gs>
            </a:gsLst>
            <a:lin ang="4200000" scaled="0"/>
          </a:gradFill>
          <a:xfrm>
            <a:off x="8258621" y="1355527"/>
            <a:ext cx="3619500" cy="4191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8391971" y="5213152"/>
            <a:ext cx="1566862" cy="200025"/>
          </a:xfrm>
          <a:prstGeom prst="rect">
            <a:avLst/>
          </a:prstGeom>
          <a:solidFill>
            <a:srgbClr val="000000">
              <a:alpha val="3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Consolas"/>
              </a:rPr>
              <a:t>04 / SUBJECT · STILL ·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8621" y="5851327"/>
            <a:ext cx="3250406" cy="32236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6060C"/>
                </a:solidFill>
                <a:latin typeface="Source Serif Pro"/>
              </a:rPr>
              <a:t xml:space="preserve">Cover </a:t>
            </a:r>
            <a:r>
              <a:rPr sz="975" b="0" i="1" u="none">
                <a:solidFill>
                  <a:srgbClr val="52525B"/>
                </a:solidFill>
                <a:latin typeface="Source Serif Pro"/>
              </a:rPr>
              <a:t>The render pipeline, photographed in long exposure. By Pixelpitch Labs.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10000">
                <a:srgbClr val="1B1841"/>
              </a:gs>
              <a:gs pos="20000">
                <a:srgbClr val="171538"/>
              </a:gs>
              <a:gs pos="30000">
                <a:srgbClr val="14132E"/>
              </a:gs>
              <a:gs pos="40000">
                <a:srgbClr val="101025"/>
              </a:gs>
              <a:gs pos="50000">
                <a:srgbClr val="0D0D1C"/>
              </a:gs>
              <a:gs pos="60000">
                <a:srgbClr val="0A0A14"/>
              </a:gs>
              <a:gs pos="66667">
                <a:srgbClr val="080812"/>
              </a:gs>
              <a:gs pos="73333">
                <a:srgbClr val="060610"/>
              </a:gs>
              <a:gs pos="80000">
                <a:srgbClr val="05050E"/>
              </a:gs>
              <a:gs pos="86667">
                <a:srgbClr val="04040C"/>
              </a:gs>
              <a:gs pos="93333">
                <a:srgbClr val="03030A"/>
              </a:gs>
              <a:gs pos="100000">
                <a:srgbClr val="020208"/>
              </a:gs>
            </a:gsLst>
            <a:path path="circle">
              <a:fillToRect l="80000" t="20000" r="20000" b="8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533400"/>
            <a:ext cx="585549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PRODUCT ·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704850"/>
            <a:ext cx="5855494" cy="33992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F5F5F7"/>
                </a:solidFill>
                <a:latin typeface="Inter"/>
              </a:rPr>
              <a:t>A bento of every primitive a deck needs.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00990" y="930473"/>
            <a:ext cx="128141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05 / 16 · BENTO</a:t>
            </a:r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2149971" y="-1298377"/>
            <a:ext cx="6400800" cy="6400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gradFill flip="none" rotWithShape="1">
            <a:gsLst>
              <a:gs pos="0">
                <a:srgbClr val="1E1B4B">
                  <a:alpha val="45000"/>
                </a:srgbClr>
              </a:gs>
              <a:gs pos="16667">
                <a:srgbClr val="1E1B4B">
                  <a:alpha val="37500"/>
                </a:srgbClr>
              </a:gs>
              <a:gs pos="33333">
                <a:srgbClr val="1E1B4B">
                  <a:alpha val="30000"/>
                </a:srgbClr>
              </a:gs>
              <a:gs pos="50000">
                <a:srgbClr val="1E1B4B">
                  <a:alpha val="22500"/>
                </a:srgbClr>
              </a:gs>
              <a:gs pos="66667">
                <a:srgbClr val="1E1B4B">
                  <a:alpha val="15000"/>
                </a:srgbClr>
              </a:gs>
              <a:gs pos="83333">
                <a:srgbClr val="1E1B4B">
                  <a:alpha val="7500"/>
                </a:srgbClr>
              </a:gs>
              <a:gs pos="100000">
                <a:srgbClr val="1E1B4B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376660" y="-1298377"/>
            <a:ext cx="6400800" cy="6400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gradFill flip="none" rotWithShape="1">
            <a:gsLst>
              <a:gs pos="0">
                <a:srgbClr val="A78BFA">
                  <a:alpha val="45000"/>
                </a:srgbClr>
              </a:gs>
              <a:gs pos="16667">
                <a:srgbClr val="A78BFA">
                  <a:alpha val="37500"/>
                </a:srgbClr>
              </a:gs>
              <a:gs pos="33333">
                <a:srgbClr val="A78BFA">
                  <a:alpha val="30000"/>
                </a:srgbClr>
              </a:gs>
              <a:gs pos="50000">
                <a:srgbClr val="A78BFA">
                  <a:alpha val="22500"/>
                </a:srgbClr>
              </a:gs>
              <a:gs pos="66667">
                <a:srgbClr val="A78BFA">
                  <a:alpha val="15000"/>
                </a:srgbClr>
              </a:gs>
              <a:gs pos="83333">
                <a:srgbClr val="A78BFA">
                  <a:alpha val="750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2149971" y="1902023"/>
            <a:ext cx="6400800" cy="6400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gradFill flip="none" rotWithShape="1">
            <a:gsLst>
              <a:gs pos="0">
                <a:srgbClr val="FEF3C7">
                  <a:alpha val="45000"/>
                </a:srgbClr>
              </a:gs>
              <a:gs pos="16667">
                <a:srgbClr val="FEF3C7">
                  <a:alpha val="37500"/>
                </a:srgbClr>
              </a:gs>
              <a:gs pos="33333">
                <a:srgbClr val="FEF3C7">
                  <a:alpha val="30000"/>
                </a:srgbClr>
              </a:gs>
              <a:gs pos="50000">
                <a:srgbClr val="FEF3C7">
                  <a:alpha val="22500"/>
                </a:srgbClr>
              </a:gs>
              <a:gs pos="66667">
                <a:srgbClr val="FEF3C7">
                  <a:alpha val="15000"/>
                </a:srgbClr>
              </a:gs>
              <a:gs pos="83333">
                <a:srgbClr val="FEF3C7">
                  <a:alpha val="7500"/>
                </a:srgbClr>
              </a:gs>
              <a:gs pos="100000">
                <a:srgbClr val="FEF3C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376660" y="1902023"/>
            <a:ext cx="6400800" cy="6400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gradFill flip="none" rotWithShape="1">
            <a:gsLst>
              <a:gs pos="0">
                <a:srgbClr val="6366F1">
                  <a:alpha val="30000"/>
                </a:srgbClr>
              </a:gs>
              <a:gs pos="16667">
                <a:srgbClr val="8465F0">
                  <a:alpha val="28333"/>
                </a:srgbClr>
              </a:gs>
              <a:gs pos="33333">
                <a:srgbClr val="A065EA">
                  <a:alpha val="26667"/>
                </a:srgbClr>
              </a:gs>
              <a:gs pos="50000">
                <a:srgbClr val="B967E1">
                  <a:alpha val="25000"/>
                </a:srgbClr>
              </a:gs>
              <a:gs pos="66667">
                <a:srgbClr val="CF69D5">
                  <a:alpha val="23333"/>
                </a:srgbClr>
              </a:gs>
              <a:gs pos="83333">
                <a:srgbClr val="E36DC6">
                  <a:alpha val="21667"/>
                </a:srgbClr>
              </a:gs>
              <a:gs pos="100000">
                <a:srgbClr val="F472B6">
                  <a:alpha val="20000"/>
                </a:srgbClr>
              </a:gs>
            </a:gsLst>
            <a:lin ang="4200000" scaled="0"/>
          </a:gradFill>
          <a:xfrm>
            <a:off x="609600" y="1216223"/>
            <a:ext cx="4408289" cy="4572000"/>
          </a:xfrm>
          <a:prstGeom prst="roundRect">
            <a:avLst/>
          </a:prstGeom>
          <a:ln w="9525">
            <a:solidFill>
              <a:srgbClr val="A78BFA"/>
            </a:solidFill>
          </a:ln>
          <a:effectLst>
            <a:outerShdw blurRad="762000" dist="0" dir="0" algn="ctr" rotWithShape="0">
              <a:srgbClr val="8B5CF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609600" y="1216223"/>
            <a:ext cx="4408289" cy="4572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28675" y="1416248"/>
            <a:ext cx="3970139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FEATURED · NATIVE-AREA RATIO</a:t>
            </a:r>
          </a:p>
        </p:txBody>
      </p:sp>
      <p:sp>
        <p:nvSpPr>
          <p:cNvPr id="13" name="Oval 12"/>
          <p:cNvSpPr/>
          <p:nvPr/>
        </p:nvSpPr>
        <p:spPr>
          <a:xfrm>
            <a:off x="885825" y="4113907"/>
            <a:ext cx="495300" cy="495300"/>
          </a:xfrm>
          <a:prstGeom prst="ellipse">
            <a:avLst/>
          </a:prstGeom>
          <a:noFill/>
          <a:ln w="5715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885825" y="4113907"/>
            <a:ext cx="495300" cy="495300"/>
          </a:xfrm>
          <a:prstGeom prst="ellipse">
            <a:avLst/>
          </a:prstGeom>
          <a:noFill/>
          <a:ln w="571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828675" y="4818757"/>
            <a:ext cx="573435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1" i="0" u="none">
                <a:solidFill>
                  <a:srgbClr val="F5F5F7"/>
                </a:solidFill>
                <a:latin typeface="Inter"/>
              </a:rPr>
              <a:t>95</a:t>
            </a:r>
            <a:r>
              <a:rPr sz="1800" b="1" i="0" u="none">
                <a:solidFill>
                  <a:srgbClr val="A78BFA"/>
                </a:solidFill>
                <a:latin typeface="Inter"/>
              </a:rPr>
              <a:t>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675" y="5256907"/>
            <a:ext cx="3970139" cy="3312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of slide area emits as native, editable PPTX shapes — gradients, shadows, text frames, real preset shapes.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51239" y="1216223"/>
            <a:ext cx="3148905" cy="2219325"/>
          </a:xfrm>
          <a:prstGeom prst="roundRect">
            <a:avLst/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  <a:effectLst>
            <a:innerShdw blurRad="0" dist="9525" dir="5400000">
              <a:srgbClr val="FFFFFF">
                <a:alpha val="16000"/>
              </a:srgbClr>
            </a:innerShdw>
            <a:outerShdw blurRad="381000" dist="152400" dir="5400000" algn="ctr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5151239" y="1216223"/>
            <a:ext cx="3148905" cy="99869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5151239" y="1216223"/>
            <a:ext cx="3148905" cy="2219325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5151239" y="1216223"/>
            <a:ext cx="3148905" cy="2219325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5370314" y="1416248"/>
            <a:ext cx="271075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▲ ARR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70314" y="2650778"/>
            <a:ext cx="2710755" cy="3619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1" i="0" u="none">
                <a:solidFill>
                  <a:srgbClr val="F5F5F7"/>
                </a:solidFill>
                <a:latin typeface="Inter"/>
              </a:rPr>
              <a:t>$12.4M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0314" y="3069878"/>
            <a:ext cx="2710755" cy="1656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34D399"/>
                </a:solidFill>
                <a:latin typeface="Inter"/>
              </a:rPr>
              <a:t>+18.2% Q-o-Q</a:t>
            </a:r>
          </a:p>
        </p:txBody>
      </p:sp>
      <p:sp>
        <p:nvSpPr>
          <p:cNvPr id="24" name="Rectangle 23"/>
          <p:cNvSpPr/>
          <p:nvPr/>
        </p:nvSpPr>
        <p:spPr>
          <a:gradFill flip="none" rotWithShape="1">
            <a:gsLst>
              <a:gs pos="0">
                <a:srgbClr val="F5F5F7">
                  <a:alpha val="55000"/>
                </a:srgbClr>
              </a:gs>
              <a:gs pos="16667">
                <a:srgbClr val="F5F5F7">
                  <a:alpha val="45833"/>
                </a:srgbClr>
              </a:gs>
              <a:gs pos="33333">
                <a:srgbClr val="F5F5F7">
                  <a:alpha val="36667"/>
                </a:srgbClr>
              </a:gs>
              <a:gs pos="50000">
                <a:srgbClr val="F5F5F7">
                  <a:alpha val="27500"/>
                </a:srgbClr>
              </a:gs>
              <a:gs pos="66667">
                <a:srgbClr val="F5F5F7">
                  <a:alpha val="18333"/>
                </a:srgbClr>
              </a:gs>
              <a:gs pos="83333">
                <a:srgbClr val="F5F5F7">
                  <a:alpha val="9167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7016554" y="-665433"/>
            <a:ext cx="5982638" cy="59826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/>
          <p:cNvSpPr/>
          <p:nvPr/>
        </p:nvSpPr>
        <p:spPr>
          <a:gradFill flip="none" rotWithShape="1">
            <a:gsLst>
              <a:gs pos="0">
                <a:srgbClr val="F472B6">
                  <a:alpha val="40000"/>
                </a:srgbClr>
              </a:gs>
              <a:gs pos="6667">
                <a:srgbClr val="E36DC6">
                  <a:alpha val="36000"/>
                </a:srgbClr>
              </a:gs>
              <a:gs pos="13333">
                <a:srgbClr val="CF69D5">
                  <a:alpha val="32000"/>
                </a:srgbClr>
              </a:gs>
              <a:gs pos="20000">
                <a:srgbClr val="B967E1">
                  <a:alpha val="28000"/>
                </a:srgbClr>
              </a:gs>
              <a:gs pos="26667">
                <a:srgbClr val="A065EA">
                  <a:alpha val="24000"/>
                </a:srgbClr>
              </a:gs>
              <a:gs pos="33333">
                <a:srgbClr val="8465F0">
                  <a:alpha val="20000"/>
                </a:srgbClr>
              </a:gs>
              <a:gs pos="40000">
                <a:srgbClr val="6366F1">
                  <a:alpha val="16000"/>
                </a:srgbClr>
              </a:gs>
              <a:gs pos="50000">
                <a:srgbClr val="6446B7">
                  <a:alpha val="22500"/>
                </a:srgbClr>
              </a:gs>
              <a:gs pos="60000">
                <a:srgbClr val="562B7E">
                  <a:alpha val="29000"/>
                </a:srgbClr>
              </a:gs>
              <a:gs pos="70000">
                <a:srgbClr val="40164C">
                  <a:alpha val="35500"/>
                </a:srgbClr>
              </a:gs>
              <a:gs pos="80000">
                <a:srgbClr val="250622">
                  <a:alpha val="42000"/>
                </a:srgbClr>
              </a:gs>
              <a:gs pos="90000">
                <a:srgbClr val="090105">
                  <a:alpha val="48500"/>
                </a:srgbClr>
              </a:gs>
              <a:gs pos="100000">
                <a:srgbClr val="000000">
                  <a:alpha val="55000"/>
                </a:srgbClr>
              </a:gs>
            </a:gsLst>
            <a:path path="circle">
              <a:fillToRect l="50000" t="30000" r="50000" b="70000"/>
            </a:path>
          </a:gradFill>
          <a:xfrm>
            <a:off x="8433495" y="1216223"/>
            <a:ext cx="3148757" cy="2219325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8652570" y="1416248"/>
            <a:ext cx="271060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UPTIME · 90D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2570" y="2631728"/>
            <a:ext cx="1044029" cy="4000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1" i="0" u="none">
                <a:solidFill>
                  <a:srgbClr val="F5F5F7"/>
                </a:solidFill>
                <a:latin typeface="Inter"/>
              </a:rPr>
              <a:t>99.98</a:t>
            </a:r>
            <a:r>
              <a:rPr sz="1800" b="1" i="0" u="none">
                <a:solidFill>
                  <a:srgbClr val="F5F5F7"/>
                </a:solidFill>
                <a:latin typeface="Inter"/>
              </a:rPr>
              <a:t>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52570" y="3069878"/>
            <a:ext cx="2710607" cy="16564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5,182 of 5,184 deploys passed SSIM ≥ 0.95.</a:t>
            </a:r>
          </a:p>
        </p:txBody>
      </p:sp>
      <p:sp>
        <p:nvSpPr>
          <p:cNvPr id="29" name="Rectangle 28"/>
          <p:cNvSpPr/>
          <p:nvPr/>
        </p:nvSpPr>
        <p:spPr>
          <a:gradFill flip="none" rotWithShape="1">
            <a:gsLst>
              <a:gs pos="0">
                <a:srgbClr val="F5F5F7">
                  <a:alpha val="40000"/>
                </a:srgbClr>
              </a:gs>
              <a:gs pos="16667">
                <a:srgbClr val="F5F5F7">
                  <a:alpha val="33333"/>
                </a:srgbClr>
              </a:gs>
              <a:gs pos="33333">
                <a:srgbClr val="F5F5F7">
                  <a:alpha val="26667"/>
                </a:srgbClr>
              </a:gs>
              <a:gs pos="50000">
                <a:srgbClr val="F5F5F7">
                  <a:alpha val="20000"/>
                </a:srgbClr>
              </a:gs>
              <a:gs pos="66667">
                <a:srgbClr val="F5F5F7">
                  <a:alpha val="13333"/>
                </a:srgbClr>
              </a:gs>
              <a:gs pos="83333">
                <a:srgbClr val="F5F5F7">
                  <a:alpha val="6667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3017585" y="1031647"/>
            <a:ext cx="5803993" cy="5803993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gradFill flip="none" rotWithShape="1">
            <a:gsLst>
              <a:gs pos="0">
                <a:srgbClr val="1E1B4B">
                  <a:alpha val="35000"/>
                </a:srgbClr>
              </a:gs>
              <a:gs pos="16667">
                <a:srgbClr val="1E1B4B">
                  <a:alpha val="29167"/>
                </a:srgbClr>
              </a:gs>
              <a:gs pos="33333">
                <a:srgbClr val="1E1B4B">
                  <a:alpha val="23333"/>
                </a:srgbClr>
              </a:gs>
              <a:gs pos="50000">
                <a:srgbClr val="1E1B4B">
                  <a:alpha val="17500"/>
                </a:srgbClr>
              </a:gs>
              <a:gs pos="66667">
                <a:srgbClr val="1E1B4B">
                  <a:alpha val="11667"/>
                </a:srgbClr>
              </a:gs>
              <a:gs pos="83333">
                <a:srgbClr val="1E1B4B">
                  <a:alpha val="5833"/>
                </a:srgbClr>
              </a:gs>
              <a:gs pos="100000">
                <a:srgbClr val="1E1B4B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3823695" y="1615343"/>
            <a:ext cx="6126437" cy="6126437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gradFill flip="none" rotWithShape="1">
            <a:gsLst>
              <a:gs pos="0">
                <a:srgbClr val="A78BFA">
                  <a:alpha val="40000"/>
                </a:srgbClr>
              </a:gs>
              <a:gs pos="16667">
                <a:srgbClr val="A78BFA">
                  <a:alpha val="33333"/>
                </a:srgbClr>
              </a:gs>
              <a:gs pos="33333">
                <a:srgbClr val="A78BFA">
                  <a:alpha val="26667"/>
                </a:srgbClr>
              </a:gs>
              <a:gs pos="50000">
                <a:srgbClr val="A78BFA">
                  <a:alpha val="20000"/>
                </a:srgbClr>
              </a:gs>
              <a:gs pos="66667">
                <a:srgbClr val="A78BFA">
                  <a:alpha val="13333"/>
                </a:srgbClr>
              </a:gs>
              <a:gs pos="83333">
                <a:srgbClr val="A78BFA">
                  <a:alpha val="6667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4726539" y="2521482"/>
            <a:ext cx="5803993" cy="5803993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/>
          <p:cNvSpPr/>
          <p:nvPr/>
        </p:nvSpPr>
        <p:spPr>
          <a:gradFill flip="none" rotWithShape="1">
            <a:gsLst>
              <a:gs pos="0">
                <a:srgbClr val="6366F1">
                  <a:alpha val="20000"/>
                </a:srgbClr>
              </a:gs>
              <a:gs pos="30000">
                <a:srgbClr val="A78BFA">
                  <a:alpha val="10000"/>
                </a:srgbClr>
              </a:gs>
              <a:gs pos="60000">
                <a:srgbClr val="F472B6">
                  <a:alpha val="18000"/>
                </a:srgbClr>
              </a:gs>
              <a:gs pos="100000">
                <a:srgbClr val="FB923C">
                  <a:alpha val="10000"/>
                </a:srgbClr>
              </a:gs>
            </a:gsLst>
            <a:lin ang="5400000" scaled="0"/>
          </a:gradFill>
          <a:xfrm>
            <a:off x="5113472" y="3514627"/>
            <a:ext cx="3224440" cy="2327868"/>
          </a:xfrm>
          <a:prstGeom prst="roundRect">
            <a:avLst/>
          </a:prstGeom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5339394" y="3722175"/>
            <a:ext cx="2712761" cy="19931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▲ DECKS / WEEK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82478" y="4955953"/>
            <a:ext cx="2721736" cy="45633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850" b="1" i="0" u="none">
                <a:solidFill>
                  <a:srgbClr val="F5F5F7"/>
                </a:solidFill>
                <a:latin typeface="Inter"/>
              </a:rPr>
              <a:t>1,184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7104" y="5374798"/>
            <a:ext cx="2714885" cy="2601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Across 318 teams in production.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3495" y="3568898"/>
            <a:ext cx="3148757" cy="2219325"/>
          </a:xfrm>
          <a:prstGeom prst="roundRect">
            <a:avLst/>
          </a:prstGeom>
          <a:solidFill>
            <a:srgbClr val="050510"/>
          </a:solidFill>
          <a:ln w="9525">
            <a:solidFill>
              <a:srgbClr val="FFFFFF"/>
            </a:solidFill>
          </a:ln>
          <a:effectLst>
            <a:innerShdw blurRad="76200" dist="19050" dir="5400000">
              <a:srgbClr val="000000">
                <a:alpha val="5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8433495" y="3568898"/>
            <a:ext cx="3148757" cy="2219325"/>
          </a:xfrm>
          <a:prstGeom prst="rect">
            <a:avLst/>
          </a:prstGeom>
          <a:noFill/>
          <a:ln>
            <a:noFill/>
          </a:ln>
          <a:effectLst>
            <a:innerShdw blurRad="95250" dist="0" dir="0">
              <a:srgbClr val="000000">
                <a:alpha val="3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8652570" y="3768923"/>
            <a:ext cx="2710607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Consolas"/>
              </a:rPr>
              <a:t>$ slidify --quiet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52570" y="4895255"/>
            <a:ext cx="1303586" cy="6578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Consolas"/>
              </a:rPr>
              <a:t># compose from atoms</a:t>
            </a:r>
          </a:p>
          <a:p>
            <a:pPr algn="l"/>
            <a:r>
              <a:rPr sz="825" b="0" i="0" u="none">
                <a:solidFill>
                  <a:srgbClr val="C084FC"/>
                </a:solidFill>
                <a:latin typeface="Consolas"/>
              </a:rPr>
              <a:t>deck</a:t>
            </a:r>
            <a:r>
              <a:rPr sz="825" b="0" i="0" u="none">
                <a:solidFill>
                  <a:srgbClr val="34D399"/>
                </a:solidFill>
                <a:latin typeface="Consolas"/>
              </a:rPr>
              <a:t>.compose(</a:t>
            </a:r>
          </a:p>
          <a:p>
            <a:pPr algn="l"/>
            <a:r>
              <a:rPr sz="825" b="0" i="0" u="none">
                <a:solidFill>
                  <a:srgbClr val="34D399"/>
                </a:solidFill>
                <a:latin typeface="Consolas"/>
              </a:rPr>
              <a:t xml:space="preserve">  "hero", "bento")</a:t>
            </a:r>
          </a:p>
          <a:p>
            <a:pPr algn="l"/>
            <a:r>
              <a:rPr sz="825" b="0" i="0" u="none">
                <a:solidFill>
                  <a:srgbClr val="34D399"/>
                </a:solidFill>
                <a:latin typeface="Consolas"/>
              </a:rPr>
              <a:t xml:space="preserve">
        → out.pptx ✓
     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21107" y="6515100"/>
            <a:ext cx="106129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05 / 16 · BENTO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000000">
                  <a:alpha val="4000"/>
                </a:srgbClr>
              </a:gs>
              <a:gs pos="100000">
                <a:srgbClr val="000000">
                  <a:alpha val="4000"/>
                </a:srgbClr>
              </a:gs>
            </a:gsLst>
            <a:lin ang="162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702275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C3AED"/>
                </a:solidFill>
                <a:latin typeface="Inter"/>
              </a:rPr>
              <a:t>PRODUCT · 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28650"/>
            <a:ext cx="7022753" cy="30003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06060C"/>
                </a:solidFill>
                <a:latin typeface="Inter"/>
              </a:rPr>
              <a:t>Every cluster routed to a native primitive — annotated.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82659" y="814388"/>
            <a:ext cx="149974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06 / 16 · ANATOMY</a:t>
            </a:r>
          </a:p>
        </p:txBody>
      </p:sp>
      <p:sp>
        <p:nvSpPr>
          <p:cNvPr id="6" name="Freeform 5"/>
          <p:cNvSpPr/>
          <p:nvPr/>
        </p:nvSpPr>
        <p:spPr>
          <a:xfrm>
            <a:off x="1943100" y="2052638"/>
            <a:ext cx="228600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lnTo>
                  <a:pt x="33333" y="23077"/>
                </a:lnTo>
                <a:lnTo>
                  <a:pt x="100000" y="100000"/>
                </a:lnTo>
              </a:path>
            </a:pathLst>
          </a:custGeom>
          <a:noFill/>
          <a:ln w="1143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191000" y="3252788"/>
            <a:ext cx="76200" cy="76200"/>
          </a:xfrm>
          <a:prstGeom prst="ellipse">
            <a:avLst/>
          </a:prstGeom>
          <a:solidFill>
            <a:srgbClr val="F472B6"/>
          </a:solidFill>
          <a:ln w="14288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7943850" y="2052638"/>
            <a:ext cx="228600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lnTo>
                  <a:pt x="62500" y="30769"/>
                </a:lnTo>
                <a:lnTo>
                  <a:pt x="0" y="100000"/>
                </a:lnTo>
              </a:path>
            </a:pathLst>
          </a:custGeom>
          <a:noFill/>
          <a:ln w="1143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7905750" y="3252788"/>
            <a:ext cx="76200" cy="76200"/>
          </a:xfrm>
          <a:prstGeom prst="ellipse">
            <a:avLst/>
          </a:prstGeom>
          <a:solidFill>
            <a:srgbClr val="F472B6"/>
          </a:solidFill>
          <a:ln w="14288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1657350" y="4148138"/>
            <a:ext cx="2571750" cy="571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40741" y="66667"/>
                </a:lnTo>
                <a:lnTo>
                  <a:pt x="100000" y="0"/>
                </a:lnTo>
              </a:path>
            </a:pathLst>
          </a:custGeom>
          <a:noFill/>
          <a:ln w="1143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/>
          <p:nvPr/>
        </p:nvSpPr>
        <p:spPr>
          <a:xfrm>
            <a:off x="4191000" y="4110038"/>
            <a:ext cx="76200" cy="76200"/>
          </a:xfrm>
          <a:prstGeom prst="ellipse">
            <a:avLst/>
          </a:prstGeom>
          <a:solidFill>
            <a:srgbClr val="34D399"/>
          </a:solidFill>
          <a:ln w="14288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7943850" y="4148138"/>
            <a:ext cx="2571750" cy="571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100000"/>
                </a:moveTo>
                <a:lnTo>
                  <a:pt x="55556" y="66667"/>
                </a:lnTo>
                <a:lnTo>
                  <a:pt x="0" y="0"/>
                </a:lnTo>
              </a:path>
            </a:pathLst>
          </a:custGeom>
          <a:noFill/>
          <a:ln w="11430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/>
        </p:nvSpPr>
        <p:spPr>
          <a:xfrm>
            <a:off x="7905750" y="4110038"/>
            <a:ext cx="76200" cy="76200"/>
          </a:xfrm>
          <a:prstGeom prst="ellipse">
            <a:avLst/>
          </a:prstGeom>
          <a:solidFill>
            <a:srgbClr val="34D399"/>
          </a:solidFill>
          <a:ln w="14288">
            <a:solidFill>
              <a:srgbClr val="0606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Connector 13"/>
          <p:cNvCxnSpPr/>
          <p:nvPr/>
        </p:nvCxnSpPr>
        <p:spPr>
          <a:xfrm>
            <a:off x="4229100" y="5195888"/>
            <a:ext cx="3714750" cy="0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229100" y="5138738"/>
            <a:ext cx="0" cy="114300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43850" y="5138738"/>
            <a:ext cx="0" cy="114300"/>
          </a:xfrm>
          <a:prstGeom prst="line">
            <a:avLst/>
          </a:prstGeom>
          <a:ln w="9525">
            <a:solidFill>
              <a:srgbClr val="0606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23773" y="5064442"/>
            <a:ext cx="1325404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06060C"/>
                </a:solidFill>
                <a:latin typeface="Inter"/>
              </a:rPr>
              <a:t>540 PX · NATIVE PICTURE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14725" y="2409825"/>
            <a:ext cx="5162550" cy="2333625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>
            <a:outerShdw blurRad="571500" dist="228600" dir="5400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3524250" y="2419350"/>
            <a:ext cx="5143500" cy="409575"/>
          </a:xfrm>
          <a:prstGeom prst="rect">
            <a:avLst/>
          </a:prstGeom>
          <a:solidFill>
            <a:srgbClr val="F4F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3638550" y="2566988"/>
            <a:ext cx="104775" cy="104775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3819525" y="2566988"/>
            <a:ext cx="104775" cy="104775"/>
          </a:xfrm>
          <a:prstGeom prst="ellipse">
            <a:avLst/>
          </a:prstGeom>
          <a:solidFill>
            <a:srgbClr val="FAC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4000500" y="2566988"/>
            <a:ext cx="104775" cy="104775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4181475" y="2505075"/>
            <a:ext cx="1288373" cy="228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52525B"/>
                </a:solidFill>
                <a:latin typeface="Inter"/>
              </a:rPr>
              <a:t>slidify.sh / atomic-seed</a:t>
            </a:r>
          </a:p>
        </p:txBody>
      </p:sp>
      <p:sp>
        <p:nvSpPr>
          <p:cNvPr id="24" name="TextBox 23"/>
          <p:cNvSpPr txBox="1"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4200000" scaled="0"/>
          </a:gradFill>
          <a:xfrm>
            <a:off x="3524250" y="2828925"/>
            <a:ext cx="5143500" cy="19050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l"/>
            <a:r>
              <a:rPr sz="2400" b="1" i="0" u="none">
                <a:solidFill>
                  <a:srgbClr val="FFFFFF"/>
                </a:solidFill>
                <a:latin typeface="Inter"/>
              </a:rPr>
              <a:t>slidify · atomic seed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200" y="1852612"/>
            <a:ext cx="827633" cy="219075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7"/>
                </a:solidFill>
                <a:latin typeface="Inter"/>
              </a:rPr>
              <a:t>CHROME BAR</a:t>
            </a:r>
            <a:r>
              <a:rPr sz="800" b="1" i="0" u="none">
                <a:solidFill>
                  <a:srgbClr val="A78BFA"/>
                </a:solidFill>
                <a:latin typeface="Consolas"/>
              </a:rPr>
              <a:t>→ NativeShape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3301" y="1852612"/>
            <a:ext cx="660499" cy="219075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7"/>
                </a:solidFill>
                <a:latin typeface="Inter"/>
              </a:rPr>
              <a:t>URL FIELD</a:t>
            </a:r>
            <a:r>
              <a:rPr sz="800" b="1" i="0" u="none">
                <a:solidFill>
                  <a:srgbClr val="A78BFA"/>
                </a:solidFill>
                <a:latin typeface="Consolas"/>
              </a:rPr>
              <a:t>→ NativeText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" y="4519612"/>
            <a:ext cx="1320998" cy="219075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7"/>
                </a:solidFill>
                <a:latin typeface="Inter"/>
              </a:rPr>
              <a:t>HERO GRADIENT</a:t>
            </a:r>
            <a:r>
              <a:rPr sz="800" b="1" i="0" u="none">
                <a:solidFill>
                  <a:srgbClr val="A78BFA"/>
                </a:solidFill>
                <a:latin typeface="Consolas"/>
              </a:rPr>
              <a:t>→ NativeShape · gradFill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2786" y="4519612"/>
            <a:ext cx="1211014" cy="219075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7"/>
                </a:solidFill>
                <a:latin typeface="Inter"/>
              </a:rPr>
              <a:t>CTA TEXT</a:t>
            </a:r>
            <a:r>
              <a:rPr sz="800" b="1" i="0" u="none">
                <a:solidFill>
                  <a:srgbClr val="A78BFA"/>
                </a:solidFill>
                <a:latin typeface="Consolas"/>
              </a:rPr>
              <a:t>→ NativeText · per-run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151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SLIDIFY · ATOMIC SEED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095" y="6515100"/>
            <a:ext cx="125030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06 / 16 · ANATOMY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20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67E8F9">
                  <a:alpha val="6000"/>
                </a:srgbClr>
              </a:gs>
              <a:gs pos="100000">
                <a:srgbClr val="67E8F9">
                  <a:alpha val="6000"/>
                </a:srgbClr>
              </a:gs>
            </a:gsLst>
            <a:lin ang="162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457200"/>
            <a:ext cx="6767215" cy="2667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" b="1" i="0" u="none">
                <a:solidFill>
                  <a:srgbClr val="67E8F9"/>
                </a:solidFill>
                <a:latin typeface="Consolas"/>
              </a:rPr>
              <a:t>$ slidify spec --version 0.4 --target landing-page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37527" y="619125"/>
            <a:ext cx="184487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 xml:space="preserve">REV · </a:t>
            </a:r>
            <a:r>
              <a:rPr sz="800" b="1" i="0" u="none">
                <a:solidFill>
                  <a:srgbClr val="A78BFA"/>
                </a:solidFill>
                <a:latin typeface="Consolas"/>
              </a:rPr>
              <a:t>04.A</a:t>
            </a:r>
            <a:r>
              <a:rPr sz="800" b="1" i="0" u="none">
                <a:solidFill>
                  <a:srgbClr val="67E8F9"/>
                </a:solidFill>
                <a:latin typeface="Consolas"/>
              </a:rPr>
              <a:t xml:space="preserve"> · 2026·05·01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019175"/>
            <a:ext cx="5891510" cy="4953000"/>
          </a:xfrm>
          <a:prstGeom prst="roundRect">
            <a:avLst/>
          </a:prstGeom>
          <a:solidFill>
            <a:srgbClr val="67E8F9">
              <a:alpha val="4000"/>
            </a:srgbClr>
          </a:solidFill>
          <a:ln w="9525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524633" y="2029042"/>
            <a:ext cx="4061445" cy="2707630"/>
          </a:xfrm>
          <a:prstGeom prst="rect">
            <a:avLst/>
          </a:prstGeom>
          <a:noFill/>
          <a:ln w="14288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975904" y="2480314"/>
            <a:ext cx="3158902" cy="1353815"/>
          </a:xfrm>
          <a:prstGeom prst="rect">
            <a:avLst/>
          </a:prstGeom>
          <a:noFill/>
          <a:ln w="19050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1975904" y="4059765"/>
            <a:ext cx="1353815" cy="451272"/>
          </a:xfrm>
          <a:prstGeom prst="roundRect">
            <a:avLst/>
          </a:prstGeom>
          <a:solidFill>
            <a:srgbClr val="67E8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1975904" y="4059765"/>
            <a:ext cx="1353815" cy="451272"/>
          </a:xfrm>
          <a:prstGeom prst="roundRect">
            <a:avLst/>
          </a:prstGeom>
          <a:noFill/>
          <a:ln w="14288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Connector 10"/>
          <p:cNvCxnSpPr/>
          <p:nvPr/>
        </p:nvCxnSpPr>
        <p:spPr>
          <a:xfrm>
            <a:off x="1524633" y="1803406"/>
            <a:ext cx="4061445" cy="0"/>
          </a:xfrm>
          <a:prstGeom prst="line">
            <a:avLst/>
          </a:prstGeom>
          <a:ln w="9525">
            <a:solidFill>
              <a:srgbClr val="67E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524633" y="1735715"/>
            <a:ext cx="0" cy="135382"/>
          </a:xfrm>
          <a:prstGeom prst="line">
            <a:avLst/>
          </a:prstGeom>
          <a:ln w="9525">
            <a:solidFill>
              <a:srgbClr val="67E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86078" y="1735715"/>
            <a:ext cx="0" cy="135382"/>
          </a:xfrm>
          <a:prstGeom prst="line">
            <a:avLst/>
          </a:prstGeom>
          <a:ln w="9525">
            <a:solidFill>
              <a:srgbClr val="67E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298997" y="2029042"/>
            <a:ext cx="0" cy="2707630"/>
          </a:xfrm>
          <a:prstGeom prst="line">
            <a:avLst/>
          </a:prstGeom>
          <a:ln w="9525">
            <a:solidFill>
              <a:srgbClr val="67E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231306" y="2029042"/>
            <a:ext cx="135381" cy="0"/>
          </a:xfrm>
          <a:prstGeom prst="line">
            <a:avLst/>
          </a:prstGeom>
          <a:ln w="9525">
            <a:solidFill>
              <a:srgbClr val="67E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231306" y="4736672"/>
            <a:ext cx="135381" cy="0"/>
          </a:xfrm>
          <a:prstGeom prst="line">
            <a:avLst/>
          </a:prstGeom>
          <a:ln w="9525">
            <a:solidFill>
              <a:srgbClr val="67E8F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57225" y="1161635"/>
            <a:ext cx="381000" cy="381000"/>
          </a:xfrm>
          <a:prstGeom prst="ellipse">
            <a:avLst/>
          </a:prstGeom>
          <a:noFill/>
          <a:ln w="952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752475" y="1256885"/>
            <a:ext cx="190500" cy="190500"/>
          </a:xfrm>
          <a:prstGeom prst="ellipse">
            <a:avLst/>
          </a:prstGeom>
          <a:noFill/>
          <a:ln w="9525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Connector 18"/>
          <p:cNvCxnSpPr/>
          <p:nvPr/>
        </p:nvCxnSpPr>
        <p:spPr>
          <a:xfrm>
            <a:off x="554398" y="1352135"/>
            <a:ext cx="586654" cy="0"/>
          </a:xfrm>
          <a:prstGeom prst="line">
            <a:avLst/>
          </a:prstGeom>
          <a:ln w="9525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47725" y="1058808"/>
            <a:ext cx="0" cy="586653"/>
          </a:xfrm>
          <a:prstGeom prst="line">
            <a:avLst/>
          </a:prstGeom>
          <a:ln w="9525">
            <a:solidFill>
              <a:srgbClr val="A78B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690961" y="3102399"/>
            <a:ext cx="1728788" cy="2619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650" b="1" i="0">
                <a:solidFill>
                  <a:srgbClr val="67E8F9"/>
                </a:solidFill>
                <a:latin typeface="Consolas"/>
              </a:rPr>
              <a:t>slide.compose()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78241" y="4257989"/>
            <a:ext cx="749141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67E8F9"/>
                </a:solidFill>
                <a:latin typeface="Consolas"/>
              </a:rPr>
              <a:t>CTA · TACTILE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53663" y="1629332"/>
            <a:ext cx="403384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67E8F9"/>
                </a:solidFill>
                <a:latin typeface="Consolas"/>
              </a:rPr>
              <a:t>1280 PX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482" y="3299037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>
                <a:solidFill>
                  <a:srgbClr val="67E8F9"/>
                </a:solidFill>
                <a:latin typeface="Consolas"/>
              </a:rPr>
              <a:t>720 PX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2560" y="1019175"/>
            <a:ext cx="4909840" cy="1574750"/>
          </a:xfrm>
          <a:prstGeom prst="roundRect">
            <a:avLst/>
          </a:prstGeom>
          <a:solidFill>
            <a:srgbClr val="67E8F9">
              <a:alpha val="4000"/>
            </a:srgbClr>
          </a:solidFill>
          <a:ln w="9525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853535" y="1200150"/>
            <a:ext cx="454789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>FRAME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3535" y="1381125"/>
            <a:ext cx="688181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viewport.w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9668" y="1381125"/>
            <a:ext cx="481757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1280 PX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3535" y="1558230"/>
            <a:ext cx="688181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viewport.h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88427" y="1558230"/>
            <a:ext cx="412998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720 PX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3535" y="1735336"/>
            <a:ext cx="61942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safe-area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06819" y="1735336"/>
            <a:ext cx="894606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1136 × 510 PX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2560" y="2708225"/>
            <a:ext cx="4909840" cy="1574750"/>
          </a:xfrm>
          <a:prstGeom prst="roundRect">
            <a:avLst/>
          </a:prstGeom>
          <a:solidFill>
            <a:srgbClr val="67E8F9">
              <a:alpha val="4000"/>
            </a:srgbClr>
          </a:solidFill>
          <a:ln w="9525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6853535" y="2889200"/>
            <a:ext cx="454789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>EMIT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3535" y="3070175"/>
            <a:ext cx="1169938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native_area_ratio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88427" y="3070175"/>
            <a:ext cx="412998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34D399"/>
                </a:solidFill>
                <a:latin typeface="Consolas"/>
              </a:rPr>
              <a:t>≥ 0.95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3535" y="3247281"/>
            <a:ext cx="96351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fonts.embedded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13244" y="3247281"/>
            <a:ext cx="688181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9 families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3535" y="3424386"/>
            <a:ext cx="757089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tier-0 hits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82002" y="3424386"/>
            <a:ext cx="61942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247 / 318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72560" y="4397276"/>
            <a:ext cx="4909840" cy="1574899"/>
          </a:xfrm>
          <a:prstGeom prst="roundRect">
            <a:avLst/>
          </a:prstGeom>
          <a:solidFill>
            <a:srgbClr val="67E8F9">
              <a:alpha val="4000"/>
            </a:srgbClr>
          </a:solidFill>
          <a:ln w="9525">
            <a:solidFill>
              <a:srgbClr val="67E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6853535" y="4578251"/>
            <a:ext cx="454789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>COMPOSITION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3535" y="4759226"/>
            <a:ext cx="894606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atoms / slide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57334" y="4759226"/>
            <a:ext cx="344091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4 — 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3535" y="4936331"/>
            <a:ext cx="96351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axes / cluster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94852" y="4936331"/>
            <a:ext cx="20657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≤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3535" y="5113437"/>
            <a:ext cx="894606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94A3B8"/>
                </a:solidFill>
                <a:latin typeface="Consolas"/>
              </a:rPr>
              <a:t>z-stack depth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194852" y="5113437"/>
            <a:ext cx="206573" cy="1771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67E8F9"/>
                </a:solidFill>
                <a:latin typeface="Consolas"/>
              </a:rPr>
              <a:t>≤ 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600" y="6581775"/>
            <a:ext cx="141535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>SLIDIFY · BLUEPRINT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092482" y="6581775"/>
            <a:ext cx="148991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67E8F9"/>
                </a:solidFill>
                <a:latin typeface="Consolas"/>
              </a:rPr>
              <a:t>07 / 16 · SPEC SHEET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10000">
                <a:srgbClr val="1B1841"/>
              </a:gs>
              <a:gs pos="20000">
                <a:srgbClr val="171538"/>
              </a:gs>
              <a:gs pos="30000">
                <a:srgbClr val="14132E"/>
              </a:gs>
              <a:gs pos="40000">
                <a:srgbClr val="101025"/>
              </a:gs>
              <a:gs pos="50000">
                <a:srgbClr val="0D0D1C"/>
              </a:gs>
              <a:gs pos="60000">
                <a:srgbClr val="0A0A14"/>
              </a:gs>
              <a:gs pos="66667">
                <a:srgbClr val="080812"/>
              </a:gs>
              <a:gs pos="73333">
                <a:srgbClr val="060610"/>
              </a:gs>
              <a:gs pos="80000">
                <a:srgbClr val="05050E"/>
              </a:gs>
              <a:gs pos="86667">
                <a:srgbClr val="04040C"/>
              </a:gs>
              <a:gs pos="93333">
                <a:srgbClr val="03030A"/>
              </a:gs>
              <a:gs pos="100000">
                <a:srgbClr val="020208"/>
              </a:gs>
            </a:gsLst>
            <a:path path="circle">
              <a:fillToRect l="50000" t="50000" r="50000" b="5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534769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PIPELINE ·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28650"/>
            <a:ext cx="5347692" cy="30003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Render. Cluster. Classify. Emit. — looped.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27840" y="814388"/>
            <a:ext cx="195456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08 / 16 · PROCESS RING</a:t>
            </a:r>
          </a:p>
        </p:txBody>
      </p:sp>
      <p:sp>
        <p:nvSpPr>
          <p:cNvPr id="6" name="Oval 5"/>
          <p:cNvSpPr/>
          <p:nvPr/>
        </p:nvSpPr>
        <p:spPr>
          <a:xfrm>
            <a:off x="4191000" y="1795462"/>
            <a:ext cx="3810000" cy="3810000"/>
          </a:xfrm>
          <a:prstGeom prst="ellipse">
            <a:avLst/>
          </a:prstGeom>
          <a:noFill/>
          <a:ln w="19050">
            <a:solidFill>
              <a:srgbClr val="A78BFA">
                <a:alpha val="30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6038850" y="1738312"/>
            <a:ext cx="114300" cy="1143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7943850" y="3643312"/>
            <a:ext cx="114300" cy="114300"/>
          </a:xfrm>
          <a:prstGeom prst="ellipse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/>
          <p:nvPr/>
        </p:nvSpPr>
        <p:spPr>
          <a:xfrm>
            <a:off x="6038850" y="5548312"/>
            <a:ext cx="114300" cy="114300"/>
          </a:xfrm>
          <a:prstGeom prst="ellipse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4133850" y="3643312"/>
            <a:ext cx="114300" cy="114300"/>
          </a:xfrm>
          <a:prstGeom prst="ellipse">
            <a:avLst/>
          </a:prstGeom>
          <a:solidFill>
            <a:srgbClr val="FB9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6096000" y="1985962"/>
            <a:ext cx="1714500" cy="1714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0"/>
                </a:moveTo>
                <a:cubicBezTo>
                  <a:pt x="54858" y="0"/>
                  <a:pt x="100000" y="45142"/>
                  <a:pt x="100000" y="100000"/>
                </a:cubicBezTo>
              </a:path>
            </a:pathLst>
          </a:custGeom>
          <a:noFill/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/>
          <p:cNvSpPr/>
          <p:nvPr/>
        </p:nvSpPr>
        <p:spPr>
          <a:xfrm>
            <a:off x="6096000" y="3700462"/>
            <a:ext cx="1714500" cy="1714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0"/>
                </a:moveTo>
                <a:cubicBezTo>
                  <a:pt x="100000" y="54858"/>
                  <a:pt x="54858" y="100000"/>
                  <a:pt x="0" y="100000"/>
                </a:cubicBezTo>
              </a:path>
            </a:pathLst>
          </a:custGeom>
          <a:noFill/>
          <a:ln w="1905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 12"/>
          <p:cNvSpPr/>
          <p:nvPr/>
        </p:nvSpPr>
        <p:spPr>
          <a:xfrm>
            <a:off x="4381500" y="3700462"/>
            <a:ext cx="1714500" cy="1714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00000" y="100000"/>
                </a:moveTo>
                <a:cubicBezTo>
                  <a:pt x="45142" y="100000"/>
                  <a:pt x="0" y="54858"/>
                  <a:pt x="0" y="0"/>
                </a:cubicBezTo>
              </a:path>
            </a:pathLst>
          </a:custGeom>
          <a:noFill/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13"/>
          <p:cNvSpPr/>
          <p:nvPr/>
        </p:nvSpPr>
        <p:spPr>
          <a:xfrm>
            <a:off x="4381500" y="1985962"/>
            <a:ext cx="1714500" cy="1714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0" y="45142"/>
                  <a:pt x="45142" y="0"/>
                  <a:pt x="100000" y="0"/>
                </a:cubicBezTo>
              </a:path>
            </a:pathLst>
          </a:custGeom>
          <a:noFill/>
          <a:ln w="19050">
            <a:solidFill>
              <a:srgbClr val="FB9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ounded Rectangle 14"/>
          <p:cNvSpPr/>
          <p:nvPr/>
        </p:nvSpPr>
        <p:spPr>
          <a:xfrm>
            <a:off x="4772025" y="2967335"/>
            <a:ext cx="2647950" cy="1466255"/>
          </a:xfrm>
          <a:prstGeom prst="roundRect">
            <a:avLst/>
          </a:prstGeom>
          <a:solidFill>
            <a:srgbClr val="000000">
              <a:alpha val="55000"/>
            </a:srgbClr>
          </a:solidFill>
          <a:ln w="9525">
            <a:solidFill>
              <a:srgbClr val="A78BFA"/>
            </a:solidFill>
          </a:ln>
          <a:effectLst>
            <a:innerShdw blurRad="0" dist="9525" dir="5400000">
              <a:srgbClr val="FFFFFF">
                <a:alpha val="10000"/>
              </a:srgbClr>
            </a:innerShdw>
            <a:outerShdw blurRad="381000" dist="152400" dir="5400000" algn="ctr" rotWithShape="0">
              <a:srgbClr val="6366F1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4772025" y="2967335"/>
            <a:ext cx="2647950" cy="1466255"/>
          </a:xfrm>
          <a:prstGeom prst="rect">
            <a:avLst/>
          </a:prstGeom>
          <a:noFill/>
          <a:ln>
            <a:noFill/>
          </a:ln>
          <a:effectLst>
            <a:innerShdw blurRad="95250" dist="0" dir="0">
              <a:srgbClr val="000000">
                <a:alpha val="3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4953000" y="3148310"/>
            <a:ext cx="22860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Consolas"/>
              </a:rPr>
              <a:t>$ slidify convert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310235"/>
            <a:ext cx="2286000" cy="2381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1650" b="1" i="0" u="none">
                <a:solidFill>
                  <a:srgbClr val="34D399"/>
                </a:solidFill>
                <a:latin typeface="Consolas"/>
              </a:rPr>
              <a:t>native_area_ratio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53000" y="3643610"/>
            <a:ext cx="2286000" cy="3619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ctr"/>
            <a:r>
              <a:rPr sz="2400" b="1" i="0" u="none">
                <a:solidFill>
                  <a:srgbClr val="34D399"/>
                </a:solidFill>
                <a:latin typeface="Consolas"/>
              </a:rPr>
              <a:t>0.97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3000" y="4100810"/>
            <a:ext cx="22860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0" i="0" u="none">
                <a:solidFill>
                  <a:srgbClr val="FFFFFF"/>
                </a:solidFill>
                <a:latin typeface="Inter"/>
              </a:rPr>
              <a:t>23 s · 12 slides · 0 raster fallbacks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86375" y="1147762"/>
            <a:ext cx="1619250" cy="9417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5915025" y="1147762"/>
            <a:ext cx="361950" cy="361950"/>
          </a:xfrm>
          <a:prstGeom prst="rect">
            <a:avLst/>
          </a:prstGeom>
          <a:solidFill>
            <a:srgbClr val="A78BFA"/>
          </a:solidFill>
          <a:effectLst>
            <a:outerShdw blurRad="0" dist="0" dir="0" algn="ctr" rotWithShape="0">
              <a:srgbClr val="0A0A14"/>
            </a:out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6375" y="1585912"/>
            <a:ext cx="161925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F5F5F7"/>
                </a:solidFill>
                <a:latin typeface="Inter"/>
              </a:rPr>
              <a:t>Render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86375" y="1785938"/>
            <a:ext cx="161925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25" b="0" i="0" u="none">
                <a:solidFill>
                  <a:srgbClr val="A1A1AA"/>
                </a:solidFill>
                <a:latin typeface="Inter"/>
              </a:rPr>
              <a:t>Headless Chromium captures resolved pixel layout.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86950" y="3229570"/>
            <a:ext cx="1619250" cy="9417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0515600" y="3229570"/>
            <a:ext cx="361950" cy="361950"/>
          </a:xfrm>
          <a:prstGeom prst="rect">
            <a:avLst/>
          </a:prstGeom>
          <a:solidFill>
            <a:srgbClr val="C084FC"/>
          </a:solidFill>
          <a:effectLst>
            <a:outerShdw blurRad="0" dist="0" dir="0" algn="ctr" rotWithShape="0">
              <a:srgbClr val="0A0A14"/>
            </a:out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86950" y="3667720"/>
            <a:ext cx="161925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F5F5F7"/>
                </a:solidFill>
                <a:latin typeface="Inter"/>
              </a:rPr>
              <a:t>Cluster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86950" y="3867745"/>
            <a:ext cx="161925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25" b="0" i="0" u="none">
                <a:solidFill>
                  <a:srgbClr val="A1A1AA"/>
                </a:solidFill>
                <a:latin typeface="Inter"/>
              </a:rPr>
              <a:t>DOM elements grouped into atomic visual units.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86375" y="5311378"/>
            <a:ext cx="1619250" cy="9417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5915025" y="5311378"/>
            <a:ext cx="361950" cy="361950"/>
          </a:xfrm>
          <a:prstGeom prst="rect">
            <a:avLst/>
          </a:prstGeom>
          <a:solidFill>
            <a:srgbClr val="F472B6"/>
          </a:solidFill>
          <a:effectLst>
            <a:outerShdw blurRad="0" dist="0" dir="0" algn="ctr" rotWithShape="0">
              <a:srgbClr val="0A0A14"/>
            </a:out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86375" y="5749528"/>
            <a:ext cx="161925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F5F5F7"/>
                </a:solidFill>
                <a:latin typeface="Inter"/>
              </a:rPr>
              <a:t>Classify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86375" y="5949553"/>
            <a:ext cx="161925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25" b="0" i="0" u="none">
                <a:solidFill>
                  <a:srgbClr val="A1A1AA"/>
                </a:solidFill>
                <a:latin typeface="Inter"/>
              </a:rPr>
              <a:t>Tier-0 atom registry → tier-1 rules → tier-2 heuristics.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3229570"/>
            <a:ext cx="1619250" cy="9417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1314450" y="3229570"/>
            <a:ext cx="361950" cy="361950"/>
          </a:xfrm>
          <a:prstGeom prst="rect">
            <a:avLst/>
          </a:prstGeom>
          <a:solidFill>
            <a:srgbClr val="FB923C"/>
          </a:solidFill>
          <a:effectLst>
            <a:outerShdw blurRad="0" dist="0" dir="0" algn="ctr" rotWithShape="0">
              <a:srgbClr val="0A0A14"/>
            </a:out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A0F"/>
                </a:solidFill>
                <a:latin typeface="Inter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667720"/>
            <a:ext cx="161925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25" b="1" i="0" u="none">
                <a:solidFill>
                  <a:srgbClr val="F5F5F7"/>
                </a:solidFill>
                <a:latin typeface="Inter"/>
              </a:rPr>
              <a:t>Emit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3867745"/>
            <a:ext cx="161925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25" b="0" i="0" u="none">
                <a:solidFill>
                  <a:srgbClr val="A1A1AA"/>
                </a:solidFill>
                <a:latin typeface="Inter"/>
              </a:rPr>
              <a:t>python-pptx writes native shapes with EMU precision.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657225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50500" y="6572250"/>
            <a:ext cx="16319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08 / 16 · PROCESS 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202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A78BFA">
                  <a:alpha val="6000"/>
                </a:srgbClr>
              </a:gs>
              <a:gs pos="100000">
                <a:srgbClr val="A78BFA">
                  <a:alpha val="6000"/>
                </a:srgbClr>
              </a:gs>
            </a:gsLst>
            <a:lin ang="162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457200"/>
            <a:ext cx="6789093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Consolas"/>
              </a:rPr>
              <a:t>$ slidify ticker --live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8175"/>
            <a:ext cx="6789093" cy="30003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Live deployment tape — every commit, every region.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36671" y="814388"/>
            <a:ext cx="15457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Consolas"/>
              </a:rPr>
              <a:t>09 / 16 · TICKER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575" y="1362075"/>
            <a:ext cx="9133582" cy="2000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90575" y="1362075"/>
            <a:ext cx="454075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0850" y="1362075"/>
            <a:ext cx="794593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34D399"/>
                </a:solidFill>
                <a:latin typeface="Consolas"/>
              </a:rPr>
              <a:t>▲ 2,184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843" y="1362075"/>
            <a:ext cx="11355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3F3F46"/>
                </a:solidFill>
                <a:latin typeface="Consolas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33799" y="1362075"/>
            <a:ext cx="454075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STAR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4073" y="1362075"/>
            <a:ext cx="56763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34D399"/>
                </a:solidFill>
                <a:latin typeface="Consolas"/>
              </a:rPr>
              <a:t>▲ 14k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84104" y="1362075"/>
            <a:ext cx="11355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3F3F46"/>
                </a:solidFill>
                <a:latin typeface="Consolas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060" y="1362075"/>
            <a:ext cx="34066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BUG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6927" y="1362075"/>
            <a:ext cx="34066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472B6"/>
                </a:solidFill>
                <a:latin typeface="Consolas"/>
              </a:rPr>
              <a:t>▼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9995" y="1362075"/>
            <a:ext cx="11355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3F3F46"/>
                </a:solidFill>
                <a:latin typeface="Consolas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25951" y="1362075"/>
            <a:ext cx="34066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42818" y="1362075"/>
            <a:ext cx="9081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34D399"/>
                </a:solidFill>
                <a:latin typeface="Consolas"/>
              </a:rPr>
              <a:t>▲ 99.98%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03368" y="1362075"/>
            <a:ext cx="11355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3F3F46"/>
                </a:solidFill>
                <a:latin typeface="Consolas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9323" y="1362075"/>
            <a:ext cx="34066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P95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86191" y="1362075"/>
            <a:ext cx="794593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34D399"/>
                </a:solidFill>
                <a:latin typeface="Consolas"/>
              </a:rPr>
              <a:t>▲ 248ms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3184" y="1362075"/>
            <a:ext cx="113556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3F3F46"/>
                </a:solidFill>
                <a:latin typeface="Consolas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9140" y="1362075"/>
            <a:ext cx="34066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Consolas"/>
              </a:rPr>
              <a:t>ARR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16008" y="1362075"/>
            <a:ext cx="908149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34D399"/>
                </a:solidFill>
                <a:latin typeface="Consolas"/>
              </a:rPr>
              <a:t>▲ $14.2M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575" y="2057400"/>
            <a:ext cx="11362432" cy="14287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78BFA"/>
                </a:solidFill>
                <a:latin typeface="Consolas"/>
              </a:rPr>
              <a:t xml:space="preserve">CHANGELOG </a:t>
            </a:r>
            <a:r>
              <a:rPr sz="975" b="1" i="0" u="none">
                <a:solidFill>
                  <a:srgbClr val="A1A1AA"/>
                </a:solidFill>
                <a:latin typeface="Consolas"/>
              </a:rPr>
              <a:t xml:space="preserve">
      v0.4.2 atoms.yaml · v0.4.1 longshadow recipe · v0.4.0 atomic seed · v0.3.9 anim capture · v0.3.8 native tables
   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600" y="2528888"/>
            <a:ext cx="3568601" cy="21526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609600" y="2528888"/>
            <a:ext cx="3568601" cy="2152650"/>
          </a:xfrm>
          <a:prstGeom prst="rect">
            <a:avLst/>
          </a:prstGeom>
          <a:noFill/>
          <a:ln>
            <a:noFill/>
          </a:ln>
          <a:effectLst>
            <a:innerShdw blurRad="95250" dist="0" dir="0">
              <a:srgbClr val="000000">
                <a:alpha val="3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790575" y="2690812"/>
            <a:ext cx="320665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Consolas"/>
              </a:rPr>
              <a:t>▲ DEPLOYS · 24H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0575" y="3328988"/>
            <a:ext cx="3206651" cy="3429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34D399"/>
                </a:solidFill>
                <a:latin typeface="Consolas"/>
              </a:rPr>
              <a:t>312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575" y="4214812"/>
            <a:ext cx="2018556" cy="280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Consolas"/>
              </a:rPr>
              <a:t>across us-east, eu-west, apac</a:t>
            </a:r>
          </a:p>
          <a:p>
            <a:pPr algn="l"/>
            <a:r>
              <a:rPr sz="825" b="0" i="0" u="none">
                <a:solidFill>
                  <a:srgbClr val="A1A1AA"/>
                </a:solidFill>
                <a:latin typeface="Consolas"/>
              </a:rPr>
              <a:t>0 rollbacks · 0 SSIM regressions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11551" y="2528888"/>
            <a:ext cx="3568750" cy="21526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4311551" y="2528888"/>
            <a:ext cx="3568750" cy="2152650"/>
          </a:xfrm>
          <a:prstGeom prst="rect">
            <a:avLst/>
          </a:prstGeom>
          <a:noFill/>
          <a:ln>
            <a:noFill/>
          </a:ln>
          <a:effectLst>
            <a:innerShdw blurRad="95250" dist="0" dir="0">
              <a:srgbClr val="000000">
                <a:alpha val="3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492526" y="2690812"/>
            <a:ext cx="32068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Consolas"/>
              </a:rPr>
              <a:t>⌁ ACTIVE COMPILES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92526" y="3357562"/>
            <a:ext cx="3206800" cy="3429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F5F5F7"/>
                </a:solidFill>
                <a:latin typeface="Consolas"/>
              </a:rPr>
              <a:t>14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40176" y="4338638"/>
            <a:ext cx="521494" cy="104775"/>
          </a:xfrm>
          <a:prstGeom prst="rect">
            <a:avLst/>
          </a:prstGeom>
          <a:solidFill>
            <a:srgbClr val="34D399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34D399"/>
                </a:solidFill>
                <a:latin typeface="Consolas"/>
              </a:rPr>
              <a:t>HEALTHY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13650" y="2528888"/>
            <a:ext cx="3568601" cy="21526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8013650" y="2528888"/>
            <a:ext cx="3568601" cy="2152650"/>
          </a:xfrm>
          <a:prstGeom prst="rect">
            <a:avLst/>
          </a:prstGeom>
          <a:noFill/>
          <a:ln>
            <a:noFill/>
          </a:ln>
          <a:effectLst>
            <a:innerShdw blurRad="95250" dist="0" dir="0">
              <a:srgbClr val="000000">
                <a:alpha val="3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8194625" y="2690812"/>
            <a:ext cx="320665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Consolas"/>
              </a:rPr>
              <a:t>▼ ERROR BUDGET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94625" y="3328988"/>
            <a:ext cx="3206651" cy="3429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700" b="1" i="0" u="none">
                <a:solidFill>
                  <a:srgbClr val="F472B6"/>
                </a:solidFill>
                <a:latin typeface="Consolas"/>
              </a:rPr>
              <a:t>0.02%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94625" y="4214812"/>
            <a:ext cx="1892498" cy="2809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Consolas"/>
              </a:rPr>
              <a:t>3 retries · all auto-recovered</a:t>
            </a:r>
          </a:p>
          <a:p>
            <a:pPr algn="l"/>
            <a:r>
              <a:rPr sz="825" b="0" i="0" u="none">
                <a:solidFill>
                  <a:srgbClr val="A1A1AA"/>
                </a:solidFill>
                <a:latin typeface="Consolas"/>
              </a:rPr>
              <a:t>SLA · 99.95% met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6581775"/>
            <a:ext cx="172075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Consolas"/>
              </a:rPr>
              <a:t>SLIDIFY · ATOMIC SEED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97789" y="6581775"/>
            <a:ext cx="188461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Consolas"/>
              </a:rPr>
              <a:t>09 / 16 · TICKER · LIVE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0A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000000">
                  <a:alpha val="10000"/>
                </a:srgbClr>
              </a:gs>
              <a:gs pos="100000">
                <a:srgbClr val="000000">
                  <a:alpha val="10000"/>
                </a:srgbClr>
              </a:gs>
            </a:gsLst>
            <a:path path="circle">
              <a:fillToRect l="25000" t="25000" r="75000" b="7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914400" y="609600"/>
            <a:ext cx="206796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EF3C7"/>
                </a:solidFill>
                <a:latin typeface="Inter"/>
              </a:rPr>
              <a:t>DISPLAY · CHAPTER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413528" y="609600"/>
            <a:ext cx="186407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EF3C7"/>
                </a:solidFill>
                <a:latin typeface="Inter"/>
              </a:rPr>
              <a:t>10 / 16 · LONGSHADOW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6480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4500" y="35337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4194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5900" y="33051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1908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7300" y="30765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9622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" y="28479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7C2D12"/>
                </a:solidFill>
                <a:latin typeface="Bebas Neue"/>
              </a:rPr>
              <a:t>SOLAR.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733675"/>
            <a:ext cx="6625382" cy="1676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5000" b="1" i="0" u="none">
                <a:solidFill>
                  <a:srgbClr val="FEF3C7"/>
                </a:solidFill>
                <a:latin typeface="Bebas Neue"/>
              </a:rPr>
              <a:t>SOLAR.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74171"/>
            <a:ext cx="6477000" cy="7456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EF3C7"/>
                </a:solidFill>
                <a:latin typeface="Inter"/>
              </a:rPr>
              <a:t>A type treatment that survives the round-trip. Eight stacked spans, each translated 12 px on both axes — emitted as nine native text frames, fully editable, zero rasterization.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4008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EF3C7"/>
                </a:solidFill>
                <a:latin typeface="Inter"/>
              </a:rPr>
              <a:t>SLIDIFY · ATOMIC SEED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0590" y="6400800"/>
            <a:ext cx="250701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EF3C7"/>
                </a:solidFill>
                <a:latin typeface="Inter"/>
              </a:rPr>
              <a:t>10 / 16 · LONGSHADOW · BILLBOARD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0C1023"/>
              </a:gs>
              <a:gs pos="11667">
                <a:srgbClr val="0B0E1F"/>
              </a:gs>
              <a:gs pos="23333">
                <a:srgbClr val="0A0C1B"/>
              </a:gs>
              <a:gs pos="35000">
                <a:srgbClr val="090A17"/>
              </a:gs>
              <a:gs pos="46667">
                <a:srgbClr val="080913"/>
              </a:gs>
              <a:gs pos="58333">
                <a:srgbClr val="070710"/>
              </a:gs>
              <a:gs pos="70000">
                <a:srgbClr val="06060C"/>
              </a:gs>
              <a:gs pos="75000">
                <a:srgbClr val="05050B"/>
              </a:gs>
              <a:gs pos="80000">
                <a:srgbClr val="04040B"/>
              </a:gs>
              <a:gs pos="85000">
                <a:srgbClr val="04040A"/>
              </a:gs>
              <a:gs pos="90000">
                <a:srgbClr val="030309"/>
              </a:gs>
              <a:gs pos="95000">
                <a:srgbClr val="020209"/>
              </a:gs>
              <a:gs pos="100000">
                <a:srgbClr val="020208"/>
              </a:gs>
            </a:gsLst>
            <a:path path="circle">
              <a:fillToRect l="30000" t="0" r="70000" b="10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457200"/>
            <a:ext cx="614570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PIPELINE · 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628650"/>
            <a:ext cx="6145709" cy="279946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5F5F7"/>
                </a:solidFill>
                <a:latin typeface="Inter"/>
              </a:rPr>
              <a:t>Editability dashboard — last 90 days, every cluster.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32789" y="794296"/>
            <a:ext cx="172581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11 / 16 · DASHBOARD</a:t>
            </a:r>
          </a:p>
        </p:txBody>
      </p:sp>
      <p:sp>
        <p:nvSpPr>
          <p:cNvPr id="6" name="Freeform 5"/>
          <p:cNvSpPr/>
          <p:nvPr/>
        </p:nvSpPr>
        <p:spPr>
          <a:xfrm>
            <a:off x="1365093" y="2246809"/>
            <a:ext cx="2614083" cy="130704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0" y="45142"/>
                  <a:pt x="22571" y="0"/>
                  <a:pt x="50000" y="0"/>
                </a:cubicBezTo>
                <a:cubicBezTo>
                  <a:pt x="77429" y="0"/>
                  <a:pt x="100000" y="45142"/>
                  <a:pt x="100000" y="100000"/>
                </a:cubicBezTo>
              </a:path>
            </a:pathLst>
          </a:custGeom>
          <a:noFill/>
          <a:ln w="190500">
            <a:solidFill>
              <a:srgbClr val="FFFFFF">
                <a:alpha val="12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 6"/>
          <p:cNvSpPr/>
          <p:nvPr/>
        </p:nvSpPr>
        <p:spPr>
          <a:xfrm>
            <a:off x="1270289" y="1912259"/>
            <a:ext cx="2487696" cy="1641592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811" y="100000"/>
                </a:moveTo>
                <a:cubicBezTo>
                  <a:pt x="0" y="62921"/>
                  <a:pt x="13979" y="26547"/>
                  <a:pt x="37141" y="13273"/>
                </a:cubicBezTo>
                <a:cubicBezTo>
                  <a:pt x="60304" y="0"/>
                  <a:pt x="86667" y="13256"/>
                  <a:pt x="100000" y="44878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3672260" y="2563250"/>
            <a:ext cx="171450" cy="1714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2085395" y="2926047"/>
            <a:ext cx="1173480" cy="666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4201" b="1" i="0">
                <a:solidFill>
                  <a:srgbClr val="F5F5F7"/>
                </a:solidFill>
                <a:latin typeface="Inter"/>
              </a:rPr>
              <a:t>0.97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82311" y="3570572"/>
            <a:ext cx="979646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A78BFA"/>
                </a:solidFill>
                <a:latin typeface="Inter"/>
              </a:rPr>
              <a:t>NATIVE_AREA_RATIO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4244" y="1327696"/>
            <a:ext cx="2890391" cy="1235869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5144244" y="1327696"/>
            <a:ext cx="289039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▲ ARR · MAY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4244" y="2053977"/>
            <a:ext cx="901750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250" b="1" i="0" u="none">
                <a:solidFill>
                  <a:srgbClr val="F5F5F7"/>
                </a:solidFill>
                <a:latin typeface="Inter"/>
              </a:rPr>
              <a:t>$14.2M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2194" y="2101602"/>
            <a:ext cx="207466" cy="2476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34D399"/>
                </a:solidFill>
                <a:latin typeface="Inter"/>
              </a:rPr>
              <a:t>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5860" y="2168277"/>
            <a:ext cx="50408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34D399"/>
                </a:solidFill>
                <a:latin typeface="Inter"/>
              </a:rPr>
              <a:t>+18.2%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4244" y="2406402"/>
            <a:ext cx="2890391" cy="1571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34D399"/>
                </a:solidFill>
                <a:latin typeface="Inter"/>
              </a:rPr>
              <a:t>vs Apr · best month on record</a:t>
            </a:r>
          </a:p>
        </p:txBody>
      </p:sp>
      <p:sp>
        <p:nvSpPr>
          <p:cNvPr id="17" name="Freeform 16"/>
          <p:cNvSpPr/>
          <p:nvPr/>
        </p:nvSpPr>
        <p:spPr>
          <a:xfrm>
            <a:off x="8747194" y="1510385"/>
            <a:ext cx="2532221" cy="70123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lnTo>
                  <a:pt x="10769" y="86111"/>
                </a:lnTo>
                <a:lnTo>
                  <a:pt x="21538" y="94444"/>
                </a:lnTo>
                <a:lnTo>
                  <a:pt x="32308" y="58333"/>
                </a:lnTo>
                <a:lnTo>
                  <a:pt x="43077" y="69444"/>
                </a:lnTo>
                <a:lnTo>
                  <a:pt x="53846" y="33333"/>
                </a:lnTo>
                <a:lnTo>
                  <a:pt x="64615" y="41667"/>
                </a:lnTo>
                <a:lnTo>
                  <a:pt x="75385" y="19444"/>
                </a:lnTo>
                <a:lnTo>
                  <a:pt x="86154" y="13889"/>
                </a:lnTo>
                <a:lnTo>
                  <a:pt x="100000" y="0"/>
                </a:lnTo>
              </a:path>
            </a:pathLst>
          </a:custGeom>
          <a:noFill/>
          <a:ln w="23812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8747194" y="1510385"/>
            <a:ext cx="2532221" cy="896017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78261"/>
                </a:moveTo>
                <a:lnTo>
                  <a:pt x="10769" y="67391"/>
                </a:lnTo>
                <a:lnTo>
                  <a:pt x="21538" y="73913"/>
                </a:lnTo>
                <a:lnTo>
                  <a:pt x="32308" y="45652"/>
                </a:lnTo>
                <a:lnTo>
                  <a:pt x="43077" y="54348"/>
                </a:lnTo>
                <a:lnTo>
                  <a:pt x="53846" y="26087"/>
                </a:lnTo>
                <a:lnTo>
                  <a:pt x="64615" y="32609"/>
                </a:lnTo>
                <a:lnTo>
                  <a:pt x="75385" y="15217"/>
                </a:lnTo>
                <a:lnTo>
                  <a:pt x="86154" y="10870"/>
                </a:lnTo>
                <a:lnTo>
                  <a:pt x="100000" y="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rgbClr val="34D399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11241316" y="1472285"/>
            <a:ext cx="76200" cy="76200"/>
          </a:xfrm>
          <a:prstGeom prst="ellipse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5438430" y="3871953"/>
            <a:ext cx="123955" cy="17707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5615508" y="3765706"/>
            <a:ext cx="123955" cy="283325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5792587" y="3818830"/>
            <a:ext cx="123955" cy="23020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969665" y="3659459"/>
            <a:ext cx="123955" cy="389572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6146744" y="3588628"/>
            <a:ext cx="123955" cy="46040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6323822" y="3500088"/>
            <a:ext cx="123955" cy="548943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6500900" y="3535504"/>
            <a:ext cx="123955" cy="513527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6677979" y="3411549"/>
            <a:ext cx="123955" cy="637482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6855057" y="3358426"/>
            <a:ext cx="123955" cy="69060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7032136" y="3305302"/>
            <a:ext cx="123955" cy="743729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7209214" y="3269886"/>
            <a:ext cx="123955" cy="779145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7386292" y="3216763"/>
            <a:ext cx="123955" cy="832269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7563371" y="3181347"/>
            <a:ext cx="123955" cy="867684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ounded Rectangle 32"/>
          <p:cNvSpPr/>
          <p:nvPr/>
        </p:nvSpPr>
        <p:spPr>
          <a:xfrm>
            <a:off x="533400" y="4609058"/>
            <a:ext cx="7701260" cy="1471612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733425" y="4790033"/>
            <a:ext cx="730121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1A1AA"/>
                </a:solidFill>
                <a:latin typeface="Inter"/>
              </a:rPr>
              <a:t>HEATMAP · ATOM HIT-RATE BY AXIS · 12 WEEKS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3425" y="4990058"/>
            <a:ext cx="582216" cy="11430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xfrm>
            <a:off x="1344216" y="4990058"/>
            <a:ext cx="582216" cy="114300"/>
          </a:xfrm>
          <a:prstGeom prst="round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/>
          <p:cNvSpPr/>
          <p:nvPr/>
        </p:nvSpPr>
        <p:spPr>
          <a:xfrm>
            <a:off x="1955006" y="4990058"/>
            <a:ext cx="582216" cy="11430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xfrm>
            <a:off x="2565797" y="4990058"/>
            <a:ext cx="582216" cy="1143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/>
          <p:cNvSpPr/>
          <p:nvPr/>
        </p:nvSpPr>
        <p:spPr>
          <a:xfrm>
            <a:off x="3176588" y="4990058"/>
            <a:ext cx="582216" cy="1143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/>
          <p:cNvSpPr/>
          <p:nvPr/>
        </p:nvSpPr>
        <p:spPr>
          <a:xfrm>
            <a:off x="3787378" y="4990058"/>
            <a:ext cx="582364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ounded Rectangle 40"/>
          <p:cNvSpPr/>
          <p:nvPr/>
        </p:nvSpPr>
        <p:spPr>
          <a:xfrm>
            <a:off x="4398318" y="4990058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/>
          <p:cNvSpPr/>
          <p:nvPr/>
        </p:nvSpPr>
        <p:spPr>
          <a:xfrm>
            <a:off x="5009108" y="4990058"/>
            <a:ext cx="582216" cy="1143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ounded Rectangle 42"/>
          <p:cNvSpPr/>
          <p:nvPr/>
        </p:nvSpPr>
        <p:spPr>
          <a:xfrm>
            <a:off x="5619899" y="4990058"/>
            <a:ext cx="582216" cy="11430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ounded Rectangle 43"/>
          <p:cNvSpPr/>
          <p:nvPr/>
        </p:nvSpPr>
        <p:spPr>
          <a:xfrm>
            <a:off x="6230689" y="4990058"/>
            <a:ext cx="582216" cy="1143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ounded Rectangle 44"/>
          <p:cNvSpPr/>
          <p:nvPr/>
        </p:nvSpPr>
        <p:spPr>
          <a:xfrm>
            <a:off x="6841480" y="4990058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ounded Rectangle 45"/>
          <p:cNvSpPr/>
          <p:nvPr/>
        </p:nvSpPr>
        <p:spPr>
          <a:xfrm>
            <a:off x="7452271" y="4990058"/>
            <a:ext cx="582364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ounded Rectangle 46"/>
          <p:cNvSpPr/>
          <p:nvPr/>
        </p:nvSpPr>
        <p:spPr>
          <a:xfrm>
            <a:off x="733425" y="5132933"/>
            <a:ext cx="582216" cy="114300"/>
          </a:xfrm>
          <a:prstGeom prst="round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ounded Rectangle 47"/>
          <p:cNvSpPr/>
          <p:nvPr/>
        </p:nvSpPr>
        <p:spPr>
          <a:xfrm>
            <a:off x="1344216" y="5132933"/>
            <a:ext cx="582216" cy="11430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ounded Rectangle 48"/>
          <p:cNvSpPr/>
          <p:nvPr/>
        </p:nvSpPr>
        <p:spPr>
          <a:xfrm>
            <a:off x="1955006" y="5132933"/>
            <a:ext cx="582216" cy="114300"/>
          </a:xfrm>
          <a:prstGeom prst="round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ounded Rectangle 49"/>
          <p:cNvSpPr/>
          <p:nvPr/>
        </p:nvSpPr>
        <p:spPr>
          <a:xfrm>
            <a:off x="2565797" y="5132933"/>
            <a:ext cx="582216" cy="11430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ounded Rectangle 50"/>
          <p:cNvSpPr/>
          <p:nvPr/>
        </p:nvSpPr>
        <p:spPr>
          <a:xfrm>
            <a:off x="3176588" y="5132933"/>
            <a:ext cx="582216" cy="1143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ounded Rectangle 51"/>
          <p:cNvSpPr/>
          <p:nvPr/>
        </p:nvSpPr>
        <p:spPr>
          <a:xfrm>
            <a:off x="3787378" y="5132933"/>
            <a:ext cx="582364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ounded Rectangle 52"/>
          <p:cNvSpPr/>
          <p:nvPr/>
        </p:nvSpPr>
        <p:spPr>
          <a:xfrm>
            <a:off x="4398318" y="5132933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ounded Rectangle 53"/>
          <p:cNvSpPr/>
          <p:nvPr/>
        </p:nvSpPr>
        <p:spPr>
          <a:xfrm>
            <a:off x="5009108" y="5132933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ounded Rectangle 54"/>
          <p:cNvSpPr/>
          <p:nvPr/>
        </p:nvSpPr>
        <p:spPr>
          <a:xfrm>
            <a:off x="5619899" y="5132933"/>
            <a:ext cx="582216" cy="1143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ounded Rectangle 55"/>
          <p:cNvSpPr/>
          <p:nvPr/>
        </p:nvSpPr>
        <p:spPr>
          <a:xfrm>
            <a:off x="6230689" y="5132933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ounded Rectangle 56"/>
          <p:cNvSpPr/>
          <p:nvPr/>
        </p:nvSpPr>
        <p:spPr>
          <a:xfrm>
            <a:off x="6841480" y="5132933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ounded Rectangle 57"/>
          <p:cNvSpPr/>
          <p:nvPr/>
        </p:nvSpPr>
        <p:spPr>
          <a:xfrm>
            <a:off x="7452271" y="5132933"/>
            <a:ext cx="582364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ounded Rectangle 58"/>
          <p:cNvSpPr/>
          <p:nvPr/>
        </p:nvSpPr>
        <p:spPr>
          <a:xfrm>
            <a:off x="733425" y="5275808"/>
            <a:ext cx="582216" cy="114300"/>
          </a:xfrm>
          <a:prstGeom prst="round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/>
          <p:cNvSpPr/>
          <p:nvPr/>
        </p:nvSpPr>
        <p:spPr>
          <a:xfrm>
            <a:off x="1344216" y="5275808"/>
            <a:ext cx="582216" cy="114300"/>
          </a:xfrm>
          <a:prstGeom prst="round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ounded Rectangle 60"/>
          <p:cNvSpPr/>
          <p:nvPr/>
        </p:nvSpPr>
        <p:spPr>
          <a:xfrm>
            <a:off x="1955006" y="5275808"/>
            <a:ext cx="582216" cy="11430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ounded Rectangle 61"/>
          <p:cNvSpPr/>
          <p:nvPr/>
        </p:nvSpPr>
        <p:spPr>
          <a:xfrm>
            <a:off x="2565797" y="5275808"/>
            <a:ext cx="582216" cy="114300"/>
          </a:xfrm>
          <a:prstGeom prst="round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ounded Rectangle 62"/>
          <p:cNvSpPr/>
          <p:nvPr/>
        </p:nvSpPr>
        <p:spPr>
          <a:xfrm>
            <a:off x="3176588" y="5275808"/>
            <a:ext cx="582216" cy="11430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ounded Rectangle 63"/>
          <p:cNvSpPr/>
          <p:nvPr/>
        </p:nvSpPr>
        <p:spPr>
          <a:xfrm>
            <a:off x="3787378" y="5275808"/>
            <a:ext cx="582364" cy="1143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ounded Rectangle 64"/>
          <p:cNvSpPr/>
          <p:nvPr/>
        </p:nvSpPr>
        <p:spPr>
          <a:xfrm>
            <a:off x="4398318" y="5275808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ounded Rectangle 65"/>
          <p:cNvSpPr/>
          <p:nvPr/>
        </p:nvSpPr>
        <p:spPr>
          <a:xfrm>
            <a:off x="5009108" y="5275808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ounded Rectangle 66"/>
          <p:cNvSpPr/>
          <p:nvPr/>
        </p:nvSpPr>
        <p:spPr>
          <a:xfrm>
            <a:off x="5619899" y="5275808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ounded Rectangle 67"/>
          <p:cNvSpPr/>
          <p:nvPr/>
        </p:nvSpPr>
        <p:spPr>
          <a:xfrm>
            <a:off x="6230689" y="5275808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ounded Rectangle 68"/>
          <p:cNvSpPr/>
          <p:nvPr/>
        </p:nvSpPr>
        <p:spPr>
          <a:xfrm>
            <a:off x="6841480" y="5275808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ounded Rectangle 69"/>
          <p:cNvSpPr/>
          <p:nvPr/>
        </p:nvSpPr>
        <p:spPr>
          <a:xfrm>
            <a:off x="7452271" y="5275808"/>
            <a:ext cx="582364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ounded Rectangle 70"/>
          <p:cNvSpPr/>
          <p:nvPr/>
        </p:nvSpPr>
        <p:spPr>
          <a:xfrm>
            <a:off x="733425" y="5418683"/>
            <a:ext cx="582216" cy="11430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ounded Rectangle 71"/>
          <p:cNvSpPr/>
          <p:nvPr/>
        </p:nvSpPr>
        <p:spPr>
          <a:xfrm>
            <a:off x="1344216" y="5418683"/>
            <a:ext cx="582216" cy="114300"/>
          </a:xfrm>
          <a:prstGeom prst="roundRect">
            <a:avLst/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ounded Rectangle 72"/>
          <p:cNvSpPr/>
          <p:nvPr/>
        </p:nvSpPr>
        <p:spPr>
          <a:xfrm>
            <a:off x="1955006" y="5418683"/>
            <a:ext cx="582216" cy="114300"/>
          </a:xfrm>
          <a:prstGeom prst="round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ounded Rectangle 73"/>
          <p:cNvSpPr/>
          <p:nvPr/>
        </p:nvSpPr>
        <p:spPr>
          <a:xfrm>
            <a:off x="2565797" y="5418683"/>
            <a:ext cx="582216" cy="11430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ounded Rectangle 74"/>
          <p:cNvSpPr/>
          <p:nvPr/>
        </p:nvSpPr>
        <p:spPr>
          <a:xfrm>
            <a:off x="3176588" y="5418683"/>
            <a:ext cx="582216" cy="11430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ounded Rectangle 75"/>
          <p:cNvSpPr/>
          <p:nvPr/>
        </p:nvSpPr>
        <p:spPr>
          <a:xfrm>
            <a:off x="3787378" y="5418683"/>
            <a:ext cx="582364" cy="1143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ounded Rectangle 76"/>
          <p:cNvSpPr/>
          <p:nvPr/>
        </p:nvSpPr>
        <p:spPr>
          <a:xfrm>
            <a:off x="4398318" y="5418683"/>
            <a:ext cx="582216" cy="114300"/>
          </a:xfrm>
          <a:prstGeom prst="round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ounded Rectangle 77"/>
          <p:cNvSpPr/>
          <p:nvPr/>
        </p:nvSpPr>
        <p:spPr>
          <a:xfrm>
            <a:off x="5009108" y="5418683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ounded Rectangle 78"/>
          <p:cNvSpPr/>
          <p:nvPr/>
        </p:nvSpPr>
        <p:spPr>
          <a:xfrm>
            <a:off x="5619899" y="5418683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ounded Rectangle 79"/>
          <p:cNvSpPr/>
          <p:nvPr/>
        </p:nvSpPr>
        <p:spPr>
          <a:xfrm>
            <a:off x="6230689" y="5418683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ounded Rectangle 80"/>
          <p:cNvSpPr/>
          <p:nvPr/>
        </p:nvSpPr>
        <p:spPr>
          <a:xfrm>
            <a:off x="6841480" y="5418683"/>
            <a:ext cx="582216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ounded Rectangle 81"/>
          <p:cNvSpPr/>
          <p:nvPr/>
        </p:nvSpPr>
        <p:spPr>
          <a:xfrm>
            <a:off x="7452271" y="5418683"/>
            <a:ext cx="582364" cy="114300"/>
          </a:xfrm>
          <a:prstGeom prst="round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/>
          <p:cNvSpPr txBox="1"/>
          <p:nvPr/>
        </p:nvSpPr>
        <p:spPr>
          <a:xfrm>
            <a:off x="733425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917650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W03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101876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W05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286101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W07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70178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W09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654403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838629" y="5590133"/>
            <a:ext cx="196007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52525B"/>
                </a:solidFill>
                <a:latin typeface="Consolas"/>
              </a:rPr>
              <a:t>W12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3425" y="5742533"/>
            <a:ext cx="7301210" cy="1571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1A1AA"/>
                </a:solidFill>
                <a:latin typeface="Inter"/>
              </a:rPr>
              <a:t>comp · bg · type · surf · — coverage 76% → 96%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33400" y="65913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211395" y="6591300"/>
            <a:ext cx="144720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11 / 16 · DASHBOARD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FAFAF7"/>
              </a:gs>
              <a:gs pos="16667">
                <a:srgbClr val="F9F8F4"/>
              </a:gs>
              <a:gs pos="33333">
                <a:srgbClr val="F8F7F1"/>
              </a:gs>
              <a:gs pos="50000">
                <a:srgbClr val="F7F5EE"/>
              </a:gs>
              <a:gs pos="66667">
                <a:srgbClr val="F6F4EC"/>
              </a:gs>
              <a:gs pos="83333">
                <a:srgbClr val="F6F2E9"/>
              </a:gs>
              <a:gs pos="100000">
                <a:srgbClr val="F5F0E6"/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85234" y="1203638"/>
            <a:ext cx="467731" cy="52642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DE68A"/>
                </a:solidFill>
                <a:latin typeface="Inter"/>
              </a:rPr>
              <a:t>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76239" y="5138263"/>
            <a:ext cx="440922" cy="5057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1" i="0" u="none">
                <a:solidFill>
                  <a:srgbClr val="FDE68A"/>
                </a:solidFill>
                <a:latin typeface="Inter"/>
              </a:rPr>
              <a:t>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457200"/>
            <a:ext cx="607442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C3AED"/>
                </a:solidFill>
                <a:latin typeface="Inter"/>
              </a:rPr>
              <a:t>VOICES · LOVED BY DESIGNERS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619125"/>
            <a:ext cx="6074420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250" b="1" i="0" u="none">
                <a:solidFill>
                  <a:srgbClr val="06060C"/>
                </a:solidFill>
                <a:latin typeface="Inter"/>
              </a:rPr>
              <a:t xml:space="preserve">"It's the first deck tool that </a:t>
            </a:r>
            <a:r>
              <a:rPr sz="2250" b="1" i="1" u="none">
                <a:solidFill>
                  <a:srgbClr val="7C3AED"/>
                </a:solidFill>
                <a:latin typeface="Playfair Display"/>
              </a:rPr>
              <a:t>respects</a:t>
            </a:r>
            <a:r>
              <a:rPr sz="2250" b="1" i="0" u="none">
                <a:solidFill>
                  <a:srgbClr val="06060C"/>
                </a:solidFill>
                <a:latin typeface="Inter"/>
              </a:rPr>
              <a:t xml:space="preserve"> typography."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51206" y="814388"/>
            <a:ext cx="193119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12 / 16 · TESTIMONIALS</a:t>
            </a:r>
          </a:p>
        </p:txBody>
      </p:sp>
      <p:sp>
        <p:nvSpPr>
          <p:cNvPr id="8" name="Rectangle 7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573345" y="-1041001"/>
            <a:ext cx="5008876" cy="500887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gradFill flip="none" rotWithShape="1">
            <a:gsLst>
              <a:gs pos="0">
                <a:srgbClr val="06060C">
                  <a:alpha val="45000"/>
                </a:srgbClr>
              </a:gs>
              <a:gs pos="16667">
                <a:srgbClr val="06060C">
                  <a:alpha val="37500"/>
                </a:srgbClr>
              </a:gs>
              <a:gs pos="33333">
                <a:srgbClr val="06060C">
                  <a:alpha val="30000"/>
                </a:srgbClr>
              </a:gs>
              <a:gs pos="50000">
                <a:srgbClr val="06060C">
                  <a:alpha val="22500"/>
                </a:srgbClr>
              </a:gs>
              <a:gs pos="66667">
                <a:srgbClr val="06060C">
                  <a:alpha val="15000"/>
                </a:srgbClr>
              </a:gs>
              <a:gs pos="83333">
                <a:srgbClr val="06060C">
                  <a:alpha val="7500"/>
                </a:srgbClr>
              </a:gs>
              <a:gs pos="100000">
                <a:srgbClr val="06060C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288869" y="-1041001"/>
            <a:ext cx="5008876" cy="500887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gradFill flip="none" rotWithShape="1">
            <a:gsLst>
              <a:gs pos="0">
                <a:srgbClr val="67E8F9">
                  <a:alpha val="45000"/>
                </a:srgbClr>
              </a:gs>
              <a:gs pos="16667">
                <a:srgbClr val="67E8F9">
                  <a:alpha val="37500"/>
                </a:srgbClr>
              </a:gs>
              <a:gs pos="33333">
                <a:srgbClr val="67E8F9">
                  <a:alpha val="30000"/>
                </a:srgbClr>
              </a:gs>
              <a:gs pos="50000">
                <a:srgbClr val="67E8F9">
                  <a:alpha val="22500"/>
                </a:srgbClr>
              </a:gs>
              <a:gs pos="66667">
                <a:srgbClr val="67E8F9">
                  <a:alpha val="15000"/>
                </a:srgbClr>
              </a:gs>
              <a:gs pos="83333">
                <a:srgbClr val="67E8F9">
                  <a:alpha val="7500"/>
                </a:srgbClr>
              </a:gs>
              <a:gs pos="100000">
                <a:srgbClr val="67E8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573345" y="880350"/>
            <a:ext cx="5008876" cy="500887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gradFill flip="none" rotWithShape="1">
            <a:gsLst>
              <a:gs pos="0">
                <a:srgbClr val="F472B6">
                  <a:alpha val="45000"/>
                </a:srgbClr>
              </a:gs>
              <a:gs pos="16667">
                <a:srgbClr val="F472B6">
                  <a:alpha val="37500"/>
                </a:srgbClr>
              </a:gs>
              <a:gs pos="33333">
                <a:srgbClr val="F472B6">
                  <a:alpha val="30000"/>
                </a:srgbClr>
              </a:gs>
              <a:gs pos="50000">
                <a:srgbClr val="F472B6">
                  <a:alpha val="22500"/>
                </a:srgbClr>
              </a:gs>
              <a:gs pos="66667">
                <a:srgbClr val="F472B6">
                  <a:alpha val="15000"/>
                </a:srgbClr>
              </a:gs>
              <a:gs pos="83333">
                <a:srgbClr val="F472B6">
                  <a:alpha val="7500"/>
                </a:srgbClr>
              </a:gs>
              <a:gs pos="100000">
                <a:srgbClr val="F472B6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288869" y="880350"/>
            <a:ext cx="5008876" cy="500887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573316" y="1051718"/>
            <a:ext cx="3577768" cy="27447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42900" dist="171450" dir="5400000" algn="ctr" rotWithShape="0">
              <a:srgbClr val="000000">
                <a:alpha val="8000"/>
              </a:srgbClr>
            </a:outerShdw>
            <a:outerShdw blurRad="38100" dist="19050" dir="5400000" algn="ctr" rotWithShape="0">
              <a:srgbClr val="000000">
                <a:alpha val="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573316" y="1051718"/>
            <a:ext cx="3577768" cy="2744788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/>
          <p:cNvSpPr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4200000" scaled="0"/>
          </a:gradFill>
          <a:xfrm>
            <a:off x="749486" y="1227889"/>
            <a:ext cx="3192981" cy="123085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2165756" y="1609947"/>
            <a:ext cx="360442" cy="46673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150" b="1" i="0" u="none">
                <a:solidFill>
                  <a:srgbClr val="FFFFFF"/>
                </a:solidFill>
                <a:latin typeface="Playfair Display"/>
              </a:rPr>
              <a:t>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5124" y="2503741"/>
            <a:ext cx="3177822" cy="6881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27272A"/>
                </a:solidFill>
                <a:latin typeface="Source Serif Pro"/>
              </a:rPr>
              <a:t>"We replaced screenshots with slidify and our investor decks now ship in PowerPoint as if a designer touched every gradient. Nothing about the deck rasterizes."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5602" y="3307441"/>
            <a:ext cx="1725475" cy="2748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Mira Okafor</a:t>
            </a:r>
            <a:r>
              <a:rPr sz="800" b="1" i="0" u="none">
                <a:solidFill>
                  <a:srgbClr val="71717A"/>
                </a:solidFill>
                <a:latin typeface="Inter"/>
              </a:rPr>
              <a:t>Head of Brand · Vector Labs</a:t>
            </a:r>
          </a:p>
        </p:txBody>
      </p:sp>
      <p:sp>
        <p:nvSpPr>
          <p:cNvPr id="18" name="Rectangle 17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199987" y="-998989"/>
            <a:ext cx="4958561" cy="495856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gradFill flip="none" rotWithShape="1">
            <a:gsLst>
              <a:gs pos="0">
                <a:srgbClr val="06060C">
                  <a:alpha val="45000"/>
                </a:srgbClr>
              </a:gs>
              <a:gs pos="16667">
                <a:srgbClr val="06060C">
                  <a:alpha val="37500"/>
                </a:srgbClr>
              </a:gs>
              <a:gs pos="33333">
                <a:srgbClr val="06060C">
                  <a:alpha val="30000"/>
                </a:srgbClr>
              </a:gs>
              <a:gs pos="50000">
                <a:srgbClr val="06060C">
                  <a:alpha val="22500"/>
                </a:srgbClr>
              </a:gs>
              <a:gs pos="66667">
                <a:srgbClr val="06060C">
                  <a:alpha val="15000"/>
                </a:srgbClr>
              </a:gs>
              <a:gs pos="83333">
                <a:srgbClr val="06060C">
                  <a:alpha val="7500"/>
                </a:srgbClr>
              </a:gs>
              <a:gs pos="100000">
                <a:srgbClr val="06060C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033451" y="-998989"/>
            <a:ext cx="4958561" cy="495856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gradFill flip="none" rotWithShape="1">
            <a:gsLst>
              <a:gs pos="0">
                <a:srgbClr val="67E8F9">
                  <a:alpha val="45000"/>
                </a:srgbClr>
              </a:gs>
              <a:gs pos="16667">
                <a:srgbClr val="67E8F9">
                  <a:alpha val="37500"/>
                </a:srgbClr>
              </a:gs>
              <a:gs pos="33333">
                <a:srgbClr val="67E8F9">
                  <a:alpha val="30000"/>
                </a:srgbClr>
              </a:gs>
              <a:gs pos="50000">
                <a:srgbClr val="67E8F9">
                  <a:alpha val="22500"/>
                </a:srgbClr>
              </a:gs>
              <a:gs pos="66667">
                <a:srgbClr val="67E8F9">
                  <a:alpha val="15000"/>
                </a:srgbClr>
              </a:gs>
              <a:gs pos="83333">
                <a:srgbClr val="67E8F9">
                  <a:alpha val="7500"/>
                </a:srgbClr>
              </a:gs>
              <a:gs pos="100000">
                <a:srgbClr val="67E8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199987" y="888653"/>
            <a:ext cx="4958561" cy="495856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gradFill flip="none" rotWithShape="1">
            <a:gsLst>
              <a:gs pos="0">
                <a:srgbClr val="F472B6">
                  <a:alpha val="45000"/>
                </a:srgbClr>
              </a:gs>
              <a:gs pos="16667">
                <a:srgbClr val="F472B6">
                  <a:alpha val="37500"/>
                </a:srgbClr>
              </a:gs>
              <a:gs pos="33333">
                <a:srgbClr val="F472B6">
                  <a:alpha val="30000"/>
                </a:srgbClr>
              </a:gs>
              <a:gs pos="50000">
                <a:srgbClr val="F472B6">
                  <a:alpha val="22500"/>
                </a:srgbClr>
              </a:gs>
              <a:gs pos="66667">
                <a:srgbClr val="F472B6">
                  <a:alpha val="15000"/>
                </a:srgbClr>
              </a:gs>
              <a:gs pos="83333">
                <a:srgbClr val="F472B6">
                  <a:alpha val="7500"/>
                </a:srgbClr>
              </a:gs>
              <a:gs pos="100000">
                <a:srgbClr val="F472B6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033451" y="888653"/>
            <a:ext cx="4958561" cy="495856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ounded Rectangle 21"/>
          <p:cNvSpPr/>
          <p:nvPr/>
        </p:nvSpPr>
        <p:spPr>
          <a:xfrm>
            <a:off x="4325085" y="1075796"/>
            <a:ext cx="3541829" cy="269663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42900" dist="171450" dir="5400000" algn="ctr" rotWithShape="0">
              <a:srgbClr val="000000">
                <a:alpha val="8000"/>
              </a:srgbClr>
            </a:outerShdw>
            <a:outerShdw blurRad="38100" dist="19050" dir="5400000" algn="ctr" rotWithShape="0">
              <a:srgbClr val="000000">
                <a:alpha val="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4325085" y="1075796"/>
            <a:ext cx="3541829" cy="2696632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gradFill flip="none" rotWithShape="1">
            <a:gsLst>
              <a:gs pos="0">
                <a:srgbClr val="FB923C"/>
              </a:gs>
              <a:gs pos="16667">
                <a:srgbClr val="F78331"/>
              </a:gs>
              <a:gs pos="33333">
                <a:srgbClr val="F37328"/>
              </a:gs>
              <a:gs pos="50000">
                <a:srgbClr val="EE6322"/>
              </a:gs>
              <a:gs pos="66667">
                <a:srgbClr val="E95120"/>
              </a:gs>
              <a:gs pos="83333">
                <a:srgbClr val="E33E22"/>
              </a:gs>
              <a:gs pos="100000">
                <a:srgbClr val="DC2626"/>
              </a:gs>
            </a:gsLst>
            <a:lin ang="4200000" scaled="0"/>
          </a:gradFill>
          <a:xfrm>
            <a:off x="4515137" y="1249624"/>
            <a:ext cx="3177950" cy="118704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6004861" y="1613225"/>
            <a:ext cx="198502" cy="45983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150" b="1" i="0" u="none">
                <a:solidFill>
                  <a:srgbClr val="FFFFFF"/>
                </a:solidFill>
                <a:latin typeface="Playfair Display"/>
              </a:rPr>
              <a:t>J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04897" y="2525849"/>
            <a:ext cx="3170370" cy="64416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27272A"/>
                </a:solidFill>
                <a:latin typeface="Source Serif Pro"/>
              </a:rPr>
              <a:t>"The atom catalog is the missing UI grammar. Once you start composing in atoms, you stop fighting PowerPoint forever — every slide stays editable."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9444" y="3259203"/>
            <a:ext cx="1604781" cy="2795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Jordan Liu</a:t>
            </a:r>
            <a:r>
              <a:rPr sz="800" b="1" i="0" u="none">
                <a:solidFill>
                  <a:srgbClr val="71717A"/>
                </a:solidFill>
                <a:latin typeface="Inter"/>
              </a:rPr>
              <a:t>Design Engineer · Modular</a:t>
            </a:r>
          </a:p>
        </p:txBody>
      </p:sp>
      <p:sp>
        <p:nvSpPr>
          <p:cNvPr id="28" name="Rectangle 27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953840" y="-977733"/>
            <a:ext cx="4933041" cy="493304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gradFill flip="none" rotWithShape="1">
            <a:gsLst>
              <a:gs pos="0">
                <a:srgbClr val="06060C">
                  <a:alpha val="45000"/>
                </a:srgbClr>
              </a:gs>
              <a:gs pos="16667">
                <a:srgbClr val="06060C">
                  <a:alpha val="37500"/>
                </a:srgbClr>
              </a:gs>
              <a:gs pos="33333">
                <a:srgbClr val="06060C">
                  <a:alpha val="30000"/>
                </a:srgbClr>
              </a:gs>
              <a:gs pos="50000">
                <a:srgbClr val="06060C">
                  <a:alpha val="22500"/>
                </a:srgbClr>
              </a:gs>
              <a:gs pos="66667">
                <a:srgbClr val="06060C">
                  <a:alpha val="15000"/>
                </a:srgbClr>
              </a:gs>
              <a:gs pos="83333">
                <a:srgbClr val="06060C">
                  <a:alpha val="7500"/>
                </a:srgbClr>
              </a:gs>
              <a:gs pos="100000">
                <a:srgbClr val="06060C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772720" y="-977733"/>
            <a:ext cx="4933041" cy="493304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gradFill flip="none" rotWithShape="1">
            <a:gsLst>
              <a:gs pos="0">
                <a:srgbClr val="67E8F9">
                  <a:alpha val="45000"/>
                </a:srgbClr>
              </a:gs>
              <a:gs pos="16667">
                <a:srgbClr val="67E8F9">
                  <a:alpha val="37500"/>
                </a:srgbClr>
              </a:gs>
              <a:gs pos="33333">
                <a:srgbClr val="67E8F9">
                  <a:alpha val="30000"/>
                </a:srgbClr>
              </a:gs>
              <a:gs pos="50000">
                <a:srgbClr val="67E8F9">
                  <a:alpha val="22500"/>
                </a:srgbClr>
              </a:gs>
              <a:gs pos="66667">
                <a:srgbClr val="67E8F9">
                  <a:alpha val="15000"/>
                </a:srgbClr>
              </a:gs>
              <a:gs pos="83333">
                <a:srgbClr val="67E8F9">
                  <a:alpha val="7500"/>
                </a:srgbClr>
              </a:gs>
              <a:gs pos="100000">
                <a:srgbClr val="67E8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953840" y="892917"/>
            <a:ext cx="4933041" cy="493304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gradFill flip="none" rotWithShape="1">
            <a:gsLst>
              <a:gs pos="0">
                <a:srgbClr val="F472B6">
                  <a:alpha val="45000"/>
                </a:srgbClr>
              </a:gs>
              <a:gs pos="16667">
                <a:srgbClr val="F472B6">
                  <a:alpha val="37500"/>
                </a:srgbClr>
              </a:gs>
              <a:gs pos="33333">
                <a:srgbClr val="F472B6">
                  <a:alpha val="30000"/>
                </a:srgbClr>
              </a:gs>
              <a:gs pos="50000">
                <a:srgbClr val="F472B6">
                  <a:alpha val="22500"/>
                </a:srgbClr>
              </a:gs>
              <a:gs pos="66667">
                <a:srgbClr val="F472B6">
                  <a:alpha val="15000"/>
                </a:srgbClr>
              </a:gs>
              <a:gs pos="83333">
                <a:srgbClr val="F472B6">
                  <a:alpha val="7500"/>
                </a:srgbClr>
              </a:gs>
              <a:gs pos="100000">
                <a:srgbClr val="F472B6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772720" y="892917"/>
            <a:ext cx="4933041" cy="493304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ounded Rectangle 31"/>
          <p:cNvSpPr/>
          <p:nvPr/>
        </p:nvSpPr>
        <p:spPr>
          <a:xfrm>
            <a:off x="8068000" y="1087934"/>
            <a:ext cx="3523601" cy="267235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>
            <a:outerShdw blurRad="342900" dist="171450" dir="5400000" algn="ctr" rotWithShape="0">
              <a:srgbClr val="000000">
                <a:alpha val="8000"/>
              </a:srgbClr>
            </a:outerShdw>
            <a:outerShdw blurRad="38100" dist="19050" dir="5400000" algn="ctr" rotWithShape="0">
              <a:srgbClr val="000000">
                <a:alpha val="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/>
          <p:cNvSpPr/>
          <p:nvPr/>
        </p:nvSpPr>
        <p:spPr>
          <a:xfrm>
            <a:off x="8068000" y="1087934"/>
            <a:ext cx="3523601" cy="2672356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/>
          <p:cNvSpPr/>
          <p:nvPr/>
        </p:nvSpPr>
        <p:spPr>
          <a:gradFill flip="none" rotWithShape="1">
            <a:gsLst>
              <a:gs pos="0">
                <a:srgbClr val="0EA5E9"/>
              </a:gs>
              <a:gs pos="16667">
                <a:srgbClr val="00B0E3"/>
              </a:gs>
              <a:gs pos="33333">
                <a:srgbClr val="00B9D9"/>
              </a:gs>
              <a:gs pos="50000">
                <a:srgbClr val="00C2CD"/>
              </a:gs>
              <a:gs pos="66667">
                <a:srgbClr val="00C9BD"/>
              </a:gs>
              <a:gs pos="83333">
                <a:srgbClr val="00CFAC"/>
              </a:gs>
              <a:gs pos="100000">
                <a:srgbClr val="34D399"/>
              </a:gs>
            </a:gsLst>
            <a:lin ang="4200000" scaled="0"/>
          </a:gradFill>
          <a:xfrm>
            <a:off x="8240642" y="1260577"/>
            <a:ext cx="3170203" cy="1165049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9705907" y="1613682"/>
            <a:ext cx="239674" cy="45884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150" b="1" i="0" u="none">
                <a:solidFill>
                  <a:srgbClr val="FFFFFF"/>
                </a:solidFill>
                <a:latin typeface="Playfair Display"/>
              </a:rPr>
              <a:t>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9553" y="2536896"/>
            <a:ext cx="3166412" cy="6221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27272A"/>
                </a:solidFill>
                <a:latin typeface="Source Serif Pro"/>
              </a:rPr>
              <a:t>"95% native_area_ratio across 1,184 decks a week. The pipeline is the only thing standing between our team and another animated GIF career."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4673" y="3287148"/>
            <a:ext cx="1307879" cy="2624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Thiago Sousa</a:t>
            </a:r>
            <a:r>
              <a:rPr sz="800" b="1" i="0" u="none">
                <a:solidFill>
                  <a:srgbClr val="71717A"/>
                </a:solidFill>
                <a:latin typeface="Inter"/>
              </a:rPr>
              <a:t>DesignOps · Atelier 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4014788"/>
            <a:ext cx="361950" cy="361950"/>
          </a:xfrm>
          <a:prstGeom prst="rect">
            <a:avLst/>
          </a:prstGeom>
          <a:solidFill>
            <a:srgbClr val="A78BF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VR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2500" y="4014788"/>
            <a:ext cx="339258" cy="361950"/>
          </a:xfrm>
          <a:prstGeom prst="rect">
            <a:avLst/>
          </a:prstGeom>
          <a:solidFill>
            <a:srgbClr val="F472B6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JL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95400" y="4014788"/>
            <a:ext cx="361950" cy="361950"/>
          </a:xfrm>
          <a:prstGeom prst="rect">
            <a:avLst/>
          </a:prstGeom>
          <a:solidFill>
            <a:srgbClr val="FB923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MK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38300" y="4014788"/>
            <a:ext cx="361950" cy="361950"/>
          </a:xfrm>
          <a:prstGeom prst="rect">
            <a:avLst/>
          </a:prstGeom>
          <a:solidFill>
            <a:srgbClr val="34D39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81200" y="4014788"/>
            <a:ext cx="361950" cy="361950"/>
          </a:xfrm>
          <a:prstGeom prst="rect">
            <a:avLst/>
          </a:prstGeom>
          <a:solidFill>
            <a:srgbClr val="0EA5E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"/>
              </a:rPr>
              <a:t>PA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24100" y="4014788"/>
            <a:ext cx="361950" cy="361950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DE68A"/>
                </a:solidFill>
                <a:latin typeface="Inter"/>
              </a:rPr>
              <a:t>+318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76550" y="4129088"/>
            <a:ext cx="21667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06060C"/>
                </a:solidFill>
                <a:latin typeface="Inter"/>
              </a:rPr>
              <a:t>318 teams</a:t>
            </a:r>
            <a:r>
              <a:rPr sz="900" b="1" i="0" u="none">
                <a:solidFill>
                  <a:srgbClr val="52525B"/>
                </a:solidFill>
                <a:latin typeface="Inter"/>
              </a:rPr>
              <a:t xml:space="preserve"> · 1,184 decks / week · NPS 76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39474" y="4143375"/>
            <a:ext cx="174292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71717A"/>
                </a:solidFill>
                <a:latin typeface="Inter"/>
              </a:rPr>
              <a:t>★ ★ ★ ★ ★  ·  G2 · 4.9 / 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657225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SLIDIFY · ATOMIC SEED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73866" y="6572250"/>
            <a:ext cx="16085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12 / 16 · TESTIMONIALS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10000">
                <a:srgbClr val="1A1740"/>
              </a:gs>
              <a:gs pos="20000">
                <a:srgbClr val="161434"/>
              </a:gs>
              <a:gs pos="30000">
                <a:srgbClr val="11102A"/>
              </a:gs>
              <a:gs pos="40000">
                <a:srgbClr val="0D0D1F"/>
              </a:gs>
              <a:gs pos="50000">
                <a:srgbClr val="090915"/>
              </a:gs>
              <a:gs pos="60000">
                <a:srgbClr val="06060C"/>
              </a:gs>
              <a:gs pos="66667">
                <a:srgbClr val="05050B"/>
              </a:gs>
              <a:gs pos="73333">
                <a:srgbClr val="04040B"/>
              </a:gs>
              <a:gs pos="80000">
                <a:srgbClr val="04040A"/>
              </a:gs>
              <a:gs pos="86667">
                <a:srgbClr val="030309"/>
              </a:gs>
              <a:gs pos="93333">
                <a:srgbClr val="020209"/>
              </a:gs>
              <a:gs pos="100000">
                <a:srgbClr val="020208"/>
              </a:gs>
            </a:gsLst>
            <a:path path="circle">
              <a:fillToRect l="70000" t="50000" r="30000" b="5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Connector 2"/>
          <p:cNvCxnSpPr/>
          <p:nvPr/>
        </p:nvCxnSpPr>
        <p:spPr>
          <a:xfrm>
            <a:off x="381000" y="1143000"/>
            <a:ext cx="1333500" cy="0"/>
          </a:xfrm>
          <a:prstGeom prst="line">
            <a:avLst/>
          </a:prstGeom>
          <a:ln w="9525">
            <a:solidFill>
              <a:srgbClr val="A78BFA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381000" y="1905000"/>
            <a:ext cx="1714500" cy="0"/>
          </a:xfrm>
          <a:prstGeom prst="line">
            <a:avLst/>
          </a:prstGeom>
          <a:ln w="9525">
            <a:solidFill>
              <a:srgbClr val="A78BFA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81000" y="2667000"/>
            <a:ext cx="1143000" cy="0"/>
          </a:xfrm>
          <a:prstGeom prst="line">
            <a:avLst/>
          </a:prstGeom>
          <a:ln w="9525">
            <a:solidFill>
              <a:srgbClr val="A78BFA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81000" y="3429000"/>
            <a:ext cx="1905000" cy="0"/>
          </a:xfrm>
          <a:prstGeom prst="line">
            <a:avLst/>
          </a:prstGeom>
          <a:ln w="9525">
            <a:solidFill>
              <a:srgbClr val="A78BFA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81000" y="4191000"/>
            <a:ext cx="1524000" cy="0"/>
          </a:xfrm>
          <a:prstGeom prst="line">
            <a:avLst/>
          </a:prstGeom>
          <a:ln w="9525">
            <a:solidFill>
              <a:srgbClr val="A78BFA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81000" y="4953000"/>
            <a:ext cx="1333500" cy="0"/>
          </a:xfrm>
          <a:prstGeom prst="line">
            <a:avLst/>
          </a:prstGeom>
          <a:ln w="9525">
            <a:solidFill>
              <a:srgbClr val="A78BFA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81000" y="5715000"/>
            <a:ext cx="1714500" cy="0"/>
          </a:xfrm>
          <a:prstGeom prst="line">
            <a:avLst/>
          </a:prstGeom>
          <a:ln w="9525">
            <a:solidFill>
              <a:srgbClr val="A78BFA">
                <a:alpha val="2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71500" y="1524000"/>
            <a:ext cx="1333500" cy="0"/>
          </a:xfrm>
          <a:prstGeom prst="line">
            <a:avLst/>
          </a:prstGeom>
          <a:ln w="14288">
            <a:solidFill>
              <a:srgbClr val="F472B6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71500" y="3048000"/>
            <a:ext cx="1524000" cy="0"/>
          </a:xfrm>
          <a:prstGeom prst="line">
            <a:avLst/>
          </a:prstGeom>
          <a:ln w="14288">
            <a:solidFill>
              <a:srgbClr val="F472B6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71500" y="4572000"/>
            <a:ext cx="1333500" cy="0"/>
          </a:xfrm>
          <a:prstGeom prst="line">
            <a:avLst/>
          </a:prstGeom>
          <a:ln w="14288">
            <a:solidFill>
              <a:srgbClr val="F472B6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14400" y="609600"/>
            <a:ext cx="164127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MOTION · IMPLIED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91886" y="609600"/>
            <a:ext cx="118571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13 / 16 · ECHO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4100" b="1" i="0" u="none">
                <a:solidFill>
                  <a:srgbClr val="60A5FA"/>
                </a:solidFill>
                <a:latin typeface="Inter"/>
              </a:rPr>
              <a:t>RUSH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80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4100" b="1" i="0" u="none">
                <a:solidFill>
                  <a:srgbClr val="A78BFA"/>
                </a:solidFill>
                <a:latin typeface="Inter"/>
              </a:rPr>
              <a:t>RUSH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30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4100" b="1" i="0" u="none">
                <a:solidFill>
                  <a:srgbClr val="A78BFA"/>
                </a:solidFill>
                <a:latin typeface="Inter"/>
              </a:rPr>
              <a:t>RUSH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4100" b="1" i="0" u="none">
                <a:solidFill>
                  <a:srgbClr val="F472B6"/>
                </a:solidFill>
                <a:latin typeface="Inter"/>
              </a:rPr>
              <a:t>RUSH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15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4100" b="1" i="0" u="none">
                <a:solidFill>
                  <a:srgbClr val="F472B6"/>
                </a:solidFill>
                <a:latin typeface="Inter"/>
              </a:rPr>
              <a:t>RUSH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578447"/>
            <a:ext cx="4715917" cy="170110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4100" b="1" i="0" u="none">
                <a:gradFill rotWithShape="1">
                  <a:gsLst>
                    <a:gs pos="0">
                      <a:srgbClr val="60A5FA"/>
                    </a:gs>
                    <a:gs pos="35000">
                      <a:srgbClr val="A78BFA"/>
                    </a:gs>
                    <a:gs pos="70000">
                      <a:srgbClr val="F472B6"/>
                    </a:gs>
                    <a:gs pos="100000">
                      <a:srgbClr val="FB923C"/>
                    </a:gs>
                  </a:gsLst>
                  <a:lin ang="2700000" scaled="0"/>
                </a:gradFill>
                <a:latin typeface="Inter"/>
              </a:rPr>
              <a:t>RUSH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086350"/>
            <a:ext cx="5170140" cy="704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FFFFFF"/>
                </a:solidFill>
                <a:latin typeface="Inter"/>
              </a:rPr>
              <a:t xml:space="preserve">Same word, six native text frames, decreasing opacity, increasing offset. </a:t>
            </a:r>
            <a:r>
              <a:rPr sz="1350" b="1" i="0" u="none">
                <a:solidFill>
                  <a:srgbClr val="F5F5F7"/>
                </a:solidFill>
                <a:latin typeface="Inter"/>
              </a:rPr>
              <a:t>Editable in PowerPoint as six independent runs.</a:t>
            </a:r>
            <a:r>
              <a:rPr sz="1350" b="0" i="0" u="none">
                <a:solidFill>
                  <a:srgbClr val="FFFFFF"/>
                </a:solidFill>
                <a:latin typeface="Inter"/>
              </a:rPr>
              <a:t xml:space="preserve"> No `filter: blur` — no raster.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4008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15339" y="6400800"/>
            <a:ext cx="166226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13 / 16 · ECHO · MOTION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7239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C3AED"/>
                </a:solidFill>
                <a:latin typeface="Inter"/>
              </a:rPr>
              <a:t>FULL-BLEED · MARQUEE WALL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28650"/>
            <a:ext cx="7239000" cy="55989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06060C"/>
                </a:solidFill>
                <a:latin typeface="Inter"/>
              </a:rPr>
              <a:t>Edge-to-edge type bands. Each band is one editable native run.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63311" y="1074241"/>
            <a:ext cx="151908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14 / 16 · MARQUEE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617166"/>
            <a:ext cx="12192000" cy="1009650"/>
          </a:xfrm>
          <a:prstGeom prst="rect">
            <a:avLst/>
          </a:prstGeom>
          <a:solidFill>
            <a:srgbClr val="060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28600" y="1702891"/>
            <a:ext cx="1973163" cy="838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600" b="0" i="0" u="none">
                <a:solidFill>
                  <a:srgbClr val="FEF3C7"/>
                </a:solidFill>
                <a:latin typeface="Bebas Neue"/>
              </a:rPr>
              <a:t>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06563" y="1893391"/>
            <a:ext cx="156567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FEF3C7"/>
                </a:solidFill>
                <a:latin typeface="Bebas Neue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7930" y="1645741"/>
            <a:ext cx="3506688" cy="94297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600" b="0" i="0" u="none">
                <a:solidFill>
                  <a:srgbClr val="FB923C"/>
                </a:solidFill>
                <a:latin typeface="Bebas Neue"/>
              </a:rPr>
              <a:t>ITERATE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9419" y="1893391"/>
            <a:ext cx="156567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FEF3C7"/>
                </a:solidFill>
                <a:latin typeface="Bebas Neue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40786" y="1702891"/>
            <a:ext cx="1973163" cy="838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600" b="0" i="0" u="none">
                <a:solidFill>
                  <a:srgbClr val="FEF3C7"/>
                </a:solidFill>
                <a:latin typeface="Bebas Neue"/>
              </a:rPr>
              <a:t>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" y="2722066"/>
            <a:ext cx="2854523" cy="8001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300" b="0" i="0" u="none">
                <a:solidFill>
                  <a:srgbClr val="06060C"/>
                </a:solidFill>
                <a:latin typeface="Bebas Neue"/>
              </a:rPr>
              <a:t>NATIVE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7923" y="2893516"/>
            <a:ext cx="156270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06060C"/>
                </a:solidFill>
                <a:latin typeface="Bebas Neue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993" y="2674441"/>
            <a:ext cx="3841105" cy="8953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300" b="0" i="0" u="none">
                <a:solidFill>
                  <a:srgbClr val="7C3AED"/>
                </a:solidFill>
                <a:latin typeface="Bebas Neue"/>
              </a:rPr>
              <a:t>EDITABLE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94898" y="2893516"/>
            <a:ext cx="156270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06060C"/>
                </a:solidFill>
                <a:latin typeface="Bebas Neue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5968" y="2722066"/>
            <a:ext cx="2854523" cy="8001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300" b="0" i="0" u="none">
                <a:solidFill>
                  <a:srgbClr val="06060C"/>
                </a:solidFill>
                <a:latin typeface="Bebas Neue"/>
              </a:rPr>
              <a:t>NATIVE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3626941"/>
            <a:ext cx="12192000" cy="1000125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228600" y="3741241"/>
            <a:ext cx="3240584" cy="7620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000" b="0" i="0" u="none">
                <a:solidFill>
                  <a:srgbClr val="FFFFFF"/>
                </a:solidFill>
                <a:latin typeface="Bebas Neue"/>
              </a:rPr>
              <a:t>RENDER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3984" y="3893641"/>
            <a:ext cx="156121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FFFFFF"/>
                </a:solidFill>
                <a:latin typeface="Bebas Neue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4904" y="3693616"/>
            <a:ext cx="3583335" cy="8477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000" b="0" i="0" u="none">
                <a:solidFill>
                  <a:srgbClr val="FDE68A"/>
                </a:solidFill>
                <a:latin typeface="Bebas Neue"/>
              </a:rPr>
              <a:t>CLUSTER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3039" y="3893641"/>
            <a:ext cx="156121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FFFFFF"/>
                </a:solidFill>
                <a:latin typeface="Bebas Neue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3960" y="3741241"/>
            <a:ext cx="1835497" cy="7620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000" b="0" i="0" u="none">
                <a:solidFill>
                  <a:srgbClr val="FFFFFF"/>
                </a:solidFill>
                <a:latin typeface="Bebas Neue"/>
              </a:rPr>
              <a:t>EMIT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4627066"/>
            <a:ext cx="12192000" cy="1000125"/>
          </a:xfrm>
          <a:prstGeom prst="rect">
            <a:avLst/>
          </a:prstGeom>
          <a:solidFill>
            <a:srgbClr val="FDE6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228600" y="4741366"/>
            <a:ext cx="2906167" cy="7620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000" b="0" i="0" u="none">
                <a:solidFill>
                  <a:srgbClr val="06060C"/>
                </a:solidFill>
                <a:latin typeface="Bebas Neue"/>
              </a:rPr>
              <a:t>SLIDIFY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39567" y="4893766"/>
            <a:ext cx="156121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06060C"/>
                </a:solidFill>
                <a:latin typeface="Bebas Neue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00488" y="4693741"/>
            <a:ext cx="1070818" cy="8477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000" b="0" i="0" u="none">
                <a:solidFill>
                  <a:srgbClr val="DC2626"/>
                </a:solidFill>
                <a:latin typeface="Bebas Neue"/>
              </a:rPr>
              <a:t>0.4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76106" y="4893766"/>
            <a:ext cx="156121" cy="457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3600" b="0" i="0" u="none">
                <a:solidFill>
                  <a:srgbClr val="06060C"/>
                </a:solidFill>
                <a:latin typeface="Bebas Neue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37027" y="4741366"/>
            <a:ext cx="1710482" cy="7620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6000" b="0" i="0" u="none">
                <a:solidFill>
                  <a:srgbClr val="06060C"/>
                </a:solidFill>
                <a:latin typeface="Bebas Neue"/>
              </a:rPr>
              <a:t>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5855791"/>
            <a:ext cx="1218181" cy="238125"/>
          </a:xfrm>
          <a:prstGeom prst="rect">
            <a:avLst/>
          </a:prstGeom>
          <a:solidFill>
            <a:srgbClr val="06060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EF3C7"/>
                </a:solidFill>
                <a:latin typeface="Inter"/>
              </a:rPr>
              <a:t>⏵ MOTION · IMPLIED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84095" y="5908179"/>
            <a:ext cx="429830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52525B"/>
                </a:solidFill>
                <a:latin typeface="Inter"/>
              </a:rPr>
              <a:t>4 BANDS  ·  4 NATIVE TEXT FRAMES  ·  0 RASTER PASSES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61035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SLIDIFY · ATOMIC SEED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92457" y="6610350"/>
            <a:ext cx="16899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14 / 16 · MARQUEE WALL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0A0A14"/>
              </a:gs>
              <a:gs pos="8333">
                <a:srgbClr val="090913"/>
              </a:gs>
              <a:gs pos="16667">
                <a:srgbClr val="090911"/>
              </a:gs>
              <a:gs pos="25000">
                <a:srgbClr val="080810"/>
              </a:gs>
              <a:gs pos="33333">
                <a:srgbClr val="07070F"/>
              </a:gs>
              <a:gs pos="41667">
                <a:srgbClr val="07070D"/>
              </a:gs>
              <a:gs pos="50000">
                <a:srgbClr val="06060C"/>
              </a:gs>
              <a:gs pos="58333">
                <a:srgbClr val="05050B"/>
              </a:gs>
              <a:gs pos="66667">
                <a:srgbClr val="04040B"/>
              </a:gs>
              <a:gs pos="75000">
                <a:srgbClr val="04040A"/>
              </a:gs>
              <a:gs pos="83333">
                <a:srgbClr val="030309"/>
              </a:gs>
              <a:gs pos="91667">
                <a:srgbClr val="020209"/>
              </a:gs>
              <a:gs pos="100000">
                <a:srgbClr val="020208"/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705177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CREDITS · TEAM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28650"/>
            <a:ext cx="7051774" cy="279946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5F5F7"/>
                </a:solidFill>
                <a:latin typeface="Inter"/>
              </a:rPr>
              <a:t>The atomic seed was authored by a small Brooklyn studio.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02639" y="794296"/>
            <a:ext cx="117976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15 / 16 · TEAM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600" y="1222921"/>
            <a:ext cx="1717625" cy="1326803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gradFill flip="none" rotWithShape="1">
            <a:gsLst>
              <a:gs pos="0">
                <a:srgbClr val="A78BFA"/>
              </a:gs>
              <a:gs pos="16667">
                <a:srgbClr val="B786F4"/>
              </a:gs>
              <a:gs pos="33333">
                <a:srgbClr val="C581EC"/>
              </a:gs>
              <a:gs pos="50000">
                <a:srgbClr val="D37DE1"/>
              </a:gs>
              <a:gs pos="66667">
                <a:srgbClr val="DF78D5"/>
              </a:gs>
              <a:gs pos="83333">
                <a:srgbClr val="EA75C6"/>
              </a:gs>
              <a:gs pos="100000">
                <a:srgbClr val="F472B6"/>
              </a:gs>
            </a:gsLst>
            <a:lin ang="4200000" scaled="0"/>
          </a:gradFill>
          <a:xfrm>
            <a:off x="1144488" y="1365796"/>
            <a:ext cx="647700" cy="6477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VR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655" y="2089696"/>
            <a:ext cx="1223516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Vamsi Ramakrishnan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2035" y="2302073"/>
            <a:ext cx="133275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FOUNDER · COMPILER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0575" y="1222921"/>
            <a:ext cx="1717625" cy="1326803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gradFill flip="none" rotWithShape="1">
            <a:gsLst>
              <a:gs pos="0">
                <a:srgbClr val="FB923C"/>
              </a:gs>
              <a:gs pos="16667">
                <a:srgbClr val="F78331"/>
              </a:gs>
              <a:gs pos="33333">
                <a:srgbClr val="F37328"/>
              </a:gs>
              <a:gs pos="50000">
                <a:srgbClr val="EE6322"/>
              </a:gs>
              <a:gs pos="66667">
                <a:srgbClr val="E95120"/>
              </a:gs>
              <a:gs pos="83333">
                <a:srgbClr val="E33E22"/>
              </a:gs>
              <a:gs pos="100000">
                <a:srgbClr val="DC2626"/>
              </a:gs>
            </a:gsLst>
            <a:lin ang="4200000" scaled="0"/>
          </a:gradFill>
          <a:xfrm>
            <a:off x="2995464" y="1365796"/>
            <a:ext cx="647700" cy="6477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JL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9007" y="2089696"/>
            <a:ext cx="620613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Jordan Liu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0464" y="2302073"/>
            <a:ext cx="111784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DESIGN ENGINEER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1551" y="1222921"/>
            <a:ext cx="1717625" cy="1326803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gradFill flip="none" rotWithShape="1">
            <a:gsLst>
              <a:gs pos="0">
                <a:srgbClr val="0EA5E9"/>
              </a:gs>
              <a:gs pos="16667">
                <a:srgbClr val="00B0E3"/>
              </a:gs>
              <a:gs pos="33333">
                <a:srgbClr val="00B9D9"/>
              </a:gs>
              <a:gs pos="50000">
                <a:srgbClr val="00C2CD"/>
              </a:gs>
              <a:gs pos="66667">
                <a:srgbClr val="00C9BD"/>
              </a:gs>
              <a:gs pos="83333">
                <a:srgbClr val="00CFAC"/>
              </a:gs>
              <a:gs pos="100000">
                <a:srgbClr val="34D399"/>
              </a:gs>
            </a:gsLst>
            <a:lin ang="4200000" scaled="0"/>
          </a:gradFill>
          <a:xfrm>
            <a:off x="4846439" y="1365796"/>
            <a:ext cx="647700" cy="6477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MK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141" y="2089696"/>
            <a:ext cx="648295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Mira Kovač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0714" y="2302073"/>
            <a:ext cx="819299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TYPOGRAPHY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2526" y="1222921"/>
            <a:ext cx="1717774" cy="1326803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gradFill flip="none" rotWithShape="1">
            <a:gsLst>
              <a:gs pos="0">
                <a:srgbClr val="FDE68A"/>
              </a:gs>
              <a:gs pos="16667">
                <a:srgbClr val="FDD979"/>
              </a:gs>
              <a:gs pos="33333">
                <a:srgbClr val="FECB69"/>
              </a:gs>
              <a:gs pos="50000">
                <a:srgbClr val="FEBE5A"/>
              </a:gs>
              <a:gs pos="66667">
                <a:srgbClr val="FEAF4D"/>
              </a:gs>
              <a:gs pos="83333">
                <a:srgbClr val="FDA143"/>
              </a:gs>
              <a:gs pos="100000">
                <a:srgbClr val="FB923C"/>
              </a:gs>
            </a:gsLst>
            <a:lin ang="4200000" scaled="0"/>
          </a:gradFill>
          <a:xfrm>
            <a:off x="6697563" y="1365796"/>
            <a:ext cx="647700" cy="6477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2852" y="2089696"/>
            <a:ext cx="796975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Thiago Sousa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9584" y="2302073"/>
            <a:ext cx="7035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DESIGNOPS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3650" y="1222921"/>
            <a:ext cx="1717625" cy="1326803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gradFill flip="none" rotWithShape="1">
            <a:gsLst>
              <a:gs pos="0">
                <a:srgbClr val="67E8F9"/>
              </a:gs>
              <a:gs pos="16667">
                <a:srgbClr val="38D5FF"/>
              </a:gs>
              <a:gs pos="33333">
                <a:srgbClr val="15BEFF"/>
              </a:gs>
              <a:gs pos="50000">
                <a:srgbClr val="2DA3FF"/>
              </a:gs>
              <a:gs pos="66667">
                <a:srgbClr val="4E85FF"/>
              </a:gs>
              <a:gs pos="83333">
                <a:srgbClr val="6963FF"/>
              </a:gs>
              <a:gs pos="100000">
                <a:srgbClr val="7C3AED"/>
              </a:gs>
            </a:gsLst>
            <a:lin ang="4200000" scaled="0"/>
          </a:gradFill>
          <a:xfrm>
            <a:off x="8548539" y="1365796"/>
            <a:ext cx="647700" cy="6477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PA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0170" y="2089696"/>
            <a:ext cx="744438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Priya Ananth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4223" y="2302073"/>
            <a:ext cx="65648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RENDERER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64626" y="1222921"/>
            <a:ext cx="1717625" cy="1326803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gradFill flip="none" rotWithShape="1">
            <a:gsLst>
              <a:gs pos="0">
                <a:srgbClr val="06060C"/>
              </a:gs>
              <a:gs pos="16667">
                <a:srgbClr val="13102C"/>
              </a:gs>
              <a:gs pos="33333">
                <a:srgbClr val="241A4E"/>
              </a:gs>
              <a:gs pos="50000">
                <a:srgbClr val="372374"/>
              </a:gs>
              <a:gs pos="66667">
                <a:srgbClr val="4C2C9B"/>
              </a:gs>
              <a:gs pos="83333">
                <a:srgbClr val="6333C3"/>
              </a:gs>
              <a:gs pos="100000">
                <a:srgbClr val="7C3AED"/>
              </a:gs>
            </a:gsLst>
            <a:lin ang="4200000" scaled="0"/>
          </a:gradFill>
          <a:xfrm>
            <a:off x="10399514" y="1365796"/>
            <a:ext cx="647700" cy="647700"/>
          </a:xfrm>
          <a:prstGeom prst="rect">
            <a:avLst/>
          </a:prstGeom>
        </p:spPr>
        <p:txBody>
          <a:bodyPr wrap="square" lIns="0" rIns="0" tIns="0" bIns="0">
            <a:normAutofit/>
          </a:bodyPr>
          <a:lstStyle/>
          <a:p>
            <a:pPr algn="ctr"/>
            <a:r>
              <a:rPr sz="1650" b="1" i="0" u="none">
                <a:solidFill>
                  <a:srgbClr val="FFFFFF"/>
                </a:solidFill>
                <a:latin typeface="Playfair Display"/>
              </a:rPr>
              <a:t>+12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1940" y="2089696"/>
            <a:ext cx="882848" cy="13617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F5F5F7"/>
                </a:solidFill>
                <a:latin typeface="Inter"/>
              </a:rPr>
              <a:t>17 contributors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72985" y="2302073"/>
            <a:ext cx="130075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A1A1AA"/>
                </a:solidFill>
                <a:latin typeface="Inter"/>
              </a:rPr>
              <a:t>SHIPPING SINCE 2024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9600" y="2778323"/>
            <a:ext cx="10972800" cy="733425"/>
          </a:xfrm>
          <a:prstGeom prst="roundRect">
            <a:avLst/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828675" y="2959298"/>
            <a:ext cx="105346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A78BFA"/>
                </a:solidFill>
                <a:latin typeface="Inter"/>
              </a:rPr>
              <a:t>BACKED BY · TRUSTED BY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675" y="3183136"/>
            <a:ext cx="11668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1A1AA"/>
                </a:solidFill>
                <a:latin typeface="Inter"/>
              </a:rPr>
              <a:t>VECTOR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66938" y="3159323"/>
            <a:ext cx="1166812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b="1" i="0" u="none">
                <a:solidFill>
                  <a:srgbClr val="A1A1AA"/>
                </a:solidFill>
                <a:latin typeface="Playfair Display"/>
              </a:rPr>
              <a:t>Modular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05200" y="3178373"/>
            <a:ext cx="116681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A1A1AA"/>
                </a:solidFill>
                <a:latin typeface="Consolas"/>
              </a:rPr>
              <a:t>atelier/04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3462" y="3183136"/>
            <a:ext cx="11668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1A1AA"/>
                </a:solidFill>
                <a:latin typeface="Inter"/>
              </a:rPr>
              <a:t>PIXELPITCH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1725" y="3159323"/>
            <a:ext cx="1166812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b="1" i="0" u="none">
                <a:solidFill>
                  <a:srgbClr val="A1A1AA"/>
                </a:solidFill>
                <a:latin typeface="Playfair Display"/>
              </a:rPr>
              <a:t>Drafting Co.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19988" y="3178373"/>
            <a:ext cx="116681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A1A1AA"/>
                </a:solidFill>
                <a:latin typeface="Consolas"/>
              </a:rPr>
              <a:t>render.sh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58250" y="3183136"/>
            <a:ext cx="11668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1A1AA"/>
                </a:solidFill>
                <a:latin typeface="Inter"/>
              </a:rPr>
              <a:t>NORTHFIELD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6512" y="3159323"/>
            <a:ext cx="1166812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50" b="1" i="0" u="none">
                <a:solidFill>
                  <a:srgbClr val="A1A1AA"/>
                </a:solidFill>
                <a:latin typeface="Playfair Display"/>
              </a:rPr>
              <a:t>Studio Eight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65913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873" y="6591300"/>
            <a:ext cx="97452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15 / 16 · TEAM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E1B4B"/>
              </a:gs>
              <a:gs pos="10000">
                <a:srgbClr val="1B1841"/>
              </a:gs>
              <a:gs pos="20000">
                <a:srgbClr val="171538"/>
              </a:gs>
              <a:gs pos="30000">
                <a:srgbClr val="14132E"/>
              </a:gs>
              <a:gs pos="40000">
                <a:srgbClr val="101025"/>
              </a:gs>
              <a:gs pos="50000">
                <a:srgbClr val="0D0D1C"/>
              </a:gs>
              <a:gs pos="60000">
                <a:srgbClr val="0A0A14"/>
              </a:gs>
              <a:gs pos="66667">
                <a:srgbClr val="080812"/>
              </a:gs>
              <a:gs pos="73333">
                <a:srgbClr val="060610"/>
              </a:gs>
              <a:gs pos="80000">
                <a:srgbClr val="05050E"/>
              </a:gs>
              <a:gs pos="86667">
                <a:srgbClr val="04040C"/>
              </a:gs>
              <a:gs pos="93333">
                <a:srgbClr val="03030A"/>
              </a:gs>
              <a:gs pos="100000">
                <a:srgbClr val="020208"/>
              </a:gs>
            </a:gsLst>
            <a:path path="circle">
              <a:fillToRect l="50000" t="50000" r="50000" b="5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gradFill flip="none" rotWithShape="1">
            <a:gsLst>
              <a:gs pos="0">
                <a:srgbClr val="A78BFA">
                  <a:alpha val="34000"/>
                </a:srgbClr>
              </a:gs>
              <a:gs pos="11667">
                <a:srgbClr val="A78BFA">
                  <a:alpha val="28333"/>
                </a:srgbClr>
              </a:gs>
              <a:gs pos="23333">
                <a:srgbClr val="A78BFA">
                  <a:alpha val="22667"/>
                </a:srgbClr>
              </a:gs>
              <a:gs pos="35000">
                <a:srgbClr val="A78BFA">
                  <a:alpha val="17000"/>
                </a:srgbClr>
              </a:gs>
              <a:gs pos="46667">
                <a:srgbClr val="A78BFA">
                  <a:alpha val="11333"/>
                </a:srgbClr>
              </a:gs>
              <a:gs pos="58333">
                <a:srgbClr val="A78BFA">
                  <a:alpha val="5667"/>
                </a:srgbClr>
              </a:gs>
              <a:gs pos="70000">
                <a:srgbClr val="A78BFA">
                  <a:alpha val="0"/>
                </a:srgbClr>
              </a:gs>
              <a:gs pos="100000">
                <a:srgbClr val="A78BF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1714500"/>
            <a:ext cx="6858000" cy="6858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gradFill flip="none" rotWithShape="1">
            <a:gsLst>
              <a:gs pos="0">
                <a:srgbClr val="F472B6">
                  <a:alpha val="32000"/>
                </a:srgbClr>
              </a:gs>
              <a:gs pos="12000">
                <a:srgbClr val="F472B6">
                  <a:alpha val="26667"/>
                </a:srgbClr>
              </a:gs>
              <a:gs pos="24000">
                <a:srgbClr val="F472B6">
                  <a:alpha val="21333"/>
                </a:srgbClr>
              </a:gs>
              <a:gs pos="36000">
                <a:srgbClr val="F472B6">
                  <a:alpha val="16000"/>
                </a:srgbClr>
              </a:gs>
              <a:gs pos="48000">
                <a:srgbClr val="F472B6">
                  <a:alpha val="10667"/>
                </a:srgbClr>
              </a:gs>
              <a:gs pos="60000">
                <a:srgbClr val="F472B6">
                  <a:alpha val="5333"/>
                </a:srgbClr>
              </a:gs>
              <a:gs pos="72000">
                <a:srgbClr val="F472B6">
                  <a:alpha val="0"/>
                </a:srgbClr>
              </a:gs>
              <a:gs pos="100000">
                <a:srgbClr val="F472B6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5334000" y="571500"/>
            <a:ext cx="8382000" cy="8382000"/>
          </a:xfrm>
          <a:prstGeom prst="ellips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0" y="800100"/>
            <a:ext cx="1219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 u="none">
                <a:solidFill>
                  <a:srgbClr val="A78BFA"/>
                </a:solidFill>
                <a:latin typeface="Inter"/>
              </a:rPr>
              <a:t>FINAL · CHAPTER FOUR · GO BUILD</a:t>
            </a:r>
          </a:p>
        </p:txBody>
      </p:sp>
      <p:sp>
        <p:nvSpPr>
          <p:cNvPr id="6" name="Oval 5"/>
          <p:cNvSpPr/>
          <p:nvPr/>
        </p:nvSpPr>
        <p:spPr>
          <a:xfrm>
            <a:off x="10401300" y="533400"/>
            <a:ext cx="1066800" cy="1066800"/>
          </a:xfrm>
          <a:prstGeom prst="ellipse">
            <a:avLst/>
          </a:prstGeom>
          <a:noFill/>
          <a:ln w="19050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0515600" y="647700"/>
            <a:ext cx="838200" cy="838200"/>
          </a:xfrm>
          <a:prstGeom prst="ellipse">
            <a:avLst/>
          </a:prstGeom>
          <a:noFill/>
          <a:ln w="9525">
            <a:solidFill>
              <a:srgbClr val="F4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0696337" y="937260"/>
            <a:ext cx="476726" cy="1547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>
                <a:solidFill>
                  <a:srgbClr val="F472B6"/>
                </a:solidFill>
                <a:latin typeface="Inter"/>
              </a:rPr>
              <a:t>SHIPPED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75382" y="1089660"/>
            <a:ext cx="518636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>
                <a:solidFill>
                  <a:srgbClr val="F472B6"/>
                </a:solidFill>
                <a:latin typeface="Inter"/>
              </a:rPr>
              <a:t>2026 · 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902345"/>
            <a:ext cx="114300" cy="252665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78BFA"/>
                </a:solidFill>
                <a:latin typeface="Inter"/>
              </a:rPr>
              <a:t>RECIPE 16 OF 16 · CLOSING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1537543"/>
            <a:ext cx="10363200" cy="378291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2141786" y="1423243"/>
            <a:ext cx="7908429" cy="24010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9300" b="1" i="0" u="none">
                <a:gradFill rotWithShape="1">
                  <a:gsLst>
                    <a:gs pos="0">
                      <a:srgbClr val="60A5FA"/>
                    </a:gs>
                    <a:gs pos="30000">
                      <a:srgbClr val="A78BFA"/>
                    </a:gs>
                    <a:gs pos="65000">
                      <a:srgbClr val="F472B6"/>
                    </a:gs>
                    <a:gs pos="100000">
                      <a:srgbClr val="FB923C"/>
                    </a:gs>
                  </a:gsLst>
                  <a:lin ang="2700000" scaled="0"/>
                </a:gradFill>
                <a:latin typeface="Inter"/>
              </a:rPr>
              <a:t>Go build a deck</a:t>
            </a:r>
          </a:p>
          <a:p>
            <a:pPr algn="ctr"/>
            <a:r>
              <a:rPr sz="9300" b="1" i="0" u="none">
                <a:gradFill rotWithShape="1">
                  <a:gsLst>
                    <a:gs pos="0">
                      <a:srgbClr val="60A5FA"/>
                    </a:gs>
                    <a:gs pos="30000">
                      <a:srgbClr val="A78BFA"/>
                    </a:gs>
                    <a:gs pos="65000">
                      <a:srgbClr val="F472B6"/>
                    </a:gs>
                    <a:gs pos="100000">
                      <a:srgbClr val="FB923C"/>
                    </a:gs>
                  </a:gsLst>
                  <a:lin ang="2700000" scaled="0"/>
                </a:gradFill>
                <a:latin typeface="Inter"/>
              </a:rPr>
              <a:t>that stays alive.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3780" y="3977432"/>
            <a:ext cx="7424291" cy="4953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algn="ctr"/>
            <a:r>
              <a:rPr sz="1500" b="1" i="0" u="none">
                <a:solidFill>
                  <a:srgbClr val="F5F5F7"/>
                </a:solidFill>
                <a:latin typeface="Inter"/>
              </a:rPr>
              <a:t>slidify@0.4 ships today.</a:t>
            </a:r>
            <a:r>
              <a:rPr sz="1500" b="0" i="0" u="none">
                <a:solidFill>
                  <a:srgbClr val="FFFFFF"/>
                </a:solidFill>
                <a:latin typeface="Inter"/>
              </a:rPr>
              <a:t xml:space="preserve"> Sixteen recipes, seventy atoms, eight typographic registers — every pixel native, every word editable.</a:t>
            </a:r>
          </a:p>
        </p:txBody>
      </p:sp>
      <p:sp>
        <p:nvSpPr>
          <p:cNvPr id="14" name="Rounded Rectangle 13"/>
          <p:cNvSpPr/>
          <p:nvPr/>
        </p:nvSpPr>
        <p:spPr>
          <a:gradFill flip="none" rotWithShape="1">
            <a:gsLst>
              <a:gs pos="0">
                <a:srgbClr val="F472B6"/>
              </a:gs>
              <a:gs pos="16667">
                <a:srgbClr val="FC73A2"/>
              </a:gs>
              <a:gs pos="33333">
                <a:srgbClr val="FF768D"/>
              </a:gs>
              <a:gs pos="50000">
                <a:srgbClr val="FF7B79"/>
              </a:gs>
              <a:gs pos="66667">
                <a:srgbClr val="FF8164"/>
              </a:gs>
              <a:gs pos="83333">
                <a:srgbClr val="FF8950"/>
              </a:gs>
              <a:gs pos="100000">
                <a:srgbClr val="FB923C"/>
              </a:gs>
            </a:gsLst>
            <a:lin ang="4200000" scaled="0"/>
          </a:gradFill>
          <a:xfrm>
            <a:off x="4104829" y="4796582"/>
            <a:ext cx="1936552" cy="52387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innerShdw blurRad="0" dist="9525" dir="5400000">
              <a:srgbClr val="FFFFFF">
                <a:alpha val="45000"/>
              </a:srgbClr>
            </a:innerShdw>
            <a:outerShdw blurRad="266700" dist="114300" dir="5400000" algn="ctr" rotWithShape="0">
              <a:srgbClr val="F472B6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gradFill flip="none" rotWithShape="1">
            <a:gsLst>
              <a:gs pos="0">
                <a:srgbClr val="ffffff">
                  <a:alpha val="30000"/>
                </a:srgbClr>
              </a:gs>
              <a:gs pos="16667">
                <a:srgbClr val="FFFFFF">
                  <a:alpha val="25000"/>
                </a:srgbClr>
              </a:gs>
              <a:gs pos="33333">
                <a:srgbClr val="FFFFFF">
                  <a:alpha val="20000"/>
                </a:srgbClr>
              </a:gs>
              <a:gs pos="50000">
                <a:srgbClr val="FFFFFF">
                  <a:alpha val="15000"/>
                </a:srgbClr>
              </a:gs>
              <a:gs pos="66667">
                <a:srgbClr val="FFFFFF">
                  <a:alpha val="10000"/>
                </a:srgbClr>
              </a:gs>
              <a:gs pos="83333">
                <a:srgbClr val="FFFFFF">
                  <a:alpha val="5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4104829" y="4796582"/>
            <a:ext cx="1936552" cy="26193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4104829" y="4796582"/>
            <a:ext cx="1936552" cy="523875"/>
          </a:xfrm>
          <a:prstGeom prst="rect">
            <a:avLst/>
          </a:prstGeom>
          <a:noFill/>
          <a:ln w="9525">
            <a:solidFill>
              <a:srgbClr val="FFFFFF">
                <a:alpha val="15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6193780" y="4810869"/>
            <a:ext cx="1893391" cy="495300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 u="none">
                <a:solidFill>
                  <a:srgbClr val="F5F5F7"/>
                </a:solidFill>
                <a:latin typeface="Inter"/>
              </a:rPr>
              <a:t>Read the docs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5905500"/>
            <a:ext cx="12192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25" b="1" i="0" u="none">
                <a:solidFill>
                  <a:srgbClr val="71717A"/>
                </a:solidFill>
                <a:latin typeface="Inter"/>
              </a:rPr>
              <a:t>$ uv add slidify · $ slidify deck.html out.pptx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6400800"/>
            <a:ext cx="160302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SLIDIFY · ATOMIC SEED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3898" y="6400800"/>
            <a:ext cx="152370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52525B"/>
                </a:solidFill>
                <a:latin typeface="Inter"/>
              </a:rPr>
              <a:t>16 / 16 · CLOSING CTA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F5F5F7"/>
      </a:accent1>
      <a:accent2>
        <a:srgbClr val="06060C"/>
      </a:accent2>
      <a:accent3>
        <a:srgbClr val="F472B6"/>
      </a:accent3>
      <a:accent4>
        <a:srgbClr val="67E8F9"/>
      </a:accent4>
      <a:accent5>
        <a:srgbClr val="A78BFA"/>
      </a:accent5>
      <a:accent6>
        <a:srgbClr val="52525B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