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embeddedFontLst>
    <p:embeddedFont>
      <p:font typeface="Playfair Display" panose="02040603050405020304" charset="0"/>
      <p:regular r:id="rIdSlidifyFont1"/>
      <p:bold r:id="rIdSlidifyFont2"/>
      <p:italic r:id="rIdSlidifyFont3"/>
      <p:boldItalic r:id="rIdSlidifyFont4"/>
    </p:embeddedFont>
    <p:embeddedFont>
      <p:font typeface="Bebas Neue" panose="020B0604020202020204" charset="0"/>
      <p:regular r:id="rIdSlidifyFont5"/>
    </p:embeddedFont>
    <p:embeddedFont>
      <p:font typeface="Source Serif Pro" panose="02040603050405020304" charset="0"/>
      <p:regular r:id="rIdSlidifyFont6"/>
      <p:bold r:id="rIdSlidifyFont7"/>
      <p:italic r:id="rIdSlidifyFont8"/>
    </p:embeddedFont>
    <p:embeddedFont>
      <p:font typeface="JetBrains Mono" panose="020B0609040504020204" charset="0"/>
      <p:regular r:id="rIdSlidifyFont9"/>
      <p:bold r:id="rIdSlidifyFont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Relationship Id="rIdSlidifyFont5" Type="http://schemas.openxmlformats.org/officeDocument/2006/relationships/font" Target="fonts/font5.fntdata"/><Relationship Id="rIdSlidifyFont6" Type="http://schemas.openxmlformats.org/officeDocument/2006/relationships/font" Target="fonts/font6.fntdata"/><Relationship Id="rIdSlidifyFont7" Type="http://schemas.openxmlformats.org/officeDocument/2006/relationships/font" Target="fonts/font7.fntdata"/><Relationship Id="rIdSlidifyFont8" Type="http://schemas.openxmlformats.org/officeDocument/2006/relationships/font" Target="fonts/font8.fntdata"/><Relationship Id="rIdSlidifyFont9" Type="http://schemas.openxmlformats.org/officeDocument/2006/relationships/font" Target="fonts/font9.fntdata"/><Relationship Id="rIdSlidifyFont10" Type="http://schemas.openxmlformats.org/officeDocument/2006/relationships/font" Target="fonts/font1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9167">
                <a:srgbClr val="1B1841"/>
              </a:gs>
              <a:gs pos="18333">
                <a:srgbClr val="171538"/>
              </a:gs>
              <a:gs pos="27500">
                <a:srgbClr val="14132E"/>
              </a:gs>
              <a:gs pos="36667">
                <a:srgbClr val="101025"/>
              </a:gs>
              <a:gs pos="45833">
                <a:srgbClr val="0D0D1C"/>
              </a:gs>
              <a:gs pos="55000">
                <a:srgbClr val="0A0A14"/>
              </a:gs>
              <a:gs pos="62500">
                <a:srgbClr val="080812"/>
              </a:gs>
              <a:gs pos="70000">
                <a:srgbClr val="060610"/>
              </a:gs>
              <a:gs pos="77500">
                <a:srgbClr val="05050E"/>
              </a:gs>
              <a:gs pos="85000">
                <a:srgbClr val="04040C"/>
              </a:gs>
              <a:gs pos="92500">
                <a:srgbClr val="03030A"/>
              </a:gs>
              <a:gs pos="100000">
                <a:srgbClr val="020208"/>
              </a:gs>
            </a:gsLst>
            <a:path path="circle">
              <a:fillToRect l="50000" t="40000" r="50000" b="6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gradFill flip="none" rotWithShape="1">
            <a:gsLst>
              <a:gs pos="0">
                <a:srgbClr val="A78BFA">
                  <a:alpha val="34000"/>
                </a:srgbClr>
              </a:gs>
              <a:gs pos="11667">
                <a:srgbClr val="A78BFA">
                  <a:alpha val="28333"/>
                </a:srgbClr>
              </a:gs>
              <a:gs pos="23333">
                <a:srgbClr val="A78BFA">
                  <a:alpha val="22667"/>
                </a:srgbClr>
              </a:gs>
              <a:gs pos="35000">
                <a:srgbClr val="A78BFA">
                  <a:alpha val="17000"/>
                </a:srgbClr>
              </a:gs>
              <a:gs pos="46667">
                <a:srgbClr val="A78BFA">
                  <a:alpha val="11333"/>
                </a:srgbClr>
              </a:gs>
              <a:gs pos="58333">
                <a:srgbClr val="A78BFA">
                  <a:alpha val="5667"/>
                </a:srgbClr>
              </a:gs>
              <a:gs pos="70000">
                <a:srgbClr val="A78BFA">
                  <a:alpha val="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1143000" y="-1714500"/>
            <a:ext cx="6858000" cy="6858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gradFill flip="none" rotWithShape="1">
            <a:gsLst>
              <a:gs pos="0">
                <a:srgbClr val="F472B6">
                  <a:alpha val="30000"/>
                </a:srgbClr>
              </a:gs>
              <a:gs pos="12000">
                <a:srgbClr val="F472B6">
                  <a:alpha val="25000"/>
                </a:srgbClr>
              </a:gs>
              <a:gs pos="24000">
                <a:srgbClr val="F472B6">
                  <a:alpha val="20000"/>
                </a:srgbClr>
              </a:gs>
              <a:gs pos="36000">
                <a:srgbClr val="F472B6">
                  <a:alpha val="15000"/>
                </a:srgbClr>
              </a:gs>
              <a:gs pos="48000">
                <a:srgbClr val="F472B6">
                  <a:alpha val="10000"/>
                </a:srgbClr>
              </a:gs>
              <a:gs pos="60000">
                <a:srgbClr val="F472B6">
                  <a:alpha val="5000"/>
                </a:srgbClr>
              </a:gs>
              <a:gs pos="72000">
                <a:srgbClr val="F472B6">
                  <a:alpha val="0"/>
                </a:srgbClr>
              </a:gs>
              <a:gs pos="100000">
                <a:srgbClr val="F472B6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5334000" y="571500"/>
            <a:ext cx="8382000" cy="8382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33475" y="1704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272665" y="1129665"/>
            <a:ext cx="26670" cy="2667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609975" y="2085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28260" y="1318260"/>
            <a:ext cx="30480" cy="3048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848475" y="1704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561070" y="1131570"/>
            <a:ext cx="22860" cy="2286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0273665" y="1891665"/>
            <a:ext cx="26670" cy="2667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1229975" y="1323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514475" y="5133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035618" y="5702618"/>
            <a:ext cx="24765" cy="24765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562475" y="53244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080760" y="5890260"/>
            <a:ext cx="30480" cy="3048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7800975" y="5514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9513570" y="5703570"/>
            <a:ext cx="22860" cy="2286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0848975" y="5133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"/>
            <a:ext cx="11277600" cy="59436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0" y="800100"/>
            <a:ext cx="1219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 u="none">
                <a:solidFill>
                  <a:srgbClr val="A78BFA"/>
                </a:solidFill>
                <a:latin typeface="Inter"/>
              </a:rPr>
              <a:t>ISSUE 04 · 2026 · A FILM ABOUT SHIPPING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2095500"/>
            <a:ext cx="12192000" cy="2667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21000" b="1" i="0" u="none">
                <a:gradFill rotWithShape="1">
                  <a:gsLst>
                    <a:gs pos="0">
                      <a:srgbClr val="60A5FA"/>
                    </a:gs>
                    <a:gs pos="30000">
                      <a:srgbClr val="A78BFA"/>
                    </a:gs>
                    <a:gs pos="65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FUTURE.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4750" y="3429000"/>
            <a:ext cx="114300" cy="3288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SLIDIFY · ATOMIC SEED · RECIPE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943600"/>
            <a:ext cx="1219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 u="none">
                <a:solidFill>
                  <a:srgbClr val="71717A"/>
                </a:solidFill>
                <a:latin typeface="Inter"/>
              </a:rPr>
              <a:t>EDITORIAL · CHAPTER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20617"/>
              </a:gs>
              <a:gs pos="28000">
                <a:srgbClr val="1E1B4B"/>
              </a:gs>
              <a:gs pos="52000">
                <a:srgbClr val="7C3AED"/>
              </a:gs>
              <a:gs pos="75000">
                <a:srgbClr val="DB2777"/>
              </a:gs>
              <a:gs pos="100000">
                <a:srgbClr val="020208"/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6168182" cy="55054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51000" b="1" i="0" u="none">
                <a:latin typeface="Inter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9675" y="838200"/>
            <a:ext cx="1035100" cy="13335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5F5F7"/>
                </a:solidFill>
                <a:latin typeface="Inter"/>
              </a:rPr>
              <a:t>chapter two of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76350"/>
            <a:ext cx="103632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DE68A"/>
                </a:solidFill>
                <a:latin typeface="Inter"/>
              </a:rPr>
              <a:t>CHAPTER · 02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2575"/>
            <a:ext cx="6876901" cy="2133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0" b="1" i="0" u="none">
                <a:solidFill>
                  <a:srgbClr val="F5F5F7"/>
                </a:solidFill>
                <a:latin typeface="Inter"/>
              </a:rPr>
              <a:t xml:space="preserve">A new render path that </a:t>
            </a:r>
            <a:r>
              <a:rPr sz="5400" b="1" i="0" u="none">
                <a:gradFill rotWithShape="1">
                  <a:gsLst>
                    <a:gs pos="0">
                      <a:srgbClr val="FDE68A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stays alive</a:t>
            </a:r>
            <a:r>
              <a:rPr sz="5400" b="1" i="0" u="none">
                <a:solidFill>
                  <a:srgbClr val="F5F5F7"/>
                </a:solidFill>
                <a:latin typeface="Inter"/>
              </a:rPr>
              <a:t xml:space="preserve"> after the meeting.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19525"/>
            <a:ext cx="6286500" cy="8572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Inter"/>
              </a:rPr>
              <a:t>Render in headless Chromium. Cluster into atomic visual units. Translate gradients, shadows, and shapes into native PPTX. Edit the result in PowerPoint as if a designer authored it by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15050"/>
            <a:ext cx="174887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SLIDIFY · ATOMIC 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4253" y="6115050"/>
            <a:ext cx="2013347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02 / 16 · CHAPTER DIVIDER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000000">
                  <a:alpha val="55000"/>
                </a:srgbClr>
              </a:gs>
              <a:gs pos="8333">
                <a:srgbClr val="000000">
                  <a:alpha val="45833"/>
                </a:srgbClr>
              </a:gs>
              <a:gs pos="16667">
                <a:srgbClr val="000000">
                  <a:alpha val="36667"/>
                </a:srgbClr>
              </a:gs>
              <a:gs pos="25000">
                <a:srgbClr val="000000">
                  <a:alpha val="27500"/>
                </a:srgbClr>
              </a:gs>
              <a:gs pos="33333">
                <a:srgbClr val="000000">
                  <a:alpha val="18333"/>
                </a:srgbClr>
              </a:gs>
              <a:gs pos="41667">
                <a:srgbClr val="000000">
                  <a:alpha val="9167"/>
                </a:srgbClr>
              </a:gs>
              <a:gs pos="50000">
                <a:srgbClr val="000000">
                  <a:alpha val="0"/>
                </a:srgbClr>
              </a:gs>
              <a:gs pos="58333">
                <a:srgbClr val="000000">
                  <a:alpha val="9167"/>
                </a:srgbClr>
              </a:gs>
              <a:gs pos="66667">
                <a:srgbClr val="000000">
                  <a:alpha val="18333"/>
                </a:srgbClr>
              </a:gs>
              <a:gs pos="75000">
                <a:srgbClr val="000000">
                  <a:alpha val="27500"/>
                </a:srgbClr>
              </a:gs>
              <a:gs pos="83333">
                <a:srgbClr val="000000">
                  <a:alpha val="36667"/>
                </a:srgbClr>
              </a:gs>
              <a:gs pos="91667">
                <a:srgbClr val="000000">
                  <a:alpha val="45833"/>
                </a:srgbClr>
              </a:gs>
              <a:gs pos="100000">
                <a:srgbClr val="000000">
                  <a:alpha val="55000"/>
                </a:srgbClr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gradFill flip="none" rotWithShape="1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8000"/>
                </a:srgbClr>
              </a:gs>
            </a:gsLst>
            <a:path path="circle">
              <a:fillToRect l="25000" t="25000" r="75000" b="75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9906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DE68A"/>
                </a:solidFill>
                <a:latin typeface="Inter"/>
              </a:rPr>
              <a:t>MANIFESTO · A LUXURY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57300"/>
            <a:ext cx="9231362" cy="192315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650" b="0" i="1" u="none">
                <a:solidFill>
                  <a:srgbClr val="FEF3C7"/>
                </a:solidFill>
                <a:latin typeface="Playfair Display"/>
              </a:rPr>
              <a:t xml:space="preserve">Rasterization is the </a:t>
            </a:r>
            <a:r>
              <a:rPr sz="4650" b="1" i="1" u="none">
                <a:gradFill rotWithShape="1">
                  <a:gsLst>
                    <a:gs pos="0">
                      <a:srgbClr val="FDE68A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Playfair Display"/>
              </a:rPr>
              <a:t>failure mode,</a:t>
            </a:r>
            <a:r>
              <a:rPr sz="4650" b="0" i="1" u="none">
                <a:solidFill>
                  <a:srgbClr val="FEF3C7"/>
                </a:solidFill>
                <a:latin typeface="Playfair Display"/>
              </a:rPr>
              <a:t xml:space="preserve"> not the goal — every pixel that stays editable compounds across every translation.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37211"/>
            <a:ext cx="381000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DE68A"/>
                </a:solidFill>
                <a:latin typeface="Inter"/>
              </a:rPr>
              <a:t>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3699123"/>
            <a:ext cx="2419201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Vamsi Ramakrishnan</a:t>
            </a:r>
            <a:r>
              <a:rPr sz="975" b="0" i="0" u="none">
                <a:solidFill>
                  <a:srgbClr val="FFFFFF"/>
                </a:solidFill>
                <a:latin typeface="Inter"/>
              </a:rPr>
              <a:t>Founder · Pixelpitch Labs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267450"/>
            <a:ext cx="174887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SLIDIFY · ATOMIC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35864" y="6267450"/>
            <a:ext cx="1513136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03 / 16 · MANIFESTO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533400"/>
            <a:ext cx="670024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1" u="none">
                <a:solidFill>
                  <a:srgbClr val="06060C"/>
                </a:solidFill>
                <a:latin typeface="Playfair Display"/>
              </a:rPr>
              <a:t xml:space="preserve">atelier </a:t>
            </a:r>
            <a:r>
              <a:rPr sz="1800" b="1" i="0" u="none">
                <a:solidFill>
                  <a:srgbClr val="7C3AED"/>
                </a:solidFill>
                <a:latin typeface="Playfair Display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9831" y="604838"/>
            <a:ext cx="160779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ISSUE 04 · MMXXVI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9676"/>
            <a:ext cx="7191821" cy="405259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1100" b="0" i="0" u="none">
                <a:solidFill>
                  <a:srgbClr val="06060C"/>
                </a:solidFill>
                <a:latin typeface="Bebas Neue"/>
              </a:rPr>
              <a:t>A FILM</a:t>
            </a:r>
          </a:p>
          <a:p>
            <a:pPr algn="l"/>
            <a:r>
              <a:rPr sz="11100" b="0" i="0" u="none">
                <a:solidFill>
                  <a:srgbClr val="06060C"/>
                </a:solidFill>
                <a:latin typeface="Bebas Neue"/>
              </a:rPr>
              <a:t>ABOUT</a:t>
            </a:r>
          </a:p>
          <a:p>
            <a:pPr algn="l"/>
            <a:r>
              <a:rPr sz="11100" b="0" i="0" u="none">
                <a:solidFill>
                  <a:srgbClr val="DC2626"/>
                </a:solidFill>
                <a:latin typeface="Bebas Neue"/>
              </a:rPr>
              <a:t>SHIPPING.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65923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3F3F46"/>
                </a:solidFill>
                <a:latin typeface="Source Serif Pro"/>
              </a:rPr>
              <a:t>How a small team in Brooklyn built a compiler that turns browsers into editable PowerPoint — and why every screenshot tool was the wrong abstraction.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57825"/>
            <a:ext cx="4953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In this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676900"/>
            <a:ext cx="14555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704" y="5676900"/>
            <a:ext cx="428014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Why presentations were broken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8202" y="5676900"/>
            <a:ext cx="26059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1717A"/>
                </a:solidFill>
                <a:latin typeface="Inter"/>
              </a:rPr>
              <a:t>p.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48350"/>
            <a:ext cx="14555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704" y="5848350"/>
            <a:ext cx="428014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Render. Cluster. Classify. Emit.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8202" y="5848350"/>
            <a:ext cx="26059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1717A"/>
                </a:solidFill>
                <a:latin typeface="Inter"/>
              </a:rPr>
              <a:t>p.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19800"/>
            <a:ext cx="14555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704" y="6019800"/>
            <a:ext cx="428014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The atomic 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8202" y="6019800"/>
            <a:ext cx="26059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1717A"/>
                </a:solidFill>
                <a:latin typeface="Inter"/>
              </a:rPr>
              <a:t>p. 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191250"/>
            <a:ext cx="14555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Inte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704" y="6191250"/>
            <a:ext cx="428014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A landing page in twelve atoms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8202" y="6191250"/>
            <a:ext cx="26059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1717A"/>
                </a:solidFill>
                <a:latin typeface="Inter"/>
              </a:rPr>
              <a:t>p. 62</a:t>
            </a:r>
          </a:p>
        </p:txBody>
      </p:sp>
      <p:sp>
        <p:nvSpPr>
          <p:cNvPr id="20" name="Rounded Rectangle 19"/>
          <p:cNvSpPr/>
          <p:nvPr/>
        </p:nvSpPr>
        <p:spPr>
          <a:gradFill flip="none" rotWithShape="1">
            <a:gsLst>
              <a:gs pos="0">
                <a:srgbClr val="0C4A6E"/>
              </a:gs>
              <a:gs pos="8333">
                <a:srgbClr val="185289"/>
              </a:gs>
              <a:gs pos="16667">
                <a:srgbClr val="2E57A5"/>
              </a:gs>
              <a:gs pos="25000">
                <a:srgbClr val="495ABF"/>
              </a:gs>
              <a:gs pos="33333">
                <a:srgbClr val="665BD6"/>
              </a:gs>
              <a:gs pos="41667">
                <a:srgbClr val="8659E9"/>
              </a:gs>
              <a:gs pos="50000">
                <a:srgbClr val="A855F7"/>
              </a:gs>
              <a:gs pos="58333">
                <a:srgbClr val="B751EA"/>
              </a:gs>
              <a:gs pos="66667">
                <a:srgbClr val="C54EDC"/>
              </a:gs>
              <a:gs pos="75000">
                <a:srgbClr val="D14BCD"/>
              </a:gs>
              <a:gs pos="83333">
                <a:srgbClr val="DC49BC"/>
              </a:gs>
              <a:gs pos="91667">
                <a:srgbClr val="E548AB"/>
              </a:gs>
              <a:gs pos="100000">
                <a:srgbClr val="EC4899"/>
              </a:gs>
            </a:gsLst>
            <a:lin ang="4200000" scaled="0"/>
          </a:gradFill>
          <a:xfrm>
            <a:off x="8258621" y="1355527"/>
            <a:ext cx="3619500" cy="4191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391971" y="5213152"/>
            <a:ext cx="1566862" cy="200025"/>
          </a:xfrm>
          <a:prstGeom prst="rect">
            <a:avLst/>
          </a:prstGeom>
          <a:solidFill>
            <a:srgbClr val="000000">
              <a:alpha val="30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Consolas"/>
              </a:rPr>
              <a:t>04 / SUBJECT · STILL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8621" y="5851327"/>
            <a:ext cx="3250406" cy="322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Source Serif Pro"/>
              </a:rPr>
              <a:t xml:space="preserve">Cover </a:t>
            </a:r>
            <a:r>
              <a:rPr sz="975" b="0" i="1" u="none">
                <a:solidFill>
                  <a:srgbClr val="52525B"/>
                </a:solidFill>
                <a:latin typeface="Source Serif Pro"/>
              </a:rPr>
              <a:t>The render pipeline, photographed in long exposure. By Pixelpitch Labs.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10000">
                <a:srgbClr val="1B1841"/>
              </a:gs>
              <a:gs pos="20000">
                <a:srgbClr val="171538"/>
              </a:gs>
              <a:gs pos="30000">
                <a:srgbClr val="14132E"/>
              </a:gs>
              <a:gs pos="40000">
                <a:srgbClr val="101025"/>
              </a:gs>
              <a:gs pos="50000">
                <a:srgbClr val="0D0D1C"/>
              </a:gs>
              <a:gs pos="60000">
                <a:srgbClr val="0A0A14"/>
              </a:gs>
              <a:gs pos="66667">
                <a:srgbClr val="080812"/>
              </a:gs>
              <a:gs pos="73333">
                <a:srgbClr val="060610"/>
              </a:gs>
              <a:gs pos="80000">
                <a:srgbClr val="05050E"/>
              </a:gs>
              <a:gs pos="86667">
                <a:srgbClr val="04040C"/>
              </a:gs>
              <a:gs pos="93333">
                <a:srgbClr val="03030A"/>
              </a:gs>
              <a:gs pos="100000">
                <a:srgbClr val="020208"/>
              </a:gs>
            </a:gsLst>
            <a:path path="circle">
              <a:fillToRect l="80000" t="20000" r="20000" b="8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585549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PRODUCT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5855494" cy="33992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A bento of every primitive a deck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0990" y="930473"/>
            <a:ext cx="128141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16 · BENTO</a:t>
            </a:r>
          </a:p>
        </p:txBody>
      </p:sp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F5F5F7">
                  <a:alpha val="45000"/>
                </a:srgbClr>
              </a:gs>
              <a:gs pos="16667">
                <a:srgbClr val="F5F5F7">
                  <a:alpha val="37500"/>
                </a:srgbClr>
              </a:gs>
              <a:gs pos="33333">
                <a:srgbClr val="F5F5F7">
                  <a:alpha val="30000"/>
                </a:srgbClr>
              </a:gs>
              <a:gs pos="50000">
                <a:srgbClr val="F5F5F7">
                  <a:alpha val="22500"/>
                </a:srgbClr>
              </a:gs>
              <a:gs pos="66667">
                <a:srgbClr val="F5F5F7">
                  <a:alpha val="15000"/>
                </a:srgbClr>
              </a:gs>
              <a:gs pos="83333">
                <a:srgbClr val="F5F5F7">
                  <a:alpha val="7500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2149971" y="-1298377"/>
            <a:ext cx="6400800" cy="6400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gradFill flip="none" rotWithShape="1">
            <a:gsLst>
              <a:gs pos="0">
                <a:srgbClr val="1E1B4B">
                  <a:alpha val="45000"/>
                </a:srgbClr>
              </a:gs>
              <a:gs pos="16667">
                <a:srgbClr val="1E1B4B">
                  <a:alpha val="37500"/>
                </a:srgbClr>
              </a:gs>
              <a:gs pos="33333">
                <a:srgbClr val="1E1B4B">
                  <a:alpha val="30000"/>
                </a:srgbClr>
              </a:gs>
              <a:gs pos="50000">
                <a:srgbClr val="1E1B4B">
                  <a:alpha val="22500"/>
                </a:srgbClr>
              </a:gs>
              <a:gs pos="66667">
                <a:srgbClr val="1E1B4B">
                  <a:alpha val="15000"/>
                </a:srgbClr>
              </a:gs>
              <a:gs pos="83333">
                <a:srgbClr val="1E1B4B">
                  <a:alpha val="7500"/>
                </a:srgbClr>
              </a:gs>
              <a:gs pos="100000">
                <a:srgbClr val="1E1B4B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376660" y="-1298377"/>
            <a:ext cx="6400800" cy="6400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gradFill flip="none" rotWithShape="1">
            <a:gsLst>
              <a:gs pos="0">
                <a:srgbClr val="A78BFA">
                  <a:alpha val="45000"/>
                </a:srgbClr>
              </a:gs>
              <a:gs pos="16667">
                <a:srgbClr val="A78BFA">
                  <a:alpha val="37500"/>
                </a:srgbClr>
              </a:gs>
              <a:gs pos="33333">
                <a:srgbClr val="A78BFA">
                  <a:alpha val="30000"/>
                </a:srgbClr>
              </a:gs>
              <a:gs pos="50000">
                <a:srgbClr val="A78BFA">
                  <a:alpha val="22500"/>
                </a:srgbClr>
              </a:gs>
              <a:gs pos="66667">
                <a:srgbClr val="A78BFA">
                  <a:alpha val="15000"/>
                </a:srgbClr>
              </a:gs>
              <a:gs pos="83333">
                <a:srgbClr val="A78BFA">
                  <a:alpha val="75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2149971" y="1902023"/>
            <a:ext cx="6400800" cy="6400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gradFill flip="none" rotWithShape="1">
            <a:gsLst>
              <a:gs pos="0">
                <a:srgbClr val="FEF3C7">
                  <a:alpha val="45000"/>
                </a:srgbClr>
              </a:gs>
              <a:gs pos="16667">
                <a:srgbClr val="FEF3C7">
                  <a:alpha val="37500"/>
                </a:srgbClr>
              </a:gs>
              <a:gs pos="33333">
                <a:srgbClr val="FEF3C7">
                  <a:alpha val="30000"/>
                </a:srgbClr>
              </a:gs>
              <a:gs pos="50000">
                <a:srgbClr val="FEF3C7">
                  <a:alpha val="22500"/>
                </a:srgbClr>
              </a:gs>
              <a:gs pos="66667">
                <a:srgbClr val="FEF3C7">
                  <a:alpha val="15000"/>
                </a:srgbClr>
              </a:gs>
              <a:gs pos="83333">
                <a:srgbClr val="FEF3C7">
                  <a:alpha val="7500"/>
                </a:srgbClr>
              </a:gs>
              <a:gs pos="100000">
                <a:srgbClr val="FEF3C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376660" y="1902023"/>
            <a:ext cx="6400800" cy="6400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gradFill flip="none" rotWithShape="1">
            <a:gsLst>
              <a:gs pos="0">
                <a:srgbClr val="6366F1">
                  <a:alpha val="30000"/>
                </a:srgbClr>
              </a:gs>
              <a:gs pos="16667">
                <a:srgbClr val="8465F0">
                  <a:alpha val="28333"/>
                </a:srgbClr>
              </a:gs>
              <a:gs pos="33333">
                <a:srgbClr val="A065EA">
                  <a:alpha val="26667"/>
                </a:srgbClr>
              </a:gs>
              <a:gs pos="50000">
                <a:srgbClr val="B967E1">
                  <a:alpha val="25000"/>
                </a:srgbClr>
              </a:gs>
              <a:gs pos="66667">
                <a:srgbClr val="CF69D5">
                  <a:alpha val="23333"/>
                </a:srgbClr>
              </a:gs>
              <a:gs pos="83333">
                <a:srgbClr val="E36DC6">
                  <a:alpha val="21667"/>
                </a:srgbClr>
              </a:gs>
              <a:gs pos="100000">
                <a:srgbClr val="F472B6">
                  <a:alpha val="20000"/>
                </a:srgbClr>
              </a:gs>
            </a:gsLst>
            <a:lin ang="4200000" scaled="0"/>
          </a:gradFill>
          <a:xfrm>
            <a:off x="609600" y="1216223"/>
            <a:ext cx="4408289" cy="4572000"/>
          </a:xfrm>
          <a:prstGeom prst="roundRect">
            <a:avLst/>
          </a:prstGeom>
          <a:ln w="9525">
            <a:solidFill>
              <a:srgbClr val="A78BFA"/>
            </a:solidFill>
          </a:ln>
          <a:effectLst>
            <a:outerShdw blurRad="762000" dist="0" dir="0" algn="ctr" rotWithShape="0">
              <a:srgbClr val="8B5CF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9600" y="1216223"/>
            <a:ext cx="4408289" cy="4572000"/>
          </a:xfrm>
          <a:prstGeom prst="rect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28675" y="1416248"/>
            <a:ext cx="397013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FEATURED · NATIVE-AREA RATIO</a:t>
            </a:r>
          </a:p>
        </p:txBody>
      </p:sp>
      <p:sp>
        <p:nvSpPr>
          <p:cNvPr id="13" name="Oval 12"/>
          <p:cNvSpPr/>
          <p:nvPr/>
        </p:nvSpPr>
        <p:spPr>
          <a:xfrm>
            <a:off x="885825" y="4113907"/>
            <a:ext cx="495300" cy="495300"/>
          </a:xfrm>
          <a:prstGeom prst="ellipse">
            <a:avLst/>
          </a:prstGeom>
          <a:noFill/>
          <a:ln w="5715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85825" y="4113907"/>
            <a:ext cx="495300" cy="495300"/>
          </a:xfrm>
          <a:prstGeom prst="ellipse">
            <a:avLst/>
          </a:prstGeom>
          <a:noFill/>
          <a:ln w="571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28675" y="4818757"/>
            <a:ext cx="573435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95</a:t>
            </a:r>
            <a:r>
              <a:rPr sz="1800" b="1" i="0" u="none">
                <a:solidFill>
                  <a:srgbClr val="A78BFA"/>
                </a:solidFill>
                <a:latin typeface="Inter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5256907"/>
            <a:ext cx="3970139" cy="3312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of slide area emits as native, editable PPTX shapes — gradients, shadows, text frames, real preset shapes.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1239" y="1216223"/>
            <a:ext cx="3148905" cy="2219325"/>
          </a:xfrm>
          <a:prstGeom prst="round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innerShdw blurRad="0" dist="9525" dir="5400000">
              <a:srgbClr val="FFFFFF">
                <a:alpha val="16000"/>
              </a:srgbClr>
            </a:innerShdw>
            <a:outerShdw blurRad="381000" dist="1524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gradFill flip="none" rotWithShape="1">
            <a:gsLst>
              <a:gs pos="0">
                <a:srgbClr val="ffffff">
                  <a:alpha val="20000"/>
                </a:srgbClr>
              </a:gs>
              <a:gs pos="16667">
                <a:srgbClr val="FFFFFF">
                  <a:alpha val="16667"/>
                </a:srgbClr>
              </a:gs>
              <a:gs pos="33333">
                <a:srgbClr val="FFFFFF">
                  <a:alpha val="13333"/>
                </a:srgbClr>
              </a:gs>
              <a:gs pos="50000">
                <a:srgbClr val="FFFFFF">
                  <a:alpha val="10000"/>
                </a:srgbClr>
              </a:gs>
              <a:gs pos="66667">
                <a:srgbClr val="FFFFFF">
                  <a:alpha val="6667"/>
                </a:srgbClr>
              </a:gs>
              <a:gs pos="83333">
                <a:srgbClr val="FFFFFF">
                  <a:alpha val="3333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xfrm>
            <a:off x="5151239" y="1216223"/>
            <a:ext cx="3148905" cy="99869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151239" y="1216223"/>
            <a:ext cx="3148905" cy="2219325"/>
          </a:xfrm>
          <a:prstGeom prst="rect">
            <a:avLst/>
          </a:prstGeom>
          <a:noFill/>
          <a:ln w="9525">
            <a:solidFill>
              <a:srgbClr val="FFFFFF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151239" y="1216223"/>
            <a:ext cx="3148905" cy="2219325"/>
          </a:xfrm>
          <a:prstGeom prst="rect">
            <a:avLst/>
          </a:prstGeom>
          <a:noFill/>
          <a:ln>
            <a:noFill/>
          </a:ln>
          <a:effectLst>
            <a:innerShdw blurRad="171450" dist="0" dir="0">
              <a:srgbClr val="FFFFFF">
                <a:alpha val="10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370314" y="1416248"/>
            <a:ext cx="271075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▲ ARR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0314" y="2650778"/>
            <a:ext cx="2710755" cy="3619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$12.4M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0314" y="3069878"/>
            <a:ext cx="2710755" cy="16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34D399"/>
                </a:solidFill>
                <a:latin typeface="Inter"/>
              </a:rPr>
              <a:t>+18.2% Q-o-Q</a:t>
            </a:r>
          </a:p>
        </p:txBody>
      </p:sp>
      <p:sp>
        <p:nvSpPr>
          <p:cNvPr id="24" name="Rectangle 23"/>
          <p:cNvSpPr/>
          <p:nvPr/>
        </p:nvSpPr>
        <p:spPr>
          <a:gradFill flip="none" rotWithShape="1">
            <a:gsLst>
              <a:gs pos="0">
                <a:srgbClr val="F5F5F7">
                  <a:alpha val="55000"/>
                </a:srgbClr>
              </a:gs>
              <a:gs pos="16667">
                <a:srgbClr val="F5F5F7">
                  <a:alpha val="45833"/>
                </a:srgbClr>
              </a:gs>
              <a:gs pos="33333">
                <a:srgbClr val="F5F5F7">
                  <a:alpha val="36667"/>
                </a:srgbClr>
              </a:gs>
              <a:gs pos="50000">
                <a:srgbClr val="F5F5F7">
                  <a:alpha val="27500"/>
                </a:srgbClr>
              </a:gs>
              <a:gs pos="66667">
                <a:srgbClr val="F5F5F7">
                  <a:alpha val="18333"/>
                </a:srgbClr>
              </a:gs>
              <a:gs pos="83333">
                <a:srgbClr val="F5F5F7">
                  <a:alpha val="9167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7016554" y="-665433"/>
            <a:ext cx="5982638" cy="598263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gradFill flip="none" rotWithShape="1">
            <a:gsLst>
              <a:gs pos="0">
                <a:srgbClr val="F472B6">
                  <a:alpha val="40000"/>
                </a:srgbClr>
              </a:gs>
              <a:gs pos="6667">
                <a:srgbClr val="E36DC6">
                  <a:alpha val="36000"/>
                </a:srgbClr>
              </a:gs>
              <a:gs pos="13333">
                <a:srgbClr val="CF69D5">
                  <a:alpha val="32000"/>
                </a:srgbClr>
              </a:gs>
              <a:gs pos="20000">
                <a:srgbClr val="B967E1">
                  <a:alpha val="28000"/>
                </a:srgbClr>
              </a:gs>
              <a:gs pos="26667">
                <a:srgbClr val="A065EA">
                  <a:alpha val="24000"/>
                </a:srgbClr>
              </a:gs>
              <a:gs pos="33333">
                <a:srgbClr val="8465F0">
                  <a:alpha val="20000"/>
                </a:srgbClr>
              </a:gs>
              <a:gs pos="40000">
                <a:srgbClr val="6366F1">
                  <a:alpha val="16000"/>
                </a:srgbClr>
              </a:gs>
              <a:gs pos="50000">
                <a:srgbClr val="6446B7">
                  <a:alpha val="22500"/>
                </a:srgbClr>
              </a:gs>
              <a:gs pos="60000">
                <a:srgbClr val="562B7E">
                  <a:alpha val="29000"/>
                </a:srgbClr>
              </a:gs>
              <a:gs pos="70000">
                <a:srgbClr val="40164C">
                  <a:alpha val="35500"/>
                </a:srgbClr>
              </a:gs>
              <a:gs pos="80000">
                <a:srgbClr val="250622">
                  <a:alpha val="42000"/>
                </a:srgbClr>
              </a:gs>
              <a:gs pos="90000">
                <a:srgbClr val="090105">
                  <a:alpha val="48500"/>
                </a:srgbClr>
              </a:gs>
              <a:gs pos="100000">
                <a:srgbClr val="000000">
                  <a:alpha val="55000"/>
                </a:srgbClr>
              </a:gs>
            </a:gsLst>
            <a:path path="circle">
              <a:fillToRect l="50000" t="30000" r="50000" b="70000"/>
            </a:path>
          </a:gradFill>
          <a:xfrm>
            <a:off x="8433495" y="1216223"/>
            <a:ext cx="3148757" cy="22193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652570" y="1416248"/>
            <a:ext cx="271060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UPTIME · 90D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2570" y="2631728"/>
            <a:ext cx="1044029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99.98</a:t>
            </a:r>
            <a:r>
              <a:rPr sz="1800" b="1" i="0" u="none">
                <a:solidFill>
                  <a:srgbClr val="F5F5F7"/>
                </a:solidFill>
                <a:latin typeface="Inter"/>
              </a:rPr>
              <a:t>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2570" y="3069878"/>
            <a:ext cx="2710607" cy="16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5,182 of 5,184 deploys passed SSIM ≥ 0.95.</a:t>
            </a:r>
          </a:p>
        </p:txBody>
      </p:sp>
      <p:sp>
        <p:nvSpPr>
          <p:cNvPr id="29" name="Rectangle 28"/>
          <p:cNvSpPr/>
          <p:nvPr/>
        </p:nvSpPr>
        <p:spPr>
          <a:gradFill flip="none" rotWithShape="1">
            <a:gsLst>
              <a:gs pos="0">
                <a:srgbClr val="F5F5F7">
                  <a:alpha val="40000"/>
                </a:srgbClr>
              </a:gs>
              <a:gs pos="16667">
                <a:srgbClr val="F5F5F7">
                  <a:alpha val="33333"/>
                </a:srgbClr>
              </a:gs>
              <a:gs pos="33333">
                <a:srgbClr val="F5F5F7">
                  <a:alpha val="26667"/>
                </a:srgbClr>
              </a:gs>
              <a:gs pos="50000">
                <a:srgbClr val="F5F5F7">
                  <a:alpha val="20000"/>
                </a:srgbClr>
              </a:gs>
              <a:gs pos="66667">
                <a:srgbClr val="F5F5F7">
                  <a:alpha val="13333"/>
                </a:srgbClr>
              </a:gs>
              <a:gs pos="83333">
                <a:srgbClr val="F5F5F7">
                  <a:alpha val="6667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3017585" y="1031647"/>
            <a:ext cx="5803993" cy="580399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gradFill flip="none" rotWithShape="1">
            <a:gsLst>
              <a:gs pos="0">
                <a:srgbClr val="1E1B4B">
                  <a:alpha val="35000"/>
                </a:srgbClr>
              </a:gs>
              <a:gs pos="16667">
                <a:srgbClr val="1E1B4B">
                  <a:alpha val="29167"/>
                </a:srgbClr>
              </a:gs>
              <a:gs pos="33333">
                <a:srgbClr val="1E1B4B">
                  <a:alpha val="23333"/>
                </a:srgbClr>
              </a:gs>
              <a:gs pos="50000">
                <a:srgbClr val="1E1B4B">
                  <a:alpha val="17500"/>
                </a:srgbClr>
              </a:gs>
              <a:gs pos="66667">
                <a:srgbClr val="1E1B4B">
                  <a:alpha val="11667"/>
                </a:srgbClr>
              </a:gs>
              <a:gs pos="83333">
                <a:srgbClr val="1E1B4B">
                  <a:alpha val="5833"/>
                </a:srgbClr>
              </a:gs>
              <a:gs pos="100000">
                <a:srgbClr val="1E1B4B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3823695" y="1615343"/>
            <a:ext cx="6126437" cy="612643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gradFill flip="none" rotWithShape="1">
            <a:gsLst>
              <a:gs pos="0">
                <a:srgbClr val="A78BFA">
                  <a:alpha val="40000"/>
                </a:srgbClr>
              </a:gs>
              <a:gs pos="16667">
                <a:srgbClr val="A78BFA">
                  <a:alpha val="33333"/>
                </a:srgbClr>
              </a:gs>
              <a:gs pos="33333">
                <a:srgbClr val="A78BFA">
                  <a:alpha val="26667"/>
                </a:srgbClr>
              </a:gs>
              <a:gs pos="50000">
                <a:srgbClr val="A78BFA">
                  <a:alpha val="20000"/>
                </a:srgbClr>
              </a:gs>
              <a:gs pos="66667">
                <a:srgbClr val="A78BFA">
                  <a:alpha val="13333"/>
                </a:srgbClr>
              </a:gs>
              <a:gs pos="83333">
                <a:srgbClr val="A78BFA">
                  <a:alpha val="6667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4726539" y="2521482"/>
            <a:ext cx="5803993" cy="580399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gradFill flip="none" rotWithShape="1">
            <a:gsLst>
              <a:gs pos="0">
                <a:srgbClr val="6366F1">
                  <a:alpha val="20000"/>
                </a:srgbClr>
              </a:gs>
              <a:gs pos="30000">
                <a:srgbClr val="A78BFA">
                  <a:alpha val="10000"/>
                </a:srgbClr>
              </a:gs>
              <a:gs pos="60000">
                <a:srgbClr val="F472B6">
                  <a:alpha val="18000"/>
                </a:srgbClr>
              </a:gs>
              <a:gs pos="100000">
                <a:srgbClr val="FB923C">
                  <a:alpha val="10000"/>
                </a:srgbClr>
              </a:gs>
            </a:gsLst>
            <a:lin ang="5400000" scaled="0"/>
          </a:gradFill>
          <a:xfrm>
            <a:off x="5113472" y="3514627"/>
            <a:ext cx="3224440" cy="2327868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339394" y="3722175"/>
            <a:ext cx="2712761" cy="199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▲ DECKS / WEEK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82478" y="4955953"/>
            <a:ext cx="2721736" cy="45633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1,184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7104" y="5374798"/>
            <a:ext cx="2714885" cy="2601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Across 318 teams in production.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33495" y="3568898"/>
            <a:ext cx="3148757" cy="2219325"/>
          </a:xfrm>
          <a:prstGeom prst="roundRect">
            <a:avLst/>
          </a:prstGeom>
          <a:solidFill>
            <a:srgbClr val="050510"/>
          </a:solidFill>
          <a:ln w="9525">
            <a:solidFill>
              <a:srgbClr val="FFFFFF"/>
            </a:solidFill>
          </a:ln>
          <a:effectLst>
            <a:innerShdw blurRad="76200" dist="19050" dir="5400000">
              <a:srgbClr val="000000">
                <a:alpha val="5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8433495" y="3568898"/>
            <a:ext cx="3148757" cy="2219325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652570" y="3768923"/>
            <a:ext cx="271060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Consolas"/>
              </a:rPr>
              <a:t>$ slidify --quiet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2570" y="4895255"/>
            <a:ext cx="1303586" cy="657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Consolas"/>
              </a:rPr>
              <a:t># compose from atoms</a:t>
            </a:r>
          </a:p>
          <a:p>
            <a:pPr algn="l"/>
            <a:r>
              <a:rPr sz="825" b="0" i="0" u="none">
                <a:solidFill>
                  <a:srgbClr val="C084FC"/>
                </a:solidFill>
                <a:latin typeface="Consolas"/>
              </a:rPr>
              <a:t>deck</a:t>
            </a:r>
            <a:r>
              <a:rPr sz="825" b="0" i="0" u="none">
                <a:solidFill>
                  <a:srgbClr val="34D399"/>
                </a:solidFill>
                <a:latin typeface="Consolas"/>
              </a:rPr>
              <a:t>.compose(</a:t>
            </a:r>
          </a:p>
          <a:p>
            <a:pPr algn="l"/>
            <a:r>
              <a:rPr sz="825" b="0" i="0" u="none">
                <a:solidFill>
                  <a:srgbClr val="34D399"/>
                </a:solidFill>
                <a:latin typeface="Consolas"/>
              </a:rPr>
              <a:t xml:space="preserve">  "hero", "bento")</a:t>
            </a:r>
          </a:p>
          <a:p>
            <a:pPr algn="l"/>
            <a:r>
              <a:rPr sz="825" b="0" i="0" u="none">
                <a:solidFill>
                  <a:srgbClr val="34D399"/>
                </a:solidFill>
                <a:latin typeface="Consolas"/>
              </a:rPr>
              <a:t xml:space="preserve">
        → out.pptx ✓
  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21107" y="6515100"/>
            <a:ext cx="106129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16 · BENTO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00000">
                  <a:alpha val="4000"/>
                </a:srgbClr>
              </a:gs>
              <a:gs pos="100000">
                <a:srgbClr val="000000">
                  <a:alpha val="4000"/>
                </a:srgbClr>
              </a:gs>
            </a:gsLst>
            <a:lin ang="162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702275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PRODUCT ·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8650"/>
            <a:ext cx="7022753" cy="30003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06060C"/>
                </a:solidFill>
                <a:latin typeface="Inter"/>
              </a:rPr>
              <a:t>Every cluster routed to a native primitive — annotated.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82659" y="814388"/>
            <a:ext cx="149974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06 / 16 · ANATOMY</a:t>
            </a:r>
          </a:p>
        </p:txBody>
      </p:sp>
      <p:sp>
        <p:nvSpPr>
          <p:cNvPr id="6" name="Freeform 5"/>
          <p:cNvSpPr/>
          <p:nvPr/>
        </p:nvSpPr>
        <p:spPr>
          <a:xfrm>
            <a:off x="1943100" y="2052638"/>
            <a:ext cx="2286000" cy="1238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33333" y="23077"/>
                </a:lnTo>
                <a:lnTo>
                  <a:pt x="100000" y="10000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91000" y="3252788"/>
            <a:ext cx="76200" cy="76200"/>
          </a:xfrm>
          <a:prstGeom prst="ellipse">
            <a:avLst/>
          </a:prstGeom>
          <a:solidFill>
            <a:srgbClr val="F472B6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7943850" y="2052638"/>
            <a:ext cx="2286000" cy="1238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62500" y="30769"/>
                </a:lnTo>
                <a:lnTo>
                  <a:pt x="0" y="10000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905750" y="3252788"/>
            <a:ext cx="76200" cy="76200"/>
          </a:xfrm>
          <a:prstGeom prst="ellipse">
            <a:avLst/>
          </a:prstGeom>
          <a:solidFill>
            <a:srgbClr val="F472B6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57350" y="4148138"/>
            <a:ext cx="2571750" cy="57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40741" y="66667"/>
                </a:lnTo>
                <a:lnTo>
                  <a:pt x="100000" y="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191000" y="4110038"/>
            <a:ext cx="76200" cy="76200"/>
          </a:xfrm>
          <a:prstGeom prst="ellipse">
            <a:avLst/>
          </a:prstGeom>
          <a:solidFill>
            <a:srgbClr val="34D399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7943850" y="4148138"/>
            <a:ext cx="2571750" cy="57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100000"/>
                </a:moveTo>
                <a:lnTo>
                  <a:pt x="55556" y="66667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905750" y="4110038"/>
            <a:ext cx="76200" cy="76200"/>
          </a:xfrm>
          <a:prstGeom prst="ellipse">
            <a:avLst/>
          </a:prstGeom>
          <a:solidFill>
            <a:srgbClr val="34D399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 13"/>
          <p:cNvCxnSpPr/>
          <p:nvPr/>
        </p:nvCxnSpPr>
        <p:spPr>
          <a:xfrm>
            <a:off x="4229100" y="5195888"/>
            <a:ext cx="3714750" cy="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29100" y="5138738"/>
            <a:ext cx="0" cy="11430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43850" y="5138738"/>
            <a:ext cx="0" cy="11430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23773" y="5064442"/>
            <a:ext cx="1325404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06060C"/>
                </a:solidFill>
                <a:latin typeface="Inter"/>
              </a:rPr>
              <a:t>540 PX · NATIVE PICTURE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14725" y="2409825"/>
            <a:ext cx="5162550" cy="2333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>
            <a:outerShdw blurRad="571500" dist="2286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524250" y="2419350"/>
            <a:ext cx="5143500" cy="409575"/>
          </a:xfrm>
          <a:prstGeom prst="rect">
            <a:avLst/>
          </a:prstGeom>
          <a:solidFill>
            <a:srgbClr val="F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638550" y="2566988"/>
            <a:ext cx="104775" cy="104775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819525" y="2566988"/>
            <a:ext cx="104775" cy="104775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000500" y="2566988"/>
            <a:ext cx="104775" cy="104775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181475" y="2505075"/>
            <a:ext cx="1288373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Inter"/>
              </a:rPr>
              <a:t>slidify.sh / atomic-seed</a:t>
            </a:r>
          </a:p>
        </p:txBody>
      </p:sp>
      <p:sp>
        <p:nvSpPr>
          <p:cNvPr id="24" name="TextBox 23"/>
          <p:cNvSpPr txBox="1"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4200000" scaled="0"/>
          </a:gradFill>
          <a:xfrm>
            <a:off x="3524250" y="2828925"/>
            <a:ext cx="5143500" cy="19050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Inter"/>
              </a:rPr>
              <a:t>slidify · atomic seed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1852612"/>
            <a:ext cx="827633" cy="21907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7"/>
                </a:solidFill>
                <a:latin typeface="Inter"/>
              </a:rPr>
              <a:t>CHROME BAR</a:t>
            </a:r>
            <a:r>
              <a:rPr sz="800" b="1" i="0" u="none">
                <a:solidFill>
                  <a:srgbClr val="A78BFA"/>
                </a:solidFill>
                <a:latin typeface="Consolas"/>
              </a:rPr>
              <a:t>→ NativeShape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3301" y="1852612"/>
            <a:ext cx="660499" cy="21907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7"/>
                </a:solidFill>
                <a:latin typeface="Inter"/>
              </a:rPr>
              <a:t>URL FIELD</a:t>
            </a:r>
            <a:r>
              <a:rPr sz="800" b="1" i="0" u="none">
                <a:solidFill>
                  <a:srgbClr val="A78BFA"/>
                </a:solidFill>
                <a:latin typeface="Consolas"/>
              </a:rPr>
              <a:t>→ NativeText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4519612"/>
            <a:ext cx="1320998" cy="21907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7"/>
                </a:solidFill>
                <a:latin typeface="Inter"/>
              </a:rPr>
              <a:t>HERO GRADIENT</a:t>
            </a:r>
            <a:r>
              <a:rPr sz="800" b="1" i="0" u="none">
                <a:solidFill>
                  <a:srgbClr val="A78BFA"/>
                </a:solidFill>
                <a:latin typeface="Consolas"/>
              </a:rPr>
              <a:t>→ NativeShape · gradFill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2786" y="4519612"/>
            <a:ext cx="1211014" cy="21907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7"/>
                </a:solidFill>
                <a:latin typeface="Inter"/>
              </a:rPr>
              <a:t>CTA TEXT</a:t>
            </a:r>
            <a:r>
              <a:rPr sz="800" b="1" i="0" u="none">
                <a:solidFill>
                  <a:srgbClr val="A78BFA"/>
                </a:solidFill>
                <a:latin typeface="Consolas"/>
              </a:rPr>
              <a:t>→ NativeText · per-run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SLIDIFY · ATOMIC SEED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095" y="6515100"/>
            <a:ext cx="12503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06 / 16 · ANATOMY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67E8F9">
                  <a:alpha val="6000"/>
                </a:srgbClr>
              </a:gs>
              <a:gs pos="100000">
                <a:srgbClr val="67E8F9">
                  <a:alpha val="6000"/>
                </a:srgbClr>
              </a:gs>
            </a:gsLst>
            <a:lin ang="162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6767215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67E8F9"/>
                </a:solidFill>
                <a:latin typeface="Consolas"/>
              </a:rPr>
              <a:t>$ slidify spec --version 0.4 --target landing-page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7527" y="619125"/>
            <a:ext cx="1844873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 xml:space="preserve">REV · </a:t>
            </a:r>
            <a:r>
              <a:rPr sz="800" b="1" i="0" u="none">
                <a:solidFill>
                  <a:srgbClr val="A78BFA"/>
                </a:solidFill>
                <a:latin typeface="Consolas"/>
              </a:rPr>
              <a:t>04.A</a:t>
            </a:r>
            <a:r>
              <a:rPr sz="800" b="1" i="0" u="none">
                <a:solidFill>
                  <a:srgbClr val="67E8F9"/>
                </a:solidFill>
                <a:latin typeface="Consolas"/>
              </a:rPr>
              <a:t xml:space="preserve"> · 2026·05·01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019175"/>
            <a:ext cx="5891510" cy="4953000"/>
          </a:xfrm>
          <a:prstGeom prst="roundRect">
            <a:avLst/>
          </a:prstGeom>
          <a:solidFill>
            <a:srgbClr val="67E8F9">
              <a:alpha val="4000"/>
            </a:srgbClr>
          </a:solidFill>
          <a:ln w="9525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24633" y="2029042"/>
            <a:ext cx="4061445" cy="2707630"/>
          </a:xfrm>
          <a:prstGeom prst="rect">
            <a:avLst/>
          </a:prstGeom>
          <a:noFill/>
          <a:ln w="14288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975904" y="2480314"/>
            <a:ext cx="3158902" cy="1353815"/>
          </a:xfrm>
          <a:prstGeom prst="rect">
            <a:avLst/>
          </a:prstGeom>
          <a:noFill/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975904" y="4059765"/>
            <a:ext cx="1353815" cy="451272"/>
          </a:xfrm>
          <a:prstGeom prst="round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975904" y="4059765"/>
            <a:ext cx="1353815" cy="451272"/>
          </a:xfrm>
          <a:prstGeom prst="roundRect">
            <a:avLst/>
          </a:prstGeom>
          <a:noFill/>
          <a:ln w="14288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 10"/>
          <p:cNvCxnSpPr/>
          <p:nvPr/>
        </p:nvCxnSpPr>
        <p:spPr>
          <a:xfrm>
            <a:off x="1524633" y="1803406"/>
            <a:ext cx="4061445" cy="0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24633" y="1735715"/>
            <a:ext cx="0" cy="135382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86078" y="1735715"/>
            <a:ext cx="0" cy="135382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98997" y="2029042"/>
            <a:ext cx="0" cy="2707630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31306" y="2029042"/>
            <a:ext cx="135381" cy="0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31306" y="4736672"/>
            <a:ext cx="135381" cy="0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57225" y="1161635"/>
            <a:ext cx="381000" cy="381000"/>
          </a:xfrm>
          <a:prstGeom prst="ellipse">
            <a:avLst/>
          </a:prstGeom>
          <a:noFill/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52475" y="1256885"/>
            <a:ext cx="190500" cy="190500"/>
          </a:xfrm>
          <a:prstGeom prst="ellipse">
            <a:avLst/>
          </a:prstGeom>
          <a:noFill/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nector 18"/>
          <p:cNvCxnSpPr/>
          <p:nvPr/>
        </p:nvCxnSpPr>
        <p:spPr>
          <a:xfrm>
            <a:off x="554398" y="1352135"/>
            <a:ext cx="586654" cy="0"/>
          </a:xfrm>
          <a:prstGeom prst="line">
            <a:avLst/>
          </a:prstGeom>
          <a:ln w="952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7725" y="1058808"/>
            <a:ext cx="0" cy="586653"/>
          </a:xfrm>
          <a:prstGeom prst="line">
            <a:avLst/>
          </a:prstGeom>
          <a:ln w="952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90961" y="3102399"/>
            <a:ext cx="1728788" cy="2619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1" i="0">
                <a:solidFill>
                  <a:srgbClr val="67E8F9"/>
                </a:solidFill>
                <a:latin typeface="Consolas"/>
              </a:rPr>
              <a:t>slide.compose()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8241" y="4257989"/>
            <a:ext cx="749141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67E8F9"/>
                </a:solidFill>
                <a:latin typeface="Consolas"/>
              </a:rPr>
              <a:t>CTA · TACTILE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3663" y="1629332"/>
            <a:ext cx="403384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67E8F9"/>
                </a:solidFill>
                <a:latin typeface="Consolas"/>
              </a:rPr>
              <a:t>1280 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482" y="3299037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67E8F9"/>
                </a:solidFill>
                <a:latin typeface="Consolas"/>
              </a:rPr>
              <a:t>720 PX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2560" y="1019175"/>
            <a:ext cx="4909840" cy="1574750"/>
          </a:xfrm>
          <a:prstGeom prst="roundRect">
            <a:avLst/>
          </a:prstGeom>
          <a:solidFill>
            <a:srgbClr val="67E8F9">
              <a:alpha val="4000"/>
            </a:srgbClr>
          </a:solidFill>
          <a:ln w="9525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853535" y="1200150"/>
            <a:ext cx="454789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FRAME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3535" y="1381125"/>
            <a:ext cx="688181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viewport.w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9668" y="1381125"/>
            <a:ext cx="481757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1280 PX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3535" y="1558230"/>
            <a:ext cx="688181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viewport.h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88427" y="1558230"/>
            <a:ext cx="412998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720 PX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3535" y="1735336"/>
            <a:ext cx="61942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safe-area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6819" y="1735336"/>
            <a:ext cx="894606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1136 × 510 PX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2560" y="2708225"/>
            <a:ext cx="4909840" cy="1574750"/>
          </a:xfrm>
          <a:prstGeom prst="roundRect">
            <a:avLst/>
          </a:prstGeom>
          <a:solidFill>
            <a:srgbClr val="67E8F9">
              <a:alpha val="4000"/>
            </a:srgbClr>
          </a:solidFill>
          <a:ln w="9525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853535" y="2889200"/>
            <a:ext cx="454789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EMIT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3535" y="3070175"/>
            <a:ext cx="1169938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native_area_ratio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88427" y="3070175"/>
            <a:ext cx="412998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34D399"/>
                </a:solidFill>
                <a:latin typeface="Consolas"/>
              </a:rPr>
              <a:t>≥ 0.95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3535" y="3247281"/>
            <a:ext cx="96351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fonts.embedded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13244" y="3247281"/>
            <a:ext cx="688181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9 families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3535" y="3424386"/>
            <a:ext cx="757089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tier-0 hits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2002" y="3424386"/>
            <a:ext cx="61942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247 / 318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2560" y="4397276"/>
            <a:ext cx="4909840" cy="1574899"/>
          </a:xfrm>
          <a:prstGeom prst="roundRect">
            <a:avLst/>
          </a:prstGeom>
          <a:solidFill>
            <a:srgbClr val="67E8F9">
              <a:alpha val="4000"/>
            </a:srgbClr>
          </a:solidFill>
          <a:ln w="9525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6853535" y="4578251"/>
            <a:ext cx="454789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COMPOSITION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3535" y="4759226"/>
            <a:ext cx="894606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atoms / slide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57334" y="4759226"/>
            <a:ext cx="344091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4 — 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3535" y="4936331"/>
            <a:ext cx="96351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axes / cluster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94852" y="4936331"/>
            <a:ext cx="20657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≤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3535" y="5113437"/>
            <a:ext cx="894606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z-stack depth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94852" y="5113437"/>
            <a:ext cx="20657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≤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" y="6581775"/>
            <a:ext cx="141535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SLIDIFY · BLUEPRINT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92482" y="6581775"/>
            <a:ext cx="14899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07 / 16 · SPEC SHEET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10000">
                <a:srgbClr val="1B1841"/>
              </a:gs>
              <a:gs pos="20000">
                <a:srgbClr val="171538"/>
              </a:gs>
              <a:gs pos="30000">
                <a:srgbClr val="14132E"/>
              </a:gs>
              <a:gs pos="40000">
                <a:srgbClr val="101025"/>
              </a:gs>
              <a:gs pos="50000">
                <a:srgbClr val="0D0D1C"/>
              </a:gs>
              <a:gs pos="60000">
                <a:srgbClr val="0A0A14"/>
              </a:gs>
              <a:gs pos="66667">
                <a:srgbClr val="080812"/>
              </a:gs>
              <a:gs pos="73333">
                <a:srgbClr val="060610"/>
              </a:gs>
              <a:gs pos="80000">
                <a:srgbClr val="05050E"/>
              </a:gs>
              <a:gs pos="86667">
                <a:srgbClr val="04040C"/>
              </a:gs>
              <a:gs pos="93333">
                <a:srgbClr val="03030A"/>
              </a:gs>
              <a:gs pos="100000">
                <a:srgbClr val="020208"/>
              </a:gs>
            </a:gsLst>
            <a:path path="circle">
              <a:fillToRect l="50000" t="50000" r="50000" b="5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534769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PIPELINE ·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8650"/>
            <a:ext cx="5347692" cy="30003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F5F5F7"/>
                </a:solidFill>
                <a:latin typeface="Inter"/>
              </a:rPr>
              <a:t>Render. Cluster. Classify. Emit. — looped.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7840" y="814388"/>
            <a:ext cx="195456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16 · PROCESS RING</a:t>
            </a:r>
          </a:p>
        </p:txBody>
      </p:sp>
      <p:sp>
        <p:nvSpPr>
          <p:cNvPr id="6" name="Oval 5"/>
          <p:cNvSpPr/>
          <p:nvPr/>
        </p:nvSpPr>
        <p:spPr>
          <a:xfrm>
            <a:off x="4191000" y="1795462"/>
            <a:ext cx="3810000" cy="3810000"/>
          </a:xfrm>
          <a:prstGeom prst="ellipse">
            <a:avLst/>
          </a:prstGeom>
          <a:noFill/>
          <a:ln w="19050">
            <a:solidFill>
              <a:srgbClr val="A78BFA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038850" y="1738312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943850" y="3643312"/>
            <a:ext cx="114300" cy="11430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038850" y="5548312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133850" y="3643312"/>
            <a:ext cx="114300" cy="1143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6096000" y="1985962"/>
            <a:ext cx="1714500" cy="1714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cubicBezTo>
                  <a:pt x="54858" y="0"/>
                  <a:pt x="100000" y="45142"/>
                  <a:pt x="100000" y="100000"/>
                </a:cubicBezTo>
              </a:path>
            </a:pathLst>
          </a:custGeom>
          <a:noFill/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6096000" y="3700462"/>
            <a:ext cx="1714500" cy="1714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cubicBezTo>
                  <a:pt x="100000" y="54858"/>
                  <a:pt x="54858" y="100000"/>
                  <a:pt x="0" y="100000"/>
                </a:cubicBezTo>
              </a:path>
            </a:pathLst>
          </a:custGeom>
          <a:noFill/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4381500" y="3700462"/>
            <a:ext cx="1714500" cy="1714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100000"/>
                </a:moveTo>
                <a:cubicBezTo>
                  <a:pt x="45142" y="100000"/>
                  <a:pt x="0" y="54858"/>
                  <a:pt x="0" y="0"/>
                </a:cubicBezTo>
              </a:path>
            </a:pathLst>
          </a:custGeom>
          <a:noFill/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4381500" y="1985962"/>
            <a:ext cx="1714500" cy="1714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0" y="45142"/>
                  <a:pt x="45142" y="0"/>
                  <a:pt x="100000" y="0"/>
                </a:cubicBezTo>
              </a:path>
            </a:pathLst>
          </a:custGeom>
          <a:noFill/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4772025" y="2967335"/>
            <a:ext cx="2647950" cy="1466255"/>
          </a:xfrm>
          <a:prstGeom prst="roundRect">
            <a:avLst/>
          </a:prstGeom>
          <a:solidFill>
            <a:srgbClr val="000000">
              <a:alpha val="55000"/>
            </a:srgbClr>
          </a:solidFill>
          <a:ln w="9525">
            <a:solidFill>
              <a:srgbClr val="A78BFA"/>
            </a:solidFill>
          </a:ln>
          <a:effectLst>
            <a:innerShdw blurRad="0" dist="9525" dir="5400000">
              <a:srgbClr val="FFFFFF">
                <a:alpha val="10000"/>
              </a:srgbClr>
            </a:innerShdw>
            <a:outerShdw blurRad="381000" dist="152400" dir="5400000" algn="ctr" rotWithShape="0">
              <a:srgbClr val="6366F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772025" y="2967335"/>
            <a:ext cx="2647950" cy="1466255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953000" y="3148310"/>
            <a:ext cx="2286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Consolas"/>
              </a:rPr>
              <a:t>$ slidify convert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3310235"/>
            <a:ext cx="2286000" cy="2381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1650" b="1" i="0" u="none">
                <a:solidFill>
                  <a:srgbClr val="34D399"/>
                </a:solidFill>
                <a:latin typeface="Consolas"/>
              </a:rPr>
              <a:t>native_area_ratio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0" y="3643610"/>
            <a:ext cx="2286000" cy="3619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2400" b="1" i="0" u="none">
                <a:solidFill>
                  <a:srgbClr val="34D399"/>
                </a:solidFill>
                <a:latin typeface="Consolas"/>
              </a:rPr>
              <a:t>0.97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00" y="4100810"/>
            <a:ext cx="2286000" cy="151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FFFFFF"/>
                </a:solidFill>
                <a:latin typeface="Inter"/>
              </a:rPr>
              <a:t>23 s · 12 slides · 0 raster fallbacks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86375" y="1147762"/>
            <a:ext cx="1619250" cy="9417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915025" y="1147762"/>
            <a:ext cx="361950" cy="361950"/>
          </a:xfrm>
          <a:prstGeom prst="rect">
            <a:avLst/>
          </a:prstGeom>
          <a:solidFill>
            <a:srgbClr val="A78BFA"/>
          </a:solidFill>
          <a:effectLst>
            <a:outerShdw blurRad="0" dist="0" dir="0" algn="ctr" rotWithShape="0">
              <a:srgbClr val="0A0A14"/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6375" y="1585912"/>
            <a:ext cx="161925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6375" y="1785938"/>
            <a:ext cx="16192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A1A1AA"/>
                </a:solidFill>
                <a:latin typeface="Inter"/>
              </a:rPr>
              <a:t>Headless Chromium captures resolved pixel layout.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86950" y="3229570"/>
            <a:ext cx="1619250" cy="9417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0515600" y="3229570"/>
            <a:ext cx="361950" cy="361950"/>
          </a:xfrm>
          <a:prstGeom prst="rect">
            <a:avLst/>
          </a:prstGeom>
          <a:solidFill>
            <a:srgbClr val="C084FC"/>
          </a:solidFill>
          <a:effectLst>
            <a:outerShdw blurRad="0" dist="0" dir="0" algn="ctr" rotWithShape="0">
              <a:srgbClr val="0A0A14"/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6950" y="3667720"/>
            <a:ext cx="161925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Cluster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6950" y="3867745"/>
            <a:ext cx="16192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A1A1AA"/>
                </a:solidFill>
                <a:latin typeface="Inter"/>
              </a:rPr>
              <a:t>DOM elements grouped into atomic visual units.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86375" y="5311378"/>
            <a:ext cx="1619250" cy="9417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915025" y="5311378"/>
            <a:ext cx="361950" cy="361950"/>
          </a:xfrm>
          <a:prstGeom prst="rect">
            <a:avLst/>
          </a:prstGeom>
          <a:solidFill>
            <a:srgbClr val="F472B6"/>
          </a:solidFill>
          <a:effectLst>
            <a:outerShdw blurRad="0" dist="0" dir="0" algn="ctr" rotWithShape="0">
              <a:srgbClr val="0A0A14"/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6375" y="5749528"/>
            <a:ext cx="161925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Classify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6375" y="5949553"/>
            <a:ext cx="16192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A1A1AA"/>
                </a:solidFill>
                <a:latin typeface="Inter"/>
              </a:rPr>
              <a:t>Tier-0 atom registry → tier-1 rules → tier-2 heuristics.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229570"/>
            <a:ext cx="1619250" cy="9417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314450" y="3229570"/>
            <a:ext cx="361950" cy="361950"/>
          </a:xfrm>
          <a:prstGeom prst="rect">
            <a:avLst/>
          </a:prstGeom>
          <a:solidFill>
            <a:srgbClr val="FB923C"/>
          </a:solidFill>
          <a:effectLst>
            <a:outerShdw blurRad="0" dist="0" dir="0" algn="ctr" rotWithShape="0">
              <a:srgbClr val="0A0A14"/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667720"/>
            <a:ext cx="161925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Emit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867745"/>
            <a:ext cx="16192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A1A1AA"/>
                </a:solidFill>
                <a:latin typeface="Inter"/>
              </a:rPr>
              <a:t>python-pptx writes native shapes with EMU precision.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57225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0500" y="6572250"/>
            <a:ext cx="1631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16 · PROCESS 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67E8F9"/>
      </a:accent2>
      <a:accent3>
        <a:srgbClr val="06060C"/>
      </a:accent3>
      <a:accent4>
        <a:srgbClr val="94A3B8"/>
      </a:accent4>
      <a:accent5>
        <a:srgbClr val="A78BFA"/>
      </a:accent5>
      <a:accent6>
        <a:srgbClr val="F472B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