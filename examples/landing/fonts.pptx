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embeddedFontLst>
    <p:embeddedFont>
      <p:font typeface="Fraunces" panose="020B0604020202020204" charset="0"/>
      <p:regular r:id="rIdSlidifyFont1"/>
      <p:bold r:id="rIdSlidifyFont2"/>
      <p:boldItalic r:id="rIdSlidifyFont3"/>
    </p:embeddedFont>
    <p:embeddedFont>
      <p:font typeface="Source Serif Pro" panose="02040603050405020304" charset="0"/>
      <p:regular r:id="rIdSlidifyFont4"/>
    </p:embeddedFont>
    <p:embeddedFont>
      <p:font typeface="JetBrains Mono" panose="020B0609040504020204" charset="0"/>
      <p:regular r:id="rIdSlidifyFont5"/>
      <p:bold r:id="rIdSlidifyFont6"/>
    </p:embeddedFont>
    <p:embeddedFont>
      <p:font typeface="Space Grotesk" panose="020B0604020202020204" charset="0"/>
      <p:regular r:id="rIdSlidifyFont7"/>
      <p:bold r:id="rIdSlidifyFont8"/>
    </p:embeddedFont>
    <p:embeddedFont>
      <p:font typeface="Bebas Neue" panose="020B0604020202020204" charset="0"/>
      <p:regular r:id="rIdSlidifyFont9"/>
    </p:embeddedFont>
    <p:embeddedFont>
      <p:font typeface="Helvetica Neue" panose="020B0604020202020204" charset="0"/>
      <p:regular r:id="rIdSlidifyFont10"/>
    </p:embeddedFont>
    <p:embeddedFont>
      <p:font typeface="Playfair Display" panose="02040603050405020304" charset="0"/>
      <p:regular r:id="rIdSlidifyFont11"/>
    </p:embeddedFont>
    <p:embeddedFont>
      <p:font typeface="Söhne" panose="020B0604020202020204" charset="0"/>
      <p:regular r:id="rIdSlidifyFont12"/>
      <p:bold r:id="rIdSlidifyFont13"/>
    </p:embeddedFont>
    <p:embeddedFont>
      <p:font typeface="Caveat" panose="020B0604020202020204" charset="0"/>
      <p:regular r:id="rIdSlidifyFont14"/>
      <p:bold r:id="rIdSlidifyFont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Relationship Id="rIdSlidifyFont5" Type="http://schemas.openxmlformats.org/officeDocument/2006/relationships/font" Target="fonts/font5.fntdata"/><Relationship Id="rIdSlidifyFont6" Type="http://schemas.openxmlformats.org/officeDocument/2006/relationships/font" Target="fonts/font6.fntdata"/><Relationship Id="rIdSlidifyFont7" Type="http://schemas.openxmlformats.org/officeDocument/2006/relationships/font" Target="fonts/font7.fntdata"/><Relationship Id="rIdSlidifyFont8" Type="http://schemas.openxmlformats.org/officeDocument/2006/relationships/font" Target="fonts/font8.fntdata"/><Relationship Id="rIdSlidifyFont9" Type="http://schemas.openxmlformats.org/officeDocument/2006/relationships/font" Target="fonts/font9.fntdata"/><Relationship Id="rIdSlidifyFont10" Type="http://schemas.openxmlformats.org/officeDocument/2006/relationships/font" Target="fonts/font10.fntdata"/><Relationship Id="rIdSlidifyFont11" Type="http://schemas.openxmlformats.org/officeDocument/2006/relationships/font" Target="fonts/font11.fntdata"/><Relationship Id="rIdSlidifyFont12" Type="http://schemas.openxmlformats.org/officeDocument/2006/relationships/font" Target="fonts/font12.fntdata"/><Relationship Id="rIdSlidifyFont13" Type="http://schemas.openxmlformats.org/officeDocument/2006/relationships/font" Target="fonts/font13.fntdata"/><Relationship Id="rIdSlidifyFont14" Type="http://schemas.openxmlformats.org/officeDocument/2006/relationships/font" Target="fonts/font14.fntdata"/><Relationship Id="rIdSlidifyFont15" Type="http://schemas.openxmlformats.org/officeDocument/2006/relationships/font" Target="fonts/font1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92678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704850"/>
            <a:ext cx="295870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atoms · typographic registers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44503" y="533400"/>
            <a:ext cx="7306568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06060C"/>
                </a:solidFill>
                <a:latin typeface="Inter"/>
              </a:rPr>
              <a:t>Same headline, eight registers · sheet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7048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01 /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33475"/>
            <a:ext cx="10820400" cy="1504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>
            <a:outerShdw blurRad="152400" dist="38100" dir="5400000" algn="ctr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85825" y="1647825"/>
            <a:ext cx="1297632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EDITORIAL</a:t>
            </a:r>
            <a:r>
              <a:rPr sz="800" b="1" i="0" u="none">
                <a:solidFill>
                  <a:srgbClr val="71717A"/>
                </a:solidFill>
                <a:latin typeface="Inter"/>
              </a:rPr>
              <a:t>Fraunces · italic · serif body · mono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8425" y="1413570"/>
            <a:ext cx="5275213" cy="9391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600" b="1" i="1" u="none">
                <a:solidFill>
                  <a:srgbClr val="06060C"/>
                </a:solidFill>
                <a:latin typeface="Fraunces"/>
              </a:rPr>
              <a:t xml:space="preserve">Ship slides that </a:t>
            </a:r>
            <a:r>
              <a:rPr sz="3600" b="1" i="1" u="none">
                <a:solidFill>
                  <a:srgbClr val="06060C"/>
                </a:solidFill>
                <a:latin typeface="Fraunces"/>
              </a:rPr>
              <a:t>stay alive</a:t>
            </a:r>
            <a:r>
              <a:rPr sz="3600" b="1" i="1" u="none">
                <a:solidFill>
                  <a:srgbClr val="06060C"/>
                </a:solidFill>
                <a:latin typeface="Fraunces"/>
              </a:rPr>
              <a:t xml:space="preserve"> after the meeting.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9175" y="1598414"/>
            <a:ext cx="26670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F3F46"/>
                </a:solidFill>
                <a:latin typeface="Source Serif Pro"/>
              </a:rPr>
              <a:t>A compiler for presentations. Render in Chromium. Edit in PowerPoint.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9175" y="2068711"/>
            <a:ext cx="2667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Consolas"/>
              </a:rPr>
              <a:t>→ ATELIER · Q2 /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71775"/>
            <a:ext cx="10820400" cy="1504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>
            <a:outerShdw blurRad="152400" dist="38100" dir="5400000" algn="ctr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85825" y="3286125"/>
            <a:ext cx="1200448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TECH</a:t>
            </a:r>
            <a:r>
              <a:rPr sz="800" b="1" i="0" u="none">
                <a:solidFill>
                  <a:srgbClr val="71717A"/>
                </a:solidFill>
                <a:latin typeface="Inter"/>
              </a:rPr>
              <a:t>Space Grotesk · geometric sans · mono badge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8425" y="3089970"/>
            <a:ext cx="5772150" cy="86856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06060C"/>
                </a:solidFill>
                <a:latin typeface="Space Grotesk"/>
              </a:rPr>
              <a:t>Ship slides that stay alive after the meeting.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9175" y="3219450"/>
            <a:ext cx="2667000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3F3F46"/>
                </a:solidFill>
                <a:latin typeface="Inter"/>
              </a:rPr>
              <a:t>A compiler for presentations. Render in Chromium. Edit in PowerPoint.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9175" y="3648075"/>
            <a:ext cx="782042" cy="180975"/>
          </a:xfrm>
          <a:prstGeom prst="rect">
            <a:avLst/>
          </a:prstGeom>
          <a:solidFill>
            <a:srgbClr val="FACC15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6060C"/>
                </a:solidFill>
                <a:latin typeface="Consolas"/>
              </a:rPr>
              <a:t>v0.4 · stable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10075"/>
            <a:ext cx="10820400" cy="2044303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>
            <a:outerShdw blurRad="152400" dist="38100" dir="5400000" algn="ctr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85825" y="5194102"/>
            <a:ext cx="1486049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C3AED"/>
                </a:solidFill>
                <a:latin typeface="Inter"/>
              </a:rPr>
              <a:t>MAGAZINE</a:t>
            </a:r>
            <a:r>
              <a:rPr sz="800" b="1" i="0" u="none">
                <a:solidFill>
                  <a:srgbClr val="71717A"/>
                </a:solidFill>
                <a:latin typeface="Inter"/>
              </a:rPr>
              <a:t>Bebas Neue · condensed · serif body · accent kicker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8425" y="4591050"/>
            <a:ext cx="5772150" cy="168235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800" b="0" i="0" u="none">
                <a:solidFill>
                  <a:srgbClr val="06060C"/>
                </a:solidFill>
                <a:latin typeface="Bebas Neue"/>
              </a:rPr>
              <a:t>Ship slides that stay alive after the meeting.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9175" y="5144691"/>
            <a:ext cx="26670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3F3F46"/>
                </a:solidFill>
                <a:latin typeface="Source Serif Pro"/>
              </a:rPr>
              <a:t>A compiler for presentations. Render in Chromium. Edit in PowerPoint.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9175" y="5614988"/>
            <a:ext cx="2667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DC2626"/>
                </a:solidFill>
                <a:latin typeface="Inter"/>
              </a:rPr>
              <a:t>ISSUE · 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6587728"/>
            <a:ext cx="10820400" cy="1504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>
            <a:outerShdw blurRad="152400" dist="38100" dir="5400000" algn="ctr" rotWithShape="0">
              <a:srgbClr val="000000">
                <a:alpha val="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85800" y="6572250"/>
            <a:ext cx="355178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 · TYPOGRAPHIC REGISTERS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8644" y="6572250"/>
            <a:ext cx="163755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01 / 04 · LIGHT 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53325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704850"/>
            <a:ext cx="295870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typographic registers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44503" y="533400"/>
            <a:ext cx="7306568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Same headline, eight registers · sheet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7048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02 /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33475"/>
            <a:ext cx="10820400" cy="150495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85825" y="1700212"/>
            <a:ext cx="1424136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Inter"/>
              </a:rPr>
              <a:t>MANIFESTO</a:t>
            </a:r>
            <a:r>
              <a:rPr sz="800" b="1" i="0" u="none">
                <a:solidFill>
                  <a:srgbClr val="71717A"/>
                </a:solidFill>
                <a:latin typeface="Inter"/>
              </a:rPr>
              <a:t>Inter · weight axis 200 → 900 in one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8425" y="1419225"/>
            <a:ext cx="806946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450" b="0" i="0" u="none">
                <a:solidFill>
                  <a:srgbClr val="F5F5F7"/>
                </a:solidFill>
                <a:latin typeface="Inter"/>
              </a:rPr>
              <a:t>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9700" y="1419225"/>
            <a:ext cx="1015157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450" b="0" i="0" u="none">
                <a:solidFill>
                  <a:srgbClr val="F5F5F7"/>
                </a:solidFill>
                <a:latin typeface="Inter"/>
              </a:rPr>
              <a:t>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9185" y="1419225"/>
            <a:ext cx="733127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>that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6641" y="1419225"/>
            <a:ext cx="1797993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>stay alive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8425" y="1419225"/>
            <a:ext cx="5559772" cy="9334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450" b="0" i="0" u="none">
                <a:solidFill>
                  <a:srgbClr val="F5F5F7"/>
                </a:solidFill>
                <a:latin typeface="Inter"/>
              </a:rPr>
              <a:t>after the meeting.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9175" y="1712119"/>
            <a:ext cx="2667000" cy="185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D4D4D8"/>
                </a:solidFill>
                <a:latin typeface="Inter"/>
              </a:rPr>
              <a:t>A compiler for presentations.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9175" y="1955006"/>
            <a:ext cx="2667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472B6"/>
                </a:solidFill>
                <a:latin typeface="Inter"/>
              </a:rPr>
              <a:t>v0.4 · STABLE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71775"/>
            <a:ext cx="10820400" cy="150495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85825" y="3286125"/>
            <a:ext cx="147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Inter"/>
              </a:rPr>
              <a:t>BLUEPRINT</a:t>
            </a:r>
            <a:r>
              <a:rPr sz="800" b="1" i="0" u="none">
                <a:solidFill>
                  <a:srgbClr val="71717A"/>
                </a:solidFill>
                <a:latin typeface="Inter"/>
              </a:rPr>
              <a:t>JetBrains Mono · all monospace · drafting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8425" y="3224212"/>
            <a:ext cx="5772150" cy="60007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67E8F9"/>
                </a:solidFill>
                <a:latin typeface="Consolas"/>
              </a:rPr>
              <a:t>$ ship slides --that-stay-alive --after=meeting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9175" y="3237607"/>
            <a:ext cx="2216051" cy="291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Consolas"/>
              </a:rPr>
              <a:t># compile.html → editable.pptx</a:t>
            </a:r>
          </a:p>
          <a:p>
            <a:pPr algn="l"/>
            <a:r>
              <a:rPr sz="825" b="0" i="0" u="none">
                <a:solidFill>
                  <a:srgbClr val="94A3B8"/>
                </a:solidFill>
                <a:latin typeface="Consolas"/>
              </a:rPr>
              <a:t>render → cluster → classify → emit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9175" y="3610868"/>
            <a:ext cx="539155" cy="219075"/>
          </a:xfrm>
          <a:prstGeom prst="rect">
            <a:avLst/>
          </a:prstGeom>
          <a:solidFill>
            <a:srgbClr val="67E8F9">
              <a:alpha val="10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EXIT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10075"/>
            <a:ext cx="10820400" cy="150495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85825" y="4976812"/>
            <a:ext cx="150122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Inter"/>
              </a:rPr>
              <a:t>LUXURY</a:t>
            </a:r>
            <a:r>
              <a:rPr sz="800" b="1" i="0" u="none">
                <a:solidFill>
                  <a:srgbClr val="71717A"/>
                </a:solidFill>
                <a:latin typeface="Inter"/>
              </a:rPr>
              <a:t>Playfair Display · italic · tracked sans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8425" y="4648200"/>
            <a:ext cx="5772150" cy="10287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050" b="0" i="0" u="none">
                <a:solidFill>
                  <a:srgbClr val="FDE68A"/>
                </a:solidFill>
                <a:latin typeface="Playfair Display"/>
              </a:rPr>
              <a:t>Ship slides that stay alive after the meeting.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175" y="4889748"/>
            <a:ext cx="2667000" cy="383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A compiler for presentations. Render in Chromium. Edit in PowerPoint.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9175" y="5330577"/>
            <a:ext cx="2667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DE68A"/>
                </a:solidFill>
                <a:latin typeface="Inter"/>
              </a:rPr>
              <a:t>ATELIER · MMXXVI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6048375"/>
            <a:ext cx="10820400" cy="1504950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85825" y="6615112"/>
            <a:ext cx="1109216" cy="242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Inter"/>
              </a:rPr>
              <a:t>WARM</a:t>
            </a:r>
            <a:r>
              <a:rPr sz="800" b="1" i="0" u="none">
                <a:solidFill>
                  <a:srgbClr val="71717A"/>
                </a:solidFill>
                <a:latin typeface="Inter"/>
              </a:rPr>
              <a:t>humanist sans · script accent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8425" y="6294686"/>
            <a:ext cx="5178028" cy="56331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FEF3C7"/>
                </a:solidFill>
                <a:latin typeface="Söhne"/>
              </a:rPr>
              <a:t xml:space="preserve">Ship slides that </a:t>
            </a:r>
            <a:r>
              <a:rPr sz="4071" b="0" i="0" u="none">
                <a:solidFill>
                  <a:srgbClr val="FB923C"/>
                </a:solidFill>
                <a:latin typeface="Caveat"/>
              </a:rPr>
              <a:t xml:space="preserve"> stay alive </a:t>
            </a:r>
            <a:r>
              <a:rPr sz="3450" b="1" i="0" u="none">
                <a:solidFill>
                  <a:srgbClr val="FEF3C7"/>
                </a:solidFill>
                <a:latin typeface="Söhne"/>
              </a:rPr>
              <a:t xml:space="preserve"> after the meeting.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9175" y="6579394"/>
            <a:ext cx="2667000" cy="185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CD9B6"/>
                </a:solidFill>
                <a:latin typeface="Inter"/>
              </a:rPr>
              <a:t>A compiler for presentations.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9175" y="6822281"/>
            <a:ext cx="2667000" cy="357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FB923C"/>
                </a:solidFill>
                <a:latin typeface="Caveat"/>
              </a:rPr>
              <a:t>— shipped with 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72250"/>
            <a:ext cx="355178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 · TYPOGRAPHIC REGISTERS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9154" y="6572250"/>
            <a:ext cx="160704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02 / 04 · DARK 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704850"/>
            <a:ext cx="228793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atoms · register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3735" y="533400"/>
            <a:ext cx="7977336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VELOCITY. · one word, eight registers.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7048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03 /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33475"/>
            <a:ext cx="2605088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28675" y="1238250"/>
            <a:ext cx="64561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editorial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1581150"/>
            <a:ext cx="2166938" cy="43428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DE68A"/>
                </a:solidFill>
                <a:latin typeface="Fraunces"/>
              </a:rPr>
              <a:t>Velocity.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262312"/>
            <a:ext cx="2166938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D4D4D8"/>
                </a:solidFill>
                <a:latin typeface="Source Serif Pro"/>
              </a:rPr>
              <a:t>Fraunces · italic serif · 700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4238" y="1133475"/>
            <a:ext cx="2605088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567112" y="1238250"/>
            <a:ext cx="31566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3312" y="1581150"/>
            <a:ext cx="2166938" cy="48860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67E8F9"/>
                </a:solidFill>
                <a:latin typeface="Space Grotesk"/>
              </a:rPr>
              <a:t>Velocity.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312" y="3262312"/>
            <a:ext cx="2166938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Space Grotesk · 700 · -0.045em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2675" y="1133475"/>
            <a:ext cx="2605088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305550" y="1238250"/>
            <a:ext cx="62180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magazine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0" y="1581150"/>
            <a:ext cx="2166938" cy="5828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5400" b="0" i="0" u="none">
                <a:solidFill>
                  <a:srgbClr val="F472B6"/>
                </a:solidFill>
                <a:latin typeface="Bebas Neue"/>
              </a:rPr>
              <a:t>VELOCITY.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3262312"/>
            <a:ext cx="2166938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Source Serif Pro"/>
              </a:rPr>
              <a:t>Bebas Neue · condensed display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1112" y="1133475"/>
            <a:ext cx="2605088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043988" y="1238250"/>
            <a:ext cx="664666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brutalist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0188" y="1581150"/>
            <a:ext cx="2166938" cy="43428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FFFFF"/>
                </a:solidFill>
                <a:latin typeface="Helvetica Neue"/>
              </a:rPr>
              <a:t>VELOCITY.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0188" y="3133725"/>
            <a:ext cx="2166938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A1A1AA"/>
                </a:solidFill>
                <a:latin typeface="Consolas"/>
              </a:rPr>
              <a:t>HELVETICA · 900 · ALL CAPS · -0.04em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71900"/>
            <a:ext cx="2605088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28675" y="3876675"/>
            <a:ext cx="68847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manifesto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4191000"/>
            <a:ext cx="816769" cy="5048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0" i="0" u="none">
                <a:solidFill>
                  <a:srgbClr val="A78BFA"/>
                </a:solidFill>
                <a:latin typeface="Inter"/>
              </a:rPr>
              <a:t>Velo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75" y="5900738"/>
            <a:ext cx="2166938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Inter · 200 → 900 axis play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4238" y="3771900"/>
            <a:ext cx="2605088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567112" y="3876675"/>
            <a:ext cx="67582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blueprint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3312" y="4219575"/>
            <a:ext cx="2166938" cy="271462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67E8F9"/>
                </a:solidFill>
                <a:latin typeface="Consolas"/>
              </a:rPr>
              <a:t>$ velocity()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3312" y="5915025"/>
            <a:ext cx="2166938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94A3B8"/>
                </a:solidFill>
                <a:latin typeface="Consolas"/>
              </a:rPr>
              <a:t>JetBrains Mono · 700 · drafting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2675" y="3771900"/>
            <a:ext cx="2605088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305550" y="3876675"/>
            <a:ext cx="47282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luxury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4219575"/>
            <a:ext cx="2166938" cy="43428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0" i="0" u="none">
                <a:solidFill>
                  <a:srgbClr val="FDE68A"/>
                </a:solidFill>
                <a:latin typeface="Playfair Display"/>
              </a:rPr>
              <a:t>Velocity.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0" y="5900738"/>
            <a:ext cx="2166938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Playfair Display · italic · high-contrast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01112" y="3771900"/>
            <a:ext cx="2605088" cy="2505075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043988" y="3876675"/>
            <a:ext cx="35376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warm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0188" y="4171950"/>
            <a:ext cx="1741736" cy="5810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FEF3C7"/>
                </a:solidFill>
                <a:latin typeface="Inter"/>
              </a:rPr>
              <a:t>Velo</a:t>
            </a:r>
            <a:r>
              <a:rPr sz="4140" b="1" i="0" u="none">
                <a:solidFill>
                  <a:srgbClr val="FB923C"/>
                </a:solidFill>
                <a:latin typeface="Caveat"/>
              </a:rPr>
              <a:t>city</a:t>
            </a:r>
            <a:r>
              <a:rPr sz="3450" b="1" i="0" u="none">
                <a:solidFill>
                  <a:srgbClr val="FEF3C7"/>
                </a:solidFill>
                <a:latin typeface="Inter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0188" y="5829300"/>
            <a:ext cx="216693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FB923C"/>
                </a:solidFill>
                <a:latin typeface="Caveat"/>
              </a:rPr>
              <a:t>humanist + script accent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572250"/>
            <a:ext cx="299412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 · REGISTER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5276" y="6572250"/>
            <a:ext cx="239092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03 / 04 · 8 REGISTERS · ONE WORD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704850"/>
            <a:ext cx="20669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atoms · pairing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52725" y="533400"/>
            <a:ext cx="8198346" cy="2857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06060C"/>
                </a:solidFill>
                <a:latin typeface="Inter"/>
              </a:rPr>
              <a:t>When to reach for which register.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1071" y="704850"/>
            <a:ext cx="55512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04 / 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90625"/>
          <a:ext cx="10820400" cy="4105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/>
                <a:gridCol w="2705100"/>
                <a:gridCol w="2705100"/>
                <a:gridCol w="2705100"/>
              </a:tblGrid>
              <a:tr h="456141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7C3AED"/>
                          </a:solidFill>
                          <a:latin typeface="Inter"/>
                        </a:rPr>
                        <a:t>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7C3AED"/>
                          </a:solidFill>
                          <a:latin typeface="Inter"/>
                        </a:rPr>
                        <a:t>Display family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7C3AED"/>
                          </a:solidFill>
                          <a:latin typeface="Inter"/>
                        </a:rPr>
                        <a:t>Body family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7C3AED"/>
                          </a:solidFill>
                          <a:latin typeface="Inter"/>
                        </a:rPr>
                        <a:t>Use when…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614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060C"/>
                          </a:solidFill>
                          <a:latin typeface="Inter"/>
                        </a:rPr>
                        <a:t>Editorial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1">
                          <a:solidFill>
                            <a:srgbClr val="06060C"/>
                          </a:solidFill>
                          <a:latin typeface="Fraunces"/>
                        </a:rPr>
                        <a:t>Fraunces · italic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3F3F46"/>
                          </a:solidFill>
                          <a:latin typeface="Source Serif Pro"/>
                        </a:rPr>
                        <a:t>Source Serif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7C3AED"/>
                          </a:solidFill>
                          <a:latin typeface="Inter"/>
                        </a:rPr>
                        <a:t>long-form narrative · pull-quotes · investor letters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614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060C"/>
                          </a:solidFill>
                          <a:latin typeface="Inter"/>
                        </a:rPr>
                        <a:t>Tech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6060C"/>
                          </a:solidFill>
                          <a:latin typeface="Space Grotesk"/>
                        </a:rPr>
                        <a:t>Space Grotesk · 700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3F3F46"/>
                          </a:solidFill>
                          <a:latin typeface="Inter"/>
                        </a:rPr>
                        <a:t>Inter · 500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7C3AED"/>
                          </a:solidFill>
                          <a:latin typeface="Inter"/>
                        </a:rPr>
                        <a:t>product launches · API docs · changelogs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</a:tr>
              <a:tr h="45614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060C"/>
                          </a:solidFill>
                          <a:latin typeface="Inter"/>
                        </a:rPr>
                        <a:t>Magazine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6060C"/>
                          </a:solidFill>
                          <a:latin typeface="Bebas Neue"/>
                        </a:rPr>
                        <a:t>BEBAS NEUE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3F3F46"/>
                          </a:solidFill>
                          <a:latin typeface="Source Serif Pro"/>
                        </a:rPr>
                        <a:t>Source Serif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7C3AED"/>
                          </a:solidFill>
                          <a:latin typeface="Inter"/>
                        </a:rPr>
                        <a:t>issue covers · feature stories · annual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614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060C"/>
                          </a:solidFill>
                          <a:latin typeface="Inter"/>
                        </a:rPr>
                        <a:t>Brutalist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6060C"/>
                          </a:solidFill>
                          <a:latin typeface="Helvetica Neue"/>
                        </a:rPr>
                        <a:t>HELVETICA · 900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25" b="0">
                          <a:solidFill>
                            <a:srgbClr val="3F3F46"/>
                          </a:solidFill>
                          <a:latin typeface="Consolas"/>
                        </a:rPr>
                        <a:t>JetBrains Mono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7C3AED"/>
                          </a:solidFill>
                          <a:latin typeface="Inter"/>
                        </a:rPr>
                        <a:t>manifesto walls · gallery zines · counter-culture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</a:tr>
              <a:tr h="45614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060C"/>
                          </a:solidFill>
                          <a:latin typeface="Inter"/>
                        </a:rPr>
                        <a:t>Manifesto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06060C"/>
                          </a:solidFill>
                          <a:latin typeface="Inter"/>
                        </a:rPr>
                        <a:t>Inter 200→900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3F3F46"/>
                          </a:solidFill>
                          <a:latin typeface="Inter"/>
                        </a:rPr>
                        <a:t>Inter · 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7C3AED"/>
                          </a:solidFill>
                          <a:latin typeface="Inter"/>
                        </a:rPr>
                        <a:t>vision keynotes · single-line posters · founder talks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614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060C"/>
                          </a:solidFill>
                          <a:latin typeface="Inter"/>
                        </a:rPr>
                        <a:t>Blueprint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06060C"/>
                          </a:solidFill>
                          <a:latin typeface="Consolas"/>
                        </a:rPr>
                        <a:t>JetBrains Mono · all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25" b="0">
                          <a:solidFill>
                            <a:srgbClr val="3F3F46"/>
                          </a:solidFill>
                          <a:latin typeface="Consolas"/>
                        </a:rPr>
                        <a:t>IBM Plex Mono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7C3AED"/>
                          </a:solidFill>
                          <a:latin typeface="Inter"/>
                        </a:rPr>
                        <a:t>technical specs · architecture diagrams · drafting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</a:tr>
              <a:tr h="45614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060C"/>
                          </a:solidFill>
                          <a:latin typeface="Inter"/>
                        </a:rPr>
                        <a:t>Luxury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06060C"/>
                          </a:solidFill>
                          <a:latin typeface="Playfair Display"/>
                        </a:rPr>
                        <a:t>Playfair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3F3F46"/>
                          </a:solidFill>
                          <a:latin typeface="Inter"/>
                        </a:rPr>
                        <a:t>Inter · tracked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7C3AED"/>
                          </a:solidFill>
                          <a:latin typeface="Inter"/>
                        </a:rPr>
                        <a:t>brand reveals · awards decks · gallery openings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6147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060C"/>
                          </a:solidFill>
                          <a:latin typeface="Inter"/>
                        </a:rPr>
                        <a:t>Warm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06060C"/>
                          </a:solidFill>
                          <a:latin typeface="Inter"/>
                        </a:rPr>
                        <a:t>Inter · 600 + Caveat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3F3F46"/>
                          </a:solidFill>
                          <a:latin typeface="Source Serif Pro"/>
                        </a:rPr>
                        <a:t>Inter · 500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7C3AED"/>
                          </a:solidFill>
                          <a:latin typeface="Inter"/>
                        </a:rPr>
                        <a:t>team retros · onboarding · all-hands</a:t>
                      </a:r>
                    </a:p>
                  </a:txBody>
                  <a:tcPr>
                    <a:solidFill>
                      <a:srgbClr val="F4F4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572250"/>
            <a:ext cx="281091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 · PAIRING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7672" y="6572250"/>
            <a:ext cx="15585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04 / 04 · WHEN-TO-USE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06060C"/>
      </a:accent2>
      <a:accent3>
        <a:srgbClr val="A1A1AA"/>
      </a:accent3>
      <a:accent4>
        <a:srgbClr val="71717A"/>
      </a:accent4>
      <a:accent5>
        <a:srgbClr val="52525B"/>
      </a:accent5>
      <a:accent6>
        <a:srgbClr val="7C3AE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