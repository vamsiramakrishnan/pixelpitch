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embeddedFontLst>
    <p:embeddedFont>
      <p:font typeface="Georgia" panose="02040603050405020304" charset="0"/>
      <p:regular r:id="rIdSlidifyFont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SlidifyFont1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90913"/>
              </a:gs>
              <a:gs pos="70000">
                <a:srgbClr val="080813"/>
              </a:gs>
              <a:gs pos="77500">
                <a:srgbClr val="070712"/>
              </a:gs>
              <a:gs pos="85000">
                <a:srgbClr val="060611"/>
              </a:gs>
              <a:gs pos="92500">
                <a:srgbClr val="060611"/>
              </a:gs>
              <a:gs pos="100000">
                <a:srgbClr val="050510"/>
              </a:gs>
            </a:gsLst>
            <a:path path="circle">
              <a:fillToRect l="80000" t="12000" r="20000" b="88000"/>
            </a:path>
          </a:gradFill>
          <a:xfrm>
            <a:off x="0" y="0"/>
            <a:ext cx="12192000" cy="7854255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624120" y="342900"/>
            <a:ext cx="180588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PROBE 01 / TYPE-FILL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Inter"/>
              </a:rPr>
              <a:t>test · gradient text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28700"/>
            <a:ext cx="10477500" cy="9200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>Multi-stop gradient on text — does the gradient survive natively?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2215455"/>
            <a:ext cx="10668000" cy="120967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19175" y="2434530"/>
            <a:ext cx="101536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linear · 2-stop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" y="2596455"/>
            <a:ext cx="1015365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818CF8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SHIP THE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3691830"/>
            <a:ext cx="10668000" cy="120967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19175" y="3910905"/>
            <a:ext cx="101536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linear · 4-stop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4072830"/>
            <a:ext cx="1015365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60A5FA"/>
                    </a:gs>
                    <a:gs pos="35000">
                      <a:srgbClr val="A78BFA"/>
                    </a:gs>
                    <a:gs pos="70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SHIP THE FUTURE.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5168205"/>
            <a:ext cx="10668000" cy="120967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19175" y="5387280"/>
            <a:ext cx="101536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radial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5549205"/>
            <a:ext cx="10153650" cy="6096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FDE68A"/>
                    </a:gs>
                    <a:gs pos="50000">
                      <a:srgbClr val="F472B6"/>
                    </a:gs>
                    <a:gs pos="100000">
                      <a:srgbClr val="6366F1"/>
                    </a:gs>
                  </a:gsLst>
                  <a:path path="circle">
                    <a:fillToRect l="30000" t="50000" r="70000" b="50000"/>
                  </a:path>
                </a:gradFill>
                <a:latin typeface="Inter"/>
              </a:rPr>
              <a:t>SHIP THE FUTURE.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6644580"/>
            <a:ext cx="10668000" cy="120967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2000" y="6400800"/>
            <a:ext cx="22196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PROBE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7562" y="64008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341644" y="342900"/>
            <a:ext cx="208835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PROBE 02 / TYPE-STROKE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Inter"/>
              </a:rPr>
              <a:t>test · -webkit-text-stroke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28700"/>
            <a:ext cx="10668000" cy="39811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Hairline display type — does outline-only text survive native?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55415"/>
            <a:ext cx="10668000" cy="12668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0500" b="1" i="0" u="none">
                <a:latin typeface="Inter"/>
              </a:rPr>
              <a:t>FUTURE.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50840"/>
            <a:ext cx="10668000" cy="12668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0500" b="1" i="0" u="none">
                <a:latin typeface="Inter"/>
              </a:rPr>
              <a:t>FUTURE.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646265"/>
            <a:ext cx="10668000" cy="12668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0500" b="1" i="0" u="none">
                <a:latin typeface="Inter"/>
              </a:rPr>
              <a:t>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00800"/>
            <a:ext cx="22196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7562" y="64008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A0A14"/>
              </a:gs>
              <a:gs pos="16667">
                <a:srgbClr val="0D0D1C"/>
              </a:gs>
              <a:gs pos="33333">
                <a:srgbClr val="101025"/>
              </a:gs>
              <a:gs pos="50000">
                <a:srgbClr val="14132E"/>
              </a:gs>
              <a:gs pos="66667">
                <a:srgbClr val="171538"/>
              </a:gs>
              <a:gs pos="83333">
                <a:srgbClr val="1B1841"/>
              </a:gs>
              <a:gs pos="100000">
                <a:srgbClr val="1E1B4B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542562" y="342900"/>
            <a:ext cx="1887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PROBE 03 / TYPE-ECHO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Inter"/>
              </a:rPr>
              <a:t>test · ghost stack motion implication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28700"/>
            <a:ext cx="10668000" cy="37713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F5F5F7"/>
                </a:solidFill>
                <a:latin typeface="Inter"/>
              </a:rPr>
              <a:t>Echo type — same word stamped n times, fading offset.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" y="1863030"/>
            <a:ext cx="8165306" cy="17145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A78BFA"/>
                </a:solidFill>
                <a:latin typeface="Inter"/>
              </a:rPr>
              <a:t>VELOCITY.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1863030"/>
            <a:ext cx="8165306" cy="17145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A78BFA"/>
                </a:solidFill>
                <a:latin typeface="Inter"/>
              </a:rPr>
              <a:t>VELOCITY.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863030"/>
            <a:ext cx="8165306" cy="17145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A78BFA"/>
                </a:solidFill>
                <a:latin typeface="Inter"/>
              </a:rPr>
              <a:t>VELOCITY.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863030"/>
            <a:ext cx="8165306" cy="17145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A78BFA"/>
                </a:solidFill>
                <a:latin typeface="Inter"/>
              </a:rPr>
              <a:t>VELOCITY.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863030"/>
            <a:ext cx="8165306" cy="17145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3500" b="1" i="0" u="none">
                <a:solidFill>
                  <a:srgbClr val="F5F5F7"/>
                </a:solidFill>
                <a:latin typeface="Inter"/>
              </a:rPr>
              <a:t>VELOCITY.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4682430"/>
            <a:ext cx="3055888" cy="1143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9000" b="1" i="0" u="none">
                <a:solidFill>
                  <a:srgbClr val="F472B6"/>
                </a:solidFill>
                <a:latin typeface="Inter"/>
              </a:rPr>
              <a:t>RUSH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682430"/>
            <a:ext cx="3055888" cy="1143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9000" b="1" i="0" u="none">
                <a:solidFill>
                  <a:srgbClr val="F472B6"/>
                </a:solidFill>
                <a:latin typeface="Inter"/>
              </a:rPr>
              <a:t>RUSH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682430"/>
            <a:ext cx="3055888" cy="1143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9000" b="1" i="0" u="none">
                <a:solidFill>
                  <a:srgbClr val="F472B6"/>
                </a:solidFill>
                <a:latin typeface="Inter"/>
              </a:rPr>
              <a:t>RUSH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00800"/>
            <a:ext cx="22196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7562" y="64008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FDE68A"/>
              </a:gs>
              <a:gs pos="16667">
                <a:srgbClr val="FCE07D"/>
              </a:gs>
              <a:gs pos="33333">
                <a:srgbClr val="FCDA6F"/>
              </a:gs>
              <a:gs pos="50000">
                <a:srgbClr val="FBD360"/>
              </a:gs>
              <a:gs pos="66667">
                <a:srgbClr val="FBCD50"/>
              </a:gs>
              <a:gs pos="83333">
                <a:srgbClr val="FBC63D"/>
              </a:gs>
              <a:gs pos="100000">
                <a:srgbClr val="FBBF24"/>
              </a:gs>
            </a:gsLst>
            <a:lin ang="27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864203" y="342900"/>
            <a:ext cx="25657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92400E"/>
                </a:solidFill>
                <a:latin typeface="Inter"/>
              </a:rPr>
              <a:t>PROBE 04 / TYPE-LONGSHADOW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Inter"/>
              </a:rPr>
              <a:t>test · stacked offsets emulate text-shadow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28700"/>
            <a:ext cx="10668000" cy="742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7C2D12"/>
                </a:solidFill>
                <a:latin typeface="Inter"/>
              </a:rPr>
              <a:t>Long-shadow display via 10-deep span stack (text-shadow is unsupported).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80035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350" y="274320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268605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050" y="262890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57175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49555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41935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34315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228600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92400E"/>
                </a:solidFill>
                <a:latin typeface="Inter"/>
              </a:rPr>
              <a:t>SOLAR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228850"/>
            <a:ext cx="7429500" cy="2286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0" b="1" i="0" u="none">
                <a:solidFill>
                  <a:srgbClr val="7C2D12"/>
                </a:solidFill>
                <a:latin typeface="Inter"/>
              </a:rPr>
              <a:t>SOLAR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400800"/>
            <a:ext cx="22196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92400E"/>
                </a:solidFill>
                <a:latin typeface="Inter"/>
              </a:rPr>
              <a:t>SLIDIFY · ATOMIC SEED · PROBE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7562" y="64008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92400E"/>
                </a:solidFill>
                <a:latin typeface="Inter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479905" y="342900"/>
            <a:ext cx="195009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PROBE 05 / TYPE-MIXED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Inter"/>
              </a:rPr>
              <a:t>test · solid + stroke + gradient + serif italic on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390650"/>
            <a:ext cx="8585150" cy="381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1390650"/>
            <a:ext cx="7027069" cy="1362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600" b="1" i="0" u="none">
                <a:solidFill>
                  <a:srgbClr val="F5F5F7"/>
                </a:solidFill>
                <a:latin typeface="Inter"/>
              </a:rPr>
              <a:t>we don't 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09850"/>
            <a:ext cx="3411141" cy="1362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600" b="1" i="0" u="none">
                <a:latin typeface="Inter"/>
              </a:rPr>
              <a:t>slides,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48100"/>
            <a:ext cx="3520976" cy="1352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600" b="0" i="0" u="none">
                <a:solidFill>
                  <a:srgbClr val="F5F5F7"/>
                </a:solidFill>
                <a:latin typeface="Georgia"/>
              </a:rPr>
              <a:t>we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940" y="3829050"/>
            <a:ext cx="4780211" cy="13620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600" b="1" i="0" u="none">
                <a:gradFill rotWithShape="1">
                  <a:gsLst>
                    <a:gs pos="0">
                      <a:srgbClr val="818CF8"/>
                    </a:gs>
                    <a:gs pos="60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400800"/>
            <a:ext cx="22196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PROBE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7562" y="64008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589145" y="342900"/>
            <a:ext cx="18408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PROBE 06 / BG-FIELDS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Inter"/>
              </a:rPr>
              <a:t>test · background-field atoms (no svg)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28700"/>
            <a:ext cx="10668000" cy="3714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Six background atoms — pure CSS, native gradient emit.</a:t>
            </a:r>
          </a:p>
        </p:txBody>
      </p:sp>
      <p:sp>
        <p:nvSpPr>
          <p:cNvPr id="6" name="Rounded Rectangle 5"/>
          <p:cNvSpPr/>
          <p:nvPr/>
        </p:nvSpPr>
        <p:spPr>
          <a:gradFill flip="none" rotWithShape="1">
            <a:gsLst>
              <a:gs pos="0">
                <a:srgbClr val="6366F1">
                  <a:alpha val="55000"/>
                </a:srgbClr>
              </a:gs>
              <a:gs pos="6333">
                <a:srgbClr val="6366F1">
                  <a:alpha val="45833"/>
                </a:srgbClr>
              </a:gs>
              <a:gs pos="12667">
                <a:srgbClr val="6366F1">
                  <a:alpha val="36667"/>
                </a:srgbClr>
              </a:gs>
              <a:gs pos="19000">
                <a:srgbClr val="6366F1">
                  <a:alpha val="27500"/>
                </a:srgbClr>
              </a:gs>
              <a:gs pos="25333">
                <a:srgbClr val="6366F1">
                  <a:alpha val="18333"/>
                </a:srgbClr>
              </a:gs>
              <a:gs pos="31667">
                <a:srgbClr val="6366F1">
                  <a:alpha val="9167"/>
                </a:srgbClr>
              </a:gs>
              <a:gs pos="38000">
                <a:srgbClr val="6366F1">
                  <a:alpha val="0"/>
                </a:srgbClr>
              </a:gs>
              <a:gs pos="100000">
                <a:srgbClr val="6366F1">
                  <a:alpha val="0"/>
                </a:srgbClr>
              </a:gs>
            </a:gsLst>
            <a:path path="circle">
              <a:fillToRect l="18000" t="22000" r="82000" b="78000"/>
            </a:path>
          </a:gradFill>
          <a:xfrm>
            <a:off x="762000" y="1628775"/>
            <a:ext cx="3467100" cy="163830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4875" y="2952750"/>
            <a:ext cx="869170" cy="209550"/>
          </a:xfrm>
          <a:prstGeom prst="rect">
            <a:avLst/>
          </a:prstGeom>
          <a:solidFill>
            <a:srgbClr val="000000">
              <a:alpha val="4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mesh · 4-blob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0" y="1628775"/>
            <a:ext cx="3467100" cy="1638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05325" y="2952750"/>
            <a:ext cx="783017" cy="209550"/>
          </a:xfrm>
          <a:prstGeom prst="rect">
            <a:avLst/>
          </a:prstGeom>
          <a:solidFill>
            <a:srgbClr val="000000">
              <a:alpha val="4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conic · 360°</a:t>
            </a:r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0A0A14"/>
              </a:gs>
              <a:gs pos="33333">
                <a:srgbClr val="0A0A14"/>
              </a:gs>
              <a:gs pos="66667">
                <a:srgbClr val="1E1B4B"/>
              </a:gs>
              <a:gs pos="100000">
                <a:srgbClr val="1E1B4B"/>
              </a:gs>
            </a:gsLst>
            <a:lin ang="2700000" scaled="0"/>
          </a:gradFill>
          <a:xfrm>
            <a:off x="7962900" y="1628775"/>
            <a:ext cx="3467100" cy="163830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105775" y="2952750"/>
            <a:ext cx="1067209" cy="209550"/>
          </a:xfrm>
          <a:prstGeom prst="rect">
            <a:avLst/>
          </a:prstGeom>
          <a:solidFill>
            <a:srgbClr val="000000">
              <a:alpha val="4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repeating · stripes</a:t>
            </a:r>
          </a:p>
        </p:txBody>
      </p:sp>
      <p:sp>
        <p:nvSpPr>
          <p:cNvPr id="12" name="Rounded Rectangle 11"/>
          <p:cNvSpPr/>
          <p:nvPr/>
        </p:nvSpPr>
        <p:spPr>
          <a:gradFill flip="none" rotWithShape="1">
            <a:gsLst>
              <a:gs pos="0">
                <a:srgbClr val="FFFFFF">
                  <a:alpha val="6000"/>
                </a:srgbClr>
              </a:gs>
              <a:gs pos="100000">
                <a:srgbClr val="FFFFFF">
                  <a:alpha val="6000"/>
                </a:srgbClr>
              </a:gs>
            </a:gsLst>
            <a:lin ang="16200000" scaled="0"/>
          </a:gradFill>
          <a:xfrm>
            <a:off x="762000" y="3400425"/>
            <a:ext cx="3467100" cy="163830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04875" y="4724400"/>
            <a:ext cx="921455" cy="209550"/>
          </a:xfrm>
          <a:prstGeom prst="rect">
            <a:avLst/>
          </a:prstGeom>
          <a:solidFill>
            <a:srgbClr val="000000">
              <a:alpha val="4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scanline · CRT</a:t>
            </a:r>
          </a:p>
        </p:txBody>
      </p:sp>
      <p:sp>
        <p:nvSpPr>
          <p:cNvPr id="14" name="Rounded Rectangle 13"/>
          <p:cNvSpPr/>
          <p:nvPr/>
        </p:nvSpPr>
        <p:spPr>
          <a:gradFill flip="none" rotWithShape="1">
            <a:gsLst>
              <a:gs pos="0">
                <a:srgbClr val="312E81"/>
              </a:gs>
              <a:gs pos="16667">
                <a:srgbClr val="4C2F8E"/>
              </a:gs>
              <a:gs pos="33333">
                <a:srgbClr val="682F96"/>
              </a:gs>
              <a:gs pos="50000">
                <a:srgbClr val="852F99"/>
              </a:gs>
              <a:gs pos="66667">
                <a:srgbClr val="A22C94"/>
              </a:gs>
              <a:gs pos="83333">
                <a:srgbClr val="BF2989"/>
              </a:gs>
              <a:gs pos="100000">
                <a:srgbClr val="DB2777"/>
              </a:gs>
            </a:gsLst>
            <a:lin ang="4200000" scaled="0"/>
          </a:gradFill>
          <a:xfrm>
            <a:off x="4362450" y="3400425"/>
            <a:ext cx="3467100" cy="163830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05325" y="4724400"/>
            <a:ext cx="991646" cy="209550"/>
          </a:xfrm>
          <a:prstGeom prst="rect">
            <a:avLst/>
          </a:prstGeom>
          <a:solidFill>
            <a:srgbClr val="000000">
              <a:alpha val="4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duotone · 2-stop</a:t>
            </a:r>
          </a:p>
        </p:txBody>
      </p:sp>
      <p:sp>
        <p:nvSpPr>
          <p:cNvPr id="16" name="Rounded Rectangle 15"/>
          <p:cNvSpPr/>
          <p:nvPr/>
        </p:nvSpPr>
        <p:spPr>
          <a:gradFill flip="none" rotWithShape="1">
            <a:gsLst>
              <a:gs pos="0">
                <a:srgbClr val="1E1B4B"/>
              </a:gs>
              <a:gs pos="11667">
                <a:srgbClr val="1B1841"/>
              </a:gs>
              <a:gs pos="23333">
                <a:srgbClr val="171538"/>
              </a:gs>
              <a:gs pos="35000">
                <a:srgbClr val="14132E"/>
              </a:gs>
              <a:gs pos="46667">
                <a:srgbClr val="101025"/>
              </a:gs>
              <a:gs pos="58333">
                <a:srgbClr val="0D0D1C"/>
              </a:gs>
              <a:gs pos="70000">
                <a:srgbClr val="0A0A14"/>
              </a:gs>
              <a:gs pos="75000">
                <a:srgbClr val="090913"/>
              </a:gs>
              <a:gs pos="80000">
                <a:srgbClr val="080813"/>
              </a:gs>
              <a:gs pos="85000">
                <a:srgbClr val="070712"/>
              </a:gs>
              <a:gs pos="90000">
                <a:srgbClr val="060611"/>
              </a:gs>
              <a:gs pos="95000">
                <a:srgbClr val="060611"/>
              </a:gs>
              <a:gs pos="100000">
                <a:srgbClr val="050510"/>
              </a:gs>
            </a:gsLst>
            <a:path path="circle">
              <a:fillToRect l="50000" t="50000" r="50000" b="50000"/>
            </a:path>
          </a:gradFill>
          <a:xfrm>
            <a:off x="7962900" y="3400425"/>
            <a:ext cx="3467100" cy="163830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105775" y="4724400"/>
            <a:ext cx="944938" cy="209550"/>
          </a:xfrm>
          <a:prstGeom prst="rect">
            <a:avLst/>
          </a:prstGeom>
          <a:solidFill>
            <a:srgbClr val="000000">
              <a:alpha val="4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vignette · radial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400800"/>
            <a:ext cx="22196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7562" y="64008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312473" y="342900"/>
            <a:ext cx="211752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PROBE 07 / MASK-SHAPES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Inter"/>
              </a:rPr>
              <a:t>test · clip-path polygons + border-radius shape 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28700"/>
            <a:ext cx="10668000" cy="3714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Mask shapes — common polygons emit native preset shapes.</a:t>
            </a:r>
          </a:p>
        </p:txBody>
      </p:sp>
      <p:sp>
        <p:nvSpPr>
          <p:cNvPr id="6" name="Oval 5"/>
          <p:cNvSpPr/>
          <p:nvPr/>
        </p:nvSpPr>
        <p:spPr>
          <a:gradFill flip="none" rotWithShape="1">
            <a:gsLst>
              <a:gs pos="0">
                <a:srgbClr val="0EA5E9"/>
              </a:gs>
              <a:gs pos="8333">
                <a:srgbClr val="309CF5"/>
              </a:gs>
              <a:gs pos="16667">
                <a:srgbClr val="4D91FE"/>
              </a:gs>
              <a:gs pos="25000">
                <a:srgbClr val="6784FF"/>
              </a:gs>
              <a:gs pos="33333">
                <a:srgbClr val="7E76FF"/>
              </a:gs>
              <a:gs pos="41667">
                <a:srgbClr val="9466FF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762000" y="1743075"/>
            <a:ext cx="2286000" cy="2286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4133850"/>
            <a:ext cx="128840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disc · radius:50%</a:t>
            </a:r>
          </a:p>
        </p:txBody>
      </p:sp>
      <p:sp>
        <p:nvSpPr>
          <p:cNvPr id="8" name="Rounded Rectangle 7"/>
          <p:cNvSpPr/>
          <p:nvPr/>
        </p:nvSpPr>
        <p:spPr>
          <a:gradFill flip="none" rotWithShape="1">
            <a:gsLst>
              <a:gs pos="0">
                <a:srgbClr val="FBBF24"/>
              </a:gs>
              <a:gs pos="8333">
                <a:srgbClr val="FDB30B"/>
              </a:gs>
              <a:gs pos="16667">
                <a:srgbClr val="FEA600"/>
              </a:gs>
              <a:gs pos="25000">
                <a:srgbClr val="FE9900"/>
              </a:gs>
              <a:gs pos="33333">
                <a:srgbClr val="FD8D00"/>
              </a:gs>
              <a:gs pos="41667">
                <a:srgbClr val="FC8000"/>
              </a:gs>
              <a:gs pos="50000">
                <a:srgbClr val="F97316"/>
              </a:gs>
              <a:gs pos="58333">
                <a:srgbClr val="F56815"/>
              </a:gs>
              <a:gs pos="66667">
                <a:srgbClr val="F15C16"/>
              </a:gs>
              <a:gs pos="75000">
                <a:srgbClr val="EC5119"/>
              </a:gs>
              <a:gs pos="83333">
                <a:srgbClr val="E7441D"/>
              </a:gs>
              <a:gs pos="91667">
                <a:srgbClr val="E23621"/>
              </a:gs>
              <a:gs pos="100000">
                <a:srgbClr val="DC2626"/>
              </a:gs>
            </a:gsLst>
            <a:lin ang="2700000" scaled="0"/>
          </a:gradFill>
          <a:xfrm>
            <a:off x="3471862" y="1743075"/>
            <a:ext cx="2286000" cy="2286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48062" y="4133850"/>
            <a:ext cx="133424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arch · radius top</a:t>
            </a:r>
          </a:p>
        </p:txBody>
      </p:sp>
      <p:sp>
        <p:nvSpPr>
          <p:cNvPr id="10" name="Hexagon 9"/>
          <p:cNvSpPr/>
          <p:nvPr/>
        </p:nvSpPr>
        <p:spPr>
          <a:gradFill flip="none" rotWithShape="1">
            <a:gsLst>
              <a:gs pos="0">
                <a:srgbClr val="34D399"/>
              </a:gs>
              <a:gs pos="8333">
                <a:srgbClr val="00CFAC"/>
              </a:gs>
              <a:gs pos="16667">
                <a:srgbClr val="00C9BD"/>
              </a:gs>
              <a:gs pos="25000">
                <a:srgbClr val="00C2CD"/>
              </a:gs>
              <a:gs pos="33333">
                <a:srgbClr val="00B9D9"/>
              </a:gs>
              <a:gs pos="41667">
                <a:srgbClr val="00B0E3"/>
              </a:gs>
              <a:gs pos="50000">
                <a:srgbClr val="0EA5E9"/>
              </a:gs>
              <a:gs pos="58333">
                <a:srgbClr val="278BD0"/>
              </a:gs>
              <a:gs pos="66667">
                <a:srgbClr val="2F72B7"/>
              </a:gs>
              <a:gs pos="75000">
                <a:srgbClr val="305A9C"/>
              </a:gs>
              <a:gs pos="83333">
                <a:srgbClr val="2D4381"/>
              </a:gs>
              <a:gs pos="91667">
                <a:srgbClr val="272E65"/>
              </a:gs>
              <a:gs pos="100000">
                <a:srgbClr val="1E1B4B"/>
              </a:gs>
            </a:gsLst>
            <a:path path="circle">
              <a:fillToRect l="30000" t="30000" r="70000" b="70000"/>
            </a:path>
          </a:gradFill>
          <a:xfrm>
            <a:off x="6181725" y="1743075"/>
            <a:ext cx="2286000" cy="2286000"/>
          </a:xfrm>
          <a:prstGeom prst="hexagon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57925" y="4133850"/>
            <a:ext cx="117038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hex · polygon 6</a:t>
            </a:r>
          </a:p>
        </p:txBody>
      </p:sp>
      <p:sp>
        <p:nvSpPr>
          <p:cNvPr id="12" name="Parallelogram 11"/>
          <p:cNvSpPr/>
          <p:nvPr/>
        </p:nvSpPr>
        <p:spPr>
          <a:gradFill flip="none" rotWithShape="1">
            <a:gsLst>
              <a:gs pos="0">
                <a:srgbClr val="312E81"/>
              </a:gs>
              <a:gs pos="6667">
                <a:srgbClr val="3B3193"/>
              </a:gs>
              <a:gs pos="13333">
                <a:srgbClr val="4734A5"/>
              </a:gs>
              <a:gs pos="20000">
                <a:srgbClr val="5337B7"/>
              </a:gs>
              <a:gs pos="26667">
                <a:srgbClr val="6038CA"/>
              </a:gs>
              <a:gs pos="33333">
                <a:srgbClr val="6D3ADB"/>
              </a:gs>
              <a:gs pos="40000">
                <a:srgbClr val="7C3AED"/>
              </a:gs>
              <a:gs pos="50000">
                <a:srgbClr val="9542E7"/>
              </a:gs>
              <a:gs pos="60000">
                <a:srgbClr val="AC4ADF"/>
              </a:gs>
              <a:gs pos="70000">
                <a:srgbClr val="C153D5"/>
              </a:gs>
              <a:gs pos="80000">
                <a:srgbClr val="D55CCB"/>
              </a:gs>
              <a:gs pos="90000">
                <a:srgbClr val="E566C0"/>
              </a:gs>
              <a:gs pos="100000">
                <a:srgbClr val="F472B6"/>
              </a:gs>
            </a:gsLst>
            <a:lin ang="18900000" scaled="0"/>
          </a:gradFill>
          <a:xfrm>
            <a:off x="8891588" y="1743075"/>
            <a:ext cx="2286000" cy="2286000"/>
          </a:xfrm>
          <a:prstGeom prst="parallelogram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967788" y="4133850"/>
            <a:ext cx="165854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parallelogram · poly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00800"/>
            <a:ext cx="22196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7562" y="64008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581555" y="342900"/>
            <a:ext cx="184844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PROBE 08 / DATA-PRIM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A78BFA"/>
                </a:solidFill>
                <a:latin typeface="Inter"/>
              </a:rPr>
              <a:t>test · svg data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28700"/>
            <a:ext cx="1066800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Data primitives — inline SVG under 200 ops should emit native.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609725"/>
            <a:ext cx="3441650" cy="21907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00125" y="1847850"/>
            <a:ext cx="29654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progress ring</a:t>
            </a:r>
          </a:p>
        </p:txBody>
      </p:sp>
      <p:sp>
        <p:nvSpPr>
          <p:cNvPr id="8" name="Oval 7"/>
          <p:cNvSpPr/>
          <p:nvPr/>
        </p:nvSpPr>
        <p:spPr>
          <a:xfrm>
            <a:off x="1095375" y="2105025"/>
            <a:ext cx="952500" cy="952500"/>
          </a:xfrm>
          <a:prstGeom prst="ellipse">
            <a:avLst/>
          </a:prstGeom>
          <a:noFill/>
          <a:ln w="952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095375" y="2105025"/>
            <a:ext cx="952500" cy="952500"/>
          </a:xfrm>
          <a:prstGeom prst="ellipse">
            <a:avLst/>
          </a:prstGeom>
          <a:noFill/>
          <a:ln w="952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00125" y="3209925"/>
            <a:ext cx="296540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75%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5100" y="1609725"/>
            <a:ext cx="3441650" cy="21907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613225" y="1847850"/>
            <a:ext cx="29654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gauge</a:t>
            </a:r>
          </a:p>
        </p:txBody>
      </p:sp>
      <p:sp>
        <p:nvSpPr>
          <p:cNvPr id="13" name="Freeform 12"/>
          <p:cNvSpPr/>
          <p:nvPr/>
        </p:nvSpPr>
        <p:spPr>
          <a:xfrm>
            <a:off x="4803725" y="2247900"/>
            <a:ext cx="1524000" cy="762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0" y="45142"/>
                  <a:pt x="22571" y="0"/>
                  <a:pt x="50000" y="0"/>
                </a:cubicBezTo>
                <a:cubicBezTo>
                  <a:pt x="77429" y="0"/>
                  <a:pt x="100000" y="45142"/>
                  <a:pt x="100000" y="100000"/>
                </a:cubicBezTo>
              </a:path>
            </a:pathLst>
          </a:custGeom>
          <a:noFill/>
          <a:ln w="1333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4801268" y="2206578"/>
            <a:ext cx="1145458" cy="80332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15" y="100000"/>
                </a:moveTo>
                <a:cubicBezTo>
                  <a:pt x="0" y="66002"/>
                  <a:pt x="12620" y="34343"/>
                  <a:pt x="33216" y="17212"/>
                </a:cubicBezTo>
                <a:cubicBezTo>
                  <a:pt x="53812" y="81"/>
                  <a:pt x="79351" y="0"/>
                  <a:pt x="100000" y="17001"/>
                </a:cubicBezTo>
              </a:path>
            </a:pathLst>
          </a:custGeom>
          <a:noFill/>
          <a:ln w="1333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889575" y="2286000"/>
            <a:ext cx="114300" cy="114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613225" y="3209925"/>
            <a:ext cx="296540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8.4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201" y="1609725"/>
            <a:ext cx="3441799" cy="21907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226326" y="1847850"/>
            <a:ext cx="296554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sparkline</a:t>
            </a:r>
          </a:p>
        </p:txBody>
      </p:sp>
      <p:sp>
        <p:nvSpPr>
          <p:cNvPr id="19" name="Freeform 18"/>
          <p:cNvSpPr/>
          <p:nvPr/>
        </p:nvSpPr>
        <p:spPr>
          <a:xfrm>
            <a:off x="8226326" y="2276475"/>
            <a:ext cx="2095500" cy="4953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3636" y="80769"/>
                </a:lnTo>
                <a:lnTo>
                  <a:pt x="27273" y="90385"/>
                </a:lnTo>
                <a:lnTo>
                  <a:pt x="40909" y="42308"/>
                </a:lnTo>
                <a:lnTo>
                  <a:pt x="54545" y="57692"/>
                </a:lnTo>
                <a:lnTo>
                  <a:pt x="68182" y="19231"/>
                </a:lnTo>
                <a:lnTo>
                  <a:pt x="81818" y="30769"/>
                </a:lnTo>
                <a:lnTo>
                  <a:pt x="100000" y="0"/>
                </a:lnTo>
              </a:path>
            </a:pathLst>
          </a:custGeom>
          <a:noFill/>
          <a:ln w="285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0283726" y="2238375"/>
            <a:ext cx="76200" cy="76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226326" y="3209925"/>
            <a:ext cx="2965549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+42.6%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3971925"/>
            <a:ext cx="3441650" cy="21907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000125" y="4210050"/>
            <a:ext cx="29654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heatmap · 7×4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125" y="4672012"/>
            <a:ext cx="399008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1427708" y="4672012"/>
            <a:ext cx="399157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855440" y="4672012"/>
            <a:ext cx="399157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2283172" y="4672012"/>
            <a:ext cx="399157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2710904" y="4672012"/>
            <a:ext cx="399157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3138636" y="4672012"/>
            <a:ext cx="399157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3566368" y="4672012"/>
            <a:ext cx="399157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/>
          <p:cNvSpPr/>
          <p:nvPr/>
        </p:nvSpPr>
        <p:spPr>
          <a:xfrm>
            <a:off x="1000125" y="4833938"/>
            <a:ext cx="399008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1427708" y="4833938"/>
            <a:ext cx="399157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855440" y="4833938"/>
            <a:ext cx="399157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2283172" y="4833938"/>
            <a:ext cx="399157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2710904" y="4833938"/>
            <a:ext cx="399157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3138636" y="4833938"/>
            <a:ext cx="399157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3566368" y="4833938"/>
            <a:ext cx="399157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1000125" y="4995862"/>
            <a:ext cx="399008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1427708" y="4995862"/>
            <a:ext cx="399157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1855440" y="4995862"/>
            <a:ext cx="399157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2283172" y="4995862"/>
            <a:ext cx="399157" cy="13335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2710904" y="4995862"/>
            <a:ext cx="399157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3138636" y="4995862"/>
            <a:ext cx="399157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3566368" y="4995862"/>
            <a:ext cx="399157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1000125" y="5157788"/>
            <a:ext cx="399008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1427708" y="5157788"/>
            <a:ext cx="399157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1855440" y="5157788"/>
            <a:ext cx="399157" cy="1333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2283172" y="5157788"/>
            <a:ext cx="399157" cy="13335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2710904" y="5157788"/>
            <a:ext cx="399157" cy="13335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3138636" y="5157788"/>
            <a:ext cx="399157" cy="13335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3566368" y="5157788"/>
            <a:ext cx="399157" cy="13335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000125" y="5572125"/>
            <a:ext cx="296540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28 dau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75100" y="3971925"/>
            <a:ext cx="3441650" cy="21907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613225" y="4210050"/>
            <a:ext cx="29654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sparkbars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3225" y="5038725"/>
            <a:ext cx="133350" cy="2857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4803725" y="4943475"/>
            <a:ext cx="133350" cy="381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994225" y="4981575"/>
            <a:ext cx="133350" cy="3429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184725" y="4772025"/>
            <a:ext cx="133350" cy="5524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5375225" y="4867275"/>
            <a:ext cx="13335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565725" y="4695825"/>
            <a:ext cx="133350" cy="6286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756225" y="4752975"/>
            <a:ext cx="133350" cy="571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5946725" y="4619625"/>
            <a:ext cx="133350" cy="7048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137225" y="4733925"/>
            <a:ext cx="133350" cy="59055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327725" y="4581525"/>
            <a:ext cx="133350" cy="7429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518225" y="4657725"/>
            <a:ext cx="133350" cy="6667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4613225" y="5572125"/>
            <a:ext cx="2965400" cy="3524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5F5F7"/>
                </a:solidFill>
                <a:latin typeface="Inter"/>
              </a:rPr>
              <a:t>$12.4M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88201" y="3971925"/>
            <a:ext cx="3441799" cy="21907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8226326" y="4210050"/>
            <a:ext cx="296554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logo cloud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6326" y="4814888"/>
            <a:ext cx="47520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A1A1AA"/>
                </a:solidFill>
                <a:latin typeface="Inter"/>
              </a:rPr>
              <a:t>vercel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30134" y="4814888"/>
            <a:ext cx="43695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A1A1AA"/>
                </a:solidFill>
                <a:latin typeface="Inter"/>
              </a:rPr>
              <a:t>linear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95693" y="4838700"/>
            <a:ext cx="609749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1A1AA"/>
                </a:solidFill>
                <a:latin typeface="Inter"/>
              </a:rPr>
              <a:t>STRIPE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34042" y="4791075"/>
            <a:ext cx="557064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650" b="0" i="0" u="none">
                <a:solidFill>
                  <a:srgbClr val="A1A1AA"/>
                </a:solidFill>
                <a:latin typeface="Georgia"/>
              </a:rPr>
              <a:t>Notion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6326" y="5172075"/>
            <a:ext cx="51315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A1A1AA"/>
                </a:solidFill>
                <a:latin typeface="Inter"/>
              </a:rPr>
              <a:t>cursor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8085" y="5172075"/>
            <a:ext cx="57670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A1A1AA"/>
                </a:solidFill>
                <a:latin typeface="Inter"/>
              </a:rPr>
              <a:t>raycast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6326" y="5772150"/>
            <a:ext cx="2965549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trusted by ~1,800 teams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2000" y="6400800"/>
            <a:ext cx="22196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 · PROBE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7562" y="6400800"/>
            <a:ext cx="4524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52525B"/>
      </a:accent2>
      <a:accent3>
        <a:srgbClr val="1E1B4B"/>
      </a:accent3>
      <a:accent4>
        <a:srgbClr val="A78BFA"/>
      </a:accent4>
      <a:accent5>
        <a:srgbClr val="F472B6"/>
      </a:accent5>
      <a:accent6>
        <a:srgbClr val="92400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